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422_F6AA2B23.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89"/>
  </p:notesMasterIdLst>
  <p:handoutMasterIdLst>
    <p:handoutMasterId r:id="rId90"/>
  </p:handoutMasterIdLst>
  <p:sldIdLst>
    <p:sldId id="1037" r:id="rId5"/>
    <p:sldId id="1051" r:id="rId6"/>
    <p:sldId id="1049" r:id="rId7"/>
    <p:sldId id="1054" r:id="rId8"/>
    <p:sldId id="1040" r:id="rId9"/>
    <p:sldId id="1055" r:id="rId10"/>
    <p:sldId id="1042" r:id="rId11"/>
    <p:sldId id="1038" r:id="rId12"/>
    <p:sldId id="1064" r:id="rId13"/>
    <p:sldId id="1066" r:id="rId14"/>
    <p:sldId id="1065" r:id="rId15"/>
    <p:sldId id="1058" r:id="rId16"/>
    <p:sldId id="1050" r:id="rId17"/>
    <p:sldId id="1052" r:id="rId18"/>
    <p:sldId id="1053" r:id="rId19"/>
    <p:sldId id="1043" r:id="rId20"/>
    <p:sldId id="1045" r:id="rId21"/>
    <p:sldId id="1044" r:id="rId22"/>
    <p:sldId id="1061" r:id="rId23"/>
    <p:sldId id="1062" r:id="rId24"/>
    <p:sldId id="1063" r:id="rId25"/>
    <p:sldId id="1046" r:id="rId26"/>
    <p:sldId id="1059" r:id="rId27"/>
    <p:sldId id="1060" r:id="rId28"/>
    <p:sldId id="1047" r:id="rId29"/>
    <p:sldId id="1057" r:id="rId30"/>
    <p:sldId id="1039" r:id="rId31"/>
    <p:sldId id="271" r:id="rId32"/>
    <p:sldId id="1100" r:id="rId33"/>
    <p:sldId id="1101" r:id="rId34"/>
    <p:sldId id="1102" r:id="rId35"/>
    <p:sldId id="1103" r:id="rId36"/>
    <p:sldId id="1104" r:id="rId37"/>
    <p:sldId id="1105" r:id="rId38"/>
    <p:sldId id="1106" r:id="rId39"/>
    <p:sldId id="1107" r:id="rId40"/>
    <p:sldId id="1098" r:id="rId41"/>
    <p:sldId id="1108" r:id="rId42"/>
    <p:sldId id="1077" r:id="rId43"/>
    <p:sldId id="1067" r:id="rId44"/>
    <p:sldId id="1069" r:id="rId45"/>
    <p:sldId id="1068" r:id="rId46"/>
    <p:sldId id="1072" r:id="rId47"/>
    <p:sldId id="1073" r:id="rId48"/>
    <p:sldId id="1074" r:id="rId49"/>
    <p:sldId id="316" r:id="rId50"/>
    <p:sldId id="1076" r:id="rId51"/>
    <p:sldId id="1079" r:id="rId52"/>
    <p:sldId id="1070" r:id="rId53"/>
    <p:sldId id="1075" r:id="rId54"/>
    <p:sldId id="1078" r:id="rId55"/>
    <p:sldId id="1099" r:id="rId56"/>
    <p:sldId id="1080" r:id="rId57"/>
    <p:sldId id="289" r:id="rId58"/>
    <p:sldId id="1083" r:id="rId59"/>
    <p:sldId id="1084" r:id="rId60"/>
    <p:sldId id="1085" r:id="rId61"/>
    <p:sldId id="1086" r:id="rId62"/>
    <p:sldId id="1087" r:id="rId63"/>
    <p:sldId id="1088" r:id="rId64"/>
    <p:sldId id="1089" r:id="rId65"/>
    <p:sldId id="1090" r:id="rId66"/>
    <p:sldId id="1091" r:id="rId67"/>
    <p:sldId id="1092" r:id="rId68"/>
    <p:sldId id="1093" r:id="rId69"/>
    <p:sldId id="1110" r:id="rId70"/>
    <p:sldId id="1094" r:id="rId71"/>
    <p:sldId id="1109" r:id="rId72"/>
    <p:sldId id="1112" r:id="rId73"/>
    <p:sldId id="1111" r:id="rId74"/>
    <p:sldId id="1113" r:id="rId75"/>
    <p:sldId id="1095" r:id="rId76"/>
    <p:sldId id="1096" r:id="rId77"/>
    <p:sldId id="1097" r:id="rId78"/>
    <p:sldId id="273" r:id="rId79"/>
    <p:sldId id="292" r:id="rId80"/>
    <p:sldId id="293" r:id="rId81"/>
    <p:sldId id="291" r:id="rId82"/>
    <p:sldId id="1071" r:id="rId83"/>
    <p:sldId id="295" r:id="rId84"/>
    <p:sldId id="296" r:id="rId85"/>
    <p:sldId id="320" r:id="rId86"/>
    <p:sldId id="310" r:id="rId87"/>
    <p:sldId id="299" r:id="rId88"/>
  </p:sldIdLst>
  <p:sldSz cx="9144000" cy="6858000" type="screen4x3"/>
  <p:notesSz cx="6934200" cy="9220200"/>
  <p:defaultTextStyle>
    <a:defPPr>
      <a:defRPr lang="en-US"/>
    </a:defPPr>
    <a:lvl1pPr marL="0" algn="l" defTabSz="914298" rtl="0" eaLnBrk="1" latinLnBrk="0" hangingPunct="1">
      <a:defRPr sz="1800" kern="1200">
        <a:solidFill>
          <a:schemeClr val="tx1"/>
        </a:solidFill>
        <a:latin typeface="+mn-lt"/>
        <a:ea typeface="+mn-ea"/>
        <a:cs typeface="+mn-cs"/>
      </a:defRPr>
    </a:lvl1pPr>
    <a:lvl2pPr marL="457149" algn="l" defTabSz="914298" rtl="0" eaLnBrk="1" latinLnBrk="0" hangingPunct="1">
      <a:defRPr sz="1800" kern="1200">
        <a:solidFill>
          <a:schemeClr val="tx1"/>
        </a:solidFill>
        <a:latin typeface="+mn-lt"/>
        <a:ea typeface="+mn-ea"/>
        <a:cs typeface="+mn-cs"/>
      </a:defRPr>
    </a:lvl2pPr>
    <a:lvl3pPr marL="914298" algn="l" defTabSz="914298" rtl="0" eaLnBrk="1" latinLnBrk="0" hangingPunct="1">
      <a:defRPr sz="1800" kern="1200">
        <a:solidFill>
          <a:schemeClr val="tx1"/>
        </a:solidFill>
        <a:latin typeface="+mn-lt"/>
        <a:ea typeface="+mn-ea"/>
        <a:cs typeface="+mn-cs"/>
      </a:defRPr>
    </a:lvl3pPr>
    <a:lvl4pPr marL="1371448" algn="l" defTabSz="914298" rtl="0" eaLnBrk="1" latinLnBrk="0" hangingPunct="1">
      <a:defRPr sz="1800" kern="1200">
        <a:solidFill>
          <a:schemeClr val="tx1"/>
        </a:solidFill>
        <a:latin typeface="+mn-lt"/>
        <a:ea typeface="+mn-ea"/>
        <a:cs typeface="+mn-cs"/>
      </a:defRPr>
    </a:lvl4pPr>
    <a:lvl5pPr marL="1828597" algn="l" defTabSz="914298" rtl="0" eaLnBrk="1" latinLnBrk="0" hangingPunct="1">
      <a:defRPr sz="1800" kern="1200">
        <a:solidFill>
          <a:schemeClr val="tx1"/>
        </a:solidFill>
        <a:latin typeface="+mn-lt"/>
        <a:ea typeface="+mn-ea"/>
        <a:cs typeface="+mn-cs"/>
      </a:defRPr>
    </a:lvl5pPr>
    <a:lvl6pPr marL="2285746" algn="l" defTabSz="914298" rtl="0" eaLnBrk="1" latinLnBrk="0" hangingPunct="1">
      <a:defRPr sz="1800" kern="1200">
        <a:solidFill>
          <a:schemeClr val="tx1"/>
        </a:solidFill>
        <a:latin typeface="+mn-lt"/>
        <a:ea typeface="+mn-ea"/>
        <a:cs typeface="+mn-cs"/>
      </a:defRPr>
    </a:lvl6pPr>
    <a:lvl7pPr marL="2742895" algn="l" defTabSz="914298" rtl="0" eaLnBrk="1" latinLnBrk="0" hangingPunct="1">
      <a:defRPr sz="1800" kern="1200">
        <a:solidFill>
          <a:schemeClr val="tx1"/>
        </a:solidFill>
        <a:latin typeface="+mn-lt"/>
        <a:ea typeface="+mn-ea"/>
        <a:cs typeface="+mn-cs"/>
      </a:defRPr>
    </a:lvl7pPr>
    <a:lvl8pPr marL="3200044" algn="l" defTabSz="914298" rtl="0" eaLnBrk="1" latinLnBrk="0" hangingPunct="1">
      <a:defRPr sz="1800" kern="1200">
        <a:solidFill>
          <a:schemeClr val="tx1"/>
        </a:solidFill>
        <a:latin typeface="+mn-lt"/>
        <a:ea typeface="+mn-ea"/>
        <a:cs typeface="+mn-cs"/>
      </a:defRPr>
    </a:lvl8pPr>
    <a:lvl9pPr marL="3657193" algn="l" defTabSz="91429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260" userDrawn="1">
          <p15:clr>
            <a:srgbClr val="A4A3A4"/>
          </p15:clr>
        </p15:guide>
        <p15:guide id="4" orient="horz" pos="23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AECE4641-A1A1-38A9-E8D1-45D147F0D443}" name="Cunningham, Bryan C 1LT USARMY NG NYARNG (USA)" initials="C(" userId="S::bryan.c.cunningham5.mil@army.mil::5c6673e2-e97c-4090-8c46-76bdd889319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C836"/>
    <a:srgbClr val="669900"/>
    <a:srgbClr val="FF0066"/>
    <a:srgbClr val="D4EB4B"/>
    <a:srgbClr val="FFE699"/>
    <a:srgbClr val="99CC00"/>
    <a:srgbClr val="FF5050"/>
    <a:srgbClr val="C0504D"/>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9" autoAdjust="0"/>
    <p:restoredTop sz="90774" autoAdjust="0"/>
  </p:normalViewPr>
  <p:slideViewPr>
    <p:cSldViewPr>
      <p:cViewPr varScale="1">
        <p:scale>
          <a:sx n="100" d="100"/>
          <a:sy n="100" d="100"/>
        </p:scale>
        <p:origin x="312" y="84"/>
      </p:cViewPr>
      <p:guideLst>
        <p:guide orient="horz" pos="2160"/>
        <p:guide pos="2880"/>
        <p:guide orient="horz" pos="2260"/>
        <p:guide orient="horz" pos="2360"/>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p:cViewPr varScale="1">
        <p:scale>
          <a:sx n="68" d="100"/>
          <a:sy n="68" d="100"/>
        </p:scale>
        <p:origin x="2418" y="78"/>
      </p:cViewPr>
      <p:guideLst/>
    </p:cSldViewPr>
  </p:notesViewPr>
  <p:gridSpacing cx="57150" cy="5715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notesMaster" Target="notesMasters/notes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handoutMaster" Target="handoutMasters/handoutMaster1.xml"/><Relationship Id="rId95" Type="http://schemas.microsoft.com/office/2018/10/relationships/authors" Target="author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comments/modernComment_422_F6AA2B23.xml><?xml version="1.0" encoding="utf-8"?>
<p188:cmLst xmlns:a="http://schemas.openxmlformats.org/drawingml/2006/main" xmlns:r="http://schemas.openxmlformats.org/officeDocument/2006/relationships" xmlns:p188="http://schemas.microsoft.com/office/powerpoint/2018/8/main">
  <p188:cm id="{AF5709D8-0C09-4F1E-8AB8-EBC5B44C323E}" authorId="{AECE4641-A1A1-38A9-E8D1-45D147F0D443}" created="2022-05-18T18:25:09.521">
    <pc:sldMkLst xmlns:pc="http://schemas.microsoft.com/office/powerpoint/2013/main/command">
      <pc:docMk/>
      <pc:sldMk cId="4138347299" sldId="1058"/>
    </pc:sldMkLst>
    <p188:txBody>
      <a:bodyPr/>
      <a:lstStyle/>
      <a:p>
        <a:r>
          <a:rPr lang="en-US"/>
          <a:t>This needs to be built out and expanded per unit roster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05448" cy="461325"/>
          </a:xfrm>
          <a:prstGeom prst="rect">
            <a:avLst/>
          </a:prstGeom>
        </p:spPr>
        <p:txBody>
          <a:bodyPr vert="horz" lIns="90580" tIns="45290" rIns="90580" bIns="45290" rtlCol="0"/>
          <a:lstStyle>
            <a:lvl1pPr algn="l">
              <a:defRPr sz="1200"/>
            </a:lvl1pPr>
          </a:lstStyle>
          <a:p>
            <a:endParaRPr lang="en-US" dirty="0"/>
          </a:p>
        </p:txBody>
      </p:sp>
      <p:sp>
        <p:nvSpPr>
          <p:cNvPr id="3" name="Date Placeholder 2"/>
          <p:cNvSpPr>
            <a:spLocks noGrp="1"/>
          </p:cNvSpPr>
          <p:nvPr>
            <p:ph type="dt" sz="quarter" idx="1"/>
          </p:nvPr>
        </p:nvSpPr>
        <p:spPr>
          <a:xfrm>
            <a:off x="3927183" y="0"/>
            <a:ext cx="3005448" cy="461325"/>
          </a:xfrm>
          <a:prstGeom prst="rect">
            <a:avLst/>
          </a:prstGeom>
        </p:spPr>
        <p:txBody>
          <a:bodyPr vert="horz" lIns="90580" tIns="45290" rIns="90580" bIns="45290" rtlCol="0"/>
          <a:lstStyle>
            <a:lvl1pPr algn="r">
              <a:defRPr sz="1200"/>
            </a:lvl1pPr>
          </a:lstStyle>
          <a:p>
            <a:fld id="{523BA767-2236-4B71-A489-EDB47DEB768B}" type="datetimeFigureOut">
              <a:rPr lang="en-US" smtClean="0"/>
              <a:pPr/>
              <a:t>2/24/2026</a:t>
            </a:fld>
            <a:endParaRPr lang="en-US" dirty="0"/>
          </a:p>
        </p:txBody>
      </p:sp>
      <p:sp>
        <p:nvSpPr>
          <p:cNvPr id="4" name="Footer Placeholder 3"/>
          <p:cNvSpPr>
            <a:spLocks noGrp="1"/>
          </p:cNvSpPr>
          <p:nvPr>
            <p:ph type="ftr" sz="quarter" idx="2"/>
          </p:nvPr>
        </p:nvSpPr>
        <p:spPr>
          <a:xfrm>
            <a:off x="1" y="8757301"/>
            <a:ext cx="3005448" cy="461325"/>
          </a:xfrm>
          <a:prstGeom prst="rect">
            <a:avLst/>
          </a:prstGeom>
        </p:spPr>
        <p:txBody>
          <a:bodyPr vert="horz" lIns="90580" tIns="45290" rIns="90580" bIns="45290" rtlCol="0" anchor="b"/>
          <a:lstStyle>
            <a:lvl1pPr algn="l">
              <a:defRPr sz="1200"/>
            </a:lvl1pPr>
          </a:lstStyle>
          <a:p>
            <a:r>
              <a:rPr lang="en-US"/>
              <a:t>UNCLASSIFIED/FOUO</a:t>
            </a:r>
            <a:endParaRPr lang="en-US" dirty="0"/>
          </a:p>
        </p:txBody>
      </p:sp>
      <p:sp>
        <p:nvSpPr>
          <p:cNvPr id="5" name="Slide Number Placeholder 4"/>
          <p:cNvSpPr>
            <a:spLocks noGrp="1"/>
          </p:cNvSpPr>
          <p:nvPr>
            <p:ph type="sldNum" sz="quarter" idx="3"/>
          </p:nvPr>
        </p:nvSpPr>
        <p:spPr>
          <a:xfrm>
            <a:off x="3927183" y="8757301"/>
            <a:ext cx="3005448" cy="461325"/>
          </a:xfrm>
          <a:prstGeom prst="rect">
            <a:avLst/>
          </a:prstGeom>
        </p:spPr>
        <p:txBody>
          <a:bodyPr vert="horz" lIns="90580" tIns="45290" rIns="90580" bIns="45290" rtlCol="0" anchor="b"/>
          <a:lstStyle>
            <a:lvl1pPr algn="r">
              <a:defRPr sz="1200"/>
            </a:lvl1pPr>
          </a:lstStyle>
          <a:p>
            <a:fld id="{4673971F-8A42-4086-A174-E4EA72A897DF}" type="slidenum">
              <a:rPr lang="en-US" smtClean="0"/>
              <a:pPr/>
              <a:t>‹#›</a:t>
            </a:fld>
            <a:endParaRPr lang="en-US" dirty="0"/>
          </a:p>
        </p:txBody>
      </p:sp>
    </p:spTree>
    <p:extLst>
      <p:ext uri="{BB962C8B-B14F-4D97-AF65-F5344CB8AC3E}">
        <p14:creationId xmlns:p14="http://schemas.microsoft.com/office/powerpoint/2010/main" val="114734390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301" tIns="46151" rIns="92301" bIns="46151"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301" tIns="46151" rIns="92301" bIns="46151" rtlCol="0"/>
          <a:lstStyle>
            <a:lvl1pPr algn="r">
              <a:defRPr sz="1200"/>
            </a:lvl1pPr>
          </a:lstStyle>
          <a:p>
            <a:fld id="{5151B731-0CDB-4D5E-9FEF-F19394AE5BA3}" type="datetimeFigureOut">
              <a:rPr lang="en-US" smtClean="0"/>
              <a:pPr/>
              <a:t>2/24/2026</a:t>
            </a:fld>
            <a:endParaRPr lang="en-US" dirty="0"/>
          </a:p>
        </p:txBody>
      </p:sp>
      <p:sp>
        <p:nvSpPr>
          <p:cNvPr id="4" name="Slide Image Placeholder 3"/>
          <p:cNvSpPr>
            <a:spLocks noGrp="1" noRot="1" noChangeAspect="1"/>
          </p:cNvSpPr>
          <p:nvPr>
            <p:ph type="sldImg" idx="2"/>
          </p:nvPr>
        </p:nvSpPr>
        <p:spPr>
          <a:xfrm>
            <a:off x="1162050" y="690563"/>
            <a:ext cx="4610100" cy="3457575"/>
          </a:xfrm>
          <a:prstGeom prst="rect">
            <a:avLst/>
          </a:prstGeom>
          <a:noFill/>
          <a:ln w="12700">
            <a:solidFill>
              <a:prstClr val="black"/>
            </a:solidFill>
          </a:ln>
        </p:spPr>
        <p:txBody>
          <a:bodyPr vert="horz" lIns="92301" tIns="46151" rIns="92301" bIns="46151"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301" tIns="46151" rIns="92301" bIns="4615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57590"/>
            <a:ext cx="3004820" cy="461010"/>
          </a:xfrm>
          <a:prstGeom prst="rect">
            <a:avLst/>
          </a:prstGeom>
        </p:spPr>
        <p:txBody>
          <a:bodyPr vert="horz" lIns="92301" tIns="46151" rIns="92301" bIns="46151" rtlCol="0" anchor="b"/>
          <a:lstStyle>
            <a:lvl1pPr algn="l">
              <a:defRPr sz="1200"/>
            </a:lvl1pPr>
          </a:lstStyle>
          <a:p>
            <a:r>
              <a:rPr lang="en-US"/>
              <a:t>UNCLASSIFIED/FOUO</a:t>
            </a:r>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301" tIns="46151" rIns="92301" bIns="46151" rtlCol="0" anchor="b"/>
          <a:lstStyle>
            <a:lvl1pPr algn="r">
              <a:defRPr sz="1200"/>
            </a:lvl1pPr>
          </a:lstStyle>
          <a:p>
            <a:fld id="{3AD82FBF-9B18-4BBE-BE2A-61CA61AD6E25}" type="slidenum">
              <a:rPr lang="en-US" smtClean="0"/>
              <a:pPr/>
              <a:t>‹#›</a:t>
            </a:fld>
            <a:endParaRPr lang="en-US" dirty="0"/>
          </a:p>
        </p:txBody>
      </p:sp>
    </p:spTree>
    <p:extLst>
      <p:ext uri="{BB962C8B-B14F-4D97-AF65-F5344CB8AC3E}">
        <p14:creationId xmlns:p14="http://schemas.microsoft.com/office/powerpoint/2010/main" val="3455849648"/>
      </p:ext>
    </p:extLst>
  </p:cSld>
  <p:clrMap bg1="lt1" tx1="dk1" bg2="lt2" tx2="dk2" accent1="accent1" accent2="accent2" accent3="accent3" accent4="accent4" accent5="accent5" accent6="accent6" hlink="hlink" folHlink="folHlink"/>
  <p:hf hdr="0" dt="0"/>
  <p:notesStyle>
    <a:lvl1pPr marL="0" algn="l" defTabSz="914298" rtl="0" eaLnBrk="1" latinLnBrk="0" hangingPunct="1">
      <a:defRPr sz="1200" kern="1200">
        <a:solidFill>
          <a:schemeClr val="tx1"/>
        </a:solidFill>
        <a:latin typeface="+mn-lt"/>
        <a:ea typeface="+mn-ea"/>
        <a:cs typeface="+mn-cs"/>
      </a:defRPr>
    </a:lvl1pPr>
    <a:lvl2pPr marL="457149" algn="l" defTabSz="914298" rtl="0" eaLnBrk="1" latinLnBrk="0" hangingPunct="1">
      <a:defRPr sz="1200" kern="1200">
        <a:solidFill>
          <a:schemeClr val="tx1"/>
        </a:solidFill>
        <a:latin typeface="+mn-lt"/>
        <a:ea typeface="+mn-ea"/>
        <a:cs typeface="+mn-cs"/>
      </a:defRPr>
    </a:lvl2pPr>
    <a:lvl3pPr marL="914298" algn="l" defTabSz="914298" rtl="0" eaLnBrk="1" latinLnBrk="0" hangingPunct="1">
      <a:defRPr sz="1200" kern="1200">
        <a:solidFill>
          <a:schemeClr val="tx1"/>
        </a:solidFill>
        <a:latin typeface="+mn-lt"/>
        <a:ea typeface="+mn-ea"/>
        <a:cs typeface="+mn-cs"/>
      </a:defRPr>
    </a:lvl3pPr>
    <a:lvl4pPr marL="1371448" algn="l" defTabSz="914298" rtl="0" eaLnBrk="1" latinLnBrk="0" hangingPunct="1">
      <a:defRPr sz="1200" kern="1200">
        <a:solidFill>
          <a:schemeClr val="tx1"/>
        </a:solidFill>
        <a:latin typeface="+mn-lt"/>
        <a:ea typeface="+mn-ea"/>
        <a:cs typeface="+mn-cs"/>
      </a:defRPr>
    </a:lvl4pPr>
    <a:lvl5pPr marL="1828597" algn="l" defTabSz="914298" rtl="0" eaLnBrk="1" latinLnBrk="0" hangingPunct="1">
      <a:defRPr sz="1200" kern="1200">
        <a:solidFill>
          <a:schemeClr val="tx1"/>
        </a:solidFill>
        <a:latin typeface="+mn-lt"/>
        <a:ea typeface="+mn-ea"/>
        <a:cs typeface="+mn-cs"/>
      </a:defRPr>
    </a:lvl5pPr>
    <a:lvl6pPr marL="2285746" algn="l" defTabSz="914298" rtl="0" eaLnBrk="1" latinLnBrk="0" hangingPunct="1">
      <a:defRPr sz="1200" kern="1200">
        <a:solidFill>
          <a:schemeClr val="tx1"/>
        </a:solidFill>
        <a:latin typeface="+mn-lt"/>
        <a:ea typeface="+mn-ea"/>
        <a:cs typeface="+mn-cs"/>
      </a:defRPr>
    </a:lvl6pPr>
    <a:lvl7pPr marL="2742895" algn="l" defTabSz="914298" rtl="0" eaLnBrk="1" latinLnBrk="0" hangingPunct="1">
      <a:defRPr sz="1200" kern="1200">
        <a:solidFill>
          <a:schemeClr val="tx1"/>
        </a:solidFill>
        <a:latin typeface="+mn-lt"/>
        <a:ea typeface="+mn-ea"/>
        <a:cs typeface="+mn-cs"/>
      </a:defRPr>
    </a:lvl7pPr>
    <a:lvl8pPr marL="3200044" algn="l" defTabSz="914298" rtl="0" eaLnBrk="1" latinLnBrk="0" hangingPunct="1">
      <a:defRPr sz="1200" kern="1200">
        <a:solidFill>
          <a:schemeClr val="tx1"/>
        </a:solidFill>
        <a:latin typeface="+mn-lt"/>
        <a:ea typeface="+mn-ea"/>
        <a:cs typeface="+mn-cs"/>
      </a:defRPr>
    </a:lvl8pPr>
    <a:lvl9pPr marL="3657193" algn="l" defTabSz="91429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These are derived from T&amp;EO 3.2</a:t>
            </a: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2</a:t>
            </a:fld>
            <a:endParaRPr lang="en-US" dirty="0"/>
          </a:p>
        </p:txBody>
      </p:sp>
    </p:spTree>
    <p:extLst>
      <p:ext uri="{BB962C8B-B14F-4D97-AF65-F5344CB8AC3E}">
        <p14:creationId xmlns:p14="http://schemas.microsoft.com/office/powerpoint/2010/main" val="2301375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Supposed to be hidden</a:t>
            </a: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3</a:t>
            </a:fld>
            <a:endParaRPr lang="en-US" dirty="0"/>
          </a:p>
        </p:txBody>
      </p:sp>
    </p:spTree>
    <p:extLst>
      <p:ext uri="{BB962C8B-B14F-4D97-AF65-F5344CB8AC3E}">
        <p14:creationId xmlns:p14="http://schemas.microsoft.com/office/powerpoint/2010/main" val="84781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4</a:t>
            </a:fld>
            <a:endParaRPr lang="en-US" dirty="0"/>
          </a:p>
        </p:txBody>
      </p:sp>
    </p:spTree>
    <p:extLst>
      <p:ext uri="{BB962C8B-B14F-4D97-AF65-F5344CB8AC3E}">
        <p14:creationId xmlns:p14="http://schemas.microsoft.com/office/powerpoint/2010/main" val="3178344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7945" marR="0">
              <a:lnSpc>
                <a:spcPts val="1235"/>
              </a:lnSpc>
              <a:spcBef>
                <a:spcPts val="10"/>
              </a:spcBef>
              <a:spcAft>
                <a:spcPts val="0"/>
              </a:spcAft>
            </a:pPr>
            <a:r>
              <a:rPr lang="en-US" sz="1200" b="1" dirty="0" err="1">
                <a:effectLst/>
                <a:latin typeface="Times New Roman"/>
                <a:ea typeface="Times New Roman" panose="02020603050405020304" pitchFamily="18" charset="0"/>
                <a:cs typeface="Times New Roman"/>
              </a:rPr>
              <a:t>Outbrief</a:t>
            </a:r>
            <a:r>
              <a:rPr lang="en-US" sz="1200" b="1" dirty="0">
                <a:effectLst/>
                <a:latin typeface="Times New Roman"/>
                <a:ea typeface="Times New Roman" panose="02020603050405020304" pitchFamily="18" charset="0"/>
                <a:cs typeface="Times New Roman"/>
              </a:rPr>
              <a:t> slide</a:t>
            </a:r>
          </a:p>
          <a:p>
            <a:pPr marL="71755">
              <a:lnSpc>
                <a:spcPts val="1235"/>
              </a:lnSpc>
              <a:spcBef>
                <a:spcPts val="10"/>
              </a:spcBef>
            </a:pPr>
            <a:r>
              <a:rPr lang="en-US" b="1" dirty="0">
                <a:latin typeface="Times New Roman"/>
                <a:cs typeface="Times New Roman"/>
              </a:rPr>
              <a:t>Mission:</a:t>
            </a:r>
          </a:p>
          <a:p>
            <a:pPr marL="71755">
              <a:lnSpc>
                <a:spcPts val="1235"/>
              </a:lnSpc>
              <a:spcBef>
                <a:spcPts val="10"/>
              </a:spcBef>
            </a:pPr>
            <a:endParaRPr lang="en-US" b="1" dirty="0">
              <a:latin typeface="Times New Roman"/>
              <a:cs typeface="Times New Roman"/>
            </a:endParaRPr>
          </a:p>
          <a:p>
            <a:pPr marL="71755">
              <a:lnSpc>
                <a:spcPts val="1235"/>
              </a:lnSpc>
              <a:spcBef>
                <a:spcPts val="10"/>
              </a:spcBef>
            </a:pPr>
            <a:r>
              <a:rPr lang="en-US" b="1" dirty="0">
                <a:latin typeface="Times New Roman"/>
                <a:cs typeface="Times New Roman"/>
              </a:rPr>
              <a:t>Intel:</a:t>
            </a:r>
          </a:p>
          <a:p>
            <a:pPr marL="290830" indent="-290830">
              <a:spcBef>
                <a:spcPct val="20000"/>
              </a:spcBef>
              <a:spcAft>
                <a:spcPct val="0"/>
              </a:spcAft>
              <a:buFont typeface="Arial"/>
              <a:buChar char="•"/>
            </a:pPr>
            <a:r>
              <a:rPr lang="en-US" b="1" dirty="0"/>
              <a:t>CT2;ST4: </a:t>
            </a:r>
            <a:r>
              <a:rPr lang="en-US" dirty="0"/>
              <a:t>Develop intelligence plans. [ASA]</a:t>
            </a:r>
            <a:endParaRPr lang="en-US" dirty="0">
              <a:ea typeface="Calibri"/>
              <a:cs typeface="Calibri"/>
            </a:endParaRPr>
          </a:p>
          <a:p>
            <a:pPr marL="290830" indent="-290830">
              <a:spcBef>
                <a:spcPct val="20000"/>
              </a:spcBef>
              <a:spcAft>
                <a:spcPct val="0"/>
              </a:spcAft>
              <a:buFont typeface="Arial"/>
              <a:buChar char="•"/>
            </a:pPr>
            <a:r>
              <a:rPr lang="en-US" b="1" dirty="0"/>
              <a:t>CT2;ST7: </a:t>
            </a:r>
            <a:r>
              <a:rPr lang="en-US" dirty="0"/>
              <a:t>Develop data analysis plan. [ASO or DE]</a:t>
            </a:r>
          </a:p>
          <a:p>
            <a:pPr marL="71755">
              <a:lnSpc>
                <a:spcPts val="1235"/>
              </a:lnSpc>
              <a:spcBef>
                <a:spcPts val="10"/>
              </a:spcBef>
            </a:pPr>
            <a:endParaRPr lang="en-US" b="1" dirty="0">
              <a:latin typeface="Times New Roman"/>
              <a:cs typeface="Times New Roman"/>
            </a:endParaRPr>
          </a:p>
          <a:p>
            <a:pPr marL="71755">
              <a:lnSpc>
                <a:spcPts val="1235"/>
              </a:lnSpc>
              <a:spcBef>
                <a:spcPts val="10"/>
              </a:spcBef>
            </a:pPr>
            <a:r>
              <a:rPr lang="en-US" b="1" dirty="0">
                <a:latin typeface="Times New Roman"/>
                <a:cs typeface="Times New Roman"/>
              </a:rPr>
              <a:t>Pre-Execution:</a:t>
            </a:r>
          </a:p>
          <a:p>
            <a:pPr marL="104140" indent="-290830">
              <a:lnSpc>
                <a:spcPts val="1280"/>
              </a:lnSpc>
              <a:buFont typeface="Arial"/>
              <a:buChar char="•"/>
            </a:pPr>
            <a:r>
              <a:rPr lang="en-US" b="1" dirty="0"/>
              <a:t>CT2;ST3: </a:t>
            </a:r>
            <a:r>
              <a:rPr lang="en-US" dirty="0"/>
              <a:t>Verify required authority to operate on the network.</a:t>
            </a:r>
            <a:endParaRPr lang="en-US" dirty="0">
              <a:cs typeface="Calibri"/>
            </a:endParaRPr>
          </a:p>
          <a:p>
            <a:pPr indent="-243840">
              <a:lnSpc>
                <a:spcPts val="1280"/>
              </a:lnSpc>
              <a:buFont typeface="Arial"/>
              <a:buChar char="•"/>
            </a:pPr>
            <a:r>
              <a:rPr lang="en-US" b="1" dirty="0"/>
              <a:t>CT2;ST5: </a:t>
            </a:r>
            <a:r>
              <a:rPr lang="en-US" dirty="0"/>
              <a:t>Obtain network and host baseline documentation.</a:t>
            </a:r>
          </a:p>
          <a:p>
            <a:pPr indent="-243840">
              <a:lnSpc>
                <a:spcPts val="1280"/>
              </a:lnSpc>
              <a:buFont typeface="Arial"/>
              <a:buChar char="•"/>
            </a:pPr>
            <a:r>
              <a:rPr lang="en-US" b="1" dirty="0"/>
              <a:t>CT2;ST6: </a:t>
            </a:r>
            <a:r>
              <a:rPr lang="en-US" dirty="0"/>
              <a:t>Develop prioritized specified terrain cyber.</a:t>
            </a:r>
          </a:p>
          <a:p>
            <a:pPr indent="-243840">
              <a:lnSpc>
                <a:spcPts val="1280"/>
              </a:lnSpc>
              <a:buFont typeface="Arial"/>
              <a:buChar char="•"/>
            </a:pPr>
            <a:r>
              <a:rPr lang="en-US" b="1" dirty="0"/>
              <a:t>CT5;ST1: </a:t>
            </a:r>
            <a:r>
              <a:rPr lang="en-US" dirty="0"/>
              <a:t>Coordinate with HHQ or designated external organizations to enable response actions.</a:t>
            </a:r>
            <a:endParaRPr lang="en-US" dirty="0">
              <a:ea typeface="Calibri"/>
              <a:cs typeface="Calibri"/>
            </a:endParaRPr>
          </a:p>
          <a:p>
            <a:pPr indent="-243840">
              <a:lnSpc>
                <a:spcPts val="1280"/>
              </a:lnSpc>
              <a:buFont typeface="Arial"/>
              <a:buChar char="•"/>
            </a:pPr>
            <a:r>
              <a:rPr lang="en-US" b="1" dirty="0"/>
              <a:t>CT7;ST1: </a:t>
            </a:r>
            <a:r>
              <a:rPr lang="en-US" dirty="0"/>
              <a:t>ln brief to key stakeholders (schedule in brief to stakeholders)</a:t>
            </a:r>
          </a:p>
          <a:p>
            <a:pPr indent="-243840">
              <a:lnSpc>
                <a:spcPts val="1280"/>
              </a:lnSpc>
              <a:buFont typeface="Arial"/>
              <a:buChar char="•"/>
            </a:pPr>
            <a:endParaRPr lang="en-US" dirty="0">
              <a:cs typeface="Calibri"/>
            </a:endParaRPr>
          </a:p>
          <a:p>
            <a:pPr>
              <a:lnSpc>
                <a:spcPts val="1280"/>
              </a:lnSpc>
            </a:pPr>
            <a:r>
              <a:rPr lang="en-US" b="1" dirty="0">
                <a:cs typeface="Calibri"/>
              </a:rPr>
              <a:t>Approach:</a:t>
            </a:r>
            <a:endParaRPr lang="en-US" b="1" dirty="0">
              <a:ea typeface="Calibri"/>
              <a:cs typeface="Calibri"/>
            </a:endParaRPr>
          </a:p>
          <a:p>
            <a:pPr>
              <a:lnSpc>
                <a:spcPts val="1280"/>
              </a:lnSpc>
            </a:pPr>
            <a:endParaRPr lang="en-US" b="1" dirty="0">
              <a:cs typeface="Calibri"/>
            </a:endParaRPr>
          </a:p>
          <a:p>
            <a:pPr>
              <a:lnSpc>
                <a:spcPts val="1280"/>
              </a:lnSpc>
            </a:pPr>
            <a:endParaRPr lang="en-US" b="1" dirty="0">
              <a:cs typeface="Calibri"/>
            </a:endParaRPr>
          </a:p>
          <a:p>
            <a:pPr marL="67945">
              <a:lnSpc>
                <a:spcPts val="1235"/>
              </a:lnSpc>
              <a:spcBef>
                <a:spcPts val="10"/>
              </a:spcBef>
            </a:pPr>
            <a:r>
              <a:rPr lang="en-US" b="1" dirty="0"/>
              <a:t>LEGEND</a:t>
            </a:r>
            <a:endParaRPr lang="en-US" dirty="0"/>
          </a:p>
          <a:p>
            <a:pPr marL="67945">
              <a:lnSpc>
                <a:spcPts val="1235"/>
              </a:lnSpc>
              <a:spcBef>
                <a:spcPts val="10"/>
              </a:spcBef>
            </a:pPr>
            <a:r>
              <a:rPr lang="en-US" b="1" dirty="0"/>
              <a:t>LE</a:t>
            </a:r>
            <a:r>
              <a:rPr lang="en-US" dirty="0"/>
              <a:t> = </a:t>
            </a:r>
            <a:r>
              <a:rPr lang="en-US" b="1" dirty="0"/>
              <a:t>Leadership Element</a:t>
            </a:r>
            <a:endParaRPr lang="en-US" dirty="0"/>
          </a:p>
          <a:p>
            <a:pPr marL="83185">
              <a:lnSpc>
                <a:spcPts val="1280"/>
              </a:lnSpc>
              <a:spcBef>
                <a:spcPts val="60"/>
              </a:spcBef>
            </a:pPr>
            <a:r>
              <a:rPr lang="en-US" b="1" dirty="0"/>
              <a:t>ME</a:t>
            </a:r>
            <a:r>
              <a:rPr lang="en-US" dirty="0"/>
              <a:t> = </a:t>
            </a:r>
            <a:r>
              <a:rPr lang="en-US" b="1" dirty="0"/>
              <a:t>Mission Element</a:t>
            </a:r>
            <a:endParaRPr lang="en-US" dirty="0"/>
          </a:p>
          <a:p>
            <a:pPr marL="69215">
              <a:lnSpc>
                <a:spcPts val="1235"/>
              </a:lnSpc>
              <a:spcBef>
                <a:spcPts val="10"/>
              </a:spcBef>
            </a:pPr>
            <a:r>
              <a:rPr lang="en-US" b="1" dirty="0"/>
              <a:t>SE</a:t>
            </a:r>
            <a:r>
              <a:rPr lang="en-US" dirty="0"/>
              <a:t> = </a:t>
            </a:r>
            <a:r>
              <a:rPr lang="en-US" b="1" dirty="0"/>
              <a:t>Support Element</a:t>
            </a:r>
            <a:endParaRPr lang="en-US" dirty="0"/>
          </a:p>
          <a:p>
            <a:pPr marL="66675">
              <a:lnSpc>
                <a:spcPts val="1280"/>
              </a:lnSpc>
              <a:spcBef>
                <a:spcPts val="60"/>
              </a:spcBef>
            </a:pPr>
            <a:r>
              <a:rPr lang="en-US" b="1" dirty="0"/>
              <a:t>TL</a:t>
            </a:r>
            <a:r>
              <a:rPr lang="en-US" dirty="0"/>
              <a:t> = </a:t>
            </a:r>
            <a:r>
              <a:rPr lang="en-US" b="1" dirty="0"/>
              <a:t>Team Lead</a:t>
            </a:r>
            <a:endParaRPr lang="en-US" dirty="0"/>
          </a:p>
          <a:p>
            <a:pPr marL="69850">
              <a:lnSpc>
                <a:spcPts val="1280"/>
              </a:lnSpc>
              <a:spcBef>
                <a:spcPts val="10"/>
              </a:spcBef>
            </a:pPr>
            <a:r>
              <a:rPr lang="en-US" b="1" dirty="0"/>
              <a:t>PLNR</a:t>
            </a:r>
            <a:r>
              <a:rPr lang="en-US" dirty="0"/>
              <a:t> = </a:t>
            </a:r>
            <a:r>
              <a:rPr lang="en-US" b="1" dirty="0"/>
              <a:t>Planner</a:t>
            </a:r>
            <a:endParaRPr lang="en-US" dirty="0"/>
          </a:p>
          <a:p>
            <a:pPr marL="76200">
              <a:lnSpc>
                <a:spcPts val="1235"/>
              </a:lnSpc>
              <a:spcBef>
                <a:spcPts val="10"/>
              </a:spcBef>
            </a:pPr>
            <a:r>
              <a:rPr lang="en-US" b="1" dirty="0"/>
              <a:t>OPSO</a:t>
            </a:r>
            <a:r>
              <a:rPr lang="en-US" dirty="0"/>
              <a:t> = </a:t>
            </a:r>
            <a:r>
              <a:rPr lang="en-US" b="1" dirty="0"/>
              <a:t>Operations Officer</a:t>
            </a:r>
            <a:endParaRPr lang="en-US" dirty="0"/>
          </a:p>
          <a:p>
            <a:pPr marL="76835">
              <a:lnSpc>
                <a:spcPts val="1280"/>
              </a:lnSpc>
              <a:spcBef>
                <a:spcPts val="10"/>
              </a:spcBef>
            </a:pPr>
            <a:r>
              <a:rPr lang="en-US" b="1" dirty="0"/>
              <a:t>ASA</a:t>
            </a:r>
            <a:r>
              <a:rPr lang="en-US" dirty="0"/>
              <a:t> = </a:t>
            </a:r>
            <a:r>
              <a:rPr lang="en-US" b="1" dirty="0"/>
              <a:t>All-Source Analyst</a:t>
            </a:r>
            <a:endParaRPr lang="en-US" dirty="0"/>
          </a:p>
          <a:p>
            <a:pPr marL="74295">
              <a:lnSpc>
                <a:spcPts val="1425"/>
              </a:lnSpc>
              <a:spcBef>
                <a:spcPts val="10"/>
              </a:spcBef>
            </a:pPr>
            <a:r>
              <a:rPr lang="en-US" b="1" dirty="0"/>
              <a:t>CTA</a:t>
            </a:r>
            <a:r>
              <a:rPr lang="en-US" dirty="0"/>
              <a:t> = </a:t>
            </a:r>
            <a:r>
              <a:rPr lang="en-US" b="1" dirty="0"/>
              <a:t>Cyber Threat Analyst</a:t>
            </a:r>
            <a:endParaRPr lang="en-US" dirty="0"/>
          </a:p>
          <a:p>
            <a:pPr marL="83185">
              <a:lnSpc>
                <a:spcPts val="1150"/>
              </a:lnSpc>
            </a:pPr>
            <a:r>
              <a:rPr lang="en-US" b="1" dirty="0"/>
              <a:t>ASO</a:t>
            </a:r>
            <a:r>
              <a:rPr lang="en-US" dirty="0"/>
              <a:t> = </a:t>
            </a:r>
            <a:r>
              <a:rPr lang="en-US" b="1" dirty="0"/>
              <a:t>Analytic Support Officer</a:t>
            </a:r>
            <a:endParaRPr lang="en-US" dirty="0"/>
          </a:p>
          <a:p>
            <a:pPr marL="71755">
              <a:lnSpc>
                <a:spcPts val="1235"/>
              </a:lnSpc>
              <a:spcBef>
                <a:spcPts val="10"/>
              </a:spcBef>
            </a:pPr>
            <a:r>
              <a:rPr lang="en-US" b="1" dirty="0"/>
              <a:t>DE</a:t>
            </a:r>
            <a:r>
              <a:rPr lang="en-US" dirty="0"/>
              <a:t> = </a:t>
            </a:r>
            <a:r>
              <a:rPr lang="en-US" b="1" dirty="0"/>
              <a:t>Data Engineer</a:t>
            </a:r>
            <a:endParaRPr lang="en-US" dirty="0"/>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8</a:t>
            </a:fld>
            <a:endParaRPr lang="en-US" dirty="0"/>
          </a:p>
        </p:txBody>
      </p:sp>
    </p:spTree>
    <p:extLst>
      <p:ext uri="{BB962C8B-B14F-4D97-AF65-F5344CB8AC3E}">
        <p14:creationId xmlns:p14="http://schemas.microsoft.com/office/powerpoint/2010/main" val="1241758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13</a:t>
            </a:fld>
            <a:endParaRPr lang="en-US" dirty="0"/>
          </a:p>
        </p:txBody>
      </p:sp>
    </p:spTree>
    <p:extLst>
      <p:ext uri="{BB962C8B-B14F-4D97-AF65-F5344CB8AC3E}">
        <p14:creationId xmlns:p14="http://schemas.microsoft.com/office/powerpoint/2010/main" val="1685776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14</a:t>
            </a:fld>
            <a:endParaRPr lang="en-US" dirty="0"/>
          </a:p>
        </p:txBody>
      </p:sp>
    </p:spTree>
    <p:extLst>
      <p:ext uri="{BB962C8B-B14F-4D97-AF65-F5344CB8AC3E}">
        <p14:creationId xmlns:p14="http://schemas.microsoft.com/office/powerpoint/2010/main" val="2860953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Supposed to be hidden</a:t>
            </a:r>
          </a:p>
          <a:p>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15</a:t>
            </a:fld>
            <a:endParaRPr lang="en-US" dirty="0"/>
          </a:p>
        </p:txBody>
      </p:sp>
    </p:spTree>
    <p:extLst>
      <p:ext uri="{BB962C8B-B14F-4D97-AF65-F5344CB8AC3E}">
        <p14:creationId xmlns:p14="http://schemas.microsoft.com/office/powerpoint/2010/main" val="2519362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298" rtl="0" eaLnBrk="1" fontAlgn="auto" latinLnBrk="0" hangingPunct="1">
              <a:lnSpc>
                <a:spcPct val="100000"/>
              </a:lnSpc>
              <a:spcBef>
                <a:spcPts val="0"/>
              </a:spcBef>
              <a:spcAft>
                <a:spcPts val="0"/>
              </a:spcAft>
              <a:buClrTx/>
              <a:buSzTx/>
              <a:buFontTx/>
              <a:buNone/>
              <a:tabLst/>
              <a:defRPr/>
            </a:pPr>
            <a:r>
              <a:rPr lang="en-US" dirty="0"/>
              <a:t>Fill out before and during mission by Mission Element Lead</a:t>
            </a:r>
          </a:p>
          <a:p>
            <a:pPr>
              <a:defRPr/>
            </a:pPr>
            <a:endParaRPr lang="en-US" dirty="0">
              <a:ea typeface="Calibri"/>
              <a:cs typeface="Calibri"/>
            </a:endParaRPr>
          </a:p>
          <a:p>
            <a:pPr>
              <a:defRPr/>
            </a:pPr>
            <a:r>
              <a:rPr lang="en-US" dirty="0">
                <a:ea typeface="Calibri"/>
                <a:cs typeface="Calibri"/>
              </a:rPr>
              <a:t>Maybe put Actions Completed and Findings in a separate slides if density will be too much to view on one slide</a:t>
            </a: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16</a:t>
            </a:fld>
            <a:endParaRPr lang="en-US" dirty="0"/>
          </a:p>
        </p:txBody>
      </p:sp>
    </p:spTree>
    <p:extLst>
      <p:ext uri="{BB962C8B-B14F-4D97-AF65-F5344CB8AC3E}">
        <p14:creationId xmlns:p14="http://schemas.microsoft.com/office/powerpoint/2010/main" val="973418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90830" indent="-290830">
              <a:spcBef>
                <a:spcPct val="20000"/>
              </a:spcBef>
              <a:spcAft>
                <a:spcPct val="0"/>
              </a:spcAft>
              <a:buFont typeface="Arial"/>
              <a:buChar char="•"/>
            </a:pPr>
            <a:r>
              <a:rPr lang="en-US" b="1" dirty="0"/>
              <a:t>CT5;ST1:</a:t>
            </a:r>
            <a:r>
              <a:rPr lang="en-US" dirty="0"/>
              <a:t> Coordinate with HHQ or designated external organizations to enable response actions. [TL; OPSO; ME Crew Lead; ME Lead]</a:t>
            </a:r>
          </a:p>
          <a:p>
            <a:pPr marL="290830" indent="-290830">
              <a:spcBef>
                <a:spcPct val="20000"/>
              </a:spcBef>
              <a:spcAft>
                <a:spcPct val="0"/>
              </a:spcAft>
              <a:buFont typeface="Arial"/>
              <a:buChar char="•"/>
            </a:pPr>
            <a:r>
              <a:rPr lang="en-US" dirty="0"/>
              <a:t>CT4;ST6: Identify scope of adversary access to determine extent of intrusion. [ME Host and Network Analysts]</a:t>
            </a:r>
            <a:endParaRPr lang="en-US" dirty="0">
              <a:cs typeface="Calibri"/>
            </a:endParaRPr>
          </a:p>
          <a:p>
            <a:pPr marL="290830" indent="-290830">
              <a:spcBef>
                <a:spcPct val="20000"/>
              </a:spcBef>
              <a:spcAft>
                <a:spcPct val="0"/>
              </a:spcAft>
              <a:buFont typeface="Arial"/>
              <a:buChar char="•"/>
            </a:pPr>
            <a:r>
              <a:rPr lang="en-US" dirty="0"/>
              <a:t>CT4;ST7: Coordinate with Support Element/Leadership for mission support as required. [ME Crew Lead; ME Lead]</a:t>
            </a:r>
            <a:endParaRPr lang="en-US" dirty="0">
              <a:cs typeface="Calibri"/>
            </a:endParaRPr>
          </a:p>
          <a:p>
            <a:pPr marL="290830" indent="-290830">
              <a:spcBef>
                <a:spcPct val="20000"/>
              </a:spcBef>
              <a:spcAft>
                <a:spcPct val="0"/>
              </a:spcAft>
              <a:buFont typeface="Arial"/>
              <a:buChar char="•"/>
            </a:pPr>
            <a:r>
              <a:rPr lang="en-US" dirty="0"/>
              <a:t>CT4;ST8: Conduct actions against adversary presence within the terrain. [ME Host and Network Analysts]</a:t>
            </a:r>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17</a:t>
            </a:fld>
            <a:endParaRPr lang="en-US" dirty="0"/>
          </a:p>
        </p:txBody>
      </p:sp>
    </p:spTree>
    <p:extLst>
      <p:ext uri="{BB962C8B-B14F-4D97-AF65-F5344CB8AC3E}">
        <p14:creationId xmlns:p14="http://schemas.microsoft.com/office/powerpoint/2010/main" val="374934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Review and polish</a:t>
            </a:r>
          </a:p>
          <a:p>
            <a:r>
              <a:rPr lang="en-US" dirty="0">
                <a:ea typeface="Calibri"/>
                <a:cs typeface="Calibri"/>
              </a:rPr>
              <a:t>Forensic retention – review and polish.</a:t>
            </a:r>
          </a:p>
          <a:p>
            <a:endParaRPr lang="en-US" dirty="0">
              <a:ea typeface="Calibri"/>
              <a:cs typeface="Calibri"/>
            </a:endParaRPr>
          </a:p>
          <a:p>
            <a:pPr marL="633095" lvl="1" indent="-243840">
              <a:spcBef>
                <a:spcPct val="20000"/>
              </a:spcBef>
              <a:spcAft>
                <a:spcPct val="0"/>
              </a:spcAft>
              <a:buFont typeface="Arial"/>
              <a:buChar char="•"/>
            </a:pPr>
            <a:r>
              <a:rPr lang="en-US" b="1" dirty="0"/>
              <a:t>CT6;ST1:</a:t>
            </a:r>
            <a:r>
              <a:rPr lang="en-US" dirty="0"/>
              <a:t> Emulate threats to determine if technical mitigations are effective. [CL; CTA]</a:t>
            </a:r>
          </a:p>
          <a:p>
            <a:pPr marL="633095" lvl="1" indent="-243840">
              <a:spcBef>
                <a:spcPct val="20000"/>
              </a:spcBef>
              <a:spcAft>
                <a:spcPct val="0"/>
              </a:spcAft>
              <a:buFont typeface="Arial"/>
              <a:buChar char="•"/>
            </a:pPr>
            <a:r>
              <a:rPr lang="en-US" b="1" dirty="0"/>
              <a:t>CT6;ST2:</a:t>
            </a:r>
            <a:r>
              <a:rPr lang="en-US" dirty="0"/>
              <a:t> Emulate threats to determine if procedural mitigations are effective. [CL; CTA]</a:t>
            </a:r>
          </a:p>
          <a:p>
            <a:pPr marL="633095" lvl="1" indent="-243840">
              <a:spcBef>
                <a:spcPct val="20000"/>
              </a:spcBef>
              <a:spcAft>
                <a:spcPct val="0"/>
              </a:spcAft>
              <a:buFont typeface="Arial"/>
              <a:buChar char="•"/>
            </a:pPr>
            <a:r>
              <a:rPr lang="en-US" b="1" dirty="0"/>
              <a:t>CT6;ST3: </a:t>
            </a:r>
            <a:r>
              <a:rPr lang="en-US" dirty="0"/>
              <a:t>Validate if technical mitigations are effective. [ME Host and Network Analysts]</a:t>
            </a:r>
          </a:p>
          <a:p>
            <a:pPr marL="633095" lvl="1" indent="-243840">
              <a:spcBef>
                <a:spcPct val="20000"/>
              </a:spcBef>
              <a:spcAft>
                <a:spcPct val="0"/>
              </a:spcAft>
              <a:buFont typeface="Arial"/>
              <a:buChar char="•"/>
            </a:pPr>
            <a:r>
              <a:rPr lang="en-US" b="1" dirty="0"/>
              <a:t>CT6;ST4: </a:t>
            </a:r>
            <a:r>
              <a:rPr lang="en-US" dirty="0"/>
              <a:t>Validate if procedural mitigations are effective. [ME Host and Network Analysts</a:t>
            </a:r>
            <a:r>
              <a:rPr lang="en-US" u="sng" dirty="0"/>
              <a:t>] </a:t>
            </a:r>
            <a:endParaRPr lang="en-US" dirty="0"/>
          </a:p>
          <a:p>
            <a:pPr marL="290830" indent="-290830">
              <a:spcBef>
                <a:spcPct val="20000"/>
              </a:spcBef>
              <a:spcAft>
                <a:spcPct val="0"/>
              </a:spcAft>
              <a:buFont typeface="Arial"/>
              <a:buChar char="•"/>
            </a:pPr>
            <a:endParaRPr lang="en-US" dirty="0"/>
          </a:p>
          <a:p>
            <a:endParaRPr lang="en-US" dirty="0">
              <a:ea typeface="Calibri"/>
              <a:cs typeface="Calibri"/>
            </a:endParaRPr>
          </a:p>
          <a:p>
            <a:pPr marL="633095" lvl="1" indent="-243840">
              <a:spcBef>
                <a:spcPct val="20000"/>
              </a:spcBef>
              <a:spcAft>
                <a:spcPct val="0"/>
              </a:spcAft>
              <a:buFont typeface="Arial"/>
              <a:buChar char="•"/>
            </a:pPr>
            <a:endParaRPr lang="en-US" dirty="0"/>
          </a:p>
          <a:p>
            <a:pPr marL="633095" lvl="1" indent="-243840">
              <a:spcBef>
                <a:spcPct val="20000"/>
              </a:spcBef>
              <a:spcAft>
                <a:spcPct val="0"/>
              </a:spcAft>
              <a:buFont typeface="Arial"/>
              <a:buChar char="•"/>
            </a:pPr>
            <a:r>
              <a:rPr lang="en-US" b="1" dirty="0"/>
              <a:t>CT4;ST4</a:t>
            </a:r>
            <a:r>
              <a:rPr lang="en-US" dirty="0"/>
              <a:t>:</a:t>
            </a:r>
            <a:r>
              <a:rPr lang="en-US" b="1" dirty="0"/>
              <a:t> </a:t>
            </a:r>
            <a:r>
              <a:rPr lang="en-US" dirty="0"/>
              <a:t>Identify scope of adversary access to determine extent of intrusion. [ME Host and Network Analysts]</a:t>
            </a:r>
          </a:p>
          <a:p>
            <a:pPr marL="633095" lvl="1" indent="-243840">
              <a:spcBef>
                <a:spcPct val="20000"/>
              </a:spcBef>
              <a:spcAft>
                <a:spcPct val="0"/>
              </a:spcAft>
              <a:buFont typeface="Arial"/>
              <a:buChar char="•"/>
            </a:pPr>
            <a:r>
              <a:rPr lang="en-US" b="1" dirty="0"/>
              <a:t>CT4;ST10</a:t>
            </a:r>
            <a:r>
              <a:rPr lang="en-US" dirty="0"/>
              <a:t>: Assess the effectiveness of your current operations. [ME Lead; CL; PLNR; CTA] </a:t>
            </a:r>
            <a:endParaRPr lang="en-US" dirty="0">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18</a:t>
            </a:fld>
            <a:endParaRPr lang="en-US" dirty="0"/>
          </a:p>
        </p:txBody>
      </p:sp>
    </p:spTree>
    <p:extLst>
      <p:ext uri="{BB962C8B-B14F-4D97-AF65-F5344CB8AC3E}">
        <p14:creationId xmlns:p14="http://schemas.microsoft.com/office/powerpoint/2010/main" val="3073198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Monitoring actions? </a:t>
            </a:r>
            <a:r>
              <a:rPr lang="en-US" b="1" dirty="0"/>
              <a:t>CT5;ST4: Eradicate detected malicious activity in order to remove adversarial presence. [ME Host and Network Analysts]</a:t>
            </a:r>
            <a:endParaRPr lang="en-US" b="1" dirty="0">
              <a:ea typeface="Calibri"/>
              <a:cs typeface="Calibri"/>
            </a:endParaRPr>
          </a:p>
          <a:p>
            <a:endParaRPr lang="en-US" b="1" dirty="0">
              <a:ea typeface="Calibri"/>
              <a:cs typeface="Calibri"/>
            </a:endParaRPr>
          </a:p>
        </p:txBody>
      </p:sp>
      <p:sp>
        <p:nvSpPr>
          <p:cNvPr id="4" name="Footer Placeholder 3"/>
          <p:cNvSpPr>
            <a:spLocks noGrp="1"/>
          </p:cNvSpPr>
          <p:nvPr>
            <p:ph type="ftr" sz="quarter" idx="4"/>
          </p:nvPr>
        </p:nvSpPr>
        <p:spPr/>
        <p:txBody>
          <a:bodyPr/>
          <a:lstStyle/>
          <a:p>
            <a:r>
              <a:rPr lang="en-US"/>
              <a:t>UNCLASSIFIED/FOUO</a:t>
            </a:r>
            <a:endParaRPr lang="en-US" dirty="0"/>
          </a:p>
        </p:txBody>
      </p:sp>
      <p:sp>
        <p:nvSpPr>
          <p:cNvPr id="5" name="Slide Number Placeholder 4"/>
          <p:cNvSpPr>
            <a:spLocks noGrp="1"/>
          </p:cNvSpPr>
          <p:nvPr>
            <p:ph type="sldNum" sz="quarter" idx="5"/>
          </p:nvPr>
        </p:nvSpPr>
        <p:spPr/>
        <p:txBody>
          <a:bodyPr/>
          <a:lstStyle/>
          <a:p>
            <a:fld id="{3AD82FBF-9B18-4BBE-BE2A-61CA61AD6E25}" type="slidenum">
              <a:rPr lang="en-US" smtClean="0"/>
              <a:pPr/>
              <a:t>25</a:t>
            </a:fld>
            <a:endParaRPr lang="en-US" dirty="0"/>
          </a:p>
        </p:txBody>
      </p:sp>
    </p:spTree>
    <p:extLst>
      <p:ext uri="{BB962C8B-B14F-4D97-AF65-F5344CB8AC3E}">
        <p14:creationId xmlns:p14="http://schemas.microsoft.com/office/powerpoint/2010/main" val="1177484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6029" y="1879806"/>
            <a:ext cx="7771946" cy="1297081"/>
          </a:xfrm>
        </p:spPr>
        <p:txBody>
          <a:bodyPr/>
          <a:lstStyle/>
          <a:p>
            <a:r>
              <a:rPr lang="en-US" dirty="0"/>
              <a:t>Click to edit Master title style</a:t>
            </a:r>
          </a:p>
        </p:txBody>
      </p:sp>
      <p:sp>
        <p:nvSpPr>
          <p:cNvPr id="3" name="Subtitle 2"/>
          <p:cNvSpPr>
            <a:spLocks noGrp="1"/>
          </p:cNvSpPr>
          <p:nvPr>
            <p:ph type="subTitle" idx="1"/>
          </p:nvPr>
        </p:nvSpPr>
        <p:spPr>
          <a:xfrm>
            <a:off x="1372063" y="3429000"/>
            <a:ext cx="6399893" cy="1546412"/>
          </a:xfrm>
        </p:spPr>
        <p:txBody>
          <a:bodyPr/>
          <a:lstStyle>
            <a:lvl1pPr marL="0" indent="0" algn="ctr">
              <a:buNone/>
              <a:defRPr/>
            </a:lvl1pPr>
            <a:lvl2pPr marL="355525" indent="0" algn="ctr">
              <a:buNone/>
              <a:defRPr/>
            </a:lvl2pPr>
            <a:lvl3pPr marL="711050" indent="0" algn="ctr">
              <a:buNone/>
              <a:defRPr/>
            </a:lvl3pPr>
            <a:lvl4pPr marL="1066574" indent="0" algn="ctr">
              <a:buNone/>
              <a:defRPr/>
            </a:lvl4pPr>
            <a:lvl5pPr marL="1422100" indent="0" algn="ctr">
              <a:buNone/>
              <a:defRPr/>
            </a:lvl5pPr>
            <a:lvl6pPr marL="1777625" indent="0" algn="ctr">
              <a:buNone/>
              <a:defRPr/>
            </a:lvl6pPr>
            <a:lvl7pPr marL="2133150" indent="0" algn="ctr">
              <a:buNone/>
              <a:defRPr/>
            </a:lvl7pPr>
            <a:lvl8pPr marL="2488674" indent="0" algn="ctr">
              <a:buNone/>
              <a:defRPr/>
            </a:lvl8pPr>
            <a:lvl9pPr marL="2844200" indent="0" algn="ctr">
              <a:buNone/>
              <a:defRPr/>
            </a:lvl9pPr>
          </a:lstStyle>
          <a:p>
            <a:r>
              <a:rPr lang="en-US" dirty="0"/>
              <a:t>Click to edit Master subtitle style</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94F190B1-05CC-447A-9B04-0B7973C28B95}"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543050"/>
            <a:ext cx="8230054" cy="452577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1"/>
          </p:nvPr>
        </p:nvSpPr>
        <p:spPr>
          <a:ln/>
        </p:spPr>
        <p:txBody>
          <a:bodyPr/>
          <a:lstStyle>
            <a:lvl1pPr>
              <a:defRPr sz="1800"/>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681D5C4D-6260-4AA5-8E20-C39A08D4AE25}"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888461"/>
            <a:ext cx="7771946" cy="1201831"/>
          </a:xfrm>
        </p:spPr>
        <p:txBody>
          <a:bodyPr anchor="t"/>
          <a:lstStyle>
            <a:lvl1pPr algn="l">
              <a:defRPr sz="3100" b="1" cap="all"/>
            </a:lvl1pPr>
          </a:lstStyle>
          <a:p>
            <a:r>
              <a:rPr lang="en-US" dirty="0"/>
              <a:t>Click to edit Master title style</a:t>
            </a:r>
          </a:p>
        </p:txBody>
      </p:sp>
      <p:sp>
        <p:nvSpPr>
          <p:cNvPr id="3" name="Text Placeholder 2"/>
          <p:cNvSpPr>
            <a:spLocks noGrp="1"/>
          </p:cNvSpPr>
          <p:nvPr>
            <p:ph type="body" idx="1"/>
          </p:nvPr>
        </p:nvSpPr>
        <p:spPr>
          <a:xfrm>
            <a:off x="722314" y="2564747"/>
            <a:ext cx="7771946" cy="1323694"/>
          </a:xfrm>
        </p:spPr>
        <p:txBody>
          <a:bodyPr anchor="b"/>
          <a:lstStyle>
            <a:lvl1pPr marL="0" indent="0">
              <a:buNone/>
              <a:defRPr sz="1600"/>
            </a:lvl1pPr>
            <a:lvl2pPr marL="355525" indent="0">
              <a:buNone/>
              <a:defRPr sz="1400"/>
            </a:lvl2pPr>
            <a:lvl3pPr marL="711050" indent="0">
              <a:buNone/>
              <a:defRPr sz="1200"/>
            </a:lvl3pPr>
            <a:lvl4pPr marL="1066574" indent="0">
              <a:buNone/>
              <a:defRPr sz="1100"/>
            </a:lvl4pPr>
            <a:lvl5pPr marL="1422100" indent="0">
              <a:buNone/>
              <a:defRPr sz="1100"/>
            </a:lvl5pPr>
            <a:lvl6pPr marL="1777625" indent="0">
              <a:buNone/>
              <a:defRPr sz="1100"/>
            </a:lvl6pPr>
            <a:lvl7pPr marL="2133150" indent="0">
              <a:buNone/>
              <a:defRPr sz="1100"/>
            </a:lvl7pPr>
            <a:lvl8pPr marL="2488674" indent="0">
              <a:buNone/>
              <a:defRPr sz="1100"/>
            </a:lvl8pPr>
            <a:lvl9pPr marL="2844200" indent="0">
              <a:buNone/>
              <a:defRPr sz="1100"/>
            </a:lvl9pPr>
          </a:lstStyle>
          <a:p>
            <a:pPr lvl="0"/>
            <a:r>
              <a:rPr lang="en-US" dirty="0"/>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7F3F5C04-7CA7-45CF-AD18-237EB4159B8D}"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6976" y="1411961"/>
            <a:ext cx="4060598" cy="3993497"/>
          </a:xfrm>
        </p:spPr>
        <p:txBody>
          <a:bodyPr/>
          <a:lstStyle>
            <a:lvl1pPr>
              <a:defRPr sz="2200"/>
            </a:lvl1pPr>
            <a:lvl2pPr>
              <a:defRPr sz="19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6431" y="1411961"/>
            <a:ext cx="4060599" cy="3993497"/>
          </a:xfrm>
        </p:spPr>
        <p:txBody>
          <a:bodyPr/>
          <a:lstStyle>
            <a:lvl1pPr>
              <a:defRPr sz="2200"/>
            </a:lvl1pPr>
            <a:lvl2pPr>
              <a:defRPr sz="19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7" name="Rectangle 6"/>
          <p:cNvSpPr>
            <a:spLocks noGrp="1" noChangeArrowheads="1"/>
          </p:cNvSpPr>
          <p:nvPr>
            <p:ph type="sldNum" sz="quarter" idx="12"/>
          </p:nvPr>
        </p:nvSpPr>
        <p:spPr>
          <a:ln/>
        </p:spPr>
        <p:txBody>
          <a:bodyPr/>
          <a:lstStyle>
            <a:lvl1pPr>
              <a:defRPr/>
            </a:lvl1pPr>
          </a:lstStyle>
          <a:p>
            <a:pPr>
              <a:defRPr/>
            </a:pPr>
            <a:fld id="{DDDA84BD-5D10-4C53-914E-DBDA0511A5C3}"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6974" y="1354511"/>
            <a:ext cx="4040187" cy="564496"/>
          </a:xfrm>
        </p:spPr>
        <p:txBody>
          <a:bodyPr anchor="b"/>
          <a:lstStyle>
            <a:lvl1pPr marL="0" indent="0">
              <a:buNone/>
              <a:defRPr sz="1900" b="1"/>
            </a:lvl1pPr>
            <a:lvl2pPr marL="355525" indent="0">
              <a:buNone/>
              <a:defRPr sz="1600" b="1"/>
            </a:lvl2pPr>
            <a:lvl3pPr marL="711050" indent="0">
              <a:buNone/>
              <a:defRPr sz="1400" b="1"/>
            </a:lvl3pPr>
            <a:lvl4pPr marL="1066574" indent="0">
              <a:buNone/>
              <a:defRPr sz="1200" b="1"/>
            </a:lvl4pPr>
            <a:lvl5pPr marL="1422100" indent="0">
              <a:buNone/>
              <a:defRPr sz="1200" b="1"/>
            </a:lvl5pPr>
            <a:lvl6pPr marL="1777625" indent="0">
              <a:buNone/>
              <a:defRPr sz="1200" b="1"/>
            </a:lvl6pPr>
            <a:lvl7pPr marL="2133150" indent="0">
              <a:buNone/>
              <a:defRPr sz="1200" b="1"/>
            </a:lvl7pPr>
            <a:lvl8pPr marL="2488674" indent="0">
              <a:buNone/>
              <a:defRPr sz="1200" b="1"/>
            </a:lvl8pPr>
            <a:lvl9pPr marL="2844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6974" y="1919011"/>
            <a:ext cx="4040187" cy="3486431"/>
          </a:xfrm>
        </p:spPr>
        <p:txBody>
          <a:bodyPr/>
          <a:lstStyle>
            <a:lvl1pPr>
              <a:defRPr sz="19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4573" y="1354511"/>
            <a:ext cx="4042456" cy="564496"/>
          </a:xfrm>
        </p:spPr>
        <p:txBody>
          <a:bodyPr anchor="b"/>
          <a:lstStyle>
            <a:lvl1pPr marL="0" indent="0">
              <a:buNone/>
              <a:defRPr sz="1900" b="1"/>
            </a:lvl1pPr>
            <a:lvl2pPr marL="355525" indent="0">
              <a:buNone/>
              <a:defRPr sz="1600" b="1"/>
            </a:lvl2pPr>
            <a:lvl3pPr marL="711050" indent="0">
              <a:buNone/>
              <a:defRPr sz="1400" b="1"/>
            </a:lvl3pPr>
            <a:lvl4pPr marL="1066574" indent="0">
              <a:buNone/>
              <a:defRPr sz="1200" b="1"/>
            </a:lvl4pPr>
            <a:lvl5pPr marL="1422100" indent="0">
              <a:buNone/>
              <a:defRPr sz="1200" b="1"/>
            </a:lvl5pPr>
            <a:lvl6pPr marL="1777625" indent="0">
              <a:buNone/>
              <a:defRPr sz="1200" b="1"/>
            </a:lvl6pPr>
            <a:lvl7pPr marL="2133150" indent="0">
              <a:buNone/>
              <a:defRPr sz="1200" b="1"/>
            </a:lvl7pPr>
            <a:lvl8pPr marL="2488674" indent="0">
              <a:buNone/>
              <a:defRPr sz="1200" b="1"/>
            </a:lvl8pPr>
            <a:lvl9pPr marL="2844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4573" y="1919011"/>
            <a:ext cx="4042456" cy="3486431"/>
          </a:xfrm>
        </p:spPr>
        <p:txBody>
          <a:bodyPr/>
          <a:lstStyle>
            <a:lvl1pPr>
              <a:defRPr sz="19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9" name="Rectangle 6"/>
          <p:cNvSpPr>
            <a:spLocks noGrp="1" noChangeArrowheads="1"/>
          </p:cNvSpPr>
          <p:nvPr>
            <p:ph type="sldNum" sz="quarter" idx="12"/>
          </p:nvPr>
        </p:nvSpPr>
        <p:spPr>
          <a:ln/>
        </p:spPr>
        <p:txBody>
          <a:bodyPr/>
          <a:lstStyle>
            <a:lvl1pPr>
              <a:defRPr/>
            </a:lvl1pPr>
          </a:lstStyle>
          <a:p>
            <a:pPr>
              <a:defRPr/>
            </a:pPr>
            <a:fld id="{6F93F9CD-3D94-42A3-8205-21ECB4D45414}"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4" name="Rectangle 6"/>
          <p:cNvSpPr>
            <a:spLocks noGrp="1" noChangeArrowheads="1"/>
          </p:cNvSpPr>
          <p:nvPr>
            <p:ph type="sldNum" sz="quarter" idx="12"/>
          </p:nvPr>
        </p:nvSpPr>
        <p:spPr>
          <a:ln/>
        </p:spPr>
        <p:txBody>
          <a:bodyPr/>
          <a:lstStyle>
            <a:lvl1pPr>
              <a:defRPr/>
            </a:lvl1pPr>
          </a:lstStyle>
          <a:p>
            <a:pPr>
              <a:defRPr/>
            </a:pPr>
            <a:fld id="{45718BCD-5C14-4954-9905-347ACBB94E91}"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6976" y="240927"/>
            <a:ext cx="3008312" cy="1025338"/>
          </a:xfrm>
        </p:spPr>
        <p:txBody>
          <a:bodyPr anchor="b"/>
          <a:lstStyle>
            <a:lvl1pPr algn="l">
              <a:defRPr sz="1600" b="1"/>
            </a:lvl1pPr>
          </a:lstStyle>
          <a:p>
            <a:r>
              <a:rPr lang="en-US"/>
              <a:t>Click to edit Master title style</a:t>
            </a:r>
          </a:p>
        </p:txBody>
      </p:sp>
      <p:sp>
        <p:nvSpPr>
          <p:cNvPr id="3" name="Content Placeholder 2"/>
          <p:cNvSpPr>
            <a:spLocks noGrp="1"/>
          </p:cNvSpPr>
          <p:nvPr>
            <p:ph idx="1"/>
          </p:nvPr>
        </p:nvSpPr>
        <p:spPr>
          <a:xfrm>
            <a:off x="3575278" y="240945"/>
            <a:ext cx="5111750" cy="5164511"/>
          </a:xfrm>
        </p:spPr>
        <p:txBody>
          <a:bodyPr/>
          <a:lstStyle>
            <a:lvl1pPr>
              <a:defRPr sz="2500"/>
            </a:lvl1pPr>
            <a:lvl2pPr>
              <a:defRPr sz="2200"/>
            </a:lvl2pPr>
            <a:lvl3pPr>
              <a:defRPr sz="19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6976" y="1266284"/>
            <a:ext cx="3008312" cy="4139173"/>
          </a:xfrm>
        </p:spPr>
        <p:txBody>
          <a:bodyPr/>
          <a:lstStyle>
            <a:lvl1pPr marL="0" indent="0">
              <a:buNone/>
              <a:defRPr sz="1100"/>
            </a:lvl1pPr>
            <a:lvl2pPr marL="355525" indent="0">
              <a:buNone/>
              <a:defRPr sz="900"/>
            </a:lvl2pPr>
            <a:lvl3pPr marL="711050" indent="0">
              <a:buNone/>
              <a:defRPr sz="800"/>
            </a:lvl3pPr>
            <a:lvl4pPr marL="1066574" indent="0">
              <a:buNone/>
              <a:defRPr sz="700"/>
            </a:lvl4pPr>
            <a:lvl5pPr marL="1422100" indent="0">
              <a:buNone/>
              <a:defRPr sz="700"/>
            </a:lvl5pPr>
            <a:lvl6pPr marL="1777625" indent="0">
              <a:buNone/>
              <a:defRPr sz="700"/>
            </a:lvl6pPr>
            <a:lvl7pPr marL="2133150" indent="0">
              <a:buNone/>
              <a:defRPr sz="700"/>
            </a:lvl7pPr>
            <a:lvl8pPr marL="2488674" indent="0">
              <a:buNone/>
              <a:defRPr sz="700"/>
            </a:lvl8pPr>
            <a:lvl9pPr marL="2844200" indent="0">
              <a:buNone/>
              <a:defRPr sz="7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7" name="Rectangle 6"/>
          <p:cNvSpPr>
            <a:spLocks noGrp="1" noChangeArrowheads="1"/>
          </p:cNvSpPr>
          <p:nvPr>
            <p:ph type="sldNum" sz="quarter" idx="12"/>
          </p:nvPr>
        </p:nvSpPr>
        <p:spPr>
          <a:ln/>
        </p:spPr>
        <p:txBody>
          <a:bodyPr/>
          <a:lstStyle>
            <a:lvl1pPr>
              <a:defRPr/>
            </a:lvl1pPr>
          </a:lstStyle>
          <a:p>
            <a:pPr>
              <a:defRPr/>
            </a:pPr>
            <a:fld id="{3641054D-9303-4D31-A1D8-C6F4004359A8}"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744" y="4235842"/>
            <a:ext cx="5485946" cy="500063"/>
          </a:xfrm>
        </p:spPr>
        <p:txBody>
          <a:bodyPr anchor="b"/>
          <a:lstStyle>
            <a:lvl1pPr algn="l">
              <a:defRPr sz="1600" b="1"/>
            </a:lvl1pPr>
          </a:lstStyle>
          <a:p>
            <a:r>
              <a:rPr lang="en-US"/>
              <a:t>Click to edit Master title style</a:t>
            </a:r>
          </a:p>
        </p:txBody>
      </p:sp>
      <p:sp>
        <p:nvSpPr>
          <p:cNvPr id="3" name="Picture Placeholder 2"/>
          <p:cNvSpPr>
            <a:spLocks noGrp="1"/>
          </p:cNvSpPr>
          <p:nvPr>
            <p:ph type="pic" idx="1"/>
          </p:nvPr>
        </p:nvSpPr>
        <p:spPr>
          <a:xfrm>
            <a:off x="1792744" y="540684"/>
            <a:ext cx="5485946" cy="3630706"/>
          </a:xfrm>
        </p:spPr>
        <p:txBody>
          <a:bodyPr lIns="71105" tIns="35552" rIns="71105" bIns="35552"/>
          <a:lstStyle>
            <a:lvl1pPr marL="0" indent="0">
              <a:buNone/>
              <a:defRPr sz="2500"/>
            </a:lvl1pPr>
            <a:lvl2pPr marL="355525" indent="0">
              <a:buNone/>
              <a:defRPr sz="2200"/>
            </a:lvl2pPr>
            <a:lvl3pPr marL="711050" indent="0">
              <a:buNone/>
              <a:defRPr sz="1900"/>
            </a:lvl3pPr>
            <a:lvl4pPr marL="1066574" indent="0">
              <a:buNone/>
              <a:defRPr sz="1600"/>
            </a:lvl4pPr>
            <a:lvl5pPr marL="1422100" indent="0">
              <a:buNone/>
              <a:defRPr sz="1600"/>
            </a:lvl5pPr>
            <a:lvl6pPr marL="1777625" indent="0">
              <a:buNone/>
              <a:defRPr sz="1600"/>
            </a:lvl6pPr>
            <a:lvl7pPr marL="2133150" indent="0">
              <a:buNone/>
              <a:defRPr sz="1600"/>
            </a:lvl7pPr>
            <a:lvl8pPr marL="2488674" indent="0">
              <a:buNone/>
              <a:defRPr sz="1600"/>
            </a:lvl8pPr>
            <a:lvl9pPr marL="2844200" indent="0">
              <a:buNone/>
              <a:defRPr sz="1600"/>
            </a:lvl9pPr>
          </a:lstStyle>
          <a:p>
            <a:pPr lvl="0"/>
            <a:endParaRPr lang="en-US" noProof="0" dirty="0"/>
          </a:p>
        </p:txBody>
      </p:sp>
      <p:sp>
        <p:nvSpPr>
          <p:cNvPr id="4" name="Text Placeholder 3"/>
          <p:cNvSpPr>
            <a:spLocks noGrp="1"/>
          </p:cNvSpPr>
          <p:nvPr>
            <p:ph type="body" sz="half" idx="2"/>
          </p:nvPr>
        </p:nvSpPr>
        <p:spPr>
          <a:xfrm>
            <a:off x="1792744" y="4735887"/>
            <a:ext cx="5485946" cy="710172"/>
          </a:xfrm>
        </p:spPr>
        <p:txBody>
          <a:bodyPr/>
          <a:lstStyle>
            <a:lvl1pPr marL="0" indent="0">
              <a:buNone/>
              <a:defRPr sz="1100"/>
            </a:lvl1pPr>
            <a:lvl2pPr marL="355525" indent="0">
              <a:buNone/>
              <a:defRPr sz="900"/>
            </a:lvl2pPr>
            <a:lvl3pPr marL="711050" indent="0">
              <a:buNone/>
              <a:defRPr sz="800"/>
            </a:lvl3pPr>
            <a:lvl4pPr marL="1066574" indent="0">
              <a:buNone/>
              <a:defRPr sz="700"/>
            </a:lvl4pPr>
            <a:lvl5pPr marL="1422100" indent="0">
              <a:buNone/>
              <a:defRPr sz="700"/>
            </a:lvl5pPr>
            <a:lvl6pPr marL="1777625" indent="0">
              <a:buNone/>
              <a:defRPr sz="700"/>
            </a:lvl6pPr>
            <a:lvl7pPr marL="2133150" indent="0">
              <a:buNone/>
              <a:defRPr sz="700"/>
            </a:lvl7pPr>
            <a:lvl8pPr marL="2488674" indent="0">
              <a:buNone/>
              <a:defRPr sz="700"/>
            </a:lvl8pPr>
            <a:lvl9pPr marL="2844200" indent="0">
              <a:buNone/>
              <a:defRPr sz="7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7" name="Rectangle 6"/>
          <p:cNvSpPr>
            <a:spLocks noGrp="1" noChangeArrowheads="1"/>
          </p:cNvSpPr>
          <p:nvPr>
            <p:ph type="sldNum" sz="quarter" idx="12"/>
          </p:nvPr>
        </p:nvSpPr>
        <p:spPr>
          <a:ln/>
        </p:spPr>
        <p:txBody>
          <a:bodyPr/>
          <a:lstStyle>
            <a:lvl1pPr>
              <a:defRPr/>
            </a:lvl1pPr>
          </a:lstStyle>
          <a:p>
            <a:pPr>
              <a:defRPr/>
            </a:pPr>
            <a:fld id="{C5F98600-7B0F-4E4C-8790-DF8E28D7AD4B}"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3A567909-14B6-4E2D-963E-5192164B3827}"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082" y="242328"/>
            <a:ext cx="2056946" cy="516311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6976" y="242328"/>
            <a:ext cx="6064250" cy="516311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887476F3-F3E4-41C3-ACDF-EE84262D69B7}"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6975" y="242347"/>
            <a:ext cx="8230054" cy="1008529"/>
          </a:xfrm>
        </p:spPr>
        <p:txBody>
          <a:bodyPr/>
          <a:lstStyle/>
          <a:p>
            <a:r>
              <a:rPr lang="en-US"/>
              <a:t>Click to edit Master title style</a:t>
            </a:r>
          </a:p>
        </p:txBody>
      </p:sp>
      <p:sp>
        <p:nvSpPr>
          <p:cNvPr id="3" name="SmartArt Placeholder 2"/>
          <p:cNvSpPr>
            <a:spLocks noGrp="1"/>
          </p:cNvSpPr>
          <p:nvPr>
            <p:ph type="dgm" idx="1"/>
          </p:nvPr>
        </p:nvSpPr>
        <p:spPr>
          <a:xfrm>
            <a:off x="456975" y="1411961"/>
            <a:ext cx="8230054" cy="3993497"/>
          </a:xfrm>
        </p:spPr>
        <p:txBody>
          <a:bodyPr lIns="71105" tIns="35552" rIns="71105" bIns="35552"/>
          <a:lstStyle/>
          <a:p>
            <a:pPr lvl="0"/>
            <a:endParaRPr lang="en-US" noProof="0" dirty="0"/>
          </a:p>
        </p:txBody>
      </p:sp>
      <p:sp>
        <p:nvSpPr>
          <p:cNvPr id="5"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6" name="Rectangle 6"/>
          <p:cNvSpPr>
            <a:spLocks noGrp="1" noChangeArrowheads="1"/>
          </p:cNvSpPr>
          <p:nvPr>
            <p:ph type="sldNum" sz="quarter" idx="12"/>
          </p:nvPr>
        </p:nvSpPr>
        <p:spPr>
          <a:ln/>
        </p:spPr>
        <p:txBody>
          <a:bodyPr/>
          <a:lstStyle>
            <a:lvl1pPr>
              <a:defRPr/>
            </a:lvl1pPr>
          </a:lstStyle>
          <a:p>
            <a:pPr>
              <a:defRPr/>
            </a:pPr>
            <a:fld id="{BFF806ED-D761-4B05-80C5-C02FCBC1268F}"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6975" y="274545"/>
            <a:ext cx="8230054" cy="5852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dirty="0">
                <a:solidFill>
                  <a:srgbClr val="000000"/>
                </a:solidFill>
              </a:rPr>
              <a:t>UNCLASSIFIED/FOUO</a:t>
            </a:r>
          </a:p>
        </p:txBody>
      </p:sp>
      <p:sp>
        <p:nvSpPr>
          <p:cNvPr id="5" name="Rectangle 6"/>
          <p:cNvSpPr>
            <a:spLocks noGrp="1" noChangeArrowheads="1"/>
          </p:cNvSpPr>
          <p:nvPr>
            <p:ph type="sldNum" sz="quarter" idx="12"/>
          </p:nvPr>
        </p:nvSpPr>
        <p:spPr>
          <a:ln/>
        </p:spPr>
        <p:txBody>
          <a:bodyPr/>
          <a:lstStyle>
            <a:lvl1pPr>
              <a:defRPr/>
            </a:lvl1pPr>
          </a:lstStyle>
          <a:p>
            <a:pPr>
              <a:defRPr/>
            </a:pPr>
            <a:fld id="{F5C61DD6-176E-4D3B-BAE5-9B79FCDFC724}"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653661" y="274545"/>
            <a:ext cx="1033368" cy="971366"/>
          </a:xfrm>
          <a:prstGeom prst="rect">
            <a:avLst/>
          </a:prstGeom>
        </p:spPr>
      </p:pic>
      <p:sp>
        <p:nvSpPr>
          <p:cNvPr id="1026" name="Rectangle 2"/>
          <p:cNvSpPr>
            <a:spLocks noGrp="1" noChangeArrowheads="1"/>
          </p:cNvSpPr>
          <p:nvPr>
            <p:ph type="title"/>
          </p:nvPr>
        </p:nvSpPr>
        <p:spPr bwMode="auto">
          <a:xfrm>
            <a:off x="456975" y="274544"/>
            <a:ext cx="8230054" cy="1143000"/>
          </a:xfrm>
          <a:prstGeom prst="rect">
            <a:avLst/>
          </a:prstGeom>
          <a:noFill/>
          <a:ln w="9525">
            <a:noFill/>
            <a:miter lim="800000"/>
            <a:headEnd/>
            <a:tailEnd/>
          </a:ln>
        </p:spPr>
        <p:txBody>
          <a:bodyPr vert="horz" wrap="square" lIns="77905" tIns="38953" rIns="77905" bIns="38953"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6975" y="1601048"/>
            <a:ext cx="8230054" cy="4525775"/>
          </a:xfrm>
          <a:prstGeom prst="rect">
            <a:avLst/>
          </a:prstGeom>
          <a:noFill/>
          <a:ln w="9525">
            <a:noFill/>
            <a:miter lim="800000"/>
            <a:headEnd/>
            <a:tailEnd/>
          </a:ln>
        </p:spPr>
        <p:txBody>
          <a:bodyPr vert="horz" wrap="square" lIns="77905" tIns="38953" rIns="77905" bIns="38953"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3123975" y="6245879"/>
            <a:ext cx="2896054" cy="476250"/>
          </a:xfrm>
          <a:prstGeom prst="rect">
            <a:avLst/>
          </a:prstGeom>
          <a:noFill/>
          <a:ln w="9525">
            <a:noFill/>
            <a:miter lim="800000"/>
            <a:headEnd/>
            <a:tailEnd/>
          </a:ln>
        </p:spPr>
        <p:txBody>
          <a:bodyPr vert="horz" wrap="square" lIns="77905" tIns="38953" rIns="77905" bIns="38953" numCol="1" anchor="t" anchorCtr="0" compatLnSpc="1">
            <a:prstTxWarp prst="textNoShape">
              <a:avLst/>
            </a:prstTxWarp>
          </a:bodyPr>
          <a:lstStyle>
            <a:lvl1pPr algn="ctr">
              <a:defRPr sz="1600"/>
            </a:lvl1pPr>
          </a:lstStyle>
          <a:p>
            <a:pPr fontAlgn="base">
              <a:spcBef>
                <a:spcPct val="0"/>
              </a:spcBef>
              <a:spcAft>
                <a:spcPct val="0"/>
              </a:spcAft>
              <a:defRPr/>
            </a:pPr>
            <a:r>
              <a:rPr lang="en-US" dirty="0">
                <a:solidFill>
                  <a:srgbClr val="000000"/>
                </a:solidFill>
              </a:rPr>
              <a:t>UNCLASSIFIED/FOUO</a:t>
            </a:r>
          </a:p>
        </p:txBody>
      </p:sp>
      <p:sp>
        <p:nvSpPr>
          <p:cNvPr id="1030" name="Rectangle 6"/>
          <p:cNvSpPr>
            <a:spLocks noGrp="1" noChangeArrowheads="1"/>
          </p:cNvSpPr>
          <p:nvPr>
            <p:ph type="sldNum" sz="quarter" idx="4"/>
          </p:nvPr>
        </p:nvSpPr>
        <p:spPr bwMode="auto">
          <a:xfrm>
            <a:off x="6554109" y="6245879"/>
            <a:ext cx="2132920" cy="476250"/>
          </a:xfrm>
          <a:prstGeom prst="rect">
            <a:avLst/>
          </a:prstGeom>
          <a:noFill/>
          <a:ln w="9525">
            <a:noFill/>
            <a:miter lim="800000"/>
            <a:headEnd/>
            <a:tailEnd/>
          </a:ln>
        </p:spPr>
        <p:txBody>
          <a:bodyPr vert="horz" wrap="square" lIns="77905" tIns="38953" rIns="77905" bIns="38953" numCol="1" anchor="t" anchorCtr="0" compatLnSpc="1">
            <a:prstTxWarp prst="textNoShape">
              <a:avLst/>
            </a:prstTxWarp>
          </a:bodyPr>
          <a:lstStyle>
            <a:lvl1pPr algn="r">
              <a:defRPr sz="1200"/>
            </a:lvl1pPr>
          </a:lstStyle>
          <a:p>
            <a:pPr fontAlgn="base">
              <a:spcBef>
                <a:spcPct val="0"/>
              </a:spcBef>
              <a:spcAft>
                <a:spcPct val="0"/>
              </a:spcAft>
              <a:defRPr/>
            </a:pPr>
            <a:fld id="{4F9D4A0F-4FCF-4E13-A5AB-2BE87E8DE90C}" type="slidenum">
              <a:rPr lang="en-US">
                <a:solidFill>
                  <a:srgbClr val="000000"/>
                </a:solidFill>
              </a:rPr>
              <a:pPr fontAlgn="base">
                <a:spcBef>
                  <a:spcPct val="0"/>
                </a:spcBef>
                <a:spcAft>
                  <a:spcPct val="0"/>
                </a:spcAft>
                <a:defRPr/>
              </a:pPr>
              <a:t>‹#›</a:t>
            </a:fld>
            <a:endParaRPr lang="en-US" dirty="0">
              <a:solidFill>
                <a:srgbClr val="000000"/>
              </a:solidFill>
            </a:endParaRPr>
          </a:p>
        </p:txBody>
      </p:sp>
      <p:pic>
        <p:nvPicPr>
          <p:cNvPr id="4" name="Picture 3">
            <a:extLst>
              <a:ext uri="{FF2B5EF4-FFF2-40B4-BE49-F238E27FC236}">
                <a16:creationId xmlns:a16="http://schemas.microsoft.com/office/drawing/2014/main" id="{25C12817-7AB4-4099-84E8-9F31B7019D78}"/>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1" y="285750"/>
            <a:ext cx="870966" cy="102870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ctr" defTabSz="778945" rtl="0" eaLnBrk="0" fontAlgn="base" hangingPunct="0">
        <a:spcBef>
          <a:spcPct val="0"/>
        </a:spcBef>
        <a:spcAft>
          <a:spcPct val="0"/>
        </a:spcAft>
        <a:defRPr sz="3700">
          <a:solidFill>
            <a:schemeClr val="tx2"/>
          </a:solidFill>
          <a:latin typeface="+mj-lt"/>
          <a:ea typeface="+mj-ea"/>
          <a:cs typeface="+mj-cs"/>
        </a:defRPr>
      </a:lvl1pPr>
      <a:lvl2pPr algn="ctr" defTabSz="778945" rtl="0" eaLnBrk="0" fontAlgn="base" hangingPunct="0">
        <a:spcBef>
          <a:spcPct val="0"/>
        </a:spcBef>
        <a:spcAft>
          <a:spcPct val="0"/>
        </a:spcAft>
        <a:defRPr sz="3700">
          <a:solidFill>
            <a:schemeClr val="tx2"/>
          </a:solidFill>
          <a:latin typeface="Arial" charset="0"/>
        </a:defRPr>
      </a:lvl2pPr>
      <a:lvl3pPr algn="ctr" defTabSz="778945" rtl="0" eaLnBrk="0" fontAlgn="base" hangingPunct="0">
        <a:spcBef>
          <a:spcPct val="0"/>
        </a:spcBef>
        <a:spcAft>
          <a:spcPct val="0"/>
        </a:spcAft>
        <a:defRPr sz="3700">
          <a:solidFill>
            <a:schemeClr val="tx2"/>
          </a:solidFill>
          <a:latin typeface="Arial" charset="0"/>
        </a:defRPr>
      </a:lvl3pPr>
      <a:lvl4pPr algn="ctr" defTabSz="778945" rtl="0" eaLnBrk="0" fontAlgn="base" hangingPunct="0">
        <a:spcBef>
          <a:spcPct val="0"/>
        </a:spcBef>
        <a:spcAft>
          <a:spcPct val="0"/>
        </a:spcAft>
        <a:defRPr sz="3700">
          <a:solidFill>
            <a:schemeClr val="tx2"/>
          </a:solidFill>
          <a:latin typeface="Arial" charset="0"/>
        </a:defRPr>
      </a:lvl4pPr>
      <a:lvl5pPr algn="ctr" defTabSz="778945" rtl="0" eaLnBrk="0" fontAlgn="base" hangingPunct="0">
        <a:spcBef>
          <a:spcPct val="0"/>
        </a:spcBef>
        <a:spcAft>
          <a:spcPct val="0"/>
        </a:spcAft>
        <a:defRPr sz="3700">
          <a:solidFill>
            <a:schemeClr val="tx2"/>
          </a:solidFill>
          <a:latin typeface="Arial" charset="0"/>
        </a:defRPr>
      </a:lvl5pPr>
      <a:lvl6pPr marL="355525" algn="ctr" rtl="0" fontAlgn="base">
        <a:spcBef>
          <a:spcPct val="0"/>
        </a:spcBef>
        <a:spcAft>
          <a:spcPct val="0"/>
        </a:spcAft>
        <a:defRPr sz="3400">
          <a:solidFill>
            <a:schemeClr val="tx2"/>
          </a:solidFill>
          <a:latin typeface="Arial" charset="0"/>
        </a:defRPr>
      </a:lvl6pPr>
      <a:lvl7pPr marL="711050" algn="ctr" rtl="0" fontAlgn="base">
        <a:spcBef>
          <a:spcPct val="0"/>
        </a:spcBef>
        <a:spcAft>
          <a:spcPct val="0"/>
        </a:spcAft>
        <a:defRPr sz="3400">
          <a:solidFill>
            <a:schemeClr val="tx2"/>
          </a:solidFill>
          <a:latin typeface="Arial" charset="0"/>
        </a:defRPr>
      </a:lvl7pPr>
      <a:lvl8pPr marL="1066574" algn="ctr" rtl="0" fontAlgn="base">
        <a:spcBef>
          <a:spcPct val="0"/>
        </a:spcBef>
        <a:spcAft>
          <a:spcPct val="0"/>
        </a:spcAft>
        <a:defRPr sz="3400">
          <a:solidFill>
            <a:schemeClr val="tx2"/>
          </a:solidFill>
          <a:latin typeface="Arial" charset="0"/>
        </a:defRPr>
      </a:lvl8pPr>
      <a:lvl9pPr marL="1422100" algn="ctr" rtl="0" fontAlgn="base">
        <a:spcBef>
          <a:spcPct val="0"/>
        </a:spcBef>
        <a:spcAft>
          <a:spcPct val="0"/>
        </a:spcAft>
        <a:defRPr sz="3400">
          <a:solidFill>
            <a:schemeClr val="tx2"/>
          </a:solidFill>
          <a:latin typeface="Arial" charset="0"/>
        </a:defRPr>
      </a:lvl9pPr>
    </p:titleStyle>
    <p:body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p:bodyStyle>
    <p:otherStyle>
      <a:defPPr>
        <a:defRPr lang="en-US"/>
      </a:defPPr>
      <a:lvl1pPr marL="0" algn="l" defTabSz="711050" rtl="0" eaLnBrk="1" latinLnBrk="0" hangingPunct="1">
        <a:defRPr sz="1400" kern="1200">
          <a:solidFill>
            <a:schemeClr val="tx1"/>
          </a:solidFill>
          <a:latin typeface="+mn-lt"/>
          <a:ea typeface="+mn-ea"/>
          <a:cs typeface="+mn-cs"/>
        </a:defRPr>
      </a:lvl1pPr>
      <a:lvl2pPr marL="355525" algn="l" defTabSz="711050" rtl="0" eaLnBrk="1" latinLnBrk="0" hangingPunct="1">
        <a:defRPr sz="1400" kern="1200">
          <a:solidFill>
            <a:schemeClr val="tx1"/>
          </a:solidFill>
          <a:latin typeface="+mn-lt"/>
          <a:ea typeface="+mn-ea"/>
          <a:cs typeface="+mn-cs"/>
        </a:defRPr>
      </a:lvl2pPr>
      <a:lvl3pPr marL="711050" algn="l" defTabSz="711050" rtl="0" eaLnBrk="1" latinLnBrk="0" hangingPunct="1">
        <a:defRPr sz="1400" kern="1200">
          <a:solidFill>
            <a:schemeClr val="tx1"/>
          </a:solidFill>
          <a:latin typeface="+mn-lt"/>
          <a:ea typeface="+mn-ea"/>
          <a:cs typeface="+mn-cs"/>
        </a:defRPr>
      </a:lvl3pPr>
      <a:lvl4pPr marL="1066574" algn="l" defTabSz="711050" rtl="0" eaLnBrk="1" latinLnBrk="0" hangingPunct="1">
        <a:defRPr sz="1400" kern="1200">
          <a:solidFill>
            <a:schemeClr val="tx1"/>
          </a:solidFill>
          <a:latin typeface="+mn-lt"/>
          <a:ea typeface="+mn-ea"/>
          <a:cs typeface="+mn-cs"/>
        </a:defRPr>
      </a:lvl4pPr>
      <a:lvl5pPr marL="1422100" algn="l" defTabSz="711050" rtl="0" eaLnBrk="1" latinLnBrk="0" hangingPunct="1">
        <a:defRPr sz="1400" kern="1200">
          <a:solidFill>
            <a:schemeClr val="tx1"/>
          </a:solidFill>
          <a:latin typeface="+mn-lt"/>
          <a:ea typeface="+mn-ea"/>
          <a:cs typeface="+mn-cs"/>
        </a:defRPr>
      </a:lvl5pPr>
      <a:lvl6pPr marL="1777625" algn="l" defTabSz="711050" rtl="0" eaLnBrk="1" latinLnBrk="0" hangingPunct="1">
        <a:defRPr sz="1400" kern="1200">
          <a:solidFill>
            <a:schemeClr val="tx1"/>
          </a:solidFill>
          <a:latin typeface="+mn-lt"/>
          <a:ea typeface="+mn-ea"/>
          <a:cs typeface="+mn-cs"/>
        </a:defRPr>
      </a:lvl6pPr>
      <a:lvl7pPr marL="2133150" algn="l" defTabSz="711050" rtl="0" eaLnBrk="1" latinLnBrk="0" hangingPunct="1">
        <a:defRPr sz="1400" kern="1200">
          <a:solidFill>
            <a:schemeClr val="tx1"/>
          </a:solidFill>
          <a:latin typeface="+mn-lt"/>
          <a:ea typeface="+mn-ea"/>
          <a:cs typeface="+mn-cs"/>
        </a:defRPr>
      </a:lvl7pPr>
      <a:lvl8pPr marL="2488674" algn="l" defTabSz="711050" rtl="0" eaLnBrk="1" latinLnBrk="0" hangingPunct="1">
        <a:defRPr sz="1400" kern="1200">
          <a:solidFill>
            <a:schemeClr val="tx1"/>
          </a:solidFill>
          <a:latin typeface="+mn-lt"/>
          <a:ea typeface="+mn-ea"/>
          <a:cs typeface="+mn-cs"/>
        </a:defRPr>
      </a:lvl8pPr>
      <a:lvl9pPr marL="2844200" algn="l" defTabSz="71105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422_F6AA2B2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2A720-E000-4CC8-9364-9D100A0F1E9D}"/>
              </a:ext>
            </a:extLst>
          </p:cNvPr>
          <p:cNvSpPr>
            <a:spLocks noGrp="1"/>
          </p:cNvSpPr>
          <p:nvPr>
            <p:ph type="title"/>
          </p:nvPr>
        </p:nvSpPr>
        <p:spPr/>
        <p:txBody>
          <a:bodyPr/>
          <a:lstStyle/>
          <a:p>
            <a:r>
              <a:rPr lang="en-US" sz="2800" dirty="0">
                <a:cs typeface="Arial"/>
              </a:rPr>
              <a:t>CPT 173 Mission Briefing Template</a:t>
            </a:r>
          </a:p>
        </p:txBody>
      </p:sp>
      <p:sp>
        <p:nvSpPr>
          <p:cNvPr id="3" name="Content Placeholder 2">
            <a:extLst>
              <a:ext uri="{FF2B5EF4-FFF2-40B4-BE49-F238E27FC236}">
                <a16:creationId xmlns:a16="http://schemas.microsoft.com/office/drawing/2014/main" id="{55F3F15A-04C1-4A2A-B5F9-63530F107FAA}"/>
              </a:ext>
            </a:extLst>
          </p:cNvPr>
          <p:cNvSpPr>
            <a:spLocks noGrp="1"/>
          </p:cNvSpPr>
          <p:nvPr>
            <p:ph idx="1"/>
          </p:nvPr>
        </p:nvSpPr>
        <p:spPr/>
        <p:txBody>
          <a:bodyPr/>
          <a:lstStyle/>
          <a:p>
            <a:pPr marL="290830" indent="-290830"/>
            <a:r>
              <a:rPr lang="en-US" dirty="0">
                <a:cs typeface="Arial"/>
              </a:rPr>
              <a:t>Insert mission specific graphics and information here</a:t>
            </a:r>
          </a:p>
        </p:txBody>
      </p:sp>
    </p:spTree>
    <p:extLst>
      <p:ext uri="{BB962C8B-B14F-4D97-AF65-F5344CB8AC3E}">
        <p14:creationId xmlns:p14="http://schemas.microsoft.com/office/powerpoint/2010/main" val="4018672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B9705-2415-893E-79A7-95DD4FA0D4FD}"/>
              </a:ext>
            </a:extLst>
          </p:cNvPr>
          <p:cNvSpPr>
            <a:spLocks noGrp="1"/>
          </p:cNvSpPr>
          <p:nvPr>
            <p:ph type="title"/>
          </p:nvPr>
        </p:nvSpPr>
        <p:spPr/>
        <p:txBody>
          <a:bodyPr/>
          <a:lstStyle/>
          <a:p>
            <a:r>
              <a:rPr lang="en-US" dirty="0"/>
              <a:t>Core Tasks</a:t>
            </a:r>
          </a:p>
        </p:txBody>
      </p:sp>
      <p:sp>
        <p:nvSpPr>
          <p:cNvPr id="3" name="Content Placeholder 2">
            <a:extLst>
              <a:ext uri="{FF2B5EF4-FFF2-40B4-BE49-F238E27FC236}">
                <a16:creationId xmlns:a16="http://schemas.microsoft.com/office/drawing/2014/main" id="{20E869A7-A65B-DA87-C838-B78090AD5B2C}"/>
              </a:ext>
            </a:extLst>
          </p:cNvPr>
          <p:cNvSpPr>
            <a:spLocks noGrp="1"/>
          </p:cNvSpPr>
          <p:nvPr>
            <p:ph idx="1"/>
          </p:nvPr>
        </p:nvSpPr>
        <p:spPr/>
        <p:txBody>
          <a:bodyPr/>
          <a:lstStyle/>
          <a:p>
            <a:pPr marL="342900" indent="-342900">
              <a:buFont typeface="+mj-lt"/>
              <a:buAutoNum type="arabicPeriod"/>
            </a:pPr>
            <a:r>
              <a:rPr lang="en-US" sz="1800" dirty="0">
                <a:effectLst/>
                <a:latin typeface="Arial"/>
                <a:ea typeface="Times New Roman" panose="02020603050405020304" pitchFamily="18" charset="0"/>
                <a:cs typeface="Times New Roman"/>
              </a:rPr>
              <a:t>Receive and process orders.</a:t>
            </a:r>
          </a:p>
          <a:p>
            <a:pPr marL="342900" indent="-342900">
              <a:buAutoNum type="arabicPeriod"/>
            </a:pPr>
            <a:r>
              <a:rPr lang="en-US" sz="1800" dirty="0">
                <a:ea typeface="+mn-lt"/>
                <a:cs typeface="+mn-lt"/>
              </a:rPr>
              <a:t>Conduct mission planning and analysis.</a:t>
            </a:r>
            <a:endParaRPr lang="en-US" sz="1800">
              <a:latin typeface="Arial"/>
              <a:cs typeface="Times New Roman"/>
            </a:endParaRPr>
          </a:p>
          <a:p>
            <a:pPr marL="342900" indent="-342900">
              <a:buFontTx/>
              <a:buAutoNum type="arabicPeriod"/>
            </a:pPr>
            <a:r>
              <a:rPr lang="en-US" sz="1800" dirty="0">
                <a:ea typeface="+mn-lt"/>
                <a:cs typeface="+mn-lt"/>
              </a:rPr>
              <a:t>Evaluate the security posture of the operational environment</a:t>
            </a:r>
            <a:endParaRPr lang="en-US" sz="1800">
              <a:cs typeface="Arial"/>
            </a:endParaRPr>
          </a:p>
          <a:p>
            <a:pPr marL="342900" indent="-342900">
              <a:buFontTx/>
              <a:buAutoNum type="arabicPeriod"/>
            </a:pPr>
            <a:r>
              <a:rPr lang="en-US" sz="1800" dirty="0">
                <a:ea typeface="+mn-lt"/>
                <a:cs typeface="+mn-lt"/>
              </a:rPr>
              <a:t>Execute the mission plan</a:t>
            </a:r>
            <a:endParaRPr lang="en-US" sz="1800" dirty="0">
              <a:cs typeface="Arial"/>
            </a:endParaRPr>
          </a:p>
          <a:p>
            <a:pPr marL="342900" indent="-342900">
              <a:buFontTx/>
              <a:buAutoNum type="arabicPeriod"/>
            </a:pPr>
            <a:r>
              <a:rPr lang="en-US" sz="1800" dirty="0">
                <a:ea typeface="+mn-lt"/>
                <a:cs typeface="+mn-lt"/>
              </a:rPr>
              <a:t>Conduct or coordinate threat response actions.</a:t>
            </a:r>
            <a:endParaRPr lang="en-US" sz="1800">
              <a:cs typeface="Arial"/>
            </a:endParaRPr>
          </a:p>
          <a:p>
            <a:pPr marL="342900" indent="-342900">
              <a:buFontTx/>
              <a:buAutoNum type="arabicPeriod"/>
            </a:pPr>
            <a:r>
              <a:rPr lang="en-US" sz="1800" dirty="0">
                <a:ea typeface="+mn-lt"/>
                <a:cs typeface="+mn-lt"/>
              </a:rPr>
              <a:t>Conduct assessment actions</a:t>
            </a:r>
            <a:endParaRPr lang="en-US" sz="1800">
              <a:cs typeface="Arial"/>
            </a:endParaRPr>
          </a:p>
          <a:p>
            <a:pPr marL="342900" indent="-342900">
              <a:buFontTx/>
              <a:buAutoNum type="arabicPeriod"/>
            </a:pPr>
            <a:r>
              <a:rPr lang="en-US" sz="1800" dirty="0">
                <a:ea typeface="+mn-lt"/>
                <a:cs typeface="+mn-lt"/>
              </a:rPr>
              <a:t>Conduct reporting</a:t>
            </a:r>
            <a:endParaRPr lang="en-US" sz="1800" dirty="0">
              <a:cs typeface="Arial"/>
            </a:endParaRPr>
          </a:p>
          <a:p>
            <a:pPr marL="342900" indent="-342900">
              <a:buFont typeface="+mj-lt"/>
              <a:buAutoNum type="arabicPeriod"/>
            </a:pPr>
            <a:endParaRPr lang="en-US" dirty="0">
              <a:cs typeface="Arial"/>
            </a:endParaRPr>
          </a:p>
        </p:txBody>
      </p:sp>
    </p:spTree>
    <p:extLst>
      <p:ext uri="{BB962C8B-B14F-4D97-AF65-F5344CB8AC3E}">
        <p14:creationId xmlns:p14="http://schemas.microsoft.com/office/powerpoint/2010/main" val="663216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sz="3200" dirty="0"/>
              <a:t>Planning and Analysis Checklist</a:t>
            </a:r>
            <a:br>
              <a:rPr lang="en-US" sz="3200" dirty="0"/>
            </a:br>
            <a:r>
              <a:rPr lang="en-US" sz="3200" dirty="0"/>
              <a:t>(fix and fill ALL of them)</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396361283"/>
              </p:ext>
            </p:extLst>
          </p:nvPr>
        </p:nvGraphicFramePr>
        <p:xfrm>
          <a:off x="457200" y="1330736"/>
          <a:ext cx="8229600" cy="5247640"/>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ctr">
                        <a:lnSpc>
                          <a:spcPct val="100000"/>
                        </a:lnSpc>
                        <a:spcBef>
                          <a:spcPts val="0"/>
                        </a:spcBef>
                        <a:spcAft>
                          <a:spcPts val="0"/>
                        </a:spcAft>
                        <a:buNone/>
                      </a:pPr>
                      <a:r>
                        <a:rPr lang="en-US" sz="1100" b="1" i="0" u="none" strike="noStrike" kern="0" noProof="0" dirty="0">
                          <a:latin typeface="Arial"/>
                        </a:rPr>
                        <a:t>Core Task 2: </a:t>
                      </a:r>
                      <a:r>
                        <a:rPr lang="en-US" sz="1100" b="0" i="0" u="none" strike="noStrike" kern="0" noProof="0" dirty="0">
                          <a:latin typeface="Arial"/>
                        </a:rPr>
                        <a:t>Conduct mission planning and analysis </a:t>
                      </a:r>
                      <a:r>
                        <a:rPr lang="en-US" sz="1100" b="0" i="0" u="none" strike="noStrike" kern="0" noProof="0" dirty="0"/>
                        <a:t>[LE; SE; ME]</a:t>
                      </a:r>
                      <a:endParaRPr lang="en-US" b="0" dirty="0"/>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pPr marL="0" marR="0" lvl="0" indent="0" algn="l" rtl="0">
                        <a:lnSpc>
                          <a:spcPct val="100000"/>
                        </a:lnSpc>
                        <a:spcBef>
                          <a:spcPts val="0"/>
                        </a:spcBef>
                        <a:spcAft>
                          <a:spcPts val="0"/>
                        </a:spcAft>
                        <a:buClrTx/>
                        <a:buSzTx/>
                        <a:buFontTx/>
                        <a:buNone/>
                      </a:pPr>
                      <a:r>
                        <a:rPr lang="en-US" sz="1100" b="1" kern="0" dirty="0"/>
                        <a:t>CT2;ST1:</a:t>
                      </a:r>
                      <a:r>
                        <a:rPr lang="en-US" sz="1100" kern="0" dirty="0"/>
                        <a:t> Coordinate with customer and stakeholders to conduct mission planning [LE]</a:t>
                      </a:r>
                      <a:endParaRPr lang="en-US"/>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CT2;ST2: </a:t>
                      </a:r>
                      <a:r>
                        <a:rPr lang="en-US" sz="1100" dirty="0">
                          <a:effectLst/>
                          <a:latin typeface="+mn-lt"/>
                        </a:rPr>
                        <a:t>Integrate intelligence into mission planning. [ASA] </a:t>
                      </a:r>
                      <a:endParaRPr lang="en-US" sz="1100" b="1" dirty="0">
                        <a:effectLst/>
                        <a:latin typeface="+mn-lt"/>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CT2;ST3: </a:t>
                      </a:r>
                      <a:r>
                        <a:rPr lang="en-US" sz="1100" b="0" i="0" u="none" strike="noStrike" noProof="0">
                          <a:effectLst/>
                        </a:rPr>
                        <a:t>Verify required authority to operate on the network. [PLNR; 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119189219"/>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CT2;ST4: </a:t>
                      </a:r>
                      <a:r>
                        <a:rPr lang="en-US" sz="1100" b="0" i="0" u="none" strike="noStrike" noProof="0">
                          <a:effectLst/>
                        </a:rPr>
                        <a:t>Develop intelligence plans. [ASA]</a:t>
                      </a:r>
                      <a:endParaRPr lang="en-US"/>
                    </a:p>
                  </a:txBody>
                  <a:tcPr/>
                </a:tc>
                <a:tc>
                  <a:txBody>
                    <a:bodyPr/>
                    <a:lstStyle/>
                    <a:p>
                      <a:endParaRPr lang="en-US" sz="1100">
                        <a:latin typeface="+mn-lt"/>
                      </a:endParaRPr>
                    </a:p>
                  </a:txBody>
                  <a:tcPr/>
                </a:tc>
                <a:extLst>
                  <a:ext uri="{0D108BD9-81ED-4DB2-BD59-A6C34878D82A}">
                    <a16:rowId xmlns:a16="http://schemas.microsoft.com/office/drawing/2014/main" val="1251428874"/>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CT2;ST5: </a:t>
                      </a:r>
                      <a:r>
                        <a:rPr lang="en-US" sz="1100" b="0" i="0" u="none" strike="noStrike" noProof="0">
                          <a:effectLst/>
                        </a:rPr>
                        <a:t>Obtain network and host baseline documentation. [PLNR; 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1330486238"/>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CT2;ST6: </a:t>
                      </a:r>
                      <a:r>
                        <a:rPr lang="en-US" sz="1100" b="0" i="0" u="none" strike="noStrike" noProof="0">
                          <a:effectLst/>
                        </a:rPr>
                        <a:t>Develop prioritized specified terrain cyber. [TL; PLNR; ASA; ME]</a:t>
                      </a:r>
                      <a:endParaRPr lang="en-US"/>
                    </a:p>
                  </a:txBody>
                  <a:tcPr/>
                </a:tc>
                <a:tc>
                  <a:txBody>
                    <a:bodyPr/>
                    <a:lstStyle/>
                    <a:p>
                      <a:endParaRPr lang="en-US" sz="1100">
                        <a:latin typeface="+mn-lt"/>
                      </a:endParaRPr>
                    </a:p>
                  </a:txBody>
                  <a:tcPr/>
                </a:tc>
                <a:extLst>
                  <a:ext uri="{0D108BD9-81ED-4DB2-BD59-A6C34878D82A}">
                    <a16:rowId xmlns:a16="http://schemas.microsoft.com/office/drawing/2014/main" val="4125846812"/>
                  </a:ext>
                </a:extLst>
              </a:tr>
              <a:tr h="370840">
                <a:tc>
                  <a:txBody>
                    <a:bodyPr/>
                    <a:lstStyle/>
                    <a:p>
                      <a:pPr marL="0" marR="0" lvl="0" indent="0" algn="l">
                        <a:lnSpc>
                          <a:spcPct val="100000"/>
                        </a:lnSpc>
                        <a:spcBef>
                          <a:spcPts val="0"/>
                        </a:spcBef>
                        <a:spcAft>
                          <a:spcPts val="0"/>
                        </a:spcAft>
                        <a:buNone/>
                      </a:pPr>
                      <a:r>
                        <a:rPr lang="en-US" sz="1100" b="1" i="0" u="none" strike="noStrike" noProof="0">
                          <a:effectLst/>
                          <a:latin typeface="Arial"/>
                        </a:rPr>
                        <a:t>CT2;ST7: </a:t>
                      </a:r>
                      <a:r>
                        <a:rPr lang="en-US" sz="1100" b="0" i="0" u="none" strike="noStrike" noProof="0">
                          <a:effectLst/>
                        </a:rPr>
                        <a:t>Develop data analysis plan. [ASO or DE]</a:t>
                      </a:r>
                      <a:endParaRPr lang="en-US"/>
                    </a:p>
                  </a:txBody>
                  <a:tcPr/>
                </a:tc>
                <a:tc>
                  <a:txBody>
                    <a:bodyPr/>
                    <a:lstStyle/>
                    <a:p>
                      <a:endParaRPr lang="en-US" sz="1100">
                        <a:latin typeface="+mn-lt"/>
                      </a:endParaRPr>
                    </a:p>
                  </a:txBody>
                  <a:tcPr/>
                </a:tc>
                <a:extLst>
                  <a:ext uri="{0D108BD9-81ED-4DB2-BD59-A6C34878D82A}">
                    <a16:rowId xmlns:a16="http://schemas.microsoft.com/office/drawing/2014/main" val="245509303"/>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ST8: </a:t>
                      </a:r>
                      <a:r>
                        <a:rPr lang="en-US" sz="1100" dirty="0">
                          <a:effectLst/>
                          <a:latin typeface="+mn-lt"/>
                        </a:rPr>
                        <a:t>Conduct mission analysis. [PLNR; 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3960374064"/>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ST9: </a:t>
                      </a:r>
                      <a:r>
                        <a:rPr lang="en-US" sz="1100" dirty="0">
                          <a:effectLst/>
                          <a:latin typeface="+mn-lt"/>
                        </a:rPr>
                        <a:t>Evaluate mission requirements for needed skill sets and capacity. [Master Host &amp; Network Analyst]</a:t>
                      </a:r>
                      <a:endParaRPr lang="en-US"/>
                    </a:p>
                  </a:txBody>
                  <a:tcPr/>
                </a:tc>
                <a:tc>
                  <a:txBody>
                    <a:bodyPr/>
                    <a:lstStyle/>
                    <a:p>
                      <a:endParaRPr lang="en-US" sz="1100">
                        <a:latin typeface="+mn-lt"/>
                      </a:endParaRPr>
                    </a:p>
                  </a:txBody>
                  <a:tcPr/>
                </a:tc>
                <a:extLst>
                  <a:ext uri="{0D108BD9-81ED-4DB2-BD59-A6C34878D82A}">
                    <a16:rowId xmlns:a16="http://schemas.microsoft.com/office/drawing/2014/main" val="746765609"/>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ST10: </a:t>
                      </a:r>
                      <a:r>
                        <a:rPr lang="en-US" sz="1100" dirty="0">
                          <a:effectLst/>
                          <a:latin typeface="+mn-lt"/>
                        </a:rPr>
                        <a:t>Align</a:t>
                      </a:r>
                      <a:r>
                        <a:rPr lang="en-US" sz="1100" spc="-125" dirty="0">
                          <a:effectLst/>
                          <a:latin typeface="+mn-lt"/>
                        </a:rPr>
                        <a:t> </a:t>
                      </a:r>
                      <a:r>
                        <a:rPr lang="en-US" sz="1100" dirty="0">
                          <a:effectLst/>
                          <a:latin typeface="+mn-lt"/>
                        </a:rPr>
                        <a:t>skillsets</a:t>
                      </a:r>
                      <a:r>
                        <a:rPr lang="en-US" sz="1100" spc="-80" dirty="0">
                          <a:effectLst/>
                          <a:latin typeface="+mn-lt"/>
                        </a:rPr>
                        <a:t> </a:t>
                      </a:r>
                      <a:r>
                        <a:rPr lang="en-US" sz="1100" dirty="0">
                          <a:effectLst/>
                          <a:latin typeface="+mn-lt"/>
                        </a:rPr>
                        <a:t>and</a:t>
                      </a:r>
                      <a:r>
                        <a:rPr lang="en-US" sz="1100" spc="-110" dirty="0">
                          <a:effectLst/>
                          <a:latin typeface="+mn-lt"/>
                        </a:rPr>
                        <a:t> </a:t>
                      </a:r>
                      <a:r>
                        <a:rPr lang="en-US" sz="1100" dirty="0">
                          <a:effectLst/>
                          <a:latin typeface="+mn-lt"/>
                        </a:rPr>
                        <a:t>capabilities</a:t>
                      </a:r>
                      <a:r>
                        <a:rPr lang="en-US" sz="1100" spc="-75" dirty="0">
                          <a:effectLst/>
                          <a:latin typeface="+mn-lt"/>
                        </a:rPr>
                        <a:t> </a:t>
                      </a:r>
                      <a:r>
                        <a:rPr lang="en-US" sz="1100" dirty="0">
                          <a:effectLst/>
                          <a:latin typeface="+mn-lt"/>
                        </a:rPr>
                        <a:t>to</a:t>
                      </a:r>
                      <a:r>
                        <a:rPr lang="en-US" sz="1100" spc="-90" dirty="0">
                          <a:effectLst/>
                          <a:latin typeface="+mn-lt"/>
                        </a:rPr>
                        <a:t> </a:t>
                      </a:r>
                      <a:r>
                        <a:rPr lang="en-US" sz="1100" dirty="0">
                          <a:effectLst/>
                          <a:latin typeface="+mn-lt"/>
                        </a:rPr>
                        <a:t>satisfy</a:t>
                      </a:r>
                      <a:r>
                        <a:rPr lang="en-US" sz="1100" spc="-120" dirty="0">
                          <a:effectLst/>
                          <a:latin typeface="+mn-lt"/>
                        </a:rPr>
                        <a:t> </a:t>
                      </a:r>
                      <a:r>
                        <a:rPr lang="en-US" sz="1100" dirty="0">
                          <a:effectLst/>
                          <a:latin typeface="+mn-lt"/>
                        </a:rPr>
                        <a:t>mission</a:t>
                      </a:r>
                      <a:r>
                        <a:rPr lang="en-US" sz="1100" spc="-65" dirty="0">
                          <a:effectLst/>
                          <a:latin typeface="+mn-lt"/>
                        </a:rPr>
                        <a:t> </a:t>
                      </a:r>
                      <a:r>
                        <a:rPr lang="en-US" sz="1100" dirty="0">
                          <a:effectLst/>
                          <a:latin typeface="+mn-lt"/>
                        </a:rPr>
                        <a:t>requirements. [TL;</a:t>
                      </a:r>
                      <a:r>
                        <a:rPr lang="en-US" sz="1100" spc="-40" dirty="0">
                          <a:effectLst/>
                          <a:latin typeface="+mn-lt"/>
                        </a:rPr>
                        <a:t> </a:t>
                      </a:r>
                      <a:r>
                        <a:rPr lang="en-US" sz="1100" dirty="0">
                          <a:effectLst/>
                          <a:latin typeface="+mn-lt"/>
                        </a:rPr>
                        <a:t>OPSO]</a:t>
                      </a:r>
                      <a:endParaRPr lang="en-US"/>
                    </a:p>
                  </a:txBody>
                  <a:tcPr/>
                </a:tc>
                <a:tc>
                  <a:txBody>
                    <a:bodyPr/>
                    <a:lstStyle/>
                    <a:p>
                      <a:endParaRPr lang="en-US" sz="1100">
                        <a:latin typeface="+mn-lt"/>
                      </a:endParaRPr>
                    </a:p>
                  </a:txBody>
                  <a:tcPr/>
                </a:tc>
                <a:extLst>
                  <a:ext uri="{0D108BD9-81ED-4DB2-BD59-A6C34878D82A}">
                    <a16:rowId xmlns:a16="http://schemas.microsoft.com/office/drawing/2014/main" val="859548469"/>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ST11:</a:t>
                      </a:r>
                      <a:r>
                        <a:rPr lang="en-US" sz="1100" b="1" spc="90" dirty="0">
                          <a:effectLst/>
                          <a:latin typeface="+mn-lt"/>
                        </a:rPr>
                        <a:t> </a:t>
                      </a:r>
                      <a:r>
                        <a:rPr lang="en-US" sz="1100" dirty="0">
                          <a:effectLst/>
                          <a:latin typeface="+mn-lt"/>
                        </a:rPr>
                        <a:t>Evaluate</a:t>
                      </a:r>
                      <a:r>
                        <a:rPr lang="en-US" sz="1100" spc="-90" dirty="0">
                          <a:effectLst/>
                          <a:latin typeface="+mn-lt"/>
                        </a:rPr>
                        <a:t> </a:t>
                      </a:r>
                      <a:r>
                        <a:rPr lang="en-US" sz="1100" dirty="0">
                          <a:effectLst/>
                          <a:latin typeface="+mn-lt"/>
                        </a:rPr>
                        <a:t>collective</a:t>
                      </a:r>
                      <a:r>
                        <a:rPr lang="en-US" sz="1100" spc="-65" dirty="0">
                          <a:effectLst/>
                          <a:latin typeface="+mn-lt"/>
                        </a:rPr>
                        <a:t> </a:t>
                      </a:r>
                      <a:r>
                        <a:rPr lang="en-US" sz="1100" dirty="0">
                          <a:effectLst/>
                          <a:latin typeface="+mn-lt"/>
                        </a:rPr>
                        <a:t>(i.e.</a:t>
                      </a:r>
                      <a:r>
                        <a:rPr lang="en-US" sz="1100" spc="-140" dirty="0">
                          <a:effectLst/>
                          <a:latin typeface="+mn-lt"/>
                        </a:rPr>
                        <a:t> </a:t>
                      </a:r>
                      <a:r>
                        <a:rPr lang="en-US" sz="1100" dirty="0">
                          <a:effectLst/>
                          <a:latin typeface="+mn-lt"/>
                        </a:rPr>
                        <a:t>crew,</a:t>
                      </a:r>
                      <a:r>
                        <a:rPr lang="en-US" sz="1100" spc="-85" dirty="0">
                          <a:effectLst/>
                          <a:latin typeface="+mn-lt"/>
                        </a:rPr>
                        <a:t> </a:t>
                      </a:r>
                      <a:r>
                        <a:rPr lang="en-US" sz="1100" dirty="0">
                          <a:effectLst/>
                          <a:latin typeface="+mn-lt"/>
                        </a:rPr>
                        <a:t>mission</a:t>
                      </a:r>
                      <a:r>
                        <a:rPr lang="en-US" sz="1100" spc="-85" dirty="0">
                          <a:effectLst/>
                          <a:latin typeface="+mn-lt"/>
                        </a:rPr>
                        <a:t> </a:t>
                      </a:r>
                      <a:r>
                        <a:rPr lang="en-US" sz="1100" dirty="0">
                          <a:effectLst/>
                          <a:latin typeface="+mn-lt"/>
                        </a:rPr>
                        <a:t>element,</a:t>
                      </a:r>
                      <a:r>
                        <a:rPr lang="en-US" sz="1100" spc="-95" dirty="0">
                          <a:effectLst/>
                          <a:latin typeface="+mn-lt"/>
                        </a:rPr>
                        <a:t> </a:t>
                      </a:r>
                      <a:r>
                        <a:rPr lang="en-US" sz="1100" dirty="0">
                          <a:effectLst/>
                          <a:latin typeface="+mn-lt"/>
                        </a:rPr>
                        <a:t>etc.)</a:t>
                      </a:r>
                      <a:r>
                        <a:rPr lang="en-US" sz="1100" spc="-100" dirty="0">
                          <a:effectLst/>
                          <a:latin typeface="+mn-lt"/>
                        </a:rPr>
                        <a:t> </a:t>
                      </a:r>
                      <a:r>
                        <a:rPr lang="en-US" sz="1100" dirty="0">
                          <a:effectLst/>
                          <a:latin typeface="+mn-lt"/>
                        </a:rPr>
                        <a:t>capabilities to meet mission requirements. </a:t>
                      </a:r>
                      <a:r>
                        <a:rPr lang="en-US" sz="1100" dirty="0">
                          <a:effectLst/>
                          <a:latin typeface="+mn-lt"/>
                          <a:cs typeface="Times New Roman"/>
                        </a:rPr>
                        <a:t>[ME </a:t>
                      </a:r>
                      <a:r>
                        <a:rPr lang="en-US" sz="1100" dirty="0">
                          <a:effectLst/>
                          <a:latin typeface="+mn-lt"/>
                        </a:rPr>
                        <a:t>Lead;</a:t>
                      </a:r>
                      <a:r>
                        <a:rPr lang="en-US" sz="1100" spc="-20" dirty="0">
                          <a:effectLst/>
                          <a:latin typeface="+mn-lt"/>
                        </a:rPr>
                        <a:t> </a:t>
                      </a:r>
                      <a:r>
                        <a:rPr lang="en-US" sz="1100" dirty="0">
                          <a:effectLst/>
                          <a:latin typeface="+mn-lt"/>
                        </a:rPr>
                        <a:t>OPSO]</a:t>
                      </a:r>
                      <a:endParaRPr lang="en-US"/>
                    </a:p>
                  </a:txBody>
                  <a:tcPr/>
                </a:tc>
                <a:tc>
                  <a:txBody>
                    <a:bodyPr/>
                    <a:lstStyle/>
                    <a:p>
                      <a:endParaRPr lang="en-US" sz="1100" dirty="0">
                        <a:latin typeface="+mn-lt"/>
                      </a:endParaRPr>
                    </a:p>
                  </a:txBody>
                  <a:tcPr/>
                </a:tc>
                <a:extLst>
                  <a:ext uri="{0D108BD9-81ED-4DB2-BD59-A6C34878D82A}">
                    <a16:rowId xmlns:a16="http://schemas.microsoft.com/office/drawing/2014/main" val="3947516828"/>
                  </a:ext>
                </a:extLst>
              </a:tr>
              <a:tr h="370840">
                <a:tc>
                  <a:txBody>
                    <a:bodyPr/>
                    <a:lstStyle/>
                    <a:p>
                      <a:pPr marL="0" marR="0" lvl="0" indent="0" algn="l" rtl="0">
                        <a:lnSpc>
                          <a:spcPct val="100000"/>
                        </a:lnSpc>
                        <a:spcBef>
                          <a:spcPts val="0"/>
                        </a:spcBef>
                        <a:spcAft>
                          <a:spcPts val="0"/>
                        </a:spcAft>
                        <a:buClrTx/>
                        <a:buSzTx/>
                        <a:buFontTx/>
                        <a:buNone/>
                      </a:pPr>
                      <a:r>
                        <a:rPr lang="en-US" sz="1100" b="1" dirty="0">
                          <a:effectLst/>
                          <a:latin typeface="+mn-lt"/>
                        </a:rPr>
                        <a:t>CT2</a:t>
                      </a:r>
                      <a:r>
                        <a:rPr lang="en-US" sz="1100" b="1" dirty="0">
                          <a:latin typeface="+mn-lt"/>
                        </a:rPr>
                        <a:t>;</a:t>
                      </a:r>
                      <a:r>
                        <a:rPr lang="en-US" sz="1100" b="1" dirty="0">
                          <a:effectLst/>
                          <a:latin typeface="+mn-lt"/>
                        </a:rPr>
                        <a:t>ST12: </a:t>
                      </a:r>
                      <a:r>
                        <a:rPr lang="en-US" sz="1100" dirty="0">
                          <a:effectLst/>
                          <a:latin typeface="+mn-lt"/>
                        </a:rPr>
                        <a:t>Align collective (i.e. crew, mission element, etc.) capabilities to meet mission requirements. [TL; OPSO]</a:t>
                      </a:r>
                      <a:endParaRPr lang="en-US"/>
                    </a:p>
                  </a:txBody>
                  <a:tcPr/>
                </a:tc>
                <a:tc>
                  <a:txBody>
                    <a:bodyPr/>
                    <a:lstStyle/>
                    <a:p>
                      <a:endParaRPr lang="en-US" sz="1100" dirty="0">
                        <a:latin typeface="+mn-lt"/>
                      </a:endParaRPr>
                    </a:p>
                  </a:txBody>
                  <a:tcPr/>
                </a:tc>
                <a:extLst>
                  <a:ext uri="{0D108BD9-81ED-4DB2-BD59-A6C34878D82A}">
                    <a16:rowId xmlns:a16="http://schemas.microsoft.com/office/drawing/2014/main" val="3799305643"/>
                  </a:ext>
                </a:extLst>
              </a:tr>
            </a:tbl>
          </a:graphicData>
        </a:graphic>
      </p:graphicFrame>
    </p:spTree>
    <p:extLst>
      <p:ext uri="{BB962C8B-B14F-4D97-AF65-F5344CB8AC3E}">
        <p14:creationId xmlns:p14="http://schemas.microsoft.com/office/powerpoint/2010/main" val="2031167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sz="3200" dirty="0"/>
              <a:t>Planning and Analysis Checklist</a:t>
            </a:r>
            <a:br>
              <a:rPr lang="en-US" sz="3200" dirty="0"/>
            </a:br>
            <a:r>
              <a:rPr lang="en-US" sz="3200" dirty="0"/>
              <a:t>(fix and fill ALL of them)</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655384152"/>
              </p:ext>
            </p:extLst>
          </p:nvPr>
        </p:nvGraphicFramePr>
        <p:xfrm>
          <a:off x="457200" y="1330736"/>
          <a:ext cx="8229600" cy="2707639"/>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39">
                <a:tc>
                  <a:txBody>
                    <a:bodyPr/>
                    <a:lstStyle/>
                    <a:p>
                      <a:pPr lvl="0" algn="l">
                        <a:lnSpc>
                          <a:spcPct val="100000"/>
                        </a:lnSpc>
                        <a:spcBef>
                          <a:spcPts val="0"/>
                        </a:spcBef>
                        <a:spcAft>
                          <a:spcPts val="0"/>
                        </a:spcAft>
                        <a:buNone/>
                      </a:pPr>
                      <a:r>
                        <a:rPr lang="en-US" sz="1100" b="1" i="0" u="none" strike="noStrike" noProof="0" dirty="0">
                          <a:effectLst/>
                          <a:latin typeface="Arial"/>
                        </a:rPr>
                        <a:t>CT2;ST13: </a:t>
                      </a:r>
                      <a:r>
                        <a:rPr lang="en-US" sz="1100" b="0" i="0" u="none" strike="noStrike" noProof="0" dirty="0">
                          <a:effectLst/>
                          <a:latin typeface="Arial"/>
                        </a:rPr>
                        <a:t>Conduct mission-specific pre-deployment training. [NCOIC]</a:t>
                      </a:r>
                      <a:endParaRPr lang="en-US" sz="1100" b="0" i="0" u="none" strike="noStrike" noProof="0" dirty="0">
                        <a:effectLst/>
                      </a:endParaRPr>
                    </a:p>
                  </a:txBody>
                  <a:tcPr/>
                </a:tc>
                <a:tc>
                  <a:txBody>
                    <a:bodyPr/>
                    <a:lstStyle/>
                    <a:p>
                      <a:pPr lvl="0">
                        <a:buNone/>
                      </a:pPr>
                      <a:endParaRPr lang="en-US" sz="1100" dirty="0">
                        <a:latin typeface="+mn-lt"/>
                      </a:endParaRPr>
                    </a:p>
                  </a:txBody>
                  <a:tcPr/>
                </a:tc>
                <a:extLst>
                  <a:ext uri="{0D108BD9-81ED-4DB2-BD59-A6C34878D82A}">
                    <a16:rowId xmlns:a16="http://schemas.microsoft.com/office/drawing/2014/main" val="145604835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ST14: </a:t>
                      </a:r>
                      <a:r>
                        <a:rPr lang="en-US" sz="1100" dirty="0">
                          <a:effectLst/>
                          <a:latin typeface="+mn-lt"/>
                          <a:ea typeface="Times New Roman" panose="02020603050405020304" pitchFamily="18" charset="0"/>
                        </a:rPr>
                        <a:t>Prepare</a:t>
                      </a:r>
                      <a:r>
                        <a:rPr lang="en-US" sz="1100" spc="-70" dirty="0">
                          <a:effectLst/>
                          <a:latin typeface="+mn-lt"/>
                          <a:ea typeface="Times New Roman" panose="02020603050405020304" pitchFamily="18" charset="0"/>
                        </a:rPr>
                        <a:t> </a:t>
                      </a:r>
                      <a:r>
                        <a:rPr lang="en-US" sz="1100" dirty="0">
                          <a:effectLst/>
                          <a:latin typeface="+mn-lt"/>
                          <a:ea typeface="Times New Roman" panose="02020603050405020304" pitchFamily="18" charset="0"/>
                        </a:rPr>
                        <a:t>equipment</a:t>
                      </a:r>
                      <a:r>
                        <a:rPr lang="en-US" sz="1100" spc="-75" dirty="0">
                          <a:effectLst/>
                          <a:latin typeface="+mn-lt"/>
                          <a:ea typeface="Times New Roman" panose="02020603050405020304" pitchFamily="18" charset="0"/>
                        </a:rPr>
                        <a:t> </a:t>
                      </a:r>
                      <a:r>
                        <a:rPr lang="en-US" sz="1100" dirty="0">
                          <a:effectLst/>
                          <a:latin typeface="+mn-lt"/>
                          <a:ea typeface="Times New Roman" panose="02020603050405020304" pitchFamily="18" charset="0"/>
                        </a:rPr>
                        <a:t>for</a:t>
                      </a:r>
                      <a:r>
                        <a:rPr lang="en-US" sz="1100" spc="-115" dirty="0">
                          <a:effectLst/>
                          <a:latin typeface="+mn-lt"/>
                          <a:ea typeface="Times New Roman" panose="02020603050405020304" pitchFamily="18" charset="0"/>
                        </a:rPr>
                        <a:t> </a:t>
                      </a:r>
                      <a:r>
                        <a:rPr lang="en-US" sz="1100" dirty="0">
                          <a:effectLst/>
                          <a:latin typeface="+mn-lt"/>
                          <a:ea typeface="Times New Roman" panose="02020603050405020304" pitchFamily="18" charset="0"/>
                        </a:rPr>
                        <a:t>deployment.</a:t>
                      </a:r>
                      <a:r>
                        <a:rPr lang="en-US" sz="1100" spc="-40" dirty="0">
                          <a:effectLst/>
                          <a:latin typeface="+mn-lt"/>
                          <a:ea typeface="Times New Roman" panose="02020603050405020304" pitchFamily="18" charset="0"/>
                        </a:rPr>
                        <a:t> </a:t>
                      </a:r>
                      <a:r>
                        <a:rPr lang="en-US" sz="1100" dirty="0">
                          <a:effectLst/>
                          <a:latin typeface="+mn-lt"/>
                          <a:ea typeface="Times New Roman" panose="02020603050405020304" pitchFamily="18" charset="0"/>
                        </a:rPr>
                        <a:t>[PLNR;</a:t>
                      </a:r>
                      <a:r>
                        <a:rPr lang="en-US" sz="1100" spc="-85" dirty="0">
                          <a:effectLst/>
                          <a:latin typeface="+mn-lt"/>
                          <a:ea typeface="Times New Roman" panose="02020603050405020304" pitchFamily="18" charset="0"/>
                        </a:rPr>
                        <a:t> </a:t>
                      </a:r>
                      <a:r>
                        <a:rPr lang="en-US" sz="1100" dirty="0">
                          <a:effectLst/>
                          <a:latin typeface="+mn-lt"/>
                          <a:ea typeface="Times New Roman" panose="02020603050405020304" pitchFamily="18" charset="0"/>
                        </a:rPr>
                        <a:t>SE</a:t>
                      </a:r>
                      <a:r>
                        <a:rPr lang="en-US" sz="1100" spc="-90" dirty="0">
                          <a:effectLst/>
                          <a:latin typeface="+mn-lt"/>
                          <a:ea typeface="Times New Roman" panose="02020603050405020304" pitchFamily="18" charset="0"/>
                        </a:rPr>
                        <a:t> </a:t>
                      </a:r>
                      <a:r>
                        <a:rPr lang="en-US" sz="1100" dirty="0">
                          <a:effectLst/>
                          <a:latin typeface="+mn-lt"/>
                          <a:ea typeface="Times New Roman" panose="02020603050405020304" pitchFamily="18" charset="0"/>
                        </a:rPr>
                        <a:t>(Master</a:t>
                      </a:r>
                      <a:r>
                        <a:rPr lang="en-US" sz="1100" spc="-75" dirty="0">
                          <a:effectLst/>
                          <a:latin typeface="+mn-lt"/>
                          <a:ea typeface="Times New Roman" panose="02020603050405020304" pitchFamily="18" charset="0"/>
                        </a:rPr>
                        <a:t> </a:t>
                      </a:r>
                      <a:r>
                        <a:rPr lang="en-US" sz="1100" dirty="0">
                          <a:effectLst/>
                          <a:latin typeface="+mn-lt"/>
                          <a:ea typeface="Times New Roman" panose="02020603050405020304" pitchFamily="18" charset="0"/>
                        </a:rPr>
                        <a:t>Host and Network</a:t>
                      </a:r>
                      <a:r>
                        <a:rPr lang="en-US" sz="1100" spc="60" dirty="0">
                          <a:effectLst/>
                          <a:latin typeface="+mn-lt"/>
                          <a:ea typeface="Times New Roman" panose="02020603050405020304" pitchFamily="18" charset="0"/>
                        </a:rPr>
                        <a:t> </a:t>
                      </a:r>
                      <a:r>
                        <a:rPr lang="en-US" sz="1100" dirty="0">
                          <a:effectLst/>
                          <a:latin typeface="+mn-lt"/>
                          <a:ea typeface="Times New Roman" panose="02020603050405020304" pitchFamily="18" charset="0"/>
                        </a:rPr>
                        <a:t>Analysts)]</a:t>
                      </a:r>
                    </a:p>
                  </a:txBody>
                  <a:tcPr/>
                </a:tc>
                <a:tc>
                  <a:txBody>
                    <a:bodyPr/>
                    <a:lstStyle/>
                    <a:p>
                      <a:endParaRPr lang="en-US" sz="1100">
                        <a:latin typeface="+mn-lt"/>
                      </a:endParaRPr>
                    </a:p>
                  </a:txBody>
                  <a:tcPr/>
                </a:tc>
                <a:extLst>
                  <a:ext uri="{0D108BD9-81ED-4DB2-BD59-A6C34878D82A}">
                    <a16:rowId xmlns:a16="http://schemas.microsoft.com/office/drawing/2014/main" val="3960374064"/>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ST15: </a:t>
                      </a:r>
                      <a:r>
                        <a:rPr lang="en-US" sz="1100" dirty="0">
                          <a:effectLst/>
                          <a:latin typeface="+mn-lt"/>
                          <a:ea typeface="Times New Roman" panose="02020603050405020304" pitchFamily="18" charset="0"/>
                        </a:rPr>
                        <a:t>Develop toolkit employment plan. [PLNR; SE (Master Host and Network Analyst)]</a:t>
                      </a:r>
                    </a:p>
                  </a:txBody>
                  <a:tcPr/>
                </a:tc>
                <a:tc>
                  <a:txBody>
                    <a:bodyPr/>
                    <a:lstStyle/>
                    <a:p>
                      <a:endParaRPr lang="en-US" sz="1100">
                        <a:latin typeface="+mn-lt"/>
                      </a:endParaRPr>
                    </a:p>
                  </a:txBody>
                  <a:tcPr/>
                </a:tc>
                <a:extLst>
                  <a:ext uri="{0D108BD9-81ED-4DB2-BD59-A6C34878D82A}">
                    <a16:rowId xmlns:a16="http://schemas.microsoft.com/office/drawing/2014/main" val="74676560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ST16: </a:t>
                      </a:r>
                      <a:r>
                        <a:rPr lang="en-US" sz="1100" dirty="0">
                          <a:effectLst/>
                          <a:latin typeface="+mn-lt"/>
                          <a:ea typeface="Times New Roman" panose="02020603050405020304" pitchFamily="18" charset="0"/>
                        </a:rPr>
                        <a:t>Develop threat emulation plan. [PLNR; OPSO; ME; CTA;]</a:t>
                      </a:r>
                    </a:p>
                  </a:txBody>
                  <a:tcPr/>
                </a:tc>
                <a:tc>
                  <a:txBody>
                    <a:bodyPr/>
                    <a:lstStyle/>
                    <a:p>
                      <a:endParaRPr lang="en-US" sz="1100">
                        <a:latin typeface="+mn-lt"/>
                      </a:endParaRPr>
                    </a:p>
                  </a:txBody>
                  <a:tcPr/>
                </a:tc>
                <a:extLst>
                  <a:ext uri="{0D108BD9-81ED-4DB2-BD59-A6C34878D82A}">
                    <a16:rowId xmlns:a16="http://schemas.microsoft.com/office/drawing/2014/main" val="85954846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ST17: </a:t>
                      </a:r>
                      <a:r>
                        <a:rPr lang="en-US" sz="1100" dirty="0">
                          <a:effectLst/>
                          <a:latin typeface="+mn-lt"/>
                          <a:ea typeface="Times New Roman" panose="02020603050405020304" pitchFamily="18" charset="0"/>
                        </a:rPr>
                        <a:t>Coordinate communications contracts, special instructions, and Pre-approved actions prior to mission execution. [PLNR; OPSO]</a:t>
                      </a:r>
                    </a:p>
                  </a:txBody>
                  <a:tcPr/>
                </a:tc>
                <a:tc>
                  <a:txBody>
                    <a:bodyPr/>
                    <a:lstStyle/>
                    <a:p>
                      <a:endParaRPr lang="en-US" sz="1100" dirty="0">
                        <a:latin typeface="+mn-lt"/>
                      </a:endParaRPr>
                    </a:p>
                  </a:txBody>
                  <a:tcPr/>
                </a:tc>
                <a:extLst>
                  <a:ext uri="{0D108BD9-81ED-4DB2-BD59-A6C34878D82A}">
                    <a16:rowId xmlns:a16="http://schemas.microsoft.com/office/drawing/2014/main" val="3947516828"/>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CT2</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ST18: </a:t>
                      </a:r>
                      <a:r>
                        <a:rPr lang="en-US" sz="1100" dirty="0">
                          <a:effectLst/>
                          <a:latin typeface="+mn-lt"/>
                          <a:ea typeface="Times New Roman" panose="02020603050405020304" pitchFamily="18" charset="0"/>
                        </a:rPr>
                        <a:t>Review and implement standard operating procedures, policies, TTPs, and guidance as they apply to mission execution. [Master Host and Network Analyst]</a:t>
                      </a:r>
                      <a:endParaRPr lang="en-US" sz="1100" kern="0" dirty="0">
                        <a:latin typeface="+mn-lt"/>
                      </a:endParaRPr>
                    </a:p>
                  </a:txBody>
                  <a:tcPr/>
                </a:tc>
                <a:tc>
                  <a:txBody>
                    <a:bodyPr/>
                    <a:lstStyle/>
                    <a:p>
                      <a:endParaRPr lang="en-US" sz="1100" dirty="0">
                        <a:latin typeface="+mn-lt"/>
                      </a:endParaRPr>
                    </a:p>
                  </a:txBody>
                  <a:tcPr/>
                </a:tc>
                <a:extLst>
                  <a:ext uri="{0D108BD9-81ED-4DB2-BD59-A6C34878D82A}">
                    <a16:rowId xmlns:a16="http://schemas.microsoft.com/office/drawing/2014/main" val="3799305643"/>
                  </a:ext>
                </a:extLst>
              </a:tr>
            </a:tbl>
          </a:graphicData>
        </a:graphic>
      </p:graphicFrame>
    </p:spTree>
    <p:extLst>
      <p:ext uri="{BB962C8B-B14F-4D97-AF65-F5344CB8AC3E}">
        <p14:creationId xmlns:p14="http://schemas.microsoft.com/office/powerpoint/2010/main" val="2172370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Mission Analysis</a:t>
            </a:r>
            <a:br>
              <a:rPr lang="en-US" dirty="0"/>
            </a:br>
            <a:r>
              <a:rPr lang="en-US" sz="2800" dirty="0"/>
              <a:t>Information</a:t>
            </a:r>
            <a:endParaRPr lang="en-US" dirty="0"/>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267131" y="1417544"/>
            <a:ext cx="4304865"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Facts</a:t>
            </a:r>
          </a:p>
          <a:p>
            <a:pPr marL="290830" indent="-290830" eaLnBrk="1" hangingPunct="1"/>
            <a:r>
              <a:rPr lang="en-US" sz="1100" kern="0" dirty="0">
                <a:ea typeface="+mn-lt"/>
                <a:cs typeface="+mn-lt"/>
              </a:rPr>
              <a:t>ARARNG reports suspicious network activity detected</a:t>
            </a:r>
          </a:p>
          <a:p>
            <a:pPr marL="290830" indent="-290830"/>
            <a:r>
              <a:rPr lang="en-US" sz="1100" kern="0" dirty="0">
                <a:ea typeface="+mn-lt"/>
                <a:cs typeface="+mn-lt"/>
              </a:rPr>
              <a:t>New hardware or software was installed from new vendor</a:t>
            </a:r>
            <a:endParaRPr lang="en-US" dirty="0"/>
          </a:p>
          <a:p>
            <a:pPr marL="290830" indent="-290830"/>
            <a:r>
              <a:rPr lang="en-US" sz="1100" kern="0" dirty="0">
                <a:ea typeface="+mn-lt"/>
                <a:cs typeface="+mn-lt"/>
              </a:rPr>
              <a:t>Known threat actors have attempted previous attacks </a:t>
            </a:r>
            <a:endParaRPr lang="en-US"/>
          </a:p>
          <a:p>
            <a:pPr marL="290830" indent="-290830"/>
            <a:r>
              <a:rPr lang="en-US" sz="1100" kern="0" dirty="0">
                <a:ea typeface="+mn-lt"/>
                <a:cs typeface="+mn-lt"/>
              </a:rPr>
              <a:t>No KT-C defined, Unknown terrain</a:t>
            </a:r>
            <a:endParaRPr lang="en-US" dirty="0"/>
          </a:p>
          <a:p>
            <a:pPr marL="290830" indent="-290830"/>
            <a:r>
              <a:rPr lang="en-US" sz="1100" kern="0" dirty="0">
                <a:ea typeface="+mn-lt"/>
                <a:cs typeface="+mn-lt"/>
              </a:rPr>
              <a:t>No net </a:t>
            </a:r>
            <a:r>
              <a:rPr lang="en-US" sz="1100" kern="0" dirty="0" err="1">
                <a:ea typeface="+mn-lt"/>
                <a:cs typeface="+mn-lt"/>
              </a:rPr>
              <a:t>diags</a:t>
            </a:r>
            <a:r>
              <a:rPr lang="en-US" sz="1100" kern="0" dirty="0">
                <a:ea typeface="+mn-lt"/>
                <a:cs typeface="+mn-lt"/>
              </a:rPr>
              <a:t>, Maps may be outdated</a:t>
            </a:r>
            <a:endParaRPr lang="en-US" dirty="0"/>
          </a:p>
          <a:p>
            <a:pPr marL="290830" indent="-290830"/>
            <a:r>
              <a:rPr lang="en-US" sz="1100" kern="0" dirty="0">
                <a:ea typeface="+mn-lt"/>
                <a:cs typeface="+mn-lt"/>
              </a:rPr>
              <a:t>No inventory. Inventory may be outdated</a:t>
            </a:r>
            <a:endParaRPr lang="en-US" dirty="0"/>
          </a:p>
          <a:p>
            <a:pPr marL="290830" indent="-290830"/>
            <a:r>
              <a:rPr lang="en-US" sz="1100" kern="0" dirty="0">
                <a:ea typeface="+mn-lt"/>
                <a:cs typeface="+mn-lt"/>
              </a:rPr>
              <a:t>Unknown attacker / TTP’s</a:t>
            </a:r>
            <a:endParaRPr lang="en-US" dirty="0"/>
          </a:p>
          <a:p>
            <a:pPr marL="290830" indent="-290830"/>
            <a:endParaRPr lang="en-US" sz="1100" kern="0" dirty="0">
              <a:cs typeface="Arial"/>
            </a:endParaRPr>
          </a:p>
          <a:p>
            <a:pPr marL="633095" lvl="1" indent="-243840"/>
            <a:endParaRPr lang="en-US" sz="800" kern="0" dirty="0">
              <a:cs typeface="Arial"/>
            </a:endParaRP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40005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flipH="1">
            <a:off x="4571996" y="1331912"/>
            <a:ext cx="4" cy="2668588"/>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63941" y="1417544"/>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Assumptions</a:t>
            </a:r>
          </a:p>
          <a:p>
            <a:pPr marL="290830" indent="-290830" eaLnBrk="1" hangingPunct="1"/>
            <a:r>
              <a:rPr lang="en-US" sz="1100" kern="0" dirty="0">
                <a:ea typeface="+mn-lt"/>
                <a:cs typeface="+mn-lt"/>
              </a:rPr>
              <a:t>Network is compromised</a:t>
            </a:r>
          </a:p>
          <a:p>
            <a:pPr marL="290830" indent="-290830"/>
            <a:r>
              <a:rPr lang="en-US" sz="1100" kern="0" dirty="0">
                <a:ea typeface="+mn-lt"/>
                <a:cs typeface="+mn-lt"/>
              </a:rPr>
              <a:t>Indicators of compromise exist in network traffic</a:t>
            </a:r>
            <a:endParaRPr lang="en-US" dirty="0"/>
          </a:p>
          <a:p>
            <a:pPr marL="290830" indent="-290830"/>
            <a:endParaRPr lang="en-US" sz="1100" kern="0" dirty="0">
              <a:cs typeface="Arial"/>
            </a:endParaRPr>
          </a:p>
          <a:p>
            <a:pPr marL="290830" indent="-290830"/>
            <a:endParaRPr lang="en-US" sz="1100" kern="0" dirty="0">
              <a:cs typeface="Arial"/>
            </a:endParaRP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305017" y="3990975"/>
            <a:ext cx="8515345" cy="1798635"/>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Constraints</a:t>
            </a:r>
          </a:p>
          <a:p>
            <a:pPr marL="290830" indent="-290830" eaLnBrk="1" hangingPunct="1"/>
            <a:r>
              <a:rPr lang="en-US" sz="1100" kern="0" dirty="0">
                <a:ea typeface="+mn-lt"/>
                <a:cs typeface="+mn-lt"/>
              </a:rPr>
              <a:t>Must complete mission NLT 151700LJUN22</a:t>
            </a:r>
          </a:p>
          <a:p>
            <a:pPr marL="290830" indent="-290830"/>
            <a:r>
              <a:rPr lang="en-US" sz="1100" kern="0" dirty="0">
                <a:ea typeface="+mn-lt"/>
                <a:cs typeface="+mn-lt"/>
              </a:rPr>
              <a:t>Cannot make changes to local defender systems without local defenders</a:t>
            </a:r>
            <a:endParaRPr lang="en-US" dirty="0"/>
          </a:p>
          <a:p>
            <a:pPr marL="290830" indent="-290830"/>
            <a:endParaRPr lang="en-US" sz="1100" kern="0" dirty="0">
              <a:cs typeface="Arial"/>
            </a:endParaRP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Tree>
    <p:extLst>
      <p:ext uri="{BB962C8B-B14F-4D97-AF65-F5344CB8AC3E}">
        <p14:creationId xmlns:p14="http://schemas.microsoft.com/office/powerpoint/2010/main" val="2052151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RFI Tracker</a:t>
            </a:r>
          </a:p>
        </p:txBody>
      </p:sp>
      <p:sp>
        <p:nvSpPr>
          <p:cNvPr id="3" name="Content Placeholder 2">
            <a:extLst>
              <a:ext uri="{FF2B5EF4-FFF2-40B4-BE49-F238E27FC236}">
                <a16:creationId xmlns:a16="http://schemas.microsoft.com/office/drawing/2014/main" id="{741311A7-4D40-46FF-F7B4-8A7293EF4882}"/>
              </a:ext>
            </a:extLst>
          </p:cNvPr>
          <p:cNvSpPr>
            <a:spLocks noGrp="1"/>
          </p:cNvSpPr>
          <p:nvPr>
            <p:ph idx="1"/>
          </p:nvPr>
        </p:nvSpPr>
        <p:spPr/>
        <p:txBody>
          <a:bodyPr/>
          <a:lstStyle/>
          <a:p>
            <a:pPr marL="290830" indent="-290830"/>
            <a:r>
              <a:rPr lang="en-US" dirty="0">
                <a:cs typeface="Arial"/>
              </a:rPr>
              <a:t>Generated from assumptions</a:t>
            </a:r>
          </a:p>
        </p:txBody>
      </p:sp>
    </p:spTree>
    <p:extLst>
      <p:ext uri="{BB962C8B-B14F-4D97-AF65-F5344CB8AC3E}">
        <p14:creationId xmlns:p14="http://schemas.microsoft.com/office/powerpoint/2010/main" val="1069539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Mission Analysis</a:t>
            </a:r>
            <a:br>
              <a:rPr lang="en-US" dirty="0"/>
            </a:br>
            <a:r>
              <a:rPr lang="en-US" sz="2800" dirty="0"/>
              <a:t>Tasks</a:t>
            </a:r>
            <a:endParaRPr lang="en-US" dirty="0"/>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4693732" y="1280222"/>
            <a:ext cx="4304865" cy="267466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Specified Tasks</a:t>
            </a:r>
          </a:p>
          <a:p>
            <a:pPr marL="290830" indent="-290830" eaLnBrk="1" hangingPunct="1">
              <a:buFont typeface="Arial"/>
              <a:buChar char="•"/>
            </a:pPr>
            <a:r>
              <a:rPr lang="en-US" sz="1100" kern="0" dirty="0">
                <a:ea typeface="+mn-lt"/>
                <a:cs typeface="+mn-lt"/>
              </a:rPr>
              <a:t>Exercise IR TTP’s</a:t>
            </a:r>
          </a:p>
          <a:p>
            <a:pPr marL="290830" indent="-290830">
              <a:buFont typeface="Arial"/>
              <a:buChar char="•"/>
            </a:pPr>
            <a:r>
              <a:rPr lang="en-US" sz="1100" kern="0" dirty="0">
                <a:ea typeface="+mn-lt"/>
                <a:cs typeface="+mn-lt"/>
              </a:rPr>
              <a:t>Identify and assess Malicious Cyber Activity in DoDIN-NG ARARNG Enclave</a:t>
            </a:r>
            <a:endParaRPr lang="en-US" sz="1100">
              <a:cs typeface="Arial"/>
            </a:endParaRPr>
          </a:p>
          <a:p>
            <a:pPr marL="290830" indent="-290830">
              <a:buFont typeface="Arial"/>
              <a:buChar char="•"/>
            </a:pPr>
            <a:r>
              <a:rPr lang="en-US" sz="1100" kern="0" dirty="0">
                <a:ea typeface="+mn-lt"/>
                <a:cs typeface="+mn-lt"/>
              </a:rPr>
              <a:t>Defend DoDIN-NG ARARNG Enclave from Malicious Activity</a:t>
            </a:r>
            <a:endParaRPr lang="en-US" sz="1100">
              <a:cs typeface="Arial"/>
            </a:endParaRPr>
          </a:p>
          <a:p>
            <a:pPr marL="290830" indent="-290830">
              <a:buFont typeface="Arial"/>
              <a:buChar char="•"/>
            </a:pPr>
            <a:r>
              <a:rPr lang="en-US" sz="1100" kern="0" dirty="0">
                <a:ea typeface="+mn-lt"/>
                <a:cs typeface="+mn-lt"/>
              </a:rPr>
              <a:t>Deter future Malicious Cyber Activity in DoDIN-NG ARARNG Enclave</a:t>
            </a:r>
            <a:endParaRPr lang="en-US" sz="1100">
              <a:cs typeface="Arial"/>
            </a:endParaRPr>
          </a:p>
          <a:p>
            <a:pPr marL="290830" indent="-290830">
              <a:buFont typeface="Arial"/>
              <a:buChar char="•"/>
            </a:pPr>
            <a:endParaRPr lang="en-US" sz="1100" kern="0" dirty="0">
              <a:cs typeface="Arial"/>
            </a:endParaRP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40005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flipH="1">
            <a:off x="4571996" y="1331912"/>
            <a:ext cx="8081" cy="5463485"/>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96253" y="4042809"/>
            <a:ext cx="4194309" cy="2715055"/>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Implied Tasks</a:t>
            </a:r>
          </a:p>
          <a:p>
            <a:pPr marL="290830" indent="-290830" eaLnBrk="1" hangingPunct="1">
              <a:buFont typeface="Arial"/>
              <a:buChar char="•"/>
            </a:pPr>
            <a:r>
              <a:rPr lang="en-US" sz="1100" kern="0" dirty="0">
                <a:cs typeface="Arial"/>
              </a:rPr>
              <a:t>Maintain record of all actions taken</a:t>
            </a:r>
          </a:p>
          <a:p>
            <a:pPr marL="290830" indent="-290830">
              <a:buFont typeface="Arial"/>
              <a:buChar char="•"/>
            </a:pPr>
            <a:r>
              <a:rPr lang="en-US" sz="1100" kern="0" dirty="0">
                <a:cs typeface="Arial"/>
              </a:rPr>
              <a:t>Maintain incident timeline</a:t>
            </a:r>
          </a:p>
          <a:p>
            <a:pPr marL="290830" indent="-290830">
              <a:buFont typeface="Arial"/>
              <a:buChar char="•"/>
            </a:pPr>
            <a:r>
              <a:rPr lang="en-US" sz="1100" kern="0" dirty="0">
                <a:cs typeface="Arial"/>
              </a:rPr>
              <a:t>Record all </a:t>
            </a:r>
            <a:r>
              <a:rPr lang="en-US" sz="1100" kern="0" dirty="0" err="1">
                <a:cs typeface="Arial"/>
              </a:rPr>
              <a:t>IoCs</a:t>
            </a:r>
            <a:r>
              <a:rPr lang="en-US" sz="1100" kern="0" dirty="0">
                <a:cs typeface="Arial"/>
              </a:rPr>
              <a:t> found or associated with incident</a:t>
            </a:r>
          </a:p>
          <a:p>
            <a:pPr marL="290830" indent="-290830">
              <a:buFont typeface="Arial"/>
              <a:buChar char="•"/>
            </a:pPr>
            <a:r>
              <a:rPr lang="en-US" sz="1100" kern="0" dirty="0">
                <a:cs typeface="Arial"/>
              </a:rPr>
              <a:t>Report critical information to stakeholders as required by law/regulation</a:t>
            </a:r>
          </a:p>
          <a:p>
            <a:pPr marL="290830" indent="-290830">
              <a:buFont typeface="Arial"/>
              <a:buChar char="•"/>
            </a:pPr>
            <a:r>
              <a:rPr lang="en-US" sz="1100" kern="0" dirty="0">
                <a:cs typeface="Arial"/>
              </a:rPr>
              <a:t>Maintain reasonable expectations with customer; do not anticipate results</a:t>
            </a:r>
          </a:p>
          <a:p>
            <a:pPr marL="290830" indent="-290830">
              <a:buFont typeface="Arial"/>
              <a:buChar char="•"/>
            </a:pPr>
            <a:r>
              <a:rPr lang="en-US" sz="1100" kern="0" dirty="0">
                <a:cs typeface="Arial"/>
              </a:rPr>
              <a:t>In general, CPT will not be performing remediation/hardening actions; CPT makes recommendations and test impact </a:t>
            </a:r>
          </a:p>
          <a:p>
            <a:pPr marL="290830" indent="-290830">
              <a:buFont typeface="Arial"/>
              <a:buChar char="•"/>
            </a:pPr>
            <a:endParaRPr lang="en-US" sz="1100" kern="0" dirty="0">
              <a:cs typeface="Arial"/>
            </a:endParaRP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361561" y="4037994"/>
            <a:ext cx="4129133" cy="2755410"/>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None/>
            </a:pPr>
            <a:r>
              <a:rPr lang="en-US" sz="1100" b="1" u="sng" kern="0" dirty="0"/>
              <a:t>Essential Tasks</a:t>
            </a:r>
            <a:endParaRPr lang="en-US">
              <a:cs typeface="Arial"/>
            </a:endParaRPr>
          </a:p>
          <a:p>
            <a:pPr marL="290830" indent="-290830" eaLnBrk="1" hangingPunct="1">
              <a:buFont typeface="Arial"/>
              <a:buChar char="•"/>
            </a:pPr>
            <a:r>
              <a:rPr lang="en-US" sz="1100" b="1" dirty="0">
                <a:ea typeface="+mn-lt"/>
                <a:cs typeface="+mn-lt"/>
              </a:rPr>
              <a:t>Signed MOU</a:t>
            </a:r>
            <a:endParaRPr lang="en-US" sz="1100" b="1" dirty="0">
              <a:effectLst/>
              <a:ea typeface="+mn-lt"/>
              <a:cs typeface="+mn-lt"/>
            </a:endParaRPr>
          </a:p>
          <a:p>
            <a:pPr marL="290830" indent="-290830">
              <a:buFont typeface="Arial"/>
              <a:buChar char="•"/>
            </a:pPr>
            <a:r>
              <a:rPr lang="en-US" sz="1100" dirty="0">
                <a:ea typeface="+mn-lt"/>
                <a:cs typeface="+mn-lt"/>
              </a:rPr>
              <a:t>Emplace Sensors</a:t>
            </a:r>
            <a:endParaRPr lang="en-US" sz="1100">
              <a:cs typeface="Arial"/>
            </a:endParaRPr>
          </a:p>
          <a:p>
            <a:pPr marL="290830" indent="-290830">
              <a:buFont typeface="Arial"/>
              <a:buChar char="•"/>
            </a:pPr>
            <a:r>
              <a:rPr lang="en-US" sz="1100" dirty="0">
                <a:ea typeface="+mn-lt"/>
                <a:cs typeface="+mn-lt"/>
              </a:rPr>
              <a:t>Validate Inventory and Network Topology</a:t>
            </a:r>
            <a:endParaRPr lang="en-US" sz="1100">
              <a:cs typeface="Arial"/>
            </a:endParaRPr>
          </a:p>
          <a:p>
            <a:pPr marL="290830" indent="-290830">
              <a:buFont typeface="Arial"/>
              <a:buChar char="•"/>
            </a:pPr>
            <a:r>
              <a:rPr lang="en-US" sz="1100" dirty="0">
                <a:ea typeface="+mn-lt"/>
                <a:cs typeface="+mn-lt"/>
              </a:rPr>
              <a:t>Identify KT-C and receive full inventory of system (services, software, </a:t>
            </a:r>
            <a:r>
              <a:rPr lang="en-US" sz="1100" dirty="0" err="1">
                <a:ea typeface="+mn-lt"/>
                <a:cs typeface="+mn-lt"/>
              </a:rPr>
              <a:t>etc</a:t>
            </a:r>
            <a:r>
              <a:rPr lang="en-US" sz="1100" dirty="0">
                <a:ea typeface="+mn-lt"/>
                <a:cs typeface="+mn-lt"/>
              </a:rPr>
              <a:t>)</a:t>
            </a:r>
            <a:endParaRPr lang="en-US" sz="1100">
              <a:cs typeface="Arial"/>
            </a:endParaRPr>
          </a:p>
          <a:p>
            <a:pPr marL="290830" indent="-290830">
              <a:buFont typeface="Arial"/>
              <a:buChar char="•"/>
            </a:pPr>
            <a:r>
              <a:rPr lang="en-US" sz="1100" dirty="0">
                <a:ea typeface="+mn-lt"/>
                <a:cs typeface="+mn-lt"/>
              </a:rPr>
              <a:t>Identify existing vulnerabilities</a:t>
            </a:r>
            <a:endParaRPr lang="en-US" sz="1100">
              <a:cs typeface="Arial"/>
            </a:endParaRPr>
          </a:p>
          <a:p>
            <a:pPr marL="290830" indent="-290830">
              <a:buFont typeface="Arial"/>
              <a:buChar char="•"/>
            </a:pPr>
            <a:r>
              <a:rPr lang="en-US" sz="1100" dirty="0">
                <a:ea typeface="+mn-lt"/>
                <a:cs typeface="+mn-lt"/>
              </a:rPr>
              <a:t>Threat Detection</a:t>
            </a:r>
            <a:endParaRPr lang="en-US" sz="1100">
              <a:cs typeface="Arial"/>
            </a:endParaRPr>
          </a:p>
          <a:p>
            <a:pPr marL="290830" indent="-290830">
              <a:buFont typeface="Arial"/>
              <a:buChar char="•"/>
            </a:pPr>
            <a:r>
              <a:rPr lang="en-US" sz="1100" dirty="0">
                <a:ea typeface="+mn-lt"/>
                <a:cs typeface="+mn-lt"/>
              </a:rPr>
              <a:t>Threat Emulation</a:t>
            </a:r>
            <a:endParaRPr lang="en-US" sz="1100">
              <a:cs typeface="Arial"/>
            </a:endParaRPr>
          </a:p>
          <a:p>
            <a:pPr marL="290830" indent="-290830">
              <a:buFont typeface="Arial"/>
              <a:buChar char="•"/>
            </a:pPr>
            <a:r>
              <a:rPr lang="en-US" sz="1100" dirty="0">
                <a:ea typeface="+mn-lt"/>
                <a:cs typeface="+mn-lt"/>
              </a:rPr>
              <a:t>Threat Eradication</a:t>
            </a:r>
            <a:endParaRPr lang="en-US" sz="1100">
              <a:cs typeface="Arial"/>
            </a:endParaRPr>
          </a:p>
          <a:p>
            <a:pPr marL="290830" indent="-290830">
              <a:buFont typeface="Arial"/>
              <a:buChar char="•"/>
            </a:pPr>
            <a:endParaRPr lang="en-US" sz="1100" dirty="0">
              <a:cs typeface="Arial"/>
            </a:endParaRPr>
          </a:p>
          <a:p>
            <a:pPr marL="290830" indent="-290830">
              <a:buFont typeface="Arial"/>
              <a:buChar char="•"/>
            </a:pPr>
            <a:endParaRPr lang="en-US" sz="1100" dirty="0">
              <a:cs typeface="Arial"/>
            </a:endParaRPr>
          </a:p>
          <a:p>
            <a:pPr marL="290830" indent="-290830" algn="ctr" eaLnBrk="1" hangingPunct="1">
              <a:buFont typeface="Arial"/>
              <a:buChar char="•"/>
            </a:pPr>
            <a:endParaRPr lang="en-US" sz="1100" b="1" u="sng" kern="0" dirty="0">
              <a:cs typeface="Arial"/>
            </a:endParaRPr>
          </a:p>
          <a:p>
            <a:pPr marL="290830" indent="-290830" eaLnBrk="1" hangingPunct="1">
              <a:buFont typeface="Arial"/>
            </a:pPr>
            <a:endParaRPr lang="en-US" sz="1600" kern="0" dirty="0">
              <a:cs typeface="Arial"/>
            </a:endParaRPr>
          </a:p>
          <a:p>
            <a:pPr marL="290830" indent="-290830" eaLnBrk="1" hangingPunct="1">
              <a:buFont typeface="Arial"/>
              <a:buChar char="•"/>
            </a:pPr>
            <a:endParaRPr lang="en-US" sz="1600" kern="0" dirty="0">
              <a:cs typeface="Arial"/>
            </a:endParaRPr>
          </a:p>
          <a:p>
            <a:pPr marL="290830" indent="-290830" eaLnBrk="1" hangingPunct="1">
              <a:buFont typeface="Arial"/>
            </a:pPr>
            <a:endParaRPr lang="en-US" sz="1600" kern="0" dirty="0">
              <a:cs typeface="Arial"/>
            </a:endParaRPr>
          </a:p>
        </p:txBody>
      </p:sp>
      <p:sp>
        <p:nvSpPr>
          <p:cNvPr id="8" name="Rectangle 10">
            <a:extLst>
              <a:ext uri="{FF2B5EF4-FFF2-40B4-BE49-F238E27FC236}">
                <a16:creationId xmlns:a16="http://schemas.microsoft.com/office/drawing/2014/main" id="{8CBE0EF1-ACE0-7FE2-21D7-D315102EBB4A}"/>
              </a:ext>
            </a:extLst>
          </p:cNvPr>
          <p:cNvSpPr txBox="1">
            <a:spLocks noChangeArrowheads="1"/>
          </p:cNvSpPr>
          <p:nvPr/>
        </p:nvSpPr>
        <p:spPr>
          <a:xfrm>
            <a:off x="364064" y="1304455"/>
            <a:ext cx="4127155" cy="2610044"/>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a:buNone/>
            </a:pPr>
            <a:r>
              <a:rPr lang="en-US" sz="1100" b="1" u="sng" kern="0" dirty="0"/>
              <a:t>Analysis Steps</a:t>
            </a:r>
            <a:endParaRPr lang="en-US" dirty="0"/>
          </a:p>
          <a:p>
            <a:pPr marL="290830" indent="-290830">
              <a:buFont typeface="Arial"/>
              <a:buChar char="•"/>
            </a:pPr>
            <a:r>
              <a:rPr lang="en-US" sz="1100" kern="0" dirty="0">
                <a:cs typeface="Arial"/>
              </a:rPr>
              <a:t>Frame the Problem and Conduct OE</a:t>
            </a:r>
            <a:endParaRPr lang="en-US" dirty="0">
              <a:cs typeface="Arial"/>
            </a:endParaRPr>
          </a:p>
          <a:p>
            <a:pPr marL="633095" lvl="1" indent="-243840">
              <a:buFont typeface="Arial"/>
              <a:buChar char="•"/>
            </a:pPr>
            <a:r>
              <a:rPr lang="en-US" sz="800" kern="0" dirty="0">
                <a:cs typeface="Arial"/>
              </a:rPr>
              <a:t>Understand Current OE</a:t>
            </a:r>
          </a:p>
          <a:p>
            <a:pPr marL="633095" lvl="1" indent="-243840">
              <a:buFont typeface="Arial"/>
              <a:buChar char="•"/>
            </a:pPr>
            <a:r>
              <a:rPr lang="en-US" sz="800" kern="0" dirty="0">
                <a:cs typeface="Arial"/>
              </a:rPr>
              <a:t>Identify </a:t>
            </a:r>
            <a:r>
              <a:rPr lang="en-US" sz="800" kern="0" dirty="0" err="1">
                <a:cs typeface="Arial"/>
              </a:rPr>
              <a:t>Endstate</a:t>
            </a:r>
            <a:endParaRPr lang="en-US" sz="800" kern="0">
              <a:cs typeface="Arial"/>
            </a:endParaRPr>
          </a:p>
          <a:p>
            <a:pPr marL="973455" lvl="2" indent="-194945">
              <a:buFont typeface="Arial"/>
              <a:buChar char="•"/>
            </a:pPr>
            <a:r>
              <a:rPr lang="en-US" sz="600" kern="0" dirty="0">
                <a:cs typeface="Arial"/>
              </a:rPr>
              <a:t>Develop Problem Statement</a:t>
            </a:r>
          </a:p>
          <a:p>
            <a:pPr marL="633095" lvl="1" indent="-243840">
              <a:buFont typeface="Arial"/>
              <a:buChar char="•"/>
            </a:pPr>
            <a:r>
              <a:rPr lang="en-US" sz="900" kern="0" dirty="0">
                <a:cs typeface="Arial"/>
              </a:rPr>
              <a:t>Identify obstacles</a:t>
            </a:r>
          </a:p>
          <a:p>
            <a:pPr marL="633095" lvl="1" indent="-243840">
              <a:buFont typeface="Arial"/>
              <a:buChar char="•"/>
            </a:pPr>
            <a:r>
              <a:rPr lang="en-US" sz="900" kern="0" dirty="0">
                <a:cs typeface="Arial"/>
              </a:rPr>
              <a:t>Develop Operational Approach</a:t>
            </a:r>
          </a:p>
          <a:p>
            <a:pPr marL="290830" indent="-290830">
              <a:buFont typeface="Arial"/>
              <a:buChar char="•"/>
            </a:pPr>
            <a:r>
              <a:rPr lang="en-US" sz="1100" kern="0" dirty="0">
                <a:cs typeface="Arial"/>
              </a:rPr>
              <a:t>Conduct Intelligence Preparation of the Battlefield</a:t>
            </a:r>
          </a:p>
          <a:p>
            <a:pPr marL="290830" indent="-290830">
              <a:buFont typeface="Arial"/>
              <a:buChar char="•"/>
            </a:pPr>
            <a:r>
              <a:rPr lang="en-US" sz="1100" kern="0" dirty="0">
                <a:cs typeface="Arial"/>
              </a:rPr>
              <a:t>Integrate Support</a:t>
            </a:r>
          </a:p>
          <a:p>
            <a:pPr marL="290830" indent="-290830">
              <a:buFont typeface="Arial"/>
              <a:buChar char="•"/>
            </a:pPr>
            <a:endParaRPr lang="en-US" sz="1100" kern="0" dirty="0">
              <a:cs typeface="Arial"/>
            </a:endParaRPr>
          </a:p>
          <a:p>
            <a:pPr marL="290830" indent="-290830">
              <a:buFont typeface="Arial"/>
              <a:buChar char="•"/>
            </a:pPr>
            <a:endParaRPr lang="en-US" sz="1100" kern="0" dirty="0">
              <a:cs typeface="Arial"/>
            </a:endParaRPr>
          </a:p>
          <a:p>
            <a:pPr marL="290830" indent="-290830">
              <a:buFont typeface="Arial"/>
              <a:buChar char="•"/>
            </a:pPr>
            <a:endParaRPr lang="en-US" sz="1100" kern="0" dirty="0">
              <a:cs typeface="Arial"/>
            </a:endParaRPr>
          </a:p>
          <a:p>
            <a:pPr marL="0" indent="0" eaLnBrk="1" hangingPunct="1">
              <a:buNone/>
            </a:pPr>
            <a:endParaRPr lang="en-US" sz="1600" kern="0" dirty="0">
              <a:cs typeface="Arial"/>
            </a:endParaRPr>
          </a:p>
          <a:p>
            <a:pPr marL="290830" indent="-290830" eaLnBrk="1" hangingPunct="1"/>
            <a:endParaRPr lang="en-US" sz="1600" kern="0" dirty="0">
              <a:cs typeface="Arial"/>
            </a:endParaRPr>
          </a:p>
        </p:txBody>
      </p:sp>
    </p:spTree>
    <p:extLst>
      <p:ext uri="{BB962C8B-B14F-4D97-AF65-F5344CB8AC3E}">
        <p14:creationId xmlns:p14="http://schemas.microsoft.com/office/powerpoint/2010/main" val="2662159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Mission Planning</a:t>
            </a:r>
            <a:br>
              <a:rPr lang="en-US" dirty="0"/>
            </a:br>
            <a:r>
              <a:rPr lang="en-US" sz="2800" dirty="0"/>
              <a:t>Stakeholder Inbrief</a:t>
            </a:r>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49033" y="1417544"/>
            <a:ext cx="4458342" cy="2303090"/>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Mission</a:t>
            </a:r>
          </a:p>
          <a:p>
            <a:pPr marL="290830" indent="-290830" eaLnBrk="1" hangingPunct="1">
              <a:buFont typeface="Arial"/>
              <a:buChar char="•"/>
            </a:pPr>
            <a:r>
              <a:rPr lang="en-US" sz="1100" kern="0" dirty="0">
                <a:ea typeface="+mn-lt"/>
                <a:cs typeface="+mn-lt"/>
              </a:rPr>
              <a:t>CPT 173 elements (HQ and ME1) deploys NLT 081700RJUN22 to conduct Defensive Cyberspace Operations-Internal Defensive Measures (DCO-IDM) to identify malicious cyber activity. </a:t>
            </a:r>
          </a:p>
          <a:p>
            <a:pPr marL="290830" indent="-290830">
              <a:buFont typeface="Arial"/>
              <a:buChar char="•"/>
            </a:pPr>
            <a:r>
              <a:rPr lang="en-US" sz="1100" kern="0" dirty="0">
                <a:ea typeface="+mn-lt"/>
                <a:cs typeface="+mn-lt"/>
              </a:rPr>
              <a:t>On detection CPT 173 ME1 will assist local defender to harden KT-C. </a:t>
            </a:r>
            <a:endParaRPr lang="en-US">
              <a:ea typeface="+mn-lt"/>
              <a:cs typeface="+mn-lt"/>
            </a:endParaRPr>
          </a:p>
          <a:p>
            <a:pPr marL="290830" indent="-290830">
              <a:buFont typeface="Arial"/>
              <a:buChar char="•"/>
            </a:pPr>
            <a:r>
              <a:rPr lang="en-US" sz="1100" kern="0" dirty="0">
                <a:ea typeface="+mn-lt"/>
                <a:cs typeface="+mn-lt"/>
              </a:rPr>
              <a:t>CPT 173 ME1 emulates cyber threat on KT-C once local defenders have hardened assets to ensure defenses are in place. </a:t>
            </a:r>
            <a:endParaRPr lang="en-US">
              <a:ea typeface="+mn-lt"/>
              <a:cs typeface="+mn-lt"/>
            </a:endParaRPr>
          </a:p>
          <a:p>
            <a:pPr marL="290830" indent="-290830">
              <a:buFont typeface="Arial"/>
              <a:buChar char="•"/>
            </a:pPr>
            <a:r>
              <a:rPr lang="en-US" sz="1100" kern="0" dirty="0">
                <a:ea typeface="+mn-lt"/>
                <a:cs typeface="+mn-lt"/>
              </a:rPr>
              <a:t>CPT 173 ME1 assesses remediation actions once threat emulation concludes to ensure no further actions are taking place against KT-C. </a:t>
            </a:r>
            <a:endParaRPr lang="en-US">
              <a:cs typeface="Arial"/>
            </a:endParaRP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37719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a:off x="4572000" y="1331911"/>
            <a:ext cx="0" cy="5089525"/>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67681" y="1417544"/>
            <a:ext cx="4194309" cy="2303090"/>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Intel</a:t>
            </a:r>
          </a:p>
          <a:p>
            <a:pPr marL="290830" indent="-290830" eaLnBrk="1" hangingPunct="1"/>
            <a:r>
              <a:rPr lang="en-US" sz="1100" kern="0" dirty="0">
                <a:solidFill>
                  <a:srgbClr val="000000"/>
                </a:solidFill>
                <a:cs typeface="Arial"/>
              </a:rPr>
              <a:t>Coordinate with Fusion Center and Cells</a:t>
            </a:r>
          </a:p>
          <a:p>
            <a:pPr marL="290830" indent="-290830"/>
            <a:r>
              <a:rPr lang="en-US" sz="1100" kern="0" dirty="0">
                <a:solidFill>
                  <a:srgbClr val="000000"/>
                </a:solidFill>
                <a:cs typeface="Arial"/>
              </a:rPr>
              <a:t>Ingest customer provided Intelligence</a:t>
            </a:r>
          </a:p>
          <a:p>
            <a:pPr marL="290830" indent="-290830"/>
            <a:r>
              <a:rPr lang="en-US" sz="1100" kern="0" dirty="0">
                <a:solidFill>
                  <a:srgbClr val="000000"/>
                </a:solidFill>
                <a:cs typeface="Arial"/>
              </a:rPr>
              <a:t>Cross reference customer provided information with operator acquired information</a:t>
            </a: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50890" y="3878123"/>
            <a:ext cx="4482575" cy="2828143"/>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Pre-execution</a:t>
            </a:r>
          </a:p>
          <a:p>
            <a:pPr marL="290830" indent="-290830">
              <a:lnSpc>
                <a:spcPts val="1280"/>
              </a:lnSpc>
              <a:spcBef>
                <a:spcPts val="0"/>
              </a:spcBef>
              <a:spcAft>
                <a:spcPts val="0"/>
              </a:spcAft>
            </a:pPr>
            <a:r>
              <a:rPr lang="en-US" sz="1100" dirty="0">
                <a:ea typeface="Times New Roman" panose="02020603050405020304" pitchFamily="18" charset="0"/>
                <a:cs typeface="Arial"/>
              </a:rPr>
              <a:t>Get, in writing, the MOA/MOU (signed by customer) and provide signed NDA </a:t>
            </a:r>
          </a:p>
          <a:p>
            <a:pPr marL="290830" indent="-290830">
              <a:lnSpc>
                <a:spcPts val="1280"/>
              </a:lnSpc>
              <a:spcBef>
                <a:spcPts val="0"/>
              </a:spcBef>
              <a:spcAft>
                <a:spcPts val="0"/>
              </a:spcAft>
            </a:pPr>
            <a:r>
              <a:rPr lang="en-US" sz="1100" dirty="0">
                <a:solidFill>
                  <a:srgbClr val="000000"/>
                </a:solidFill>
                <a:ea typeface="Times New Roman" panose="02020603050405020304" pitchFamily="18" charset="0"/>
                <a:cs typeface="Arial"/>
              </a:rPr>
              <a:t>Acquire customer documentation and information for network and host asset documentation</a:t>
            </a:r>
          </a:p>
          <a:p>
            <a:pPr marL="290830" indent="-290830"/>
            <a:r>
              <a:rPr lang="en-US" sz="1100" dirty="0">
                <a:cs typeface="Arial"/>
              </a:rPr>
              <a:t>Provide templated unit document with on objective authorized actions like conducting network scanning, cloning hosts, and inspecting other customer resources</a:t>
            </a:r>
          </a:p>
          <a:p>
            <a:pPr marL="290830" indent="-290830"/>
            <a:r>
              <a:rPr lang="en-US" sz="1100" dirty="0">
                <a:solidFill>
                  <a:srgbClr val="000000"/>
                </a:solidFill>
                <a:cs typeface="Arial"/>
              </a:rPr>
              <a:t>Schedule In-brief to stakeholders</a:t>
            </a:r>
          </a:p>
          <a:p>
            <a:pPr marL="290830" indent="-290830" eaLnBrk="1" hangingPunct="1"/>
            <a:endParaRPr lang="en-US" sz="1100" dirty="0">
              <a:solidFill>
                <a:srgbClr val="FF0000"/>
              </a:solidFill>
              <a:cs typeface="Arial"/>
            </a:endParaRPr>
          </a:p>
          <a:p>
            <a:pPr marL="0" indent="0" eaLnBrk="1" hangingPunct="1">
              <a:buNone/>
            </a:pPr>
            <a:endParaRPr lang="en-US" sz="1100" kern="0" dirty="0">
              <a:cs typeface="Arial"/>
            </a:endParaRPr>
          </a:p>
          <a:p>
            <a:pPr marL="290830" indent="-290830" eaLnBrk="1" hangingPunct="1"/>
            <a:endParaRPr lang="en-US" sz="1100" kern="0" dirty="0">
              <a:cs typeface="Arial"/>
            </a:endParaRPr>
          </a:p>
        </p:txBody>
      </p:sp>
      <p:sp>
        <p:nvSpPr>
          <p:cNvPr id="24" name="Rectangle 10">
            <a:extLst>
              <a:ext uri="{FF2B5EF4-FFF2-40B4-BE49-F238E27FC236}">
                <a16:creationId xmlns:a16="http://schemas.microsoft.com/office/drawing/2014/main" id="{A0B712F2-5753-4EB6-8083-4B6C0C7313D3}"/>
              </a:ext>
            </a:extLst>
          </p:cNvPr>
          <p:cNvSpPr txBox="1">
            <a:spLocks noChangeArrowheads="1"/>
          </p:cNvSpPr>
          <p:nvPr/>
        </p:nvSpPr>
        <p:spPr>
          <a:xfrm>
            <a:off x="4612995" y="3878123"/>
            <a:ext cx="4210464" cy="2828143"/>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Approach</a:t>
            </a:r>
          </a:p>
          <a:p>
            <a:pPr marL="290830" indent="-290830" eaLnBrk="1" hangingPunct="1"/>
            <a:r>
              <a:rPr lang="en-US" sz="1100" kern="0" dirty="0">
                <a:cs typeface="Arial"/>
              </a:rPr>
              <a:t>Based upon constraints and environmental factors</a:t>
            </a:r>
          </a:p>
          <a:p>
            <a:pPr marL="290830" indent="-290830"/>
            <a:r>
              <a:rPr lang="en-US" sz="1100" kern="0" dirty="0">
                <a:cs typeface="Arial"/>
              </a:rPr>
              <a:t>Tailored to current mission and customer needs</a:t>
            </a:r>
          </a:p>
          <a:p>
            <a:pPr marL="290830" indent="-290830"/>
            <a:r>
              <a:rPr lang="en-US" sz="1100" kern="0" dirty="0">
                <a:cs typeface="Arial"/>
              </a:rPr>
              <a:t>Intended to define the path from where we will begin to where we need to be</a:t>
            </a:r>
          </a:p>
          <a:p>
            <a:pPr marL="290830" indent="-290830"/>
            <a:r>
              <a:rPr lang="en-US" sz="1100" kern="0" dirty="0">
                <a:cs typeface="Arial"/>
              </a:rPr>
              <a:t>Follow NIST standards</a:t>
            </a:r>
          </a:p>
        </p:txBody>
      </p:sp>
    </p:spTree>
    <p:extLst>
      <p:ext uri="{BB962C8B-B14F-4D97-AF65-F5344CB8AC3E}">
        <p14:creationId xmlns:p14="http://schemas.microsoft.com/office/powerpoint/2010/main" val="1551029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173 CPT Task Organization</a:t>
            </a:r>
          </a:p>
        </p:txBody>
      </p:sp>
      <p:sp>
        <p:nvSpPr>
          <p:cNvPr id="3" name="Rectangle 2">
            <a:extLst>
              <a:ext uri="{FF2B5EF4-FFF2-40B4-BE49-F238E27FC236}">
                <a16:creationId xmlns:a16="http://schemas.microsoft.com/office/drawing/2014/main" id="{B66E5B19-3362-C459-B31D-906EA80B6CBE}"/>
              </a:ext>
            </a:extLst>
          </p:cNvPr>
          <p:cNvSpPr/>
          <p:nvPr/>
        </p:nvSpPr>
        <p:spPr>
          <a:xfrm>
            <a:off x="3900880" y="1776369"/>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cs typeface="Arial"/>
              </a:rPr>
              <a:t>ARCYBER</a:t>
            </a:r>
            <a:endParaRPr lang="en-US" sz="1400" dirty="0">
              <a:solidFill>
                <a:schemeClr val="tx1"/>
              </a:solidFill>
            </a:endParaRPr>
          </a:p>
        </p:txBody>
      </p:sp>
      <p:grpSp>
        <p:nvGrpSpPr>
          <p:cNvPr id="86" name="Group 85">
            <a:extLst>
              <a:ext uri="{FF2B5EF4-FFF2-40B4-BE49-F238E27FC236}">
                <a16:creationId xmlns:a16="http://schemas.microsoft.com/office/drawing/2014/main" id="{28DF4B10-427C-FD34-A998-60A28AE351E4}"/>
              </a:ext>
            </a:extLst>
          </p:cNvPr>
          <p:cNvGrpSpPr/>
          <p:nvPr/>
        </p:nvGrpSpPr>
        <p:grpSpPr>
          <a:xfrm>
            <a:off x="2715935" y="2514338"/>
            <a:ext cx="3452070" cy="910630"/>
            <a:chOff x="2715935" y="2514338"/>
            <a:chExt cx="3452070" cy="910630"/>
          </a:xfrm>
        </p:grpSpPr>
        <p:grpSp>
          <p:nvGrpSpPr>
            <p:cNvPr id="48" name="Group 47">
              <a:extLst>
                <a:ext uri="{FF2B5EF4-FFF2-40B4-BE49-F238E27FC236}">
                  <a16:creationId xmlns:a16="http://schemas.microsoft.com/office/drawing/2014/main" id="{BD44E9E8-7571-6D4A-E03D-7063518516DD}"/>
                </a:ext>
              </a:extLst>
            </p:cNvPr>
            <p:cNvGrpSpPr/>
            <p:nvPr/>
          </p:nvGrpSpPr>
          <p:grpSpPr>
            <a:xfrm>
              <a:off x="3900881" y="2514338"/>
              <a:ext cx="1082179" cy="893688"/>
              <a:chOff x="3900881" y="2816342"/>
              <a:chExt cx="1082179" cy="893688"/>
            </a:xfrm>
          </p:grpSpPr>
          <p:sp>
            <p:nvSpPr>
              <p:cNvPr id="42" name="Rectangle 41">
                <a:extLst>
                  <a:ext uri="{FF2B5EF4-FFF2-40B4-BE49-F238E27FC236}">
                    <a16:creationId xmlns:a16="http://schemas.microsoft.com/office/drawing/2014/main" id="{68489D78-E3C7-0198-020D-CE20CBB04ACC}"/>
                  </a:ext>
                </a:extLst>
              </p:cNvPr>
              <p:cNvSpPr/>
              <p:nvPr/>
            </p:nvSpPr>
            <p:spPr>
              <a:xfrm>
                <a:off x="3900881" y="3110218"/>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cs typeface="Arial"/>
                  </a:rPr>
                  <a:t>CYBER</a:t>
                </a:r>
                <a:endParaRPr lang="en-US" sz="1400" dirty="0">
                  <a:solidFill>
                    <a:schemeClr val="tx1"/>
                  </a:solidFill>
                </a:endParaRPr>
              </a:p>
            </p:txBody>
          </p:sp>
          <p:sp>
            <p:nvSpPr>
              <p:cNvPr id="45" name="TextBox 44">
                <a:extLst>
                  <a:ext uri="{FF2B5EF4-FFF2-40B4-BE49-F238E27FC236}">
                    <a16:creationId xmlns:a16="http://schemas.microsoft.com/office/drawing/2014/main" id="{4401B9DB-B15D-51B9-A195-47BCF0596C0B}"/>
                  </a:ext>
                </a:extLst>
              </p:cNvPr>
              <p:cNvSpPr txBox="1"/>
              <p:nvPr/>
            </p:nvSpPr>
            <p:spPr>
              <a:xfrm>
                <a:off x="4292803" y="2816342"/>
                <a:ext cx="3020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X</a:t>
                </a:r>
              </a:p>
            </p:txBody>
          </p:sp>
        </p:grpSp>
        <p:sp>
          <p:nvSpPr>
            <p:cNvPr id="63" name="TextBox 62">
              <a:extLst>
                <a:ext uri="{FF2B5EF4-FFF2-40B4-BE49-F238E27FC236}">
                  <a16:creationId xmlns:a16="http://schemas.microsoft.com/office/drawing/2014/main" id="{93FB418B-F733-8E68-4B06-BDDE21052961}"/>
                </a:ext>
              </a:extLst>
            </p:cNvPr>
            <p:cNvSpPr txBox="1"/>
            <p:nvPr/>
          </p:nvSpPr>
          <p:spPr>
            <a:xfrm>
              <a:off x="2715935" y="3147969"/>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91st CB</a:t>
              </a:r>
            </a:p>
          </p:txBody>
        </p:sp>
        <p:sp>
          <p:nvSpPr>
            <p:cNvPr id="64" name="TextBox 63">
              <a:extLst>
                <a:ext uri="{FF2B5EF4-FFF2-40B4-BE49-F238E27FC236}">
                  <a16:creationId xmlns:a16="http://schemas.microsoft.com/office/drawing/2014/main" id="{5ED0541E-60F9-520C-5055-E4C421A57B2C}"/>
                </a:ext>
              </a:extLst>
            </p:cNvPr>
            <p:cNvSpPr txBox="1"/>
            <p:nvPr/>
          </p:nvSpPr>
          <p:spPr>
            <a:xfrm>
              <a:off x="4985157" y="3147967"/>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ARCYBER</a:t>
              </a:r>
            </a:p>
          </p:txBody>
        </p:sp>
      </p:grpSp>
      <p:grpSp>
        <p:nvGrpSpPr>
          <p:cNvPr id="87" name="Group 86">
            <a:extLst>
              <a:ext uri="{FF2B5EF4-FFF2-40B4-BE49-F238E27FC236}">
                <a16:creationId xmlns:a16="http://schemas.microsoft.com/office/drawing/2014/main" id="{46E27AC2-C0B4-890B-789C-A53AD108692A}"/>
              </a:ext>
            </a:extLst>
          </p:cNvPr>
          <p:cNvGrpSpPr/>
          <p:nvPr/>
        </p:nvGrpSpPr>
        <p:grpSpPr>
          <a:xfrm>
            <a:off x="2715936" y="3541989"/>
            <a:ext cx="3452068" cy="885464"/>
            <a:chOff x="2715936" y="3541989"/>
            <a:chExt cx="3452068" cy="885464"/>
          </a:xfrm>
        </p:grpSpPr>
        <p:grpSp>
          <p:nvGrpSpPr>
            <p:cNvPr id="49" name="Group 48">
              <a:extLst>
                <a:ext uri="{FF2B5EF4-FFF2-40B4-BE49-F238E27FC236}">
                  <a16:creationId xmlns:a16="http://schemas.microsoft.com/office/drawing/2014/main" id="{209C0A31-2C1E-1DDA-4D26-13669E686BC0}"/>
                </a:ext>
              </a:extLst>
            </p:cNvPr>
            <p:cNvGrpSpPr/>
            <p:nvPr/>
          </p:nvGrpSpPr>
          <p:grpSpPr>
            <a:xfrm>
              <a:off x="3900881" y="3541989"/>
              <a:ext cx="1082179" cy="885299"/>
              <a:chOff x="3913464" y="3898521"/>
              <a:chExt cx="1082179" cy="885299"/>
            </a:xfrm>
          </p:grpSpPr>
          <p:sp>
            <p:nvSpPr>
              <p:cNvPr id="46" name="Rectangle 45">
                <a:extLst>
                  <a:ext uri="{FF2B5EF4-FFF2-40B4-BE49-F238E27FC236}">
                    <a16:creationId xmlns:a16="http://schemas.microsoft.com/office/drawing/2014/main" id="{58855BD3-1A29-8E19-CFB1-35F252D2448F}"/>
                  </a:ext>
                </a:extLst>
              </p:cNvPr>
              <p:cNvSpPr/>
              <p:nvPr/>
            </p:nvSpPr>
            <p:spPr>
              <a:xfrm>
                <a:off x="3913464" y="4184008"/>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cs typeface="Arial"/>
                  </a:rPr>
                  <a:t>CYBER</a:t>
                </a:r>
                <a:endParaRPr lang="en-US" sz="1400" dirty="0">
                  <a:solidFill>
                    <a:schemeClr val="tx1"/>
                  </a:solidFill>
                </a:endParaRPr>
              </a:p>
            </p:txBody>
          </p:sp>
          <p:sp>
            <p:nvSpPr>
              <p:cNvPr id="47" name="TextBox 46">
                <a:extLst>
                  <a:ext uri="{FF2B5EF4-FFF2-40B4-BE49-F238E27FC236}">
                    <a16:creationId xmlns:a16="http://schemas.microsoft.com/office/drawing/2014/main" id="{62DB6A9B-4968-B297-B926-E130C910E3D0}"/>
                  </a:ext>
                </a:extLst>
              </p:cNvPr>
              <p:cNvSpPr txBox="1"/>
              <p:nvPr/>
            </p:nvSpPr>
            <p:spPr>
              <a:xfrm>
                <a:off x="4276026" y="3898521"/>
                <a:ext cx="3565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cs typeface="Arial"/>
                  </a:rPr>
                  <a:t>II</a:t>
                </a:r>
              </a:p>
            </p:txBody>
          </p:sp>
        </p:grpSp>
        <p:sp>
          <p:nvSpPr>
            <p:cNvPr id="62" name="TextBox 61">
              <a:extLst>
                <a:ext uri="{FF2B5EF4-FFF2-40B4-BE49-F238E27FC236}">
                  <a16:creationId xmlns:a16="http://schemas.microsoft.com/office/drawing/2014/main" id="{D892C9D1-D357-1548-4AED-11761B89FA8F}"/>
                </a:ext>
              </a:extLst>
            </p:cNvPr>
            <p:cNvSpPr txBox="1"/>
            <p:nvPr/>
          </p:nvSpPr>
          <p:spPr>
            <a:xfrm>
              <a:off x="2715936" y="4150454"/>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126th CPB</a:t>
              </a:r>
            </a:p>
          </p:txBody>
        </p:sp>
        <p:sp>
          <p:nvSpPr>
            <p:cNvPr id="65" name="TextBox 64">
              <a:extLst>
                <a:ext uri="{FF2B5EF4-FFF2-40B4-BE49-F238E27FC236}">
                  <a16:creationId xmlns:a16="http://schemas.microsoft.com/office/drawing/2014/main" id="{97BA6AF4-04AB-F61C-1BCC-FB0E6C09418F}"/>
                </a:ext>
              </a:extLst>
            </p:cNvPr>
            <p:cNvSpPr txBox="1"/>
            <p:nvPr/>
          </p:nvSpPr>
          <p:spPr>
            <a:xfrm>
              <a:off x="4985156" y="4146256"/>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cs typeface="Arial"/>
                </a:rPr>
                <a:t>91st CB</a:t>
              </a:r>
            </a:p>
          </p:txBody>
        </p:sp>
      </p:grpSp>
      <p:grpSp>
        <p:nvGrpSpPr>
          <p:cNvPr id="68" name="Group 67">
            <a:extLst>
              <a:ext uri="{FF2B5EF4-FFF2-40B4-BE49-F238E27FC236}">
                <a16:creationId xmlns:a16="http://schemas.microsoft.com/office/drawing/2014/main" id="{232DC3A1-76E6-1493-A2F8-59426E5077D8}"/>
              </a:ext>
            </a:extLst>
          </p:cNvPr>
          <p:cNvGrpSpPr/>
          <p:nvPr/>
        </p:nvGrpSpPr>
        <p:grpSpPr>
          <a:xfrm>
            <a:off x="1788950" y="5943687"/>
            <a:ext cx="1198043" cy="725821"/>
            <a:chOff x="2703351" y="5868186"/>
            <a:chExt cx="1198043" cy="725821"/>
          </a:xfrm>
        </p:grpSpPr>
        <p:grpSp>
          <p:nvGrpSpPr>
            <p:cNvPr id="24" name="Group 23">
              <a:extLst>
                <a:ext uri="{FF2B5EF4-FFF2-40B4-BE49-F238E27FC236}">
                  <a16:creationId xmlns:a16="http://schemas.microsoft.com/office/drawing/2014/main" id="{16890347-FB7A-9D38-83D6-88E92F627276}"/>
                </a:ext>
              </a:extLst>
            </p:cNvPr>
            <p:cNvGrpSpPr/>
            <p:nvPr/>
          </p:nvGrpSpPr>
          <p:grpSpPr>
            <a:xfrm>
              <a:off x="3268026" y="5868186"/>
              <a:ext cx="633368" cy="725821"/>
              <a:chOff x="-1396254" y="1908756"/>
              <a:chExt cx="914399" cy="1061207"/>
            </a:xfrm>
          </p:grpSpPr>
          <p:sp>
            <p:nvSpPr>
              <p:cNvPr id="25" name="Hexagon 24">
                <a:extLst>
                  <a:ext uri="{FF2B5EF4-FFF2-40B4-BE49-F238E27FC236}">
                    <a16:creationId xmlns:a16="http://schemas.microsoft.com/office/drawing/2014/main" id="{0296FD53-51D8-D0DE-F55A-38D55140997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owchart: Delay 25">
                <a:extLst>
                  <a:ext uri="{FF2B5EF4-FFF2-40B4-BE49-F238E27FC236}">
                    <a16:creationId xmlns:a16="http://schemas.microsoft.com/office/drawing/2014/main" id="{F2219E00-C478-4300-329F-F2DA54E615C6}"/>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0DB11216-3023-D5BB-F2B9-5055FF16694C}"/>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442528DE-BF80-F33F-DB48-6137C95AE5FE}"/>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ME 1</a:t>
              </a:r>
            </a:p>
          </p:txBody>
        </p:sp>
      </p:grpSp>
      <p:grpSp>
        <p:nvGrpSpPr>
          <p:cNvPr id="88" name="Group 87">
            <a:extLst>
              <a:ext uri="{FF2B5EF4-FFF2-40B4-BE49-F238E27FC236}">
                <a16:creationId xmlns:a16="http://schemas.microsoft.com/office/drawing/2014/main" id="{43C2FBFF-2E02-C7DA-ED9F-45CCA07D283C}"/>
              </a:ext>
            </a:extLst>
          </p:cNvPr>
          <p:cNvGrpSpPr/>
          <p:nvPr/>
        </p:nvGrpSpPr>
        <p:grpSpPr>
          <a:xfrm>
            <a:off x="2942438" y="4642254"/>
            <a:ext cx="2999062" cy="1162402"/>
            <a:chOff x="2942438" y="4642254"/>
            <a:chExt cx="2999062" cy="1162402"/>
          </a:xfrm>
        </p:grpSpPr>
        <p:grpSp>
          <p:nvGrpSpPr>
            <p:cNvPr id="28" name="Group 27">
              <a:extLst>
                <a:ext uri="{FF2B5EF4-FFF2-40B4-BE49-F238E27FC236}">
                  <a16:creationId xmlns:a16="http://schemas.microsoft.com/office/drawing/2014/main" id="{8602FF02-ED38-C214-A62C-9DB31F613562}"/>
                </a:ext>
              </a:extLst>
            </p:cNvPr>
            <p:cNvGrpSpPr/>
            <p:nvPr/>
          </p:nvGrpSpPr>
          <p:grpSpPr>
            <a:xfrm>
              <a:off x="4124761" y="4642254"/>
              <a:ext cx="636503" cy="1162402"/>
              <a:chOff x="-1399389" y="1609635"/>
              <a:chExt cx="917534" cy="1728658"/>
            </a:xfrm>
          </p:grpSpPr>
          <p:sp>
            <p:nvSpPr>
              <p:cNvPr id="8" name="&quot;Not Allowed&quot; Symbol 7">
                <a:extLst>
                  <a:ext uri="{FF2B5EF4-FFF2-40B4-BE49-F238E27FC236}">
                    <a16:creationId xmlns:a16="http://schemas.microsoft.com/office/drawing/2014/main" id="{DAB098B9-8561-C0BE-3A20-EB00E3282722}"/>
                  </a:ext>
                </a:extLst>
              </p:cNvPr>
              <p:cNvSpPr/>
              <p:nvPr/>
            </p:nvSpPr>
            <p:spPr>
              <a:xfrm flipH="1">
                <a:off x="-1018216" y="1609635"/>
                <a:ext cx="159393" cy="243282"/>
              </a:xfrm>
              <a:prstGeom prst="noSmoking">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Arrow Connector 15">
                <a:extLst>
                  <a:ext uri="{FF2B5EF4-FFF2-40B4-BE49-F238E27FC236}">
                    <a16:creationId xmlns:a16="http://schemas.microsoft.com/office/drawing/2014/main" id="{B105117D-EC99-9D0F-B6BA-DD497C41D7CB}"/>
                  </a:ext>
                </a:extLst>
              </p:cNvPr>
              <p:cNvCxnSpPr/>
              <p:nvPr/>
            </p:nvCxnSpPr>
            <p:spPr>
              <a:xfrm flipH="1">
                <a:off x="-1399389" y="2360976"/>
                <a:ext cx="8389" cy="97731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4CB708F-0CDB-5A70-CD44-EBAFA275062A}"/>
                  </a:ext>
                </a:extLst>
              </p:cNvPr>
              <p:cNvGrpSpPr/>
              <p:nvPr/>
            </p:nvGrpSpPr>
            <p:grpSpPr>
              <a:xfrm>
                <a:off x="-1396254" y="1908756"/>
                <a:ext cx="914399" cy="1061207"/>
                <a:chOff x="-1396254" y="1908756"/>
                <a:chExt cx="914399" cy="1061207"/>
              </a:xfrm>
            </p:grpSpPr>
            <p:sp>
              <p:nvSpPr>
                <p:cNvPr id="4" name="Hexagon 3">
                  <a:extLst>
                    <a:ext uri="{FF2B5EF4-FFF2-40B4-BE49-F238E27FC236}">
                      <a16:creationId xmlns:a16="http://schemas.microsoft.com/office/drawing/2014/main" id="{37A22DDD-C5F6-2467-E3D7-FEA84E00A60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Delay 4">
                  <a:extLst>
                    <a:ext uri="{FF2B5EF4-FFF2-40B4-BE49-F238E27FC236}">
                      <a16:creationId xmlns:a16="http://schemas.microsoft.com/office/drawing/2014/main" id="{ECBAB475-409F-396F-5FAD-5BD4E86E2ECA}"/>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C9039061-CCF3-97FA-3474-726243E49A3F}"/>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6" name="TextBox 65">
              <a:extLst>
                <a:ext uri="{FF2B5EF4-FFF2-40B4-BE49-F238E27FC236}">
                  <a16:creationId xmlns:a16="http://schemas.microsoft.com/office/drawing/2014/main" id="{C0F22A0D-380C-CC0B-2B72-2A2BF9574DBB}"/>
                </a:ext>
              </a:extLst>
            </p:cNvPr>
            <p:cNvSpPr txBox="1"/>
            <p:nvPr/>
          </p:nvSpPr>
          <p:spPr>
            <a:xfrm>
              <a:off x="2942438" y="5194883"/>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CPT 173</a:t>
              </a:r>
            </a:p>
          </p:txBody>
        </p:sp>
        <p:sp>
          <p:nvSpPr>
            <p:cNvPr id="69" name="TextBox 68">
              <a:extLst>
                <a:ext uri="{FF2B5EF4-FFF2-40B4-BE49-F238E27FC236}">
                  <a16:creationId xmlns:a16="http://schemas.microsoft.com/office/drawing/2014/main" id="{9BE76258-AC18-0FF4-8870-8124189D0BB2}"/>
                </a:ext>
              </a:extLst>
            </p:cNvPr>
            <p:cNvSpPr txBox="1"/>
            <p:nvPr/>
          </p:nvSpPr>
          <p:spPr>
            <a:xfrm>
              <a:off x="4758652" y="5194879"/>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cs typeface="Arial"/>
                </a:rPr>
                <a:t>126th CPB</a:t>
              </a:r>
            </a:p>
          </p:txBody>
        </p:sp>
      </p:grpSp>
      <p:grpSp>
        <p:nvGrpSpPr>
          <p:cNvPr id="70" name="Group 69">
            <a:extLst>
              <a:ext uri="{FF2B5EF4-FFF2-40B4-BE49-F238E27FC236}">
                <a16:creationId xmlns:a16="http://schemas.microsoft.com/office/drawing/2014/main" id="{6A83BA91-97B7-D615-7A75-52CF9CE4DC1B}"/>
              </a:ext>
            </a:extLst>
          </p:cNvPr>
          <p:cNvGrpSpPr/>
          <p:nvPr/>
        </p:nvGrpSpPr>
        <p:grpSpPr>
          <a:xfrm>
            <a:off x="2955019" y="5943698"/>
            <a:ext cx="1198043" cy="725825"/>
            <a:chOff x="2703351" y="5868198"/>
            <a:chExt cx="1198043" cy="725825"/>
          </a:xfrm>
        </p:grpSpPr>
        <p:grpSp>
          <p:nvGrpSpPr>
            <p:cNvPr id="74" name="Group 73">
              <a:extLst>
                <a:ext uri="{FF2B5EF4-FFF2-40B4-BE49-F238E27FC236}">
                  <a16:creationId xmlns:a16="http://schemas.microsoft.com/office/drawing/2014/main" id="{F8D924B2-DB5D-9E2F-3B1A-6063DA2D2353}"/>
                </a:ext>
              </a:extLst>
            </p:cNvPr>
            <p:cNvGrpSpPr/>
            <p:nvPr/>
          </p:nvGrpSpPr>
          <p:grpSpPr>
            <a:xfrm>
              <a:off x="3268027" y="5868198"/>
              <a:ext cx="633367" cy="725825"/>
              <a:chOff x="-1396254" y="1908756"/>
              <a:chExt cx="914399" cy="1061207"/>
            </a:xfrm>
          </p:grpSpPr>
          <p:sp>
            <p:nvSpPr>
              <p:cNvPr id="75" name="Hexagon 74">
                <a:extLst>
                  <a:ext uri="{FF2B5EF4-FFF2-40B4-BE49-F238E27FC236}">
                    <a16:creationId xmlns:a16="http://schemas.microsoft.com/office/drawing/2014/main" id="{6F38C06F-3B36-0CE9-74A0-432CF40BCAFC}"/>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lowchart: Delay 75">
                <a:extLst>
                  <a:ext uri="{FF2B5EF4-FFF2-40B4-BE49-F238E27FC236}">
                    <a16:creationId xmlns:a16="http://schemas.microsoft.com/office/drawing/2014/main" id="{1542E334-9575-A761-41EB-2B057BB39EC9}"/>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Arrow Connector 76">
                <a:extLst>
                  <a:ext uri="{FF2B5EF4-FFF2-40B4-BE49-F238E27FC236}">
                    <a16:creationId xmlns:a16="http://schemas.microsoft.com/office/drawing/2014/main" id="{B60775E8-739F-98C0-3A9A-BD0F51DF40E8}"/>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TextBox 71">
              <a:extLst>
                <a:ext uri="{FF2B5EF4-FFF2-40B4-BE49-F238E27FC236}">
                  <a16:creationId xmlns:a16="http://schemas.microsoft.com/office/drawing/2014/main" id="{953F98D8-5467-F32C-E411-BB11EB5A1A98}"/>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ME 2</a:t>
              </a:r>
            </a:p>
          </p:txBody>
        </p:sp>
      </p:grpSp>
      <p:grpSp>
        <p:nvGrpSpPr>
          <p:cNvPr id="78" name="Group 77">
            <a:extLst>
              <a:ext uri="{FF2B5EF4-FFF2-40B4-BE49-F238E27FC236}">
                <a16:creationId xmlns:a16="http://schemas.microsoft.com/office/drawing/2014/main" id="{95565B5A-EBC7-F0FB-351B-8B1F8820969A}"/>
              </a:ext>
            </a:extLst>
          </p:cNvPr>
          <p:cNvGrpSpPr/>
          <p:nvPr/>
        </p:nvGrpSpPr>
        <p:grpSpPr>
          <a:xfrm>
            <a:off x="5341688" y="5943698"/>
            <a:ext cx="1198043" cy="725825"/>
            <a:chOff x="2703351" y="5868198"/>
            <a:chExt cx="1198043" cy="725825"/>
          </a:xfrm>
        </p:grpSpPr>
        <p:grpSp>
          <p:nvGrpSpPr>
            <p:cNvPr id="82" name="Group 81">
              <a:extLst>
                <a:ext uri="{FF2B5EF4-FFF2-40B4-BE49-F238E27FC236}">
                  <a16:creationId xmlns:a16="http://schemas.microsoft.com/office/drawing/2014/main" id="{90D11D45-A183-A589-E6A6-A414424E223B}"/>
                </a:ext>
              </a:extLst>
            </p:cNvPr>
            <p:cNvGrpSpPr/>
            <p:nvPr/>
          </p:nvGrpSpPr>
          <p:grpSpPr>
            <a:xfrm>
              <a:off x="3268027" y="5868198"/>
              <a:ext cx="633367" cy="725825"/>
              <a:chOff x="-1396254" y="1908756"/>
              <a:chExt cx="914399" cy="1061207"/>
            </a:xfrm>
          </p:grpSpPr>
          <p:sp>
            <p:nvSpPr>
              <p:cNvPr id="83" name="Hexagon 82">
                <a:extLst>
                  <a:ext uri="{FF2B5EF4-FFF2-40B4-BE49-F238E27FC236}">
                    <a16:creationId xmlns:a16="http://schemas.microsoft.com/office/drawing/2014/main" id="{04661FB3-D546-FC63-B23D-3CCE33796318}"/>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lowchart: Delay 83">
                <a:extLst>
                  <a:ext uri="{FF2B5EF4-FFF2-40B4-BE49-F238E27FC236}">
                    <a16:creationId xmlns:a16="http://schemas.microsoft.com/office/drawing/2014/main" id="{F4ABE2ED-74AB-0FA4-27C6-E6CE52181344}"/>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a:extLst>
                  <a:ext uri="{FF2B5EF4-FFF2-40B4-BE49-F238E27FC236}">
                    <a16:creationId xmlns:a16="http://schemas.microsoft.com/office/drawing/2014/main" id="{81D6E378-5B6E-3B66-D4E4-73702835B0EB}"/>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B2CA7850-EDCF-1630-4B66-F763A7B0EC6F}"/>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cs typeface="Arial"/>
                </a:rPr>
                <a:t>SE 1</a:t>
              </a:r>
            </a:p>
          </p:txBody>
        </p:sp>
      </p:grpSp>
      <p:grpSp>
        <p:nvGrpSpPr>
          <p:cNvPr id="89" name="Group 88">
            <a:extLst>
              <a:ext uri="{FF2B5EF4-FFF2-40B4-BE49-F238E27FC236}">
                <a16:creationId xmlns:a16="http://schemas.microsoft.com/office/drawing/2014/main" id="{0F957610-0770-3A1F-35B2-43FFE63B439E}"/>
              </a:ext>
            </a:extLst>
          </p:cNvPr>
          <p:cNvGrpSpPr/>
          <p:nvPr/>
        </p:nvGrpSpPr>
        <p:grpSpPr>
          <a:xfrm>
            <a:off x="4175616" y="5943698"/>
            <a:ext cx="1198043" cy="725825"/>
            <a:chOff x="2703351" y="5868198"/>
            <a:chExt cx="1198043" cy="725825"/>
          </a:xfrm>
        </p:grpSpPr>
        <p:grpSp>
          <p:nvGrpSpPr>
            <p:cNvPr id="93" name="Group 92">
              <a:extLst>
                <a:ext uri="{FF2B5EF4-FFF2-40B4-BE49-F238E27FC236}">
                  <a16:creationId xmlns:a16="http://schemas.microsoft.com/office/drawing/2014/main" id="{59D876FD-E7C1-FFAD-40E5-E045B6624223}"/>
                </a:ext>
              </a:extLst>
            </p:cNvPr>
            <p:cNvGrpSpPr/>
            <p:nvPr/>
          </p:nvGrpSpPr>
          <p:grpSpPr>
            <a:xfrm>
              <a:off x="3268027" y="5868198"/>
              <a:ext cx="633367" cy="725825"/>
              <a:chOff x="-1396254" y="1908756"/>
              <a:chExt cx="914399" cy="1061207"/>
            </a:xfrm>
          </p:grpSpPr>
          <p:sp>
            <p:nvSpPr>
              <p:cNvPr id="94" name="Hexagon 93">
                <a:extLst>
                  <a:ext uri="{FF2B5EF4-FFF2-40B4-BE49-F238E27FC236}">
                    <a16:creationId xmlns:a16="http://schemas.microsoft.com/office/drawing/2014/main" id="{444A5C9F-E8B2-C8BB-60EE-A0ABEDC988EC}"/>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lowchart: Delay 94">
                <a:extLst>
                  <a:ext uri="{FF2B5EF4-FFF2-40B4-BE49-F238E27FC236}">
                    <a16:creationId xmlns:a16="http://schemas.microsoft.com/office/drawing/2014/main" id="{4C9B69A4-2955-92CE-DAD6-DEC0E157C9E2}"/>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Arrow Connector 95">
                <a:extLst>
                  <a:ext uri="{FF2B5EF4-FFF2-40B4-BE49-F238E27FC236}">
                    <a16:creationId xmlns:a16="http://schemas.microsoft.com/office/drawing/2014/main" id="{A0EE498E-7402-2C43-6300-091B7298CD50}"/>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1" name="TextBox 90">
              <a:extLst>
                <a:ext uri="{FF2B5EF4-FFF2-40B4-BE49-F238E27FC236}">
                  <a16:creationId xmlns:a16="http://schemas.microsoft.com/office/drawing/2014/main" id="{C96C52C2-A565-EBB6-83F4-BB47253AFA6F}"/>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dirty="0"/>
                <a:t>ME 3</a:t>
              </a:r>
            </a:p>
          </p:txBody>
        </p:sp>
      </p:grpSp>
    </p:spTree>
    <p:extLst>
      <p:ext uri="{BB962C8B-B14F-4D97-AF65-F5344CB8AC3E}">
        <p14:creationId xmlns:p14="http://schemas.microsoft.com/office/powerpoint/2010/main" val="549325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1">
            <a:extLst>
              <a:ext uri="{FF2B5EF4-FFF2-40B4-BE49-F238E27FC236}">
                <a16:creationId xmlns:a16="http://schemas.microsoft.com/office/drawing/2014/main" id="{5682EA86-26AC-FE6C-C7E5-678C9E4C2667}"/>
              </a:ext>
            </a:extLst>
          </p:cNvPr>
          <p:cNvPicPr>
            <a:picLocks noChangeAspect="1"/>
          </p:cNvPicPr>
          <p:nvPr/>
        </p:nvPicPr>
        <p:blipFill>
          <a:blip r:embed="rId2"/>
          <a:stretch>
            <a:fillRect/>
          </a:stretch>
        </p:blipFill>
        <p:spPr>
          <a:xfrm>
            <a:off x="457200" y="1536669"/>
            <a:ext cx="8229600" cy="4715839"/>
          </a:xfrm>
          <a:prstGeom prst="rect">
            <a:avLst/>
          </a:prstGeom>
        </p:spPr>
      </p:pic>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173 CPT Task Organization</a:t>
            </a:r>
          </a:p>
        </p:txBody>
      </p:sp>
      <p:grpSp>
        <p:nvGrpSpPr>
          <p:cNvPr id="78" name="Group 77">
            <a:extLst>
              <a:ext uri="{FF2B5EF4-FFF2-40B4-BE49-F238E27FC236}">
                <a16:creationId xmlns:a16="http://schemas.microsoft.com/office/drawing/2014/main" id="{95565B5A-EBC7-F0FB-351B-8B1F8820969A}"/>
              </a:ext>
            </a:extLst>
          </p:cNvPr>
          <p:cNvGrpSpPr/>
          <p:nvPr/>
        </p:nvGrpSpPr>
        <p:grpSpPr>
          <a:xfrm>
            <a:off x="1210111" y="5252402"/>
            <a:ext cx="707287" cy="416573"/>
            <a:chOff x="2532925" y="5868198"/>
            <a:chExt cx="1368469" cy="802251"/>
          </a:xfrm>
        </p:grpSpPr>
        <p:grpSp>
          <p:nvGrpSpPr>
            <p:cNvPr id="82" name="Group 81">
              <a:extLst>
                <a:ext uri="{FF2B5EF4-FFF2-40B4-BE49-F238E27FC236}">
                  <a16:creationId xmlns:a16="http://schemas.microsoft.com/office/drawing/2014/main" id="{90D11D45-A183-A589-E6A6-A414424E223B}"/>
                </a:ext>
              </a:extLst>
            </p:cNvPr>
            <p:cNvGrpSpPr/>
            <p:nvPr/>
          </p:nvGrpSpPr>
          <p:grpSpPr>
            <a:xfrm>
              <a:off x="3268027" y="5868198"/>
              <a:ext cx="633367" cy="725824"/>
              <a:chOff x="-1396254" y="1908756"/>
              <a:chExt cx="914399" cy="1061207"/>
            </a:xfrm>
          </p:grpSpPr>
          <p:sp>
            <p:nvSpPr>
              <p:cNvPr id="83" name="Hexagon 82">
                <a:extLst>
                  <a:ext uri="{FF2B5EF4-FFF2-40B4-BE49-F238E27FC236}">
                    <a16:creationId xmlns:a16="http://schemas.microsoft.com/office/drawing/2014/main" id="{04661FB3-D546-FC63-B23D-3CCE33796318}"/>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lowchart: Delay 83">
                <a:extLst>
                  <a:ext uri="{FF2B5EF4-FFF2-40B4-BE49-F238E27FC236}">
                    <a16:creationId xmlns:a16="http://schemas.microsoft.com/office/drawing/2014/main" id="{F4ABE2ED-74AB-0FA4-27C6-E6CE52181344}"/>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a:extLst>
                  <a:ext uri="{FF2B5EF4-FFF2-40B4-BE49-F238E27FC236}">
                    <a16:creationId xmlns:a16="http://schemas.microsoft.com/office/drawing/2014/main" id="{81D6E378-5B6E-3B66-D4E4-73702835B0EB}"/>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B2CA7850-EDCF-1630-4B66-F763A7B0EC6F}"/>
                </a:ext>
              </a:extLst>
            </p:cNvPr>
            <p:cNvSpPr txBox="1"/>
            <p:nvPr/>
          </p:nvSpPr>
          <p:spPr>
            <a:xfrm>
              <a:off x="2532925" y="6314813"/>
              <a:ext cx="761030" cy="3556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cs typeface="Arial"/>
                </a:rPr>
                <a:t>SE 1</a:t>
              </a:r>
            </a:p>
          </p:txBody>
        </p:sp>
      </p:grpSp>
      <p:sp>
        <p:nvSpPr>
          <p:cNvPr id="7" name="Rectangle 6">
            <a:extLst>
              <a:ext uri="{FF2B5EF4-FFF2-40B4-BE49-F238E27FC236}">
                <a16:creationId xmlns:a16="http://schemas.microsoft.com/office/drawing/2014/main" id="{BD71D744-1744-7792-0627-57DCB8BE5B02}"/>
              </a:ext>
            </a:extLst>
          </p:cNvPr>
          <p:cNvSpPr/>
          <p:nvPr/>
        </p:nvSpPr>
        <p:spPr>
          <a:xfrm>
            <a:off x="4014132" y="5043881"/>
            <a:ext cx="557868" cy="31039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ARCYBER</a:t>
            </a:r>
          </a:p>
        </p:txBody>
      </p:sp>
      <p:grpSp>
        <p:nvGrpSpPr>
          <p:cNvPr id="9" name="Group 8">
            <a:extLst>
              <a:ext uri="{FF2B5EF4-FFF2-40B4-BE49-F238E27FC236}">
                <a16:creationId xmlns:a16="http://schemas.microsoft.com/office/drawing/2014/main" id="{0C07F816-444C-C010-034D-D7D18CFEA087}"/>
              </a:ext>
            </a:extLst>
          </p:cNvPr>
          <p:cNvGrpSpPr/>
          <p:nvPr/>
        </p:nvGrpSpPr>
        <p:grpSpPr>
          <a:xfrm>
            <a:off x="6109282" y="2875063"/>
            <a:ext cx="1719743" cy="545401"/>
            <a:chOff x="2910876" y="2221899"/>
            <a:chExt cx="3330231" cy="1056253"/>
          </a:xfrm>
        </p:grpSpPr>
        <p:grpSp>
          <p:nvGrpSpPr>
            <p:cNvPr id="34" name="Group 33">
              <a:extLst>
                <a:ext uri="{FF2B5EF4-FFF2-40B4-BE49-F238E27FC236}">
                  <a16:creationId xmlns:a16="http://schemas.microsoft.com/office/drawing/2014/main" id="{6C5344AD-789F-4553-F9AF-DD9A6F341F37}"/>
                </a:ext>
              </a:extLst>
            </p:cNvPr>
            <p:cNvGrpSpPr/>
            <p:nvPr/>
          </p:nvGrpSpPr>
          <p:grpSpPr>
            <a:xfrm>
              <a:off x="4060272" y="2221899"/>
              <a:ext cx="1082179" cy="930263"/>
              <a:chOff x="4060272" y="2523903"/>
              <a:chExt cx="1082179" cy="930263"/>
            </a:xfrm>
          </p:grpSpPr>
          <p:sp>
            <p:nvSpPr>
              <p:cNvPr id="37" name="Rectangle 36">
                <a:extLst>
                  <a:ext uri="{FF2B5EF4-FFF2-40B4-BE49-F238E27FC236}">
                    <a16:creationId xmlns:a16="http://schemas.microsoft.com/office/drawing/2014/main" id="{67E80197-5396-D196-0806-8895763E3433}"/>
                  </a:ext>
                </a:extLst>
              </p:cNvPr>
              <p:cNvSpPr/>
              <p:nvPr/>
            </p:nvSpPr>
            <p:spPr>
              <a:xfrm>
                <a:off x="4060272" y="2854354"/>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CYBER</a:t>
                </a:r>
              </a:p>
            </p:txBody>
          </p:sp>
          <p:sp>
            <p:nvSpPr>
              <p:cNvPr id="38" name="TextBox 37">
                <a:extLst>
                  <a:ext uri="{FF2B5EF4-FFF2-40B4-BE49-F238E27FC236}">
                    <a16:creationId xmlns:a16="http://schemas.microsoft.com/office/drawing/2014/main" id="{C4AF2964-E0CD-55A6-A6A6-93A68BAD2588}"/>
                  </a:ext>
                </a:extLst>
              </p:cNvPr>
              <p:cNvSpPr txBox="1"/>
              <p:nvPr/>
            </p:nvSpPr>
            <p:spPr>
              <a:xfrm>
                <a:off x="4439009" y="2523903"/>
                <a:ext cx="302004" cy="4470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dirty="0"/>
                  <a:t>X</a:t>
                </a:r>
              </a:p>
            </p:txBody>
          </p:sp>
        </p:grpSp>
        <p:sp>
          <p:nvSpPr>
            <p:cNvPr id="35" name="TextBox 34">
              <a:extLst>
                <a:ext uri="{FF2B5EF4-FFF2-40B4-BE49-F238E27FC236}">
                  <a16:creationId xmlns:a16="http://schemas.microsoft.com/office/drawing/2014/main" id="{D5B20686-D03E-DBCD-0741-8C49FF5E125C}"/>
                </a:ext>
              </a:extLst>
            </p:cNvPr>
            <p:cNvSpPr txBox="1"/>
            <p:nvPr/>
          </p:nvSpPr>
          <p:spPr>
            <a:xfrm>
              <a:off x="2910876" y="2920518"/>
              <a:ext cx="1182848" cy="357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91st CB</a:t>
              </a:r>
            </a:p>
          </p:txBody>
        </p:sp>
        <p:sp>
          <p:nvSpPr>
            <p:cNvPr id="36" name="TextBox 35">
              <a:extLst>
                <a:ext uri="{FF2B5EF4-FFF2-40B4-BE49-F238E27FC236}">
                  <a16:creationId xmlns:a16="http://schemas.microsoft.com/office/drawing/2014/main" id="{4867D60F-0ACB-6BE2-B7E0-7658A35880EB}"/>
                </a:ext>
              </a:extLst>
            </p:cNvPr>
            <p:cNvSpPr txBox="1"/>
            <p:nvPr/>
          </p:nvSpPr>
          <p:spPr>
            <a:xfrm>
              <a:off x="5058259" y="2920514"/>
              <a:ext cx="1182848" cy="357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b="1" dirty="0">
                  <a:solidFill>
                    <a:schemeClr val="bg1"/>
                  </a:solidFill>
                </a:rPr>
                <a:t>ARCYBER</a:t>
              </a:r>
            </a:p>
          </p:txBody>
        </p:sp>
      </p:grpSp>
      <p:grpSp>
        <p:nvGrpSpPr>
          <p:cNvPr id="10" name="Group 9">
            <a:extLst>
              <a:ext uri="{FF2B5EF4-FFF2-40B4-BE49-F238E27FC236}">
                <a16:creationId xmlns:a16="http://schemas.microsoft.com/office/drawing/2014/main" id="{25833403-D221-F603-4316-36882F6F69B5}"/>
              </a:ext>
            </a:extLst>
          </p:cNvPr>
          <p:cNvGrpSpPr/>
          <p:nvPr/>
        </p:nvGrpSpPr>
        <p:grpSpPr>
          <a:xfrm>
            <a:off x="7317297" y="1482492"/>
            <a:ext cx="1786854" cy="509490"/>
            <a:chOff x="2715936" y="3541989"/>
            <a:chExt cx="3452068" cy="994937"/>
          </a:xfrm>
        </p:grpSpPr>
        <p:grpSp>
          <p:nvGrpSpPr>
            <p:cNvPr id="41" name="Group 40">
              <a:extLst>
                <a:ext uri="{FF2B5EF4-FFF2-40B4-BE49-F238E27FC236}">
                  <a16:creationId xmlns:a16="http://schemas.microsoft.com/office/drawing/2014/main" id="{7FE97BDD-6FD1-F730-EA72-B65D5EE2D015}"/>
                </a:ext>
              </a:extLst>
            </p:cNvPr>
            <p:cNvGrpSpPr/>
            <p:nvPr/>
          </p:nvGrpSpPr>
          <p:grpSpPr>
            <a:xfrm>
              <a:off x="3900881" y="3541989"/>
              <a:ext cx="1082179" cy="885299"/>
              <a:chOff x="3913464" y="3898521"/>
              <a:chExt cx="1082179" cy="885299"/>
            </a:xfrm>
          </p:grpSpPr>
          <p:sp>
            <p:nvSpPr>
              <p:cNvPr id="44" name="Rectangle 43">
                <a:extLst>
                  <a:ext uri="{FF2B5EF4-FFF2-40B4-BE49-F238E27FC236}">
                    <a16:creationId xmlns:a16="http://schemas.microsoft.com/office/drawing/2014/main" id="{A3B749CF-FA6D-6D45-E7A2-CD1D84C7F46B}"/>
                  </a:ext>
                </a:extLst>
              </p:cNvPr>
              <p:cNvSpPr/>
              <p:nvPr/>
            </p:nvSpPr>
            <p:spPr>
              <a:xfrm>
                <a:off x="3913464" y="4184008"/>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CYBER</a:t>
                </a:r>
              </a:p>
            </p:txBody>
          </p:sp>
          <p:sp>
            <p:nvSpPr>
              <p:cNvPr id="45" name="TextBox 44">
                <a:extLst>
                  <a:ext uri="{FF2B5EF4-FFF2-40B4-BE49-F238E27FC236}">
                    <a16:creationId xmlns:a16="http://schemas.microsoft.com/office/drawing/2014/main" id="{D7941D37-AE12-AAD6-A7FD-9BDF37167674}"/>
                  </a:ext>
                </a:extLst>
              </p:cNvPr>
              <p:cNvSpPr txBox="1"/>
              <p:nvPr/>
            </p:nvSpPr>
            <p:spPr>
              <a:xfrm>
                <a:off x="4211199" y="3898521"/>
                <a:ext cx="478082" cy="420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dirty="0">
                    <a:cs typeface="Arial"/>
                  </a:rPr>
                  <a:t>II</a:t>
                </a:r>
              </a:p>
            </p:txBody>
          </p:sp>
        </p:grpSp>
        <p:sp>
          <p:nvSpPr>
            <p:cNvPr id="42" name="TextBox 41">
              <a:extLst>
                <a:ext uri="{FF2B5EF4-FFF2-40B4-BE49-F238E27FC236}">
                  <a16:creationId xmlns:a16="http://schemas.microsoft.com/office/drawing/2014/main" id="{A6C4BBE0-AC85-1437-5E9C-7FE53278CA7B}"/>
                </a:ext>
              </a:extLst>
            </p:cNvPr>
            <p:cNvSpPr txBox="1"/>
            <p:nvPr/>
          </p:nvSpPr>
          <p:spPr>
            <a:xfrm>
              <a:off x="2715936" y="4150455"/>
              <a:ext cx="1182848" cy="3606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126th CPB</a:t>
              </a:r>
            </a:p>
          </p:txBody>
        </p:sp>
        <p:sp>
          <p:nvSpPr>
            <p:cNvPr id="43" name="TextBox 42">
              <a:extLst>
                <a:ext uri="{FF2B5EF4-FFF2-40B4-BE49-F238E27FC236}">
                  <a16:creationId xmlns:a16="http://schemas.microsoft.com/office/drawing/2014/main" id="{036E4781-CFAC-D4BD-DA88-95378998346C}"/>
                </a:ext>
              </a:extLst>
            </p:cNvPr>
            <p:cNvSpPr txBox="1"/>
            <p:nvPr/>
          </p:nvSpPr>
          <p:spPr>
            <a:xfrm>
              <a:off x="4985156" y="4146257"/>
              <a:ext cx="1182848" cy="3906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b="1" dirty="0">
                  <a:solidFill>
                    <a:schemeClr val="bg1"/>
                  </a:solidFill>
                  <a:cs typeface="Arial"/>
                </a:rPr>
                <a:t>91st CB</a:t>
              </a:r>
            </a:p>
          </p:txBody>
        </p:sp>
      </p:grpSp>
      <p:grpSp>
        <p:nvGrpSpPr>
          <p:cNvPr id="12" name="Group 11">
            <a:extLst>
              <a:ext uri="{FF2B5EF4-FFF2-40B4-BE49-F238E27FC236}">
                <a16:creationId xmlns:a16="http://schemas.microsoft.com/office/drawing/2014/main" id="{2FC8B8FB-9C95-19AC-0B09-A57044D3C77C}"/>
              </a:ext>
            </a:extLst>
          </p:cNvPr>
          <p:cNvGrpSpPr/>
          <p:nvPr/>
        </p:nvGrpSpPr>
        <p:grpSpPr>
          <a:xfrm>
            <a:off x="6738453" y="1968110"/>
            <a:ext cx="933790" cy="416573"/>
            <a:chOff x="2094683" y="5868198"/>
            <a:chExt cx="1806711" cy="802251"/>
          </a:xfrm>
        </p:grpSpPr>
        <p:grpSp>
          <p:nvGrpSpPr>
            <p:cNvPr id="52" name="Group 51">
              <a:extLst>
                <a:ext uri="{FF2B5EF4-FFF2-40B4-BE49-F238E27FC236}">
                  <a16:creationId xmlns:a16="http://schemas.microsoft.com/office/drawing/2014/main" id="{DAABB751-60B9-260D-52B8-967870D6AFAC}"/>
                </a:ext>
              </a:extLst>
            </p:cNvPr>
            <p:cNvGrpSpPr/>
            <p:nvPr/>
          </p:nvGrpSpPr>
          <p:grpSpPr>
            <a:xfrm>
              <a:off x="3268026" y="5868198"/>
              <a:ext cx="633368" cy="725824"/>
              <a:chOff x="-1396254" y="1908756"/>
              <a:chExt cx="914399" cy="1061207"/>
            </a:xfrm>
          </p:grpSpPr>
          <p:sp>
            <p:nvSpPr>
              <p:cNvPr id="53" name="Hexagon 52">
                <a:extLst>
                  <a:ext uri="{FF2B5EF4-FFF2-40B4-BE49-F238E27FC236}">
                    <a16:creationId xmlns:a16="http://schemas.microsoft.com/office/drawing/2014/main" id="{78A5237B-4FAA-B83C-B767-4BC8E3D32243}"/>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Delay 53">
                <a:extLst>
                  <a:ext uri="{FF2B5EF4-FFF2-40B4-BE49-F238E27FC236}">
                    <a16:creationId xmlns:a16="http://schemas.microsoft.com/office/drawing/2014/main" id="{59D450E0-800F-D181-0423-CD6E3651E680}"/>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D7996A8A-38DE-7B7C-B49D-8B162F6B3FB7}"/>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CA67034A-2354-D6F9-42AD-43F0BB6BA630}"/>
                </a:ext>
              </a:extLst>
            </p:cNvPr>
            <p:cNvSpPr txBox="1"/>
            <p:nvPr/>
          </p:nvSpPr>
          <p:spPr>
            <a:xfrm>
              <a:off x="2094683" y="6314813"/>
              <a:ext cx="1199272" cy="3556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ME 3</a:t>
              </a:r>
              <a:endParaRPr lang="en-US" sz="600" b="1" dirty="0">
                <a:solidFill>
                  <a:schemeClr val="bg1"/>
                </a:solidFill>
                <a:cs typeface="Arial"/>
              </a:endParaRPr>
            </a:p>
          </p:txBody>
        </p:sp>
      </p:grpSp>
      <p:grpSp>
        <p:nvGrpSpPr>
          <p:cNvPr id="68" name="Group 67">
            <a:extLst>
              <a:ext uri="{FF2B5EF4-FFF2-40B4-BE49-F238E27FC236}">
                <a16:creationId xmlns:a16="http://schemas.microsoft.com/office/drawing/2014/main" id="{232DC3A1-76E6-1493-A2F8-59426E5077D8}"/>
              </a:ext>
            </a:extLst>
          </p:cNvPr>
          <p:cNvGrpSpPr/>
          <p:nvPr/>
        </p:nvGrpSpPr>
        <p:grpSpPr>
          <a:xfrm>
            <a:off x="1023821" y="5116430"/>
            <a:ext cx="698898" cy="416579"/>
            <a:chOff x="2549156" y="5868185"/>
            <a:chExt cx="1352238" cy="802267"/>
          </a:xfrm>
        </p:grpSpPr>
        <p:grpSp>
          <p:nvGrpSpPr>
            <p:cNvPr id="24" name="Group 23">
              <a:extLst>
                <a:ext uri="{FF2B5EF4-FFF2-40B4-BE49-F238E27FC236}">
                  <a16:creationId xmlns:a16="http://schemas.microsoft.com/office/drawing/2014/main" id="{16890347-FB7A-9D38-83D6-88E92F627276}"/>
                </a:ext>
              </a:extLst>
            </p:cNvPr>
            <p:cNvGrpSpPr/>
            <p:nvPr/>
          </p:nvGrpSpPr>
          <p:grpSpPr>
            <a:xfrm>
              <a:off x="3268027" y="5868185"/>
              <a:ext cx="633367" cy="725822"/>
              <a:chOff x="-1396254" y="1908756"/>
              <a:chExt cx="914399" cy="1061207"/>
            </a:xfrm>
          </p:grpSpPr>
          <p:sp>
            <p:nvSpPr>
              <p:cNvPr id="25" name="Hexagon 24">
                <a:extLst>
                  <a:ext uri="{FF2B5EF4-FFF2-40B4-BE49-F238E27FC236}">
                    <a16:creationId xmlns:a16="http://schemas.microsoft.com/office/drawing/2014/main" id="{0296FD53-51D8-D0DE-F55A-38D55140997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owchart: Delay 25">
                <a:extLst>
                  <a:ext uri="{FF2B5EF4-FFF2-40B4-BE49-F238E27FC236}">
                    <a16:creationId xmlns:a16="http://schemas.microsoft.com/office/drawing/2014/main" id="{F2219E00-C478-4300-329F-F2DA54E615C6}"/>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0DB11216-3023-D5BB-F2B9-5055FF16694C}"/>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442528DE-BF80-F33F-DB48-6137C95AE5FE}"/>
                </a:ext>
              </a:extLst>
            </p:cNvPr>
            <p:cNvSpPr txBox="1"/>
            <p:nvPr/>
          </p:nvSpPr>
          <p:spPr>
            <a:xfrm>
              <a:off x="2549156" y="6314814"/>
              <a:ext cx="720453" cy="3556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ME 1</a:t>
              </a:r>
              <a:endParaRPr lang="en-US" sz="1000" b="1">
                <a:solidFill>
                  <a:schemeClr val="bg1"/>
                </a:solidFill>
                <a:cs typeface="Arial"/>
              </a:endParaRPr>
            </a:p>
          </p:txBody>
        </p:sp>
      </p:grpSp>
      <p:grpSp>
        <p:nvGrpSpPr>
          <p:cNvPr id="88" name="Group 87">
            <a:extLst>
              <a:ext uri="{FF2B5EF4-FFF2-40B4-BE49-F238E27FC236}">
                <a16:creationId xmlns:a16="http://schemas.microsoft.com/office/drawing/2014/main" id="{43C2FBFF-2E02-C7DA-ED9F-45CCA07D283C}"/>
              </a:ext>
            </a:extLst>
          </p:cNvPr>
          <p:cNvGrpSpPr/>
          <p:nvPr/>
        </p:nvGrpSpPr>
        <p:grpSpPr>
          <a:xfrm>
            <a:off x="563157" y="4860668"/>
            <a:ext cx="1547767" cy="600340"/>
            <a:chOff x="2942438" y="4642254"/>
            <a:chExt cx="2999062" cy="1162402"/>
          </a:xfrm>
        </p:grpSpPr>
        <p:grpSp>
          <p:nvGrpSpPr>
            <p:cNvPr id="28" name="Group 27">
              <a:extLst>
                <a:ext uri="{FF2B5EF4-FFF2-40B4-BE49-F238E27FC236}">
                  <a16:creationId xmlns:a16="http://schemas.microsoft.com/office/drawing/2014/main" id="{8602FF02-ED38-C214-A62C-9DB31F613562}"/>
                </a:ext>
              </a:extLst>
            </p:cNvPr>
            <p:cNvGrpSpPr/>
            <p:nvPr/>
          </p:nvGrpSpPr>
          <p:grpSpPr>
            <a:xfrm>
              <a:off x="4124761" y="4642254"/>
              <a:ext cx="636503" cy="1162402"/>
              <a:chOff x="-1399389" y="1609635"/>
              <a:chExt cx="917534" cy="1728658"/>
            </a:xfrm>
          </p:grpSpPr>
          <p:sp>
            <p:nvSpPr>
              <p:cNvPr id="8" name="&quot;Not Allowed&quot; Symbol 7">
                <a:extLst>
                  <a:ext uri="{FF2B5EF4-FFF2-40B4-BE49-F238E27FC236}">
                    <a16:creationId xmlns:a16="http://schemas.microsoft.com/office/drawing/2014/main" id="{DAB098B9-8561-C0BE-3A20-EB00E3282722}"/>
                  </a:ext>
                </a:extLst>
              </p:cNvPr>
              <p:cNvSpPr/>
              <p:nvPr/>
            </p:nvSpPr>
            <p:spPr>
              <a:xfrm flipH="1">
                <a:off x="-1018216" y="1609635"/>
                <a:ext cx="159393" cy="243282"/>
              </a:xfrm>
              <a:prstGeom prst="noSmoking">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Arrow Connector 15">
                <a:extLst>
                  <a:ext uri="{FF2B5EF4-FFF2-40B4-BE49-F238E27FC236}">
                    <a16:creationId xmlns:a16="http://schemas.microsoft.com/office/drawing/2014/main" id="{B105117D-EC99-9D0F-B6BA-DD497C41D7CB}"/>
                  </a:ext>
                </a:extLst>
              </p:cNvPr>
              <p:cNvCxnSpPr/>
              <p:nvPr/>
            </p:nvCxnSpPr>
            <p:spPr>
              <a:xfrm flipH="1">
                <a:off x="-1399389" y="2360976"/>
                <a:ext cx="8389" cy="97731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4CB708F-0CDB-5A70-CD44-EBAFA275062A}"/>
                  </a:ext>
                </a:extLst>
              </p:cNvPr>
              <p:cNvGrpSpPr/>
              <p:nvPr/>
            </p:nvGrpSpPr>
            <p:grpSpPr>
              <a:xfrm>
                <a:off x="-1396254" y="1908756"/>
                <a:ext cx="914399" cy="1061207"/>
                <a:chOff x="-1396254" y="1908756"/>
                <a:chExt cx="914399" cy="1061207"/>
              </a:xfrm>
            </p:grpSpPr>
            <p:sp>
              <p:nvSpPr>
                <p:cNvPr id="4" name="Hexagon 3">
                  <a:extLst>
                    <a:ext uri="{FF2B5EF4-FFF2-40B4-BE49-F238E27FC236}">
                      <a16:creationId xmlns:a16="http://schemas.microsoft.com/office/drawing/2014/main" id="{37A22DDD-C5F6-2467-E3D7-FEA84E00A60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Delay 4">
                  <a:extLst>
                    <a:ext uri="{FF2B5EF4-FFF2-40B4-BE49-F238E27FC236}">
                      <a16:creationId xmlns:a16="http://schemas.microsoft.com/office/drawing/2014/main" id="{ECBAB475-409F-396F-5FAD-5BD4E86E2ECA}"/>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C9039061-CCF3-97FA-3474-726243E49A3F}"/>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6" name="TextBox 65">
              <a:extLst>
                <a:ext uri="{FF2B5EF4-FFF2-40B4-BE49-F238E27FC236}">
                  <a16:creationId xmlns:a16="http://schemas.microsoft.com/office/drawing/2014/main" id="{C0F22A0D-380C-CC0B-2B72-2A2BF9574DBB}"/>
                </a:ext>
              </a:extLst>
            </p:cNvPr>
            <p:cNvSpPr txBox="1"/>
            <p:nvPr/>
          </p:nvSpPr>
          <p:spPr>
            <a:xfrm>
              <a:off x="2942438" y="5194884"/>
              <a:ext cx="1182849" cy="3873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700" b="1" dirty="0">
                  <a:solidFill>
                    <a:schemeClr val="bg1"/>
                  </a:solidFill>
                </a:rPr>
                <a:t>CPT 173</a:t>
              </a:r>
              <a:endParaRPr lang="en-US" sz="700" b="1">
                <a:solidFill>
                  <a:schemeClr val="bg1"/>
                </a:solidFill>
                <a:cs typeface="Arial"/>
              </a:endParaRPr>
            </a:p>
          </p:txBody>
        </p:sp>
        <p:sp>
          <p:nvSpPr>
            <p:cNvPr id="69" name="TextBox 68">
              <a:extLst>
                <a:ext uri="{FF2B5EF4-FFF2-40B4-BE49-F238E27FC236}">
                  <a16:creationId xmlns:a16="http://schemas.microsoft.com/office/drawing/2014/main" id="{9BE76258-AC18-0FF4-8870-8124189D0BB2}"/>
                </a:ext>
              </a:extLst>
            </p:cNvPr>
            <p:cNvSpPr txBox="1"/>
            <p:nvPr/>
          </p:nvSpPr>
          <p:spPr>
            <a:xfrm>
              <a:off x="4758651" y="5194878"/>
              <a:ext cx="1182849" cy="3575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b="1" dirty="0">
                  <a:solidFill>
                    <a:schemeClr val="bg1"/>
                  </a:solidFill>
                  <a:cs typeface="Arial"/>
                </a:rPr>
                <a:t>126th CWB</a:t>
              </a:r>
            </a:p>
          </p:txBody>
        </p:sp>
      </p:grpSp>
      <p:sp>
        <p:nvSpPr>
          <p:cNvPr id="13" name="Rectangle 12">
            <a:extLst>
              <a:ext uri="{FF2B5EF4-FFF2-40B4-BE49-F238E27FC236}">
                <a16:creationId xmlns:a16="http://schemas.microsoft.com/office/drawing/2014/main" id="{EE086531-E215-5656-DC7B-26ABD4285D89}"/>
              </a:ext>
            </a:extLst>
          </p:cNvPr>
          <p:cNvSpPr/>
          <p:nvPr/>
        </p:nvSpPr>
        <p:spPr>
          <a:xfrm>
            <a:off x="1661018" y="4808988"/>
            <a:ext cx="553674" cy="306197"/>
          </a:xfrm>
          <a:prstGeom prst="rect">
            <a:avLst/>
          </a:prstGeom>
          <a:solidFill>
            <a:srgbClr val="00B0F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700" dirty="0">
                <a:solidFill>
                  <a:schemeClr val="tx1"/>
                </a:solidFill>
                <a:cs typeface="Arial"/>
              </a:rPr>
              <a:t>AR JFHQ</a:t>
            </a:r>
          </a:p>
        </p:txBody>
      </p:sp>
      <p:grpSp>
        <p:nvGrpSpPr>
          <p:cNvPr id="59" name="Group 58">
            <a:extLst>
              <a:ext uri="{FF2B5EF4-FFF2-40B4-BE49-F238E27FC236}">
                <a16:creationId xmlns:a16="http://schemas.microsoft.com/office/drawing/2014/main" id="{226FFB9C-4F71-8B86-4234-BBFE8162A444}"/>
              </a:ext>
            </a:extLst>
          </p:cNvPr>
          <p:cNvGrpSpPr/>
          <p:nvPr/>
        </p:nvGrpSpPr>
        <p:grpSpPr>
          <a:xfrm>
            <a:off x="6577033" y="1849796"/>
            <a:ext cx="933791" cy="416573"/>
            <a:chOff x="2094683" y="5868198"/>
            <a:chExt cx="1806711" cy="802251"/>
          </a:xfrm>
        </p:grpSpPr>
        <p:grpSp>
          <p:nvGrpSpPr>
            <p:cNvPr id="63" name="Group 62">
              <a:extLst>
                <a:ext uri="{FF2B5EF4-FFF2-40B4-BE49-F238E27FC236}">
                  <a16:creationId xmlns:a16="http://schemas.microsoft.com/office/drawing/2014/main" id="{3FE1DC45-4DFE-4495-6F8D-DD386B0486D2}"/>
                </a:ext>
              </a:extLst>
            </p:cNvPr>
            <p:cNvGrpSpPr/>
            <p:nvPr/>
          </p:nvGrpSpPr>
          <p:grpSpPr>
            <a:xfrm>
              <a:off x="3268027" y="5868198"/>
              <a:ext cx="633367" cy="725824"/>
              <a:chOff x="-1396254" y="1908756"/>
              <a:chExt cx="914399" cy="1061207"/>
            </a:xfrm>
          </p:grpSpPr>
          <p:sp>
            <p:nvSpPr>
              <p:cNvPr id="64" name="Hexagon 63">
                <a:extLst>
                  <a:ext uri="{FF2B5EF4-FFF2-40B4-BE49-F238E27FC236}">
                    <a16:creationId xmlns:a16="http://schemas.microsoft.com/office/drawing/2014/main" id="{52060FCD-FD6B-D1CA-A417-26FA525E3F90}"/>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lowchart: Delay 64">
                <a:extLst>
                  <a:ext uri="{FF2B5EF4-FFF2-40B4-BE49-F238E27FC236}">
                    <a16:creationId xmlns:a16="http://schemas.microsoft.com/office/drawing/2014/main" id="{5040A387-F266-E3E5-1D46-07E9A86A14D5}"/>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E438F795-2750-C904-F025-603A121D4995}"/>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4EE41693-07F9-8EB7-0D4C-648CDEFAFBA4}"/>
                </a:ext>
              </a:extLst>
            </p:cNvPr>
            <p:cNvSpPr txBox="1"/>
            <p:nvPr/>
          </p:nvSpPr>
          <p:spPr>
            <a:xfrm>
              <a:off x="2094683" y="6314813"/>
              <a:ext cx="1199272" cy="3556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ME 2</a:t>
              </a:r>
              <a:endParaRPr lang="en-US" sz="600" b="1">
                <a:solidFill>
                  <a:schemeClr val="bg1"/>
                </a:solidFill>
                <a:cs typeface="Arial"/>
              </a:endParaRPr>
            </a:p>
          </p:txBody>
        </p:sp>
      </p:grpSp>
    </p:spTree>
    <p:extLst>
      <p:ext uri="{BB962C8B-B14F-4D97-AF65-F5344CB8AC3E}">
        <p14:creationId xmlns:p14="http://schemas.microsoft.com/office/powerpoint/2010/main" val="2926092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ACCF7AF6-35CA-9212-EEE8-412FF392429B}"/>
              </a:ext>
            </a:extLst>
          </p:cNvPr>
          <p:cNvPicPr>
            <a:picLocks noChangeAspect="1"/>
          </p:cNvPicPr>
          <p:nvPr/>
        </p:nvPicPr>
        <p:blipFill>
          <a:blip r:embed="rId2"/>
          <a:stretch>
            <a:fillRect/>
          </a:stretch>
        </p:blipFill>
        <p:spPr>
          <a:xfrm>
            <a:off x="1111542" y="1498312"/>
            <a:ext cx="6920917" cy="5216197"/>
          </a:xfrm>
          <a:prstGeom prst="rect">
            <a:avLst/>
          </a:prstGeom>
        </p:spPr>
      </p:pic>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173 CPT Task Organization</a:t>
            </a:r>
          </a:p>
        </p:txBody>
      </p:sp>
      <p:grpSp>
        <p:nvGrpSpPr>
          <p:cNvPr id="78" name="Group 77">
            <a:extLst>
              <a:ext uri="{FF2B5EF4-FFF2-40B4-BE49-F238E27FC236}">
                <a16:creationId xmlns:a16="http://schemas.microsoft.com/office/drawing/2014/main" id="{95565B5A-EBC7-F0FB-351B-8B1F8820969A}"/>
              </a:ext>
            </a:extLst>
          </p:cNvPr>
          <p:cNvGrpSpPr/>
          <p:nvPr/>
        </p:nvGrpSpPr>
        <p:grpSpPr>
          <a:xfrm>
            <a:off x="4909655" y="3519280"/>
            <a:ext cx="1198043" cy="725825"/>
            <a:chOff x="2703351" y="5868198"/>
            <a:chExt cx="1198043" cy="725825"/>
          </a:xfrm>
        </p:grpSpPr>
        <p:grpSp>
          <p:nvGrpSpPr>
            <p:cNvPr id="82" name="Group 81">
              <a:extLst>
                <a:ext uri="{FF2B5EF4-FFF2-40B4-BE49-F238E27FC236}">
                  <a16:creationId xmlns:a16="http://schemas.microsoft.com/office/drawing/2014/main" id="{90D11D45-A183-A589-E6A6-A414424E223B}"/>
                </a:ext>
              </a:extLst>
            </p:cNvPr>
            <p:cNvGrpSpPr/>
            <p:nvPr/>
          </p:nvGrpSpPr>
          <p:grpSpPr>
            <a:xfrm>
              <a:off x="3268027" y="5868198"/>
              <a:ext cx="633367" cy="725825"/>
              <a:chOff x="-1396254" y="1908756"/>
              <a:chExt cx="914399" cy="1061207"/>
            </a:xfrm>
          </p:grpSpPr>
          <p:sp>
            <p:nvSpPr>
              <p:cNvPr id="83" name="Hexagon 82">
                <a:extLst>
                  <a:ext uri="{FF2B5EF4-FFF2-40B4-BE49-F238E27FC236}">
                    <a16:creationId xmlns:a16="http://schemas.microsoft.com/office/drawing/2014/main" id="{04661FB3-D546-FC63-B23D-3CCE33796318}"/>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lowchart: Delay 83">
                <a:extLst>
                  <a:ext uri="{FF2B5EF4-FFF2-40B4-BE49-F238E27FC236}">
                    <a16:creationId xmlns:a16="http://schemas.microsoft.com/office/drawing/2014/main" id="{F4ABE2ED-74AB-0FA4-27C6-E6CE52181344}"/>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a:extLst>
                  <a:ext uri="{FF2B5EF4-FFF2-40B4-BE49-F238E27FC236}">
                    <a16:creationId xmlns:a16="http://schemas.microsoft.com/office/drawing/2014/main" id="{81D6E378-5B6E-3B66-D4E4-73702835B0EB}"/>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0" name="TextBox 79">
              <a:extLst>
                <a:ext uri="{FF2B5EF4-FFF2-40B4-BE49-F238E27FC236}">
                  <a16:creationId xmlns:a16="http://schemas.microsoft.com/office/drawing/2014/main" id="{B2CA7850-EDCF-1630-4B66-F763A7B0EC6F}"/>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dirty="0">
                  <a:solidFill>
                    <a:schemeClr val="bg1"/>
                  </a:solidFill>
                  <a:cs typeface="Arial"/>
                </a:rPr>
                <a:t>SE 1</a:t>
              </a:r>
            </a:p>
          </p:txBody>
        </p:sp>
      </p:grpSp>
      <p:grpSp>
        <p:nvGrpSpPr>
          <p:cNvPr id="68" name="Group 67">
            <a:extLst>
              <a:ext uri="{FF2B5EF4-FFF2-40B4-BE49-F238E27FC236}">
                <a16:creationId xmlns:a16="http://schemas.microsoft.com/office/drawing/2014/main" id="{232DC3A1-76E6-1493-A2F8-59426E5077D8}"/>
              </a:ext>
            </a:extLst>
          </p:cNvPr>
          <p:cNvGrpSpPr/>
          <p:nvPr/>
        </p:nvGrpSpPr>
        <p:grpSpPr>
          <a:xfrm>
            <a:off x="4569766" y="3217995"/>
            <a:ext cx="1198043" cy="725821"/>
            <a:chOff x="2703351" y="5868186"/>
            <a:chExt cx="1198043" cy="725821"/>
          </a:xfrm>
        </p:grpSpPr>
        <p:grpSp>
          <p:nvGrpSpPr>
            <p:cNvPr id="24" name="Group 23">
              <a:extLst>
                <a:ext uri="{FF2B5EF4-FFF2-40B4-BE49-F238E27FC236}">
                  <a16:creationId xmlns:a16="http://schemas.microsoft.com/office/drawing/2014/main" id="{16890347-FB7A-9D38-83D6-88E92F627276}"/>
                </a:ext>
              </a:extLst>
            </p:cNvPr>
            <p:cNvGrpSpPr/>
            <p:nvPr/>
          </p:nvGrpSpPr>
          <p:grpSpPr>
            <a:xfrm>
              <a:off x="3268026" y="5868186"/>
              <a:ext cx="633368" cy="725821"/>
              <a:chOff x="-1396254" y="1908756"/>
              <a:chExt cx="914399" cy="1061207"/>
            </a:xfrm>
          </p:grpSpPr>
          <p:sp>
            <p:nvSpPr>
              <p:cNvPr id="25" name="Hexagon 24">
                <a:extLst>
                  <a:ext uri="{FF2B5EF4-FFF2-40B4-BE49-F238E27FC236}">
                    <a16:creationId xmlns:a16="http://schemas.microsoft.com/office/drawing/2014/main" id="{0296FD53-51D8-D0DE-F55A-38D55140997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owchart: Delay 25">
                <a:extLst>
                  <a:ext uri="{FF2B5EF4-FFF2-40B4-BE49-F238E27FC236}">
                    <a16:creationId xmlns:a16="http://schemas.microsoft.com/office/drawing/2014/main" id="{F2219E00-C478-4300-329F-F2DA54E615C6}"/>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0DB11216-3023-D5BB-F2B9-5055FF16694C}"/>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442528DE-BF80-F33F-DB48-6137C95AE5FE}"/>
                </a:ext>
              </a:extLst>
            </p:cNvPr>
            <p:cNvSpPr txBox="1"/>
            <p:nvPr/>
          </p:nvSpPr>
          <p:spPr>
            <a:xfrm>
              <a:off x="2703351" y="6314813"/>
              <a:ext cx="5662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dirty="0">
                  <a:solidFill>
                    <a:schemeClr val="bg1"/>
                  </a:solidFill>
                </a:rPr>
                <a:t>ME 1</a:t>
              </a:r>
              <a:endParaRPr lang="en-US" sz="1200" b="1">
                <a:solidFill>
                  <a:schemeClr val="bg1"/>
                </a:solidFill>
                <a:cs typeface="Arial"/>
              </a:endParaRPr>
            </a:p>
          </p:txBody>
        </p:sp>
      </p:grpSp>
      <p:grpSp>
        <p:nvGrpSpPr>
          <p:cNvPr id="88" name="Group 87">
            <a:extLst>
              <a:ext uri="{FF2B5EF4-FFF2-40B4-BE49-F238E27FC236}">
                <a16:creationId xmlns:a16="http://schemas.microsoft.com/office/drawing/2014/main" id="{43C2FBFF-2E02-C7DA-ED9F-45CCA07D283C}"/>
              </a:ext>
            </a:extLst>
          </p:cNvPr>
          <p:cNvGrpSpPr/>
          <p:nvPr/>
        </p:nvGrpSpPr>
        <p:grpSpPr>
          <a:xfrm>
            <a:off x="3578431" y="2748805"/>
            <a:ext cx="2999062" cy="1162402"/>
            <a:chOff x="2942438" y="4642254"/>
            <a:chExt cx="2999062" cy="1162402"/>
          </a:xfrm>
        </p:grpSpPr>
        <p:grpSp>
          <p:nvGrpSpPr>
            <p:cNvPr id="28" name="Group 27">
              <a:extLst>
                <a:ext uri="{FF2B5EF4-FFF2-40B4-BE49-F238E27FC236}">
                  <a16:creationId xmlns:a16="http://schemas.microsoft.com/office/drawing/2014/main" id="{8602FF02-ED38-C214-A62C-9DB31F613562}"/>
                </a:ext>
              </a:extLst>
            </p:cNvPr>
            <p:cNvGrpSpPr/>
            <p:nvPr/>
          </p:nvGrpSpPr>
          <p:grpSpPr>
            <a:xfrm>
              <a:off x="4124761" y="4642254"/>
              <a:ext cx="636503" cy="1162402"/>
              <a:chOff x="-1399389" y="1609635"/>
              <a:chExt cx="917534" cy="1728658"/>
            </a:xfrm>
          </p:grpSpPr>
          <p:sp>
            <p:nvSpPr>
              <p:cNvPr id="8" name="&quot;Not Allowed&quot; Symbol 7">
                <a:extLst>
                  <a:ext uri="{FF2B5EF4-FFF2-40B4-BE49-F238E27FC236}">
                    <a16:creationId xmlns:a16="http://schemas.microsoft.com/office/drawing/2014/main" id="{DAB098B9-8561-C0BE-3A20-EB00E3282722}"/>
                  </a:ext>
                </a:extLst>
              </p:cNvPr>
              <p:cNvSpPr/>
              <p:nvPr/>
            </p:nvSpPr>
            <p:spPr>
              <a:xfrm flipH="1">
                <a:off x="-1018216" y="1609635"/>
                <a:ext cx="159393" cy="243282"/>
              </a:xfrm>
              <a:prstGeom prst="noSmoking">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6" name="Straight Arrow Connector 15">
                <a:extLst>
                  <a:ext uri="{FF2B5EF4-FFF2-40B4-BE49-F238E27FC236}">
                    <a16:creationId xmlns:a16="http://schemas.microsoft.com/office/drawing/2014/main" id="{B105117D-EC99-9D0F-B6BA-DD497C41D7CB}"/>
                  </a:ext>
                </a:extLst>
              </p:cNvPr>
              <p:cNvCxnSpPr/>
              <p:nvPr/>
            </p:nvCxnSpPr>
            <p:spPr>
              <a:xfrm flipH="1">
                <a:off x="-1399389" y="2360976"/>
                <a:ext cx="8389" cy="97731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4CB708F-0CDB-5A70-CD44-EBAFA275062A}"/>
                  </a:ext>
                </a:extLst>
              </p:cNvPr>
              <p:cNvGrpSpPr/>
              <p:nvPr/>
            </p:nvGrpSpPr>
            <p:grpSpPr>
              <a:xfrm>
                <a:off x="-1396254" y="1908756"/>
                <a:ext cx="914399" cy="1061207"/>
                <a:chOff x="-1396254" y="1908756"/>
                <a:chExt cx="914399" cy="1061207"/>
              </a:xfrm>
            </p:grpSpPr>
            <p:sp>
              <p:nvSpPr>
                <p:cNvPr id="4" name="Hexagon 3">
                  <a:extLst>
                    <a:ext uri="{FF2B5EF4-FFF2-40B4-BE49-F238E27FC236}">
                      <a16:creationId xmlns:a16="http://schemas.microsoft.com/office/drawing/2014/main" id="{37A22DDD-C5F6-2467-E3D7-FEA84E00A607}"/>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Delay 4">
                  <a:extLst>
                    <a:ext uri="{FF2B5EF4-FFF2-40B4-BE49-F238E27FC236}">
                      <a16:creationId xmlns:a16="http://schemas.microsoft.com/office/drawing/2014/main" id="{ECBAB475-409F-396F-5FAD-5BD4E86E2ECA}"/>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C9039061-CCF3-97FA-3474-726243E49A3F}"/>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6" name="TextBox 65">
              <a:extLst>
                <a:ext uri="{FF2B5EF4-FFF2-40B4-BE49-F238E27FC236}">
                  <a16:creationId xmlns:a16="http://schemas.microsoft.com/office/drawing/2014/main" id="{C0F22A0D-380C-CC0B-2B72-2A2BF9574DBB}"/>
                </a:ext>
              </a:extLst>
            </p:cNvPr>
            <p:cNvSpPr txBox="1"/>
            <p:nvPr/>
          </p:nvSpPr>
          <p:spPr>
            <a:xfrm>
              <a:off x="2942438" y="5194883"/>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200" b="1" dirty="0">
                  <a:solidFill>
                    <a:schemeClr val="bg1"/>
                  </a:solidFill>
                </a:rPr>
                <a:t>CPT 173</a:t>
              </a:r>
              <a:endParaRPr lang="en-US" sz="1200" b="1">
                <a:solidFill>
                  <a:schemeClr val="bg1"/>
                </a:solidFill>
                <a:cs typeface="Arial"/>
              </a:endParaRPr>
            </a:p>
          </p:txBody>
        </p:sp>
        <p:sp>
          <p:nvSpPr>
            <p:cNvPr id="69" name="TextBox 68">
              <a:extLst>
                <a:ext uri="{FF2B5EF4-FFF2-40B4-BE49-F238E27FC236}">
                  <a16:creationId xmlns:a16="http://schemas.microsoft.com/office/drawing/2014/main" id="{9BE76258-AC18-0FF4-8870-8124189D0BB2}"/>
                </a:ext>
              </a:extLst>
            </p:cNvPr>
            <p:cNvSpPr txBox="1"/>
            <p:nvPr/>
          </p:nvSpPr>
          <p:spPr>
            <a:xfrm>
              <a:off x="4758652" y="5194879"/>
              <a:ext cx="118284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chemeClr val="bg1"/>
                  </a:solidFill>
                  <a:cs typeface="Arial"/>
                </a:rPr>
                <a:t>126th CPB</a:t>
              </a:r>
            </a:p>
          </p:txBody>
        </p:sp>
      </p:grpSp>
      <p:sp>
        <p:nvSpPr>
          <p:cNvPr id="7" name="Rectangle 6">
            <a:extLst>
              <a:ext uri="{FF2B5EF4-FFF2-40B4-BE49-F238E27FC236}">
                <a16:creationId xmlns:a16="http://schemas.microsoft.com/office/drawing/2014/main" id="{8A375CC8-A03B-0108-74DB-E3EA0F81530A}"/>
              </a:ext>
            </a:extLst>
          </p:cNvPr>
          <p:cNvSpPr/>
          <p:nvPr/>
        </p:nvSpPr>
        <p:spPr>
          <a:xfrm>
            <a:off x="3609024" y="2916083"/>
            <a:ext cx="1082179" cy="599812"/>
          </a:xfrm>
          <a:prstGeom prst="rect">
            <a:avLst/>
          </a:prstGeom>
          <a:solidFill>
            <a:srgbClr val="00B0F0"/>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cs typeface="Arial"/>
              </a:rPr>
              <a:t>AR JFHQ</a:t>
            </a:r>
            <a:endParaRPr lang="en-US" sz="1400" dirty="0">
              <a:solidFill>
                <a:schemeClr val="tx1"/>
              </a:solidFill>
            </a:endParaRPr>
          </a:p>
        </p:txBody>
      </p:sp>
    </p:spTree>
    <p:extLst>
      <p:ext uri="{BB962C8B-B14F-4D97-AF65-F5344CB8AC3E}">
        <p14:creationId xmlns:p14="http://schemas.microsoft.com/office/powerpoint/2010/main" val="1791353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173 CPT Task Organization</a:t>
            </a:r>
          </a:p>
        </p:txBody>
      </p:sp>
      <p:graphicFrame>
        <p:nvGraphicFramePr>
          <p:cNvPr id="7" name="Table 7">
            <a:extLst>
              <a:ext uri="{FF2B5EF4-FFF2-40B4-BE49-F238E27FC236}">
                <a16:creationId xmlns:a16="http://schemas.microsoft.com/office/drawing/2014/main" id="{865636D5-76D5-5B52-4C46-91F11CE9F505}"/>
              </a:ext>
            </a:extLst>
          </p:cNvPr>
          <p:cNvGraphicFramePr>
            <a:graphicFrameLocks noGrp="1"/>
          </p:cNvGraphicFramePr>
          <p:nvPr>
            <p:ph idx="1"/>
            <p:extLst>
              <p:ext uri="{D42A27DB-BD31-4B8C-83A1-F6EECF244321}">
                <p14:modId xmlns:p14="http://schemas.microsoft.com/office/powerpoint/2010/main" val="928463917"/>
              </p:ext>
            </p:extLst>
          </p:nvPr>
        </p:nvGraphicFramePr>
        <p:xfrm>
          <a:off x="457200" y="1543050"/>
          <a:ext cx="8229600" cy="4450077"/>
        </p:xfrm>
        <a:graphic>
          <a:graphicData uri="http://schemas.openxmlformats.org/drawingml/2006/table">
            <a:tbl>
              <a:tblPr firstRow="1" bandRow="1">
                <a:tableStyleId>{073A0DAA-6AF3-43AB-8588-CEC1D06C72B9}</a:tableStyleId>
              </a:tblPr>
              <a:tblGrid>
                <a:gridCol w="2057400">
                  <a:extLst>
                    <a:ext uri="{9D8B030D-6E8A-4147-A177-3AD203B41FA5}">
                      <a16:colId xmlns:a16="http://schemas.microsoft.com/office/drawing/2014/main" val="2093194927"/>
                    </a:ext>
                  </a:extLst>
                </a:gridCol>
                <a:gridCol w="2057400">
                  <a:extLst>
                    <a:ext uri="{9D8B030D-6E8A-4147-A177-3AD203B41FA5}">
                      <a16:colId xmlns:a16="http://schemas.microsoft.com/office/drawing/2014/main" val="3953143173"/>
                    </a:ext>
                  </a:extLst>
                </a:gridCol>
                <a:gridCol w="2057400">
                  <a:extLst>
                    <a:ext uri="{9D8B030D-6E8A-4147-A177-3AD203B41FA5}">
                      <a16:colId xmlns:a16="http://schemas.microsoft.com/office/drawing/2014/main" val="4278839843"/>
                    </a:ext>
                  </a:extLst>
                </a:gridCol>
                <a:gridCol w="2057400">
                  <a:extLst>
                    <a:ext uri="{9D8B030D-6E8A-4147-A177-3AD203B41FA5}">
                      <a16:colId xmlns:a16="http://schemas.microsoft.com/office/drawing/2014/main" val="1964015805"/>
                    </a:ext>
                  </a:extLst>
                </a:gridCol>
              </a:tblGrid>
              <a:tr h="370840">
                <a:tc>
                  <a:txBody>
                    <a:bodyPr/>
                    <a:lstStyle/>
                    <a:p>
                      <a:r>
                        <a:rPr lang="en-US" dirty="0"/>
                        <a:t>SE Leadership</a:t>
                      </a:r>
                    </a:p>
                  </a:txBody>
                  <a:tcPr/>
                </a:tc>
                <a:tc>
                  <a:txBody>
                    <a:bodyPr/>
                    <a:lstStyle/>
                    <a:p>
                      <a:pPr lvl="0">
                        <a:buNone/>
                      </a:pPr>
                      <a:r>
                        <a:rPr lang="en-US" dirty="0"/>
                        <a:t>ME 1</a:t>
                      </a:r>
                    </a:p>
                  </a:txBody>
                  <a:tcPr/>
                </a:tc>
                <a:tc>
                  <a:txBody>
                    <a:bodyPr/>
                    <a:lstStyle/>
                    <a:p>
                      <a:r>
                        <a:rPr lang="en-US" dirty="0"/>
                        <a:t>ME 2</a:t>
                      </a:r>
                    </a:p>
                  </a:txBody>
                  <a:tcPr/>
                </a:tc>
                <a:tc>
                  <a:txBody>
                    <a:bodyPr/>
                    <a:lstStyle/>
                    <a:p>
                      <a:pPr lvl="0">
                        <a:buNone/>
                      </a:pPr>
                      <a:r>
                        <a:rPr lang="en-US" dirty="0"/>
                        <a:t>SE Support</a:t>
                      </a:r>
                    </a:p>
                  </a:txBody>
                  <a:tcPr/>
                </a:tc>
                <a:extLst>
                  <a:ext uri="{0D108BD9-81ED-4DB2-BD59-A6C34878D82A}">
                    <a16:rowId xmlns:a16="http://schemas.microsoft.com/office/drawing/2014/main" val="3766304310"/>
                  </a:ext>
                </a:extLst>
              </a:tr>
              <a:tr h="370840">
                <a:tc>
                  <a:txBody>
                    <a:bodyPr/>
                    <a:lstStyle/>
                    <a:p>
                      <a:r>
                        <a:rPr lang="en-US" sz="1100" b="1" dirty="0"/>
                        <a:t>MAJ Richard Meehan</a:t>
                      </a:r>
                    </a:p>
                  </a:txBody>
                  <a:tcPr/>
                </a:tc>
                <a:tc>
                  <a:txBody>
                    <a:bodyPr/>
                    <a:lstStyle/>
                    <a:p>
                      <a:r>
                        <a:rPr lang="en-US" sz="1100" b="1" dirty="0"/>
                        <a:t>1LT Jack Molloy</a:t>
                      </a:r>
                    </a:p>
                  </a:txBody>
                  <a:tcPr/>
                </a:tc>
                <a:tc>
                  <a:txBody>
                    <a:bodyPr/>
                    <a:lstStyle/>
                    <a:p>
                      <a:pPr lvl="0">
                        <a:buNone/>
                      </a:pPr>
                      <a:r>
                        <a:rPr lang="en-US" sz="1100" b="1" i="0" u="none" strike="noStrike" noProof="0" dirty="0">
                          <a:latin typeface="Arial"/>
                        </a:rPr>
                        <a:t>1LT Brian Gifford</a:t>
                      </a:r>
                      <a:endParaRPr lang="en-US" sz="1100" b="1"/>
                    </a:p>
                  </a:txBody>
                  <a:tcPr/>
                </a:tc>
                <a:tc>
                  <a:txBody>
                    <a:bodyPr/>
                    <a:lstStyle/>
                    <a:p>
                      <a:pPr lvl="0">
                        <a:buNone/>
                      </a:pPr>
                      <a:r>
                        <a:rPr lang="en-US" sz="1100" b="1" dirty="0"/>
                        <a:t>CPT James </a:t>
                      </a:r>
                      <a:r>
                        <a:rPr lang="en-US" sz="1100" b="1" dirty="0" err="1"/>
                        <a:t>Pistell</a:t>
                      </a:r>
                    </a:p>
                  </a:txBody>
                  <a:tcPr/>
                </a:tc>
                <a:extLst>
                  <a:ext uri="{0D108BD9-81ED-4DB2-BD59-A6C34878D82A}">
                    <a16:rowId xmlns:a16="http://schemas.microsoft.com/office/drawing/2014/main" val="4276682309"/>
                  </a:ext>
                </a:extLst>
              </a:tr>
              <a:tr h="370840">
                <a:tc>
                  <a:txBody>
                    <a:bodyPr/>
                    <a:lstStyle/>
                    <a:p>
                      <a:r>
                        <a:rPr lang="en-US" sz="1100" dirty="0"/>
                        <a:t>CPT William Mackey</a:t>
                      </a:r>
                    </a:p>
                  </a:txBody>
                  <a:tcPr/>
                </a:tc>
                <a:tc>
                  <a:txBody>
                    <a:bodyPr/>
                    <a:lstStyle/>
                    <a:p>
                      <a:pPr lvl="0">
                        <a:buNone/>
                      </a:pPr>
                      <a:r>
                        <a:rPr lang="en-US" sz="1100" b="0" i="0" u="none" strike="noStrike" noProof="0" dirty="0">
                          <a:latin typeface="Arial"/>
                        </a:rPr>
                        <a:t>CW3 Daniel Smith</a:t>
                      </a:r>
                      <a:endParaRPr lang="en-US" sz="1100" dirty="0"/>
                    </a:p>
                  </a:txBody>
                  <a:tcPr/>
                </a:tc>
                <a:tc>
                  <a:txBody>
                    <a:bodyPr/>
                    <a:lstStyle/>
                    <a:p>
                      <a:pPr lvl="0" algn="l">
                        <a:lnSpc>
                          <a:spcPct val="100000"/>
                        </a:lnSpc>
                        <a:spcBef>
                          <a:spcPts val="0"/>
                        </a:spcBef>
                        <a:spcAft>
                          <a:spcPts val="0"/>
                        </a:spcAft>
                        <a:buNone/>
                      </a:pPr>
                      <a:r>
                        <a:rPr lang="en-US" sz="1100" b="0" i="0" u="none" strike="noStrike" noProof="0" dirty="0"/>
                        <a:t>CW3 Pedro Dominguez</a:t>
                      </a:r>
                      <a:endParaRPr lang="en-US"/>
                    </a:p>
                  </a:txBody>
                  <a:tcPr/>
                </a:tc>
                <a:tc>
                  <a:txBody>
                    <a:bodyPr/>
                    <a:lstStyle/>
                    <a:p>
                      <a:pPr lvl="0" algn="l">
                        <a:lnSpc>
                          <a:spcPct val="100000"/>
                        </a:lnSpc>
                        <a:spcBef>
                          <a:spcPts val="0"/>
                        </a:spcBef>
                        <a:spcAft>
                          <a:spcPts val="0"/>
                        </a:spcAft>
                        <a:buNone/>
                      </a:pPr>
                      <a:r>
                        <a:rPr lang="en-US" sz="1100" b="0" i="0" u="none" strike="noStrike" noProof="0" dirty="0"/>
                        <a:t>CW2 Antonio Prada</a:t>
                      </a:r>
                      <a:endParaRPr lang="en-US" dirty="0"/>
                    </a:p>
                  </a:txBody>
                  <a:tcPr/>
                </a:tc>
                <a:extLst>
                  <a:ext uri="{0D108BD9-81ED-4DB2-BD59-A6C34878D82A}">
                    <a16:rowId xmlns:a16="http://schemas.microsoft.com/office/drawing/2014/main" val="933546506"/>
                  </a:ext>
                </a:extLst>
              </a:tr>
              <a:tr h="370840">
                <a:tc>
                  <a:txBody>
                    <a:bodyPr/>
                    <a:lstStyle/>
                    <a:p>
                      <a:pPr lvl="0">
                        <a:buNone/>
                      </a:pPr>
                      <a:r>
                        <a:rPr lang="en-US" sz="1100" b="0" i="0" u="none" strike="noStrike" noProof="0" dirty="0">
                          <a:latin typeface="Arial"/>
                        </a:rPr>
                        <a:t>1LT Bryan Cunningham</a:t>
                      </a:r>
                      <a:endParaRPr lang="en-US" b="0" dirty="0"/>
                    </a:p>
                  </a:txBody>
                  <a:tcPr/>
                </a:tc>
                <a:tc>
                  <a:txBody>
                    <a:bodyPr/>
                    <a:lstStyle/>
                    <a:p>
                      <a:pPr lvl="0" algn="l">
                        <a:lnSpc>
                          <a:spcPct val="100000"/>
                        </a:lnSpc>
                        <a:spcBef>
                          <a:spcPts val="0"/>
                        </a:spcBef>
                        <a:spcAft>
                          <a:spcPts val="0"/>
                        </a:spcAft>
                        <a:buNone/>
                      </a:pPr>
                      <a:r>
                        <a:rPr lang="en-US" sz="1100" b="0" i="0" u="none" strike="noStrike" noProof="0" dirty="0"/>
                        <a:t>CW2 Neff Stokes</a:t>
                      </a:r>
                    </a:p>
                  </a:txBody>
                  <a:tcPr/>
                </a:tc>
                <a:tc>
                  <a:txBody>
                    <a:bodyPr/>
                    <a:lstStyle/>
                    <a:p>
                      <a:pPr lvl="0" algn="l">
                        <a:lnSpc>
                          <a:spcPct val="100000"/>
                        </a:lnSpc>
                        <a:spcBef>
                          <a:spcPts val="0"/>
                        </a:spcBef>
                        <a:spcAft>
                          <a:spcPts val="0"/>
                        </a:spcAft>
                        <a:buNone/>
                      </a:pPr>
                      <a:r>
                        <a:rPr lang="en-US" sz="1100" b="0" i="0" u="none" strike="noStrike" noProof="0" dirty="0"/>
                        <a:t>CW2 Bryan </a:t>
                      </a:r>
                      <a:r>
                        <a:rPr lang="en-US" sz="1100" b="0" i="0" u="none" strike="noStrike" noProof="0" dirty="0" err="1"/>
                        <a:t>Wagonseller</a:t>
                      </a:r>
                      <a:endParaRPr lang="en-US"/>
                    </a:p>
                  </a:txBody>
                  <a:tcPr/>
                </a:tc>
                <a:tc>
                  <a:txBody>
                    <a:bodyPr/>
                    <a:lstStyle/>
                    <a:p>
                      <a:pPr lvl="0">
                        <a:buNone/>
                      </a:pPr>
                      <a:r>
                        <a:rPr lang="en-US" sz="1100" b="0" i="0" u="none" strike="noStrike" noProof="0" dirty="0">
                          <a:latin typeface="Arial"/>
                        </a:rPr>
                        <a:t>SGT Naquan Walton</a:t>
                      </a:r>
                      <a:endParaRPr lang="en-US" dirty="0"/>
                    </a:p>
                  </a:txBody>
                  <a:tcPr/>
                </a:tc>
                <a:extLst>
                  <a:ext uri="{0D108BD9-81ED-4DB2-BD59-A6C34878D82A}">
                    <a16:rowId xmlns:a16="http://schemas.microsoft.com/office/drawing/2014/main" val="2725211658"/>
                  </a:ext>
                </a:extLst>
              </a:tr>
              <a:tr h="370840">
                <a:tc>
                  <a:txBody>
                    <a:bodyPr/>
                    <a:lstStyle/>
                    <a:p>
                      <a:pPr lvl="0">
                        <a:buNone/>
                      </a:pPr>
                      <a:r>
                        <a:rPr lang="en-US" sz="1100" dirty="0"/>
                        <a:t>CW3 Robert </a:t>
                      </a:r>
                      <a:r>
                        <a:rPr lang="en-US" sz="1100" dirty="0" err="1"/>
                        <a:t>Brudnock</a:t>
                      </a:r>
                      <a:endParaRPr lang="en-US"/>
                    </a:p>
                  </a:txBody>
                  <a:tcPr/>
                </a:tc>
                <a:tc>
                  <a:txBody>
                    <a:bodyPr/>
                    <a:lstStyle/>
                    <a:p>
                      <a:pPr lvl="0">
                        <a:buNone/>
                      </a:pPr>
                      <a:r>
                        <a:rPr lang="en-US" sz="1100" b="0" i="0" u="none" strike="noStrike" noProof="0" dirty="0">
                          <a:latin typeface="Arial"/>
                        </a:rPr>
                        <a:t>SSG Waylon Gomme</a:t>
                      </a:r>
                      <a:endParaRPr lang="en-US" dirty="0"/>
                    </a:p>
                  </a:txBody>
                  <a:tcPr/>
                </a:tc>
                <a:tc>
                  <a:txBody>
                    <a:bodyPr/>
                    <a:lstStyle/>
                    <a:p>
                      <a:pPr lvl="0" algn="l">
                        <a:lnSpc>
                          <a:spcPct val="100000"/>
                        </a:lnSpc>
                        <a:spcBef>
                          <a:spcPts val="0"/>
                        </a:spcBef>
                        <a:spcAft>
                          <a:spcPts val="0"/>
                        </a:spcAft>
                        <a:buNone/>
                      </a:pPr>
                      <a:r>
                        <a:rPr lang="en-US" sz="1100" b="0" i="0" u="none" strike="noStrike" noProof="0" dirty="0"/>
                        <a:t>SFC Carlos Johnson</a:t>
                      </a:r>
                      <a:endParaRPr lang="en-US" dirty="0"/>
                    </a:p>
                  </a:txBody>
                  <a:tcPr/>
                </a:tc>
                <a:tc>
                  <a:txBody>
                    <a:bodyPr/>
                    <a:lstStyle/>
                    <a:p>
                      <a:pPr lvl="0">
                        <a:buNone/>
                      </a:pPr>
                      <a:endParaRPr lang="en-US" sz="1100" b="0" i="0" u="none" strike="noStrike" noProof="0" dirty="0">
                        <a:latin typeface="Arial"/>
                      </a:endParaRPr>
                    </a:p>
                  </a:txBody>
                  <a:tcPr/>
                </a:tc>
                <a:extLst>
                  <a:ext uri="{0D108BD9-81ED-4DB2-BD59-A6C34878D82A}">
                    <a16:rowId xmlns:a16="http://schemas.microsoft.com/office/drawing/2014/main" val="2484267152"/>
                  </a:ext>
                </a:extLst>
              </a:tr>
              <a:tr h="370840">
                <a:tc>
                  <a:txBody>
                    <a:bodyPr/>
                    <a:lstStyle/>
                    <a:p>
                      <a:pPr lvl="0">
                        <a:buNone/>
                      </a:pPr>
                      <a:r>
                        <a:rPr lang="en-US" sz="1100" dirty="0"/>
                        <a:t>MSG Jody Doherty</a:t>
                      </a:r>
                      <a:endParaRPr lang="en-US" dirty="0"/>
                    </a:p>
                  </a:txBody>
                  <a:tcPr/>
                </a:tc>
                <a:tc>
                  <a:txBody>
                    <a:bodyPr/>
                    <a:lstStyle/>
                    <a:p>
                      <a:pPr lvl="0">
                        <a:buNone/>
                      </a:pPr>
                      <a:r>
                        <a:rPr lang="en-US" sz="1100" b="0" i="0" u="none" strike="noStrike" noProof="0" dirty="0">
                          <a:latin typeface="Arial"/>
                        </a:rPr>
                        <a:t>SSG Jeffrey Lam</a:t>
                      </a:r>
                      <a:endParaRPr lang="en-US" dirty="0"/>
                    </a:p>
                  </a:txBody>
                  <a:tcPr/>
                </a:tc>
                <a:tc>
                  <a:txBody>
                    <a:bodyPr/>
                    <a:lstStyle/>
                    <a:p>
                      <a:pPr lvl="0" algn="l">
                        <a:lnSpc>
                          <a:spcPct val="100000"/>
                        </a:lnSpc>
                        <a:spcBef>
                          <a:spcPts val="0"/>
                        </a:spcBef>
                        <a:spcAft>
                          <a:spcPts val="0"/>
                        </a:spcAft>
                        <a:buNone/>
                      </a:pPr>
                      <a:r>
                        <a:rPr lang="en-US" sz="1100" b="0" i="0" u="none" strike="noStrike" noProof="0" dirty="0">
                          <a:latin typeface="Arial"/>
                        </a:rPr>
                        <a:t>SGT Matthew Ryan</a:t>
                      </a:r>
                      <a:endParaRPr lang="en-US" dirty="0"/>
                    </a:p>
                  </a:txBody>
                  <a:tcPr/>
                </a:tc>
                <a:tc>
                  <a:txBody>
                    <a:bodyPr/>
                    <a:lstStyle/>
                    <a:p>
                      <a:pPr lvl="0">
                        <a:buNone/>
                      </a:pPr>
                      <a:r>
                        <a:rPr lang="en-US" sz="1400" b="1" i="0" u="none" strike="noStrike" noProof="0" dirty="0">
                          <a:solidFill>
                            <a:schemeClr val="bg1"/>
                          </a:solidFill>
                          <a:latin typeface="Arial"/>
                        </a:rPr>
                        <a:t>SE Intelligence</a:t>
                      </a:r>
                    </a:p>
                  </a:txBody>
                  <a:tcPr>
                    <a:solidFill>
                      <a:schemeClr val="tx2"/>
                    </a:solidFill>
                  </a:tcPr>
                </a:tc>
                <a:extLst>
                  <a:ext uri="{0D108BD9-81ED-4DB2-BD59-A6C34878D82A}">
                    <a16:rowId xmlns:a16="http://schemas.microsoft.com/office/drawing/2014/main" val="2728294082"/>
                  </a:ext>
                </a:extLst>
              </a:tr>
              <a:tr h="370840">
                <a:tc>
                  <a:txBody>
                    <a:bodyPr/>
                    <a:lstStyle/>
                    <a:p>
                      <a:endParaRPr lang="en-US" sz="1100" dirty="0"/>
                    </a:p>
                  </a:txBody>
                  <a:tcPr/>
                </a:tc>
                <a:tc>
                  <a:txBody>
                    <a:bodyPr/>
                    <a:lstStyle/>
                    <a:p>
                      <a:pPr lvl="0">
                        <a:buNone/>
                      </a:pPr>
                      <a:r>
                        <a:rPr lang="en-US" sz="1100" b="0" i="0" u="none" strike="noStrike" noProof="0" dirty="0"/>
                        <a:t>CW3 Brian McLeod</a:t>
                      </a:r>
                      <a:endParaRPr lang="en-US"/>
                    </a:p>
                  </a:txBody>
                  <a:tcPr/>
                </a:tc>
                <a:tc>
                  <a:txBody>
                    <a:bodyPr/>
                    <a:lstStyle/>
                    <a:p>
                      <a:pPr lvl="0" algn="l">
                        <a:lnSpc>
                          <a:spcPct val="100000"/>
                        </a:lnSpc>
                        <a:spcBef>
                          <a:spcPts val="0"/>
                        </a:spcBef>
                        <a:spcAft>
                          <a:spcPts val="0"/>
                        </a:spcAft>
                        <a:buNone/>
                      </a:pPr>
                      <a:endParaRPr lang="en-US" sz="1100" b="0" i="0" u="none" strike="noStrike" noProof="0" dirty="0">
                        <a:latin typeface="Arial"/>
                      </a:endParaRPr>
                    </a:p>
                  </a:txBody>
                  <a:tcPr/>
                </a:tc>
                <a:tc>
                  <a:txBody>
                    <a:bodyPr/>
                    <a:lstStyle/>
                    <a:p>
                      <a:pPr lvl="0">
                        <a:buNone/>
                      </a:pPr>
                      <a:r>
                        <a:rPr lang="en-US" sz="1100" b="0" i="0" u="none" strike="noStrike" noProof="0" dirty="0"/>
                        <a:t>CW3 Wade Gettle</a:t>
                      </a:r>
                      <a:endParaRPr lang="en-US" dirty="0"/>
                    </a:p>
                  </a:txBody>
                  <a:tcPr/>
                </a:tc>
                <a:extLst>
                  <a:ext uri="{0D108BD9-81ED-4DB2-BD59-A6C34878D82A}">
                    <a16:rowId xmlns:a16="http://schemas.microsoft.com/office/drawing/2014/main" val="418886535"/>
                  </a:ext>
                </a:extLst>
              </a:tr>
              <a:tr h="370840">
                <a:tc>
                  <a:txBody>
                    <a:bodyPr/>
                    <a:lstStyle/>
                    <a:p>
                      <a:endParaRPr lang="en-US" sz="1100" dirty="0"/>
                    </a:p>
                  </a:txBody>
                  <a:tcPr/>
                </a:tc>
                <a:tc>
                  <a:txBody>
                    <a:bodyPr/>
                    <a:lstStyle/>
                    <a:p>
                      <a:pPr lvl="0">
                        <a:buNone/>
                      </a:pPr>
                      <a:r>
                        <a:rPr lang="en-US" sz="1100" b="0" i="0" u="none" strike="noStrike" noProof="0" dirty="0">
                          <a:latin typeface="Arial"/>
                        </a:rPr>
                        <a:t>CW3 Nicholas Benedetti</a:t>
                      </a:r>
                      <a:endParaRPr lang="en-US"/>
                    </a:p>
                  </a:txBody>
                  <a:tcPr/>
                </a:tc>
                <a:tc>
                  <a:txBody>
                    <a:bodyPr/>
                    <a:lstStyle/>
                    <a:p>
                      <a:pPr lvl="0">
                        <a:buNone/>
                      </a:pPr>
                      <a:endParaRPr lang="en-US" sz="1100" b="0" i="0" u="none" strike="noStrike" noProof="0" dirty="0">
                        <a:latin typeface="Arial"/>
                      </a:endParaRPr>
                    </a:p>
                  </a:txBody>
                  <a:tcPr/>
                </a:tc>
                <a:tc>
                  <a:txBody>
                    <a:bodyPr/>
                    <a:lstStyle/>
                    <a:p>
                      <a:pPr lvl="0">
                        <a:buNone/>
                      </a:pPr>
                      <a:r>
                        <a:rPr lang="en-US" sz="1100" b="0" i="0" u="none" strike="noStrike" noProof="0" dirty="0">
                          <a:latin typeface="Arial"/>
                        </a:rPr>
                        <a:t>SSG Corina Encarnacion</a:t>
                      </a:r>
                      <a:endParaRPr lang="en-US"/>
                    </a:p>
                  </a:txBody>
                  <a:tcPr/>
                </a:tc>
                <a:extLst>
                  <a:ext uri="{0D108BD9-81ED-4DB2-BD59-A6C34878D82A}">
                    <a16:rowId xmlns:a16="http://schemas.microsoft.com/office/drawing/2014/main" val="1914711543"/>
                  </a:ext>
                </a:extLst>
              </a:tr>
              <a:tr h="370840">
                <a:tc>
                  <a:txBody>
                    <a:bodyPr/>
                    <a:lstStyle/>
                    <a:p>
                      <a:endParaRPr lang="en-US" sz="1100" dirty="0"/>
                    </a:p>
                  </a:txBody>
                  <a:tcPr/>
                </a:tc>
                <a:tc>
                  <a:txBody>
                    <a:bodyPr/>
                    <a:lstStyle/>
                    <a:p>
                      <a:pPr lvl="0">
                        <a:buNone/>
                      </a:pPr>
                      <a:r>
                        <a:rPr lang="en-US" sz="1100" b="0" i="0" u="none" strike="noStrike" noProof="0" dirty="0">
                          <a:latin typeface="Arial"/>
                        </a:rPr>
                        <a:t>SGT Randy Sweet</a:t>
                      </a:r>
                      <a:endParaRPr lang="en-US"/>
                    </a:p>
                  </a:txBody>
                  <a:tcPr/>
                </a:tc>
                <a:tc>
                  <a:txBody>
                    <a:bodyPr/>
                    <a:lstStyle/>
                    <a:p>
                      <a:pPr lvl="0">
                        <a:buNone/>
                      </a:pPr>
                      <a:endParaRPr lang="en-US" sz="1100" b="0" i="0" u="none" strike="noStrike" noProof="0" dirty="0">
                        <a:latin typeface="Arial"/>
                      </a:endParaRPr>
                    </a:p>
                  </a:txBody>
                  <a:tcPr/>
                </a:tc>
                <a:tc>
                  <a:txBody>
                    <a:bodyPr/>
                    <a:lstStyle/>
                    <a:p>
                      <a:pPr lvl="0">
                        <a:buNone/>
                      </a:pPr>
                      <a:r>
                        <a:rPr lang="en-US" sz="1100" b="0" i="0" u="none" strike="noStrike" noProof="0" dirty="0">
                          <a:latin typeface="Arial"/>
                        </a:rPr>
                        <a:t>SGT Erik Holst</a:t>
                      </a:r>
                      <a:endParaRPr lang="en-US"/>
                    </a:p>
                  </a:txBody>
                  <a:tcPr/>
                </a:tc>
                <a:extLst>
                  <a:ext uri="{0D108BD9-81ED-4DB2-BD59-A6C34878D82A}">
                    <a16:rowId xmlns:a16="http://schemas.microsoft.com/office/drawing/2014/main" val="183891301"/>
                  </a:ext>
                </a:extLst>
              </a:tr>
              <a:tr h="370840">
                <a:tc>
                  <a:txBody>
                    <a:bodyPr/>
                    <a:lstStyle/>
                    <a:p>
                      <a:endParaRPr lang="en-US" sz="1100" dirty="0"/>
                    </a:p>
                  </a:txBody>
                  <a:tcPr/>
                </a:tc>
                <a:tc>
                  <a:txBody>
                    <a:bodyPr/>
                    <a:lstStyle/>
                    <a:p>
                      <a:pPr lvl="0">
                        <a:buNone/>
                      </a:pPr>
                      <a:r>
                        <a:rPr lang="en-US" sz="1100" b="0" i="0" u="none" strike="noStrike" noProof="0" dirty="0">
                          <a:latin typeface="Arial"/>
                        </a:rPr>
                        <a:t>SSG Kevin Piwowarczyk</a:t>
                      </a:r>
                      <a:endParaRPr lang="en-US"/>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1681145766"/>
                  </a:ext>
                </a:extLst>
              </a:tr>
              <a:tr h="370839">
                <a:tc>
                  <a:txBody>
                    <a:bodyPr/>
                    <a:lstStyle/>
                    <a:p>
                      <a:pPr lvl="0">
                        <a:buNone/>
                      </a:pPr>
                      <a:endParaRPr lang="en-US" sz="1100" dirty="0"/>
                    </a:p>
                  </a:txBody>
                  <a:tcPr/>
                </a:tc>
                <a:tc>
                  <a:txBody>
                    <a:bodyPr/>
                    <a:lstStyle/>
                    <a:p>
                      <a:pPr lvl="0">
                        <a:buNone/>
                      </a:pPr>
                      <a:r>
                        <a:rPr lang="en-US" sz="1100" b="0" i="0" u="none" strike="noStrike" noProof="0" dirty="0">
                          <a:latin typeface="Arial"/>
                        </a:rPr>
                        <a:t>SPC Miles Gaitan</a:t>
                      </a:r>
                      <a:endParaRPr lang="en-US" sz="1100" b="0" i="0" u="none" strike="noStrike" noProof="0" dirty="0"/>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3936638918"/>
                  </a:ext>
                </a:extLst>
              </a:tr>
              <a:tr h="370838">
                <a:tc>
                  <a:txBody>
                    <a:bodyPr/>
                    <a:lstStyle/>
                    <a:p>
                      <a:pPr lvl="0">
                        <a:buNone/>
                      </a:pPr>
                      <a:endParaRPr lang="en-US" sz="1100" dirty="0"/>
                    </a:p>
                  </a:txBody>
                  <a:tcPr/>
                </a:tc>
                <a:tc>
                  <a:txBody>
                    <a:bodyPr/>
                    <a:lstStyle/>
                    <a:p>
                      <a:pPr lvl="0">
                        <a:buNone/>
                      </a:pPr>
                      <a:endParaRPr lang="en-US" sz="1100" b="0" i="0" u="none" strike="noStrike" noProof="0" dirty="0">
                        <a:latin typeface="Arial"/>
                      </a:endParaRPr>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2394995951"/>
                  </a:ext>
                </a:extLst>
              </a:tr>
            </a:tbl>
          </a:graphicData>
        </a:graphic>
      </p:graphicFrame>
    </p:spTree>
    <p:extLst>
      <p:ext uri="{BB962C8B-B14F-4D97-AF65-F5344CB8AC3E}">
        <p14:creationId xmlns:p14="http://schemas.microsoft.com/office/powerpoint/2010/main" val="4138347299"/>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dirty="0"/>
              <a:t>Execution Checklist</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3776610269"/>
              </p:ext>
            </p:extLst>
          </p:nvPr>
        </p:nvGraphicFramePr>
        <p:xfrm>
          <a:off x="457200" y="1330736"/>
          <a:ext cx="8229600" cy="4973544"/>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3</a:t>
                      </a:r>
                      <a:r>
                        <a:rPr lang="en-US" sz="1100" dirty="0">
                          <a:effectLst/>
                          <a:latin typeface="+mn-lt"/>
                          <a:ea typeface="Times New Roman" panose="02020603050405020304" pitchFamily="18" charset="0"/>
                        </a:rPr>
                        <a:t>: </a:t>
                      </a:r>
                      <a:r>
                        <a:rPr lang="en-US" sz="1100" b="0" kern="1200" dirty="0">
                          <a:solidFill>
                            <a:schemeClr val="dk1"/>
                          </a:solidFill>
                          <a:effectLst/>
                          <a:latin typeface="+mn-lt"/>
                          <a:ea typeface="+mn-ea"/>
                          <a:cs typeface="+mn-cs"/>
                        </a:rPr>
                        <a:t>Identify and characterize the area of operations. [ME; SE]</a:t>
                      </a:r>
                      <a:endParaRPr lang="en-US" sz="1100" b="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CT3;ST1:</a:t>
                      </a:r>
                      <a:r>
                        <a:rPr lang="en-US" sz="1100" kern="0" dirty="0">
                          <a:latin typeface="+mn-lt"/>
                        </a:rPr>
                        <a:t> </a:t>
                      </a:r>
                      <a:r>
                        <a:rPr lang="en-US" sz="1100" kern="1200" dirty="0">
                          <a:solidFill>
                            <a:schemeClr val="dk1"/>
                          </a:solidFill>
                          <a:effectLst/>
                          <a:latin typeface="+mn-lt"/>
                          <a:ea typeface="+mn-ea"/>
                          <a:cs typeface="+mn-cs"/>
                        </a:rPr>
                        <a:t>Integrate the deployable mission support system (DMSS) kit into operations. [ME Network Analyst; SE Network Technician]</a:t>
                      </a:r>
                      <a:endParaRPr lang="en-US" sz="1100" kern="0" dirty="0">
                        <a:latin typeface="+mn-lt"/>
                      </a:endParaRPr>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CT3;ST2: </a:t>
                      </a:r>
                      <a:r>
                        <a:rPr lang="en-US" sz="1100" kern="1200" dirty="0">
                          <a:solidFill>
                            <a:schemeClr val="dk1"/>
                          </a:solidFill>
                          <a:effectLst/>
                          <a:latin typeface="+mn-lt"/>
                          <a:ea typeface="+mn-ea"/>
                          <a:cs typeface="+mn-cs"/>
                        </a:rPr>
                        <a:t>Establish and maintain operations. [SE Network Technician]</a:t>
                      </a:r>
                      <a:endParaRPr lang="en-US" sz="1100" b="1"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r>
                        <a:rPr lang="en-US" sz="1100" b="1" dirty="0">
                          <a:effectLst/>
                          <a:latin typeface="+mn-lt"/>
                          <a:ea typeface="Times New Roman" panose="02020603050405020304" pitchFamily="18" charset="0"/>
                        </a:rPr>
                        <a:t>CT3</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ST3: </a:t>
                      </a:r>
                      <a:r>
                        <a:rPr lang="en-US" sz="1100" kern="1200" dirty="0">
                          <a:solidFill>
                            <a:schemeClr val="dk1"/>
                          </a:solidFill>
                          <a:effectLst/>
                          <a:latin typeface="+mn-lt"/>
                          <a:ea typeface="+mn-ea"/>
                          <a:cs typeface="+mn-cs"/>
                        </a:rPr>
                        <a:t>Enumerate the area of operations to identify the battlespace. [ME Lead; ME Host and Network Analyst]</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1918921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CT3</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ST4: </a:t>
                      </a:r>
                      <a:r>
                        <a:rPr lang="en-US" sz="1100" kern="1200" dirty="0">
                          <a:solidFill>
                            <a:schemeClr val="dk1"/>
                          </a:solidFill>
                          <a:effectLst/>
                          <a:latin typeface="+mn-lt"/>
                          <a:ea typeface="+mn-ea"/>
                          <a:cs typeface="+mn-cs"/>
                        </a:rPr>
                        <a:t>Identify the cyber-related risks to the supported mission. [Crew Lead; ME Lead; ASA]</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251428874"/>
                  </a:ext>
                </a:extLst>
              </a:tr>
              <a:tr h="370840">
                <a:tc>
                  <a:txBody>
                    <a:bodyPr/>
                    <a:lstStyle/>
                    <a:p>
                      <a:pPr marL="0" marR="0" lvl="0" indent="0" algn="l" rtl="0" eaLnBrk="1" fontAlgn="auto" latinLnBrk="0" hangingPunct="1">
                        <a:lnSpc>
                          <a:spcPct val="100000"/>
                        </a:lnSpc>
                        <a:spcBef>
                          <a:spcPts val="0"/>
                        </a:spcBef>
                        <a:spcAft>
                          <a:spcPts val="0"/>
                        </a:spcAft>
                        <a:buClrTx/>
                        <a:buSzTx/>
                        <a:buFontTx/>
                        <a:buNone/>
                      </a:pPr>
                      <a:r>
                        <a:rPr lang="en-US" sz="1100" b="1" dirty="0">
                          <a:effectLst/>
                          <a:latin typeface="+mn-lt"/>
                          <a:ea typeface="Times New Roman" panose="02020603050405020304" pitchFamily="18" charset="0"/>
                        </a:rPr>
                        <a:t>CT3</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ST5: </a:t>
                      </a:r>
                      <a:r>
                        <a:rPr lang="en-US" sz="1100" kern="1200" dirty="0">
                          <a:solidFill>
                            <a:schemeClr val="dk1"/>
                          </a:solidFill>
                          <a:effectLst/>
                          <a:latin typeface="+mn-lt"/>
                          <a:ea typeface="+mn-ea"/>
                          <a:cs typeface="+mn-cs"/>
                        </a:rPr>
                        <a:t>Analyze attack surface of the specified terrain to enable </a:t>
                      </a:r>
                      <a:r>
                        <a:rPr lang="en-US" sz="1100" u="none" kern="1200" dirty="0">
                          <a:solidFill>
                            <a:schemeClr val="dk1"/>
                          </a:solidFill>
                          <a:effectLst/>
                          <a:latin typeface="+mn-lt"/>
                          <a:ea typeface="+mn-ea"/>
                          <a:cs typeface="+mn-cs"/>
                        </a:rPr>
                        <a:t>hardening actions. [ME Host and Network Analysts] </a:t>
                      </a:r>
                      <a:endParaRPr lang="en-US" sz="1100" u="none"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30486238"/>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4</a:t>
                      </a:r>
                      <a:r>
                        <a:rPr lang="en-US" sz="1100" dirty="0">
                          <a:effectLst/>
                          <a:latin typeface="+mn-lt"/>
                          <a:ea typeface="Times New Roman" panose="02020603050405020304" pitchFamily="18" charset="0"/>
                        </a:rPr>
                        <a:t>: </a:t>
                      </a:r>
                      <a:r>
                        <a:rPr lang="en-US" sz="1100" b="0" kern="1200" dirty="0">
                          <a:solidFill>
                            <a:schemeClr val="dk1"/>
                          </a:solidFill>
                          <a:effectLst/>
                          <a:latin typeface="+mn-lt"/>
                          <a:ea typeface="+mn-ea"/>
                          <a:cs typeface="+mn-cs"/>
                        </a:rPr>
                        <a:t>Execute the mission plan. [IME; SE]</a:t>
                      </a:r>
                      <a:endParaRPr lang="en-US" sz="1100" b="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412584681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a:t>
                      </a:r>
                      <a:r>
                        <a:rPr lang="en-US" sz="1100" b="1" spc="9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split-based operations as needed. [ME Host and Network Analysts]</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245509303"/>
                  </a:ext>
                </a:extLst>
              </a:tr>
              <a:tr h="411704">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ST2: </a:t>
                      </a:r>
                      <a:r>
                        <a:rPr lang="en-US" sz="1100" kern="1200" dirty="0">
                          <a:solidFill>
                            <a:schemeClr val="dk1"/>
                          </a:solidFill>
                          <a:effectLst/>
                          <a:latin typeface="+mn-lt"/>
                          <a:ea typeface="+mn-ea"/>
                          <a:cs typeface="+mn-cs"/>
                        </a:rPr>
                        <a:t>Validate specified terrain. [ME Crew Lead; ME Lead]</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3960374064"/>
                  </a:ext>
                </a:extLst>
              </a:tr>
              <a:tr h="370840">
                <a:tc>
                  <a:txBody>
                    <a:bodyPr/>
                    <a:lstStyle/>
                    <a:p>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ST3: </a:t>
                      </a:r>
                      <a:r>
                        <a:rPr lang="en-US" sz="1100" kern="1200" dirty="0">
                          <a:solidFill>
                            <a:schemeClr val="dk1"/>
                          </a:solidFill>
                          <a:effectLst/>
                          <a:latin typeface="+mn-lt"/>
                          <a:ea typeface="+mn-ea"/>
                          <a:cs typeface="+mn-cs"/>
                        </a:rPr>
                        <a:t>Conduct actions to identify adversary presence within the terrain. [ME Host and Network Analysts]</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74676560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ST4: </a:t>
                      </a:r>
                      <a:r>
                        <a:rPr lang="en-US" sz="1100" kern="1200" dirty="0">
                          <a:solidFill>
                            <a:schemeClr val="dk1"/>
                          </a:solidFill>
                          <a:effectLst/>
                          <a:latin typeface="+mn-lt"/>
                          <a:ea typeface="+mn-ea"/>
                          <a:cs typeface="+mn-cs"/>
                        </a:rPr>
                        <a:t>Identify and process artifacts discovered in the environment. [ME Host and Network Analysts]</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85954846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ST5: </a:t>
                      </a:r>
                      <a:r>
                        <a:rPr lang="en-US" sz="1100" kern="1200" dirty="0">
                          <a:solidFill>
                            <a:schemeClr val="dk1"/>
                          </a:solidFill>
                          <a:effectLst/>
                          <a:latin typeface="+mn-lt"/>
                          <a:ea typeface="+mn-ea"/>
                          <a:cs typeface="+mn-cs"/>
                        </a:rPr>
                        <a:t>Execute triage-level case management to document environment and actions. [ME Crew Lead]</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4018885159"/>
                  </a:ext>
                </a:extLst>
              </a:tr>
            </a:tbl>
          </a:graphicData>
        </a:graphic>
      </p:graphicFrame>
    </p:spTree>
    <p:extLst>
      <p:ext uri="{BB962C8B-B14F-4D97-AF65-F5344CB8AC3E}">
        <p14:creationId xmlns:p14="http://schemas.microsoft.com/office/powerpoint/2010/main" val="2847511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dirty="0"/>
              <a:t>Execution Checklist</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1543362537"/>
              </p:ext>
            </p:extLst>
          </p:nvPr>
        </p:nvGraphicFramePr>
        <p:xfrm>
          <a:off x="457200" y="1330736"/>
          <a:ext cx="8229600" cy="4617720"/>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ST6: </a:t>
                      </a:r>
                      <a:r>
                        <a:rPr lang="en-US" sz="1100" kern="1200" dirty="0">
                          <a:solidFill>
                            <a:schemeClr val="dk1"/>
                          </a:solidFill>
                          <a:effectLst/>
                          <a:latin typeface="+mn-lt"/>
                          <a:ea typeface="+mn-ea"/>
                          <a:cs typeface="+mn-cs"/>
                        </a:rPr>
                        <a:t>Identify scope of adversary access to determine extent of intrusion. [ME Host and Network Analysts]</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127477244"/>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CT4</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ST7: </a:t>
                      </a:r>
                      <a:r>
                        <a:rPr lang="en-US" sz="1100" kern="1200" dirty="0">
                          <a:solidFill>
                            <a:schemeClr val="dk1"/>
                          </a:solidFill>
                          <a:effectLst/>
                          <a:latin typeface="+mn-lt"/>
                          <a:ea typeface="+mn-ea"/>
                          <a:cs typeface="+mn-cs"/>
                        </a:rPr>
                        <a:t>Coordinate with Support Element/Leadership for mission support as required. [ME Crew Lead; ME Lead]</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339013211"/>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CT4;ST8:</a:t>
                      </a:r>
                      <a:r>
                        <a:rPr lang="en-US" sz="1100" kern="0" dirty="0">
                          <a:latin typeface="+mn-lt"/>
                        </a:rPr>
                        <a:t> </a:t>
                      </a:r>
                      <a:r>
                        <a:rPr lang="en-US" sz="1100" kern="1200" dirty="0">
                          <a:solidFill>
                            <a:schemeClr val="dk1"/>
                          </a:solidFill>
                          <a:effectLst/>
                          <a:latin typeface="+mn-lt"/>
                          <a:ea typeface="+mn-ea"/>
                          <a:cs typeface="+mn-cs"/>
                        </a:rPr>
                        <a:t>Conduct actions against adversary presence within the terrain. [ME Host and Network Analysts]</a:t>
                      </a:r>
                      <a:endParaRPr lang="en-US" sz="1100" kern="0" dirty="0">
                        <a:latin typeface="+mn-lt"/>
                      </a:endParaRPr>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CT4;ST9</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Implement threat emulation plan. [Crew Lead and CTA]</a:t>
                      </a:r>
                      <a:endParaRPr lang="en-US" sz="1100" b="1"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r>
                        <a:rPr lang="en-US" sz="1100" b="1" kern="0" dirty="0">
                          <a:latin typeface="+mn-lt"/>
                        </a:rPr>
                        <a:t>CT4;ST10</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Assess the effectiveness of your current operations. [ME Lead; </a:t>
                      </a:r>
                      <a:r>
                        <a:rPr lang="en-US" sz="1100" u="none" kern="1200" dirty="0">
                          <a:solidFill>
                            <a:schemeClr val="dk1"/>
                          </a:solidFill>
                          <a:effectLst/>
                          <a:latin typeface="+mn-lt"/>
                          <a:ea typeface="+mn-ea"/>
                          <a:cs typeface="+mn-cs"/>
                        </a:rPr>
                        <a:t>CL; PLNR; CTA] </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5</a:t>
                      </a:r>
                      <a:r>
                        <a:rPr lang="en-US" sz="110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or coordinate threat response actions. [LE; ME]</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1918921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CT5;ST1:</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Coordinate with HHQ or designated external organizations to enable response actions. [TL; OPSO; ME Crew Lead;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76213754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CT5;ST2:</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Set defensive conditions on specified terrain to enable response actions. [ME Crew Lead;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773534855"/>
                  </a:ext>
                </a:extLst>
              </a:tr>
              <a:tr h="370840">
                <a:tc>
                  <a:txBody>
                    <a:bodyPr/>
                    <a:lstStyle/>
                    <a:p>
                      <a:r>
                        <a:rPr lang="en-US" sz="1100" b="1" dirty="0">
                          <a:effectLst/>
                          <a:latin typeface="+mn-lt"/>
                          <a:ea typeface="Times New Roman" panose="02020603050405020304" pitchFamily="18" charset="0"/>
                        </a:rPr>
                        <a:t>CT5;ST3:</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defensive monitoring of the specified terrain. [ME Host and Network Analysts]</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582958844"/>
                  </a:ext>
                </a:extLst>
              </a:tr>
              <a:tr h="370840">
                <a:tc>
                  <a:txBody>
                    <a:bodyPr/>
                    <a:lstStyle/>
                    <a:p>
                      <a:r>
                        <a:rPr lang="en-US" sz="1100" b="1" dirty="0">
                          <a:effectLst/>
                          <a:latin typeface="+mn-lt"/>
                          <a:ea typeface="Times New Roman" panose="02020603050405020304" pitchFamily="18" charset="0"/>
                        </a:rPr>
                        <a:t>CT5;ST4:</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Eradicate detected malicious activity in order to remove adversarial presence. [ME Host and Network Analysts]</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75847627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CT5;ST5:</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defensive monitoring of the specified terrain to validate </a:t>
                      </a:r>
                      <a:r>
                        <a:rPr lang="en-US" sz="1100" u="none" kern="1200" dirty="0">
                          <a:solidFill>
                            <a:schemeClr val="dk1"/>
                          </a:solidFill>
                          <a:effectLst/>
                          <a:latin typeface="+mn-lt"/>
                          <a:ea typeface="+mn-ea"/>
                          <a:cs typeface="+mn-cs"/>
                        </a:rPr>
                        <a:t>post-mitigation actions. [ME Host and Network Analysts] </a:t>
                      </a:r>
                      <a:endParaRPr lang="en-US" sz="1100" b="1" u="none"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4121490711"/>
                  </a:ext>
                </a:extLst>
              </a:tr>
            </a:tbl>
          </a:graphicData>
        </a:graphic>
      </p:graphicFrame>
    </p:spTree>
    <p:extLst>
      <p:ext uri="{BB962C8B-B14F-4D97-AF65-F5344CB8AC3E}">
        <p14:creationId xmlns:p14="http://schemas.microsoft.com/office/powerpoint/2010/main" val="1933357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CABF-20F0-68A2-95FA-E09541A33EEE}"/>
              </a:ext>
            </a:extLst>
          </p:cNvPr>
          <p:cNvSpPr>
            <a:spLocks noGrp="1"/>
          </p:cNvSpPr>
          <p:nvPr>
            <p:ph type="title"/>
          </p:nvPr>
        </p:nvSpPr>
        <p:spPr/>
        <p:txBody>
          <a:bodyPr/>
          <a:lstStyle/>
          <a:p>
            <a:r>
              <a:rPr lang="en-US" dirty="0"/>
              <a:t>Execution Checklist</a:t>
            </a:r>
          </a:p>
        </p:txBody>
      </p:sp>
      <p:graphicFrame>
        <p:nvGraphicFramePr>
          <p:cNvPr id="5" name="Table 5">
            <a:extLst>
              <a:ext uri="{FF2B5EF4-FFF2-40B4-BE49-F238E27FC236}">
                <a16:creationId xmlns:a16="http://schemas.microsoft.com/office/drawing/2014/main" id="{18F5666E-5E87-5358-D3DF-A0FB5E1D4F15}"/>
              </a:ext>
            </a:extLst>
          </p:cNvPr>
          <p:cNvGraphicFramePr>
            <a:graphicFrameLocks noGrp="1"/>
          </p:cNvGraphicFramePr>
          <p:nvPr>
            <p:ph idx="1"/>
            <p:extLst>
              <p:ext uri="{D42A27DB-BD31-4B8C-83A1-F6EECF244321}">
                <p14:modId xmlns:p14="http://schemas.microsoft.com/office/powerpoint/2010/main" val="1592254475"/>
              </p:ext>
            </p:extLst>
          </p:nvPr>
        </p:nvGraphicFramePr>
        <p:xfrm>
          <a:off x="457200" y="1330736"/>
          <a:ext cx="8229600" cy="4505960"/>
        </p:xfrm>
        <a:graphic>
          <a:graphicData uri="http://schemas.openxmlformats.org/drawingml/2006/table">
            <a:tbl>
              <a:tblPr firstRow="1" bandRow="1">
                <a:tableStyleId>{073A0DAA-6AF3-43AB-8588-CEC1D06C72B9}</a:tableStyleId>
              </a:tblPr>
              <a:tblGrid>
                <a:gridCol w="7486650">
                  <a:extLst>
                    <a:ext uri="{9D8B030D-6E8A-4147-A177-3AD203B41FA5}">
                      <a16:colId xmlns:a16="http://schemas.microsoft.com/office/drawing/2014/main" val="2981979427"/>
                    </a:ext>
                  </a:extLst>
                </a:gridCol>
                <a:gridCol w="742950">
                  <a:extLst>
                    <a:ext uri="{9D8B030D-6E8A-4147-A177-3AD203B41FA5}">
                      <a16:colId xmlns:a16="http://schemas.microsoft.com/office/drawing/2014/main" val="20590222"/>
                    </a:ext>
                  </a:extLst>
                </a:gridCol>
              </a:tblGrid>
              <a:tr h="370840">
                <a:tc>
                  <a:txBody>
                    <a:bodyPr/>
                    <a:lstStyle/>
                    <a:p>
                      <a:pPr algn="ctr"/>
                      <a:r>
                        <a:rPr lang="en-US" sz="1100" dirty="0">
                          <a:latin typeface="+mn-lt"/>
                        </a:rPr>
                        <a:t>Item</a:t>
                      </a:r>
                    </a:p>
                  </a:txBody>
                  <a:tcPr/>
                </a:tc>
                <a:tc>
                  <a:txBody>
                    <a:bodyPr/>
                    <a:lstStyle/>
                    <a:p>
                      <a:pPr algn="ctr"/>
                      <a:r>
                        <a:rPr lang="en-US" sz="1100" dirty="0">
                          <a:latin typeface="+mn-lt"/>
                        </a:rPr>
                        <a:t>Check</a:t>
                      </a:r>
                    </a:p>
                  </a:txBody>
                  <a:tcPr/>
                </a:tc>
                <a:extLst>
                  <a:ext uri="{0D108BD9-81ED-4DB2-BD59-A6C34878D82A}">
                    <a16:rowId xmlns:a16="http://schemas.microsoft.com/office/drawing/2014/main" val="3386563740"/>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6: </a:t>
                      </a:r>
                      <a:r>
                        <a:rPr lang="en-US" sz="1100" b="0" kern="1200" dirty="0">
                          <a:solidFill>
                            <a:schemeClr val="dk1"/>
                          </a:solidFill>
                          <a:effectLst/>
                          <a:latin typeface="+mn-lt"/>
                          <a:ea typeface="+mn-ea"/>
                          <a:cs typeface="+mn-cs"/>
                        </a:rPr>
                        <a:t>Conduct assessment actions. [ME]</a:t>
                      </a:r>
                      <a:endParaRPr lang="en-US" sz="1100" b="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127477244"/>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CT6</a:t>
                      </a:r>
                      <a:r>
                        <a:rPr lang="en-US" sz="1100" b="1" dirty="0">
                          <a:latin typeface="+mn-lt"/>
                          <a:ea typeface="Times New Roman" panose="02020603050405020304" pitchFamily="18" charset="0"/>
                        </a:rPr>
                        <a:t>;</a:t>
                      </a:r>
                      <a:r>
                        <a:rPr lang="en-US" sz="1100" b="1" dirty="0">
                          <a:effectLst/>
                          <a:latin typeface="+mn-lt"/>
                          <a:ea typeface="Times New Roman" panose="02020603050405020304" pitchFamily="18" charset="0"/>
                        </a:rPr>
                        <a:t>ST1:</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Emulate threats to determine if technical mitigations are effective. [CL; CTA]</a:t>
                      </a:r>
                      <a:endParaRPr lang="en-US" sz="110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339013211"/>
                  </a:ext>
                </a:extLst>
              </a:tr>
              <a:tr h="370840">
                <a:tc>
                  <a:txBody>
                    <a:bodyPr/>
                    <a:lstStyle/>
                    <a:p>
                      <a:r>
                        <a:rPr lang="en-US" sz="1100" b="1" kern="0" dirty="0">
                          <a:latin typeface="+mn-lt"/>
                        </a:rPr>
                        <a:t>CT6;ST2:</a:t>
                      </a:r>
                      <a:r>
                        <a:rPr lang="en-US" sz="1100" kern="0" dirty="0">
                          <a:latin typeface="+mn-lt"/>
                        </a:rPr>
                        <a:t> </a:t>
                      </a:r>
                      <a:r>
                        <a:rPr lang="en-US" sz="1100" kern="1200" dirty="0">
                          <a:solidFill>
                            <a:schemeClr val="dk1"/>
                          </a:solidFill>
                          <a:effectLst/>
                          <a:latin typeface="+mn-lt"/>
                          <a:ea typeface="+mn-ea"/>
                          <a:cs typeface="+mn-cs"/>
                        </a:rPr>
                        <a:t>Emulate threats to determine if procedural mitigations are effective. [CL; CTA]</a:t>
                      </a:r>
                      <a:endParaRPr lang="en-US" sz="1100" kern="0" dirty="0">
                        <a:latin typeface="+mn-lt"/>
                      </a:endParaRPr>
                    </a:p>
                  </a:txBody>
                  <a:tcPr/>
                </a:tc>
                <a:tc>
                  <a:txBody>
                    <a:bodyPr/>
                    <a:lstStyle/>
                    <a:p>
                      <a:endParaRPr lang="en-US" sz="1100" dirty="0">
                        <a:latin typeface="+mn-lt"/>
                      </a:endParaRPr>
                    </a:p>
                  </a:txBody>
                  <a:tcPr/>
                </a:tc>
                <a:extLst>
                  <a:ext uri="{0D108BD9-81ED-4DB2-BD59-A6C34878D82A}">
                    <a16:rowId xmlns:a16="http://schemas.microsoft.com/office/drawing/2014/main" val="3598356957"/>
                  </a:ext>
                </a:extLst>
              </a:tr>
              <a:tr h="370840">
                <a:tc>
                  <a:txBody>
                    <a:bodyPr/>
                    <a:lstStyle/>
                    <a:p>
                      <a:r>
                        <a:rPr lang="en-US" sz="1100" b="1" kern="0" dirty="0">
                          <a:latin typeface="+mn-lt"/>
                        </a:rPr>
                        <a:t>CT6;ST3</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Validate if technical mitigations are effective. [ME Host and Network Analysts]</a:t>
                      </a:r>
                      <a:endParaRPr lang="en-US" sz="1100" b="1"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78786023"/>
                  </a:ext>
                </a:extLst>
              </a:tr>
              <a:tr h="370840">
                <a:tc>
                  <a:txBody>
                    <a:bodyPr/>
                    <a:lstStyle/>
                    <a:p>
                      <a:r>
                        <a:rPr lang="en-US" sz="1100" b="1" kern="0" dirty="0">
                          <a:latin typeface="+mn-lt"/>
                        </a:rPr>
                        <a:t>CT6;ST4</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Validate if procedural mitigations are effective. [ME Host and </a:t>
                      </a:r>
                      <a:r>
                        <a:rPr lang="en-US" sz="1100" u="none" kern="1200" dirty="0">
                          <a:solidFill>
                            <a:schemeClr val="dk1"/>
                          </a:solidFill>
                          <a:effectLst/>
                          <a:latin typeface="+mn-lt"/>
                          <a:ea typeface="+mn-ea"/>
                          <a:cs typeface="+mn-cs"/>
                        </a:rPr>
                        <a:t>Network Analysts</a:t>
                      </a:r>
                      <a:r>
                        <a:rPr lang="en-US" sz="1100" u="sng" kern="1200" dirty="0">
                          <a:solidFill>
                            <a:schemeClr val="dk1"/>
                          </a:solidFill>
                          <a:effectLst/>
                          <a:latin typeface="+mn-lt"/>
                          <a:ea typeface="+mn-ea"/>
                          <a:cs typeface="+mn-cs"/>
                        </a:rPr>
                        <a:t>] </a:t>
                      </a:r>
                      <a:endParaRPr lang="en-US" sz="1100" dirty="0">
                        <a:effectLst/>
                        <a:latin typeface="+mn-lt"/>
                        <a:ea typeface="Times New Roman" panose="02020603050405020304" pitchFamily="18" charset="0"/>
                      </a:endParaRPr>
                    </a:p>
                  </a:txBody>
                  <a:tcPr/>
                </a:tc>
                <a:tc>
                  <a:txBody>
                    <a:bodyPr/>
                    <a:lstStyle/>
                    <a:p>
                      <a:endParaRPr lang="en-US" sz="1100">
                        <a:latin typeface="+mn-lt"/>
                      </a:endParaRPr>
                    </a:p>
                  </a:txBody>
                  <a:tcPr/>
                </a:tc>
                <a:extLst>
                  <a:ext uri="{0D108BD9-81ED-4DB2-BD59-A6C34878D82A}">
                    <a16:rowId xmlns:a16="http://schemas.microsoft.com/office/drawing/2014/main" val="1303818979"/>
                  </a:ext>
                </a:extLst>
              </a:tr>
              <a:tr h="370840">
                <a:tc>
                  <a:txBody>
                    <a:bodyPr/>
                    <a:lstStyle/>
                    <a:p>
                      <a:pPr marL="0" marR="0" lvl="0" indent="0" algn="ctr"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Core Task 7: </a:t>
                      </a:r>
                      <a:r>
                        <a:rPr lang="en-US" sz="1100" b="0" kern="1200" dirty="0">
                          <a:solidFill>
                            <a:schemeClr val="dk1"/>
                          </a:solidFill>
                          <a:effectLst/>
                          <a:latin typeface="+mn-lt"/>
                          <a:ea typeface="+mn-ea"/>
                          <a:cs typeface="+mn-cs"/>
                        </a:rPr>
                        <a:t>Conduct reporting. [LE; ME]</a:t>
                      </a:r>
                      <a:endParaRPr lang="en-US" sz="1100" b="0"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19189219"/>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CT7;ST1</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ln brief to key stakeholders. [Leadership;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76213754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kern="0" dirty="0">
                          <a:latin typeface="+mn-lt"/>
                        </a:rPr>
                        <a:t>CT7;ST2</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Conduct operational reporting. [ME Crew Lead; ME Lead; TL]</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1773534855"/>
                  </a:ext>
                </a:extLst>
              </a:tr>
              <a:tr h="370840">
                <a:tc>
                  <a:txBody>
                    <a:bodyPr/>
                    <a:lstStyle/>
                    <a:p>
                      <a:r>
                        <a:rPr lang="en-US" sz="1100" b="1" kern="0" dirty="0">
                          <a:latin typeface="+mn-lt"/>
                        </a:rPr>
                        <a:t>CT7;ST3</a:t>
                      </a:r>
                      <a:r>
                        <a:rPr lang="en-US" sz="1100" b="1" dirty="0">
                          <a:effectLst/>
                          <a:latin typeface="+mn-lt"/>
                          <a:ea typeface="Times New Roman" panose="02020603050405020304" pitchFamily="18" charset="0"/>
                        </a:rPr>
                        <a:t>:</a:t>
                      </a:r>
                      <a:r>
                        <a:rPr lang="en-US" sz="1100" b="0"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Provide evaluation and feedback necessary for improving intelligence production, intelligence reporting, collection requirements, and operations. [ASA; ME Lead; ME Host and Network Analysts]</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3582958844"/>
                  </a:ext>
                </a:extLst>
              </a:tr>
              <a:tr h="370840">
                <a:tc>
                  <a:txBody>
                    <a:bodyPr/>
                    <a:lstStyle/>
                    <a:p>
                      <a:r>
                        <a:rPr lang="en-US" sz="1100" b="1" kern="0" dirty="0">
                          <a:latin typeface="+mn-lt"/>
                        </a:rPr>
                        <a:t>CT7;ST4</a:t>
                      </a:r>
                      <a:r>
                        <a:rPr lang="en-US" sz="1100" b="1" dirty="0">
                          <a:effectLst/>
                          <a:latin typeface="+mn-lt"/>
                          <a:ea typeface="Times New Roman" panose="02020603050405020304" pitchFamily="18" charset="0"/>
                        </a:rPr>
                        <a:t>: </a:t>
                      </a:r>
                      <a:r>
                        <a:rPr lang="en-US" sz="1100" kern="1200" dirty="0">
                          <a:solidFill>
                            <a:schemeClr val="dk1"/>
                          </a:solidFill>
                          <a:effectLst/>
                          <a:latin typeface="+mn-lt"/>
                          <a:ea typeface="+mn-ea"/>
                          <a:cs typeface="+mn-cs"/>
                        </a:rPr>
                        <a:t>Out brief to key stakeholders. [Leadership (all; ME Lead]</a:t>
                      </a:r>
                      <a:endParaRPr lang="en-US" sz="1100" b="1"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758476272"/>
                  </a:ext>
                </a:extLst>
              </a:tr>
              <a:tr h="370840">
                <a:tc>
                  <a:txBody>
                    <a:bodyPr/>
                    <a:lstStyle/>
                    <a:p>
                      <a:pPr marL="0" marR="0" lvl="0" indent="0" algn="l" defTabSz="711050" rtl="0" eaLnBrk="1" fontAlgn="auto" latinLnBrk="0" hangingPunct="1">
                        <a:lnSpc>
                          <a:spcPct val="100000"/>
                        </a:lnSpc>
                        <a:spcBef>
                          <a:spcPts val="0"/>
                        </a:spcBef>
                        <a:spcAft>
                          <a:spcPts val="0"/>
                        </a:spcAft>
                        <a:buClrTx/>
                        <a:buSzTx/>
                        <a:buFontTx/>
                        <a:buNone/>
                        <a:tabLst/>
                        <a:defRPr/>
                      </a:pPr>
                      <a:r>
                        <a:rPr lang="en-US" sz="1100" b="1" dirty="0">
                          <a:effectLst/>
                          <a:latin typeface="+mn-lt"/>
                          <a:ea typeface="Times New Roman" panose="02020603050405020304" pitchFamily="18" charset="0"/>
                        </a:rPr>
                        <a:t>CT7;ST5:</a:t>
                      </a:r>
                      <a:r>
                        <a:rPr lang="en-US" sz="1100" b="0" dirty="0">
                          <a:effectLst/>
                          <a:latin typeface="+mn-lt"/>
                          <a:ea typeface="Times New Roman" panose="02020603050405020304" pitchFamily="18" charset="0"/>
                        </a:rPr>
                        <a:t> </a:t>
                      </a:r>
                      <a:r>
                        <a:rPr lang="en-US" sz="1100" u="none" kern="1200" dirty="0">
                          <a:solidFill>
                            <a:schemeClr val="dk1"/>
                          </a:solidFill>
                          <a:effectLst/>
                          <a:latin typeface="+mn-lt"/>
                          <a:ea typeface="+mn-ea"/>
                          <a:cs typeface="+mn-cs"/>
                        </a:rPr>
                        <a:t>Develop Final Report. [ME Lead; TL; OPSO] </a:t>
                      </a:r>
                      <a:endParaRPr lang="en-US" sz="1100" b="1" u="none" dirty="0">
                        <a:effectLst/>
                        <a:latin typeface="+mn-lt"/>
                        <a:ea typeface="Times New Roman" panose="02020603050405020304" pitchFamily="18" charset="0"/>
                      </a:endParaRPr>
                    </a:p>
                  </a:txBody>
                  <a:tcPr/>
                </a:tc>
                <a:tc>
                  <a:txBody>
                    <a:bodyPr/>
                    <a:lstStyle/>
                    <a:p>
                      <a:endParaRPr lang="en-US" sz="1100" dirty="0">
                        <a:latin typeface="+mn-lt"/>
                      </a:endParaRPr>
                    </a:p>
                  </a:txBody>
                  <a:tcPr/>
                </a:tc>
                <a:extLst>
                  <a:ext uri="{0D108BD9-81ED-4DB2-BD59-A6C34878D82A}">
                    <a16:rowId xmlns:a16="http://schemas.microsoft.com/office/drawing/2014/main" val="4121490711"/>
                  </a:ext>
                </a:extLst>
              </a:tr>
            </a:tbl>
          </a:graphicData>
        </a:graphic>
      </p:graphicFrame>
    </p:spTree>
    <p:extLst>
      <p:ext uri="{BB962C8B-B14F-4D97-AF65-F5344CB8AC3E}">
        <p14:creationId xmlns:p14="http://schemas.microsoft.com/office/powerpoint/2010/main" val="2658168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dirty="0"/>
              <a:t>ME Status Report</a:t>
            </a:r>
          </a:p>
        </p:txBody>
      </p:sp>
      <p:sp>
        <p:nvSpPr>
          <p:cNvPr id="15" name="Rectangle 10">
            <a:extLst>
              <a:ext uri="{FF2B5EF4-FFF2-40B4-BE49-F238E27FC236}">
                <a16:creationId xmlns:a16="http://schemas.microsoft.com/office/drawing/2014/main" id="{1C884D6F-7F12-4370-A576-54617A71662E}"/>
              </a:ext>
            </a:extLst>
          </p:cNvPr>
          <p:cNvSpPr txBox="1">
            <a:spLocks noChangeArrowheads="1"/>
          </p:cNvSpPr>
          <p:nvPr/>
        </p:nvSpPr>
        <p:spPr>
          <a:xfrm>
            <a:off x="267131" y="1417544"/>
            <a:ext cx="4304865"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Actions Planned</a:t>
            </a:r>
          </a:p>
          <a:p>
            <a:pPr marL="290830" indent="-290830" eaLnBrk="1" hangingPunct="1"/>
            <a:r>
              <a:rPr lang="en-US" sz="1100" kern="0" dirty="0">
                <a:cs typeface="Arial"/>
              </a:rPr>
              <a:t>Execute Mission</a:t>
            </a:r>
          </a:p>
          <a:p>
            <a:pPr marL="290830" indent="-290830"/>
            <a:r>
              <a:rPr lang="en-US" sz="1100" kern="0" dirty="0">
                <a:cs typeface="Arial"/>
              </a:rPr>
              <a:t>Receive Customer network and asset documentation</a:t>
            </a:r>
          </a:p>
          <a:p>
            <a:pPr marL="290830" indent="-290830"/>
            <a:endParaRPr lang="en-US" sz="1100" kern="0" dirty="0">
              <a:cs typeface="Arial"/>
            </a:endParaRPr>
          </a:p>
        </p:txBody>
      </p:sp>
      <p:sp>
        <p:nvSpPr>
          <p:cNvPr id="17" name="Line 15">
            <a:extLst>
              <a:ext uri="{FF2B5EF4-FFF2-40B4-BE49-F238E27FC236}">
                <a16:creationId xmlns:a16="http://schemas.microsoft.com/office/drawing/2014/main" id="{420E8522-D17E-44E1-8587-6BBD54A45B8E}"/>
              </a:ext>
            </a:extLst>
          </p:cNvPr>
          <p:cNvSpPr>
            <a:spLocks noChangeShapeType="1"/>
          </p:cNvSpPr>
          <p:nvPr/>
        </p:nvSpPr>
        <p:spPr bwMode="auto">
          <a:xfrm>
            <a:off x="267131" y="3771900"/>
            <a:ext cx="8591119" cy="0"/>
          </a:xfrm>
          <a:prstGeom prst="line">
            <a:avLst/>
          </a:prstGeom>
          <a:noFill/>
          <a:ln w="38100">
            <a:solidFill>
              <a:schemeClr val="tx1"/>
            </a:solidFill>
            <a:round/>
            <a:headEnd/>
            <a:tailEnd/>
          </a:ln>
        </p:spPr>
        <p:txBody>
          <a:bodyPr/>
          <a:lstStyle/>
          <a:p>
            <a:endParaRPr lang="en-US"/>
          </a:p>
        </p:txBody>
      </p:sp>
      <p:sp>
        <p:nvSpPr>
          <p:cNvPr id="18" name="Line 17">
            <a:extLst>
              <a:ext uri="{FF2B5EF4-FFF2-40B4-BE49-F238E27FC236}">
                <a16:creationId xmlns:a16="http://schemas.microsoft.com/office/drawing/2014/main" id="{703E17E3-F388-43B8-B339-4EF7ED251E2E}"/>
              </a:ext>
            </a:extLst>
          </p:cNvPr>
          <p:cNvSpPr>
            <a:spLocks noChangeShapeType="1"/>
          </p:cNvSpPr>
          <p:nvPr/>
        </p:nvSpPr>
        <p:spPr bwMode="auto">
          <a:xfrm>
            <a:off x="4572000" y="1331911"/>
            <a:ext cx="0" cy="5089525"/>
          </a:xfrm>
          <a:prstGeom prst="line">
            <a:avLst/>
          </a:prstGeom>
          <a:noFill/>
          <a:ln w="38100">
            <a:solidFill>
              <a:schemeClr val="tx1"/>
            </a:solidFill>
            <a:round/>
            <a:headEnd/>
            <a:tailEnd/>
          </a:ln>
        </p:spPr>
        <p:txBody>
          <a:bodyPr/>
          <a:lstStyle/>
          <a:p>
            <a:endParaRPr lang="en-US"/>
          </a:p>
        </p:txBody>
      </p:sp>
      <p:sp>
        <p:nvSpPr>
          <p:cNvPr id="22" name="Rectangle 10">
            <a:extLst>
              <a:ext uri="{FF2B5EF4-FFF2-40B4-BE49-F238E27FC236}">
                <a16:creationId xmlns:a16="http://schemas.microsoft.com/office/drawing/2014/main" id="{DA1B2BB4-4278-402B-89A6-35D2BE0CBA59}"/>
              </a:ext>
            </a:extLst>
          </p:cNvPr>
          <p:cNvSpPr txBox="1">
            <a:spLocks noChangeArrowheads="1"/>
          </p:cNvSpPr>
          <p:nvPr/>
        </p:nvSpPr>
        <p:spPr>
          <a:xfrm>
            <a:off x="4667681" y="1417544"/>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Actions In-process</a:t>
            </a:r>
          </a:p>
          <a:p>
            <a:pPr marL="290830" indent="-290830" eaLnBrk="1" hangingPunct="1"/>
            <a:r>
              <a:rPr lang="en-US" sz="1100" kern="0" dirty="0">
                <a:cs typeface="Arial"/>
              </a:rPr>
              <a:t>Coordinating with intelligence assets</a:t>
            </a:r>
            <a:endParaRPr lang="en-US" sz="1600" kern="0" dirty="0">
              <a:cs typeface="Arial"/>
            </a:endParaRPr>
          </a:p>
          <a:p>
            <a:pPr marL="290830" indent="-290830"/>
            <a:r>
              <a:rPr lang="en-US" sz="1100" kern="0" dirty="0">
                <a:cs typeface="Arial"/>
              </a:rPr>
              <a:t>Coordinating with customer and providing information </a:t>
            </a:r>
          </a:p>
        </p:txBody>
      </p:sp>
      <p:sp>
        <p:nvSpPr>
          <p:cNvPr id="23" name="Rectangle 10">
            <a:extLst>
              <a:ext uri="{FF2B5EF4-FFF2-40B4-BE49-F238E27FC236}">
                <a16:creationId xmlns:a16="http://schemas.microsoft.com/office/drawing/2014/main" id="{EC7B1F2D-A39F-41CA-A595-9096CDD083FC}"/>
              </a:ext>
            </a:extLst>
          </p:cNvPr>
          <p:cNvSpPr txBox="1">
            <a:spLocks noChangeArrowheads="1"/>
          </p:cNvSpPr>
          <p:nvPr/>
        </p:nvSpPr>
        <p:spPr>
          <a:xfrm>
            <a:off x="267130" y="3781425"/>
            <a:ext cx="4304865" cy="2141536"/>
          </a:xfrm>
          <a:prstGeom prst="rect">
            <a:avLst/>
          </a:prstGeom>
        </p:spPr>
        <p:txBody>
          <a:bodyPr/>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Actions Completed</a:t>
            </a:r>
          </a:p>
          <a:p>
            <a:pPr eaLnBrk="1" hangingPunct="1"/>
            <a:endParaRPr lang="en-US" sz="1600" kern="0" dirty="0"/>
          </a:p>
        </p:txBody>
      </p:sp>
      <p:sp>
        <p:nvSpPr>
          <p:cNvPr id="24" name="Rectangle 10">
            <a:extLst>
              <a:ext uri="{FF2B5EF4-FFF2-40B4-BE49-F238E27FC236}">
                <a16:creationId xmlns:a16="http://schemas.microsoft.com/office/drawing/2014/main" id="{A0B712F2-5753-4EB6-8083-4B6C0C7313D3}"/>
              </a:ext>
            </a:extLst>
          </p:cNvPr>
          <p:cNvSpPr txBox="1">
            <a:spLocks noChangeArrowheads="1"/>
          </p:cNvSpPr>
          <p:nvPr/>
        </p:nvSpPr>
        <p:spPr>
          <a:xfrm>
            <a:off x="4571995" y="3781425"/>
            <a:ext cx="4194309" cy="2141536"/>
          </a:xfrm>
          <a:prstGeom prst="rect">
            <a:avLst/>
          </a:prstGeom>
        </p:spPr>
        <p:txBody>
          <a:bodyPr lIns="91440" tIns="45720" rIns="91440" bIns="45720" anchor="t"/>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algn="ctr" eaLnBrk="1" hangingPunct="1">
              <a:buFontTx/>
              <a:buNone/>
            </a:pPr>
            <a:r>
              <a:rPr lang="en-US" sz="1100" b="1" u="sng" kern="0" dirty="0"/>
              <a:t>Findings</a:t>
            </a:r>
          </a:p>
          <a:p>
            <a:pPr marL="290830" indent="-290830" eaLnBrk="1" hangingPunct="1"/>
            <a:r>
              <a:rPr lang="en-US" sz="1100" kern="0" dirty="0" err="1">
                <a:cs typeface="Arial"/>
              </a:rPr>
              <a:t>IoCs</a:t>
            </a:r>
            <a:endParaRPr lang="en-US" sz="1100" kern="0" dirty="0">
              <a:cs typeface="Arial"/>
            </a:endParaRPr>
          </a:p>
          <a:p>
            <a:pPr marL="290830" indent="-290830"/>
            <a:r>
              <a:rPr lang="en-US" sz="1100" kern="0" dirty="0">
                <a:cs typeface="Arial"/>
              </a:rPr>
              <a:t>Compromised Assets</a:t>
            </a:r>
          </a:p>
          <a:p>
            <a:pPr marL="290830" indent="-290830"/>
            <a:r>
              <a:rPr lang="en-US" sz="1100" kern="0" dirty="0">
                <a:cs typeface="Arial"/>
              </a:rPr>
              <a:t>Timelines</a:t>
            </a:r>
          </a:p>
          <a:p>
            <a:pPr marL="290830" indent="-290830"/>
            <a:r>
              <a:rPr lang="en-US" sz="1100" kern="0" dirty="0">
                <a:cs typeface="Arial"/>
              </a:rPr>
              <a:t>Suspected Actors</a:t>
            </a:r>
          </a:p>
          <a:p>
            <a:pPr marL="290830" indent="-290830"/>
            <a:r>
              <a:rPr lang="en-US" sz="1100" kern="0" dirty="0">
                <a:cs typeface="Arial"/>
              </a:rPr>
              <a:t>Poor Practices</a:t>
            </a:r>
          </a:p>
          <a:p>
            <a:pPr marL="633095" lvl="1" indent="-243840"/>
            <a:r>
              <a:rPr lang="en-US" sz="900" kern="0" dirty="0">
                <a:cs typeface="Arial"/>
              </a:rPr>
              <a:t>Industry/NIST/CISA best practices</a:t>
            </a:r>
          </a:p>
          <a:p>
            <a:pPr marL="290830" indent="-290830"/>
            <a:endParaRPr lang="en-US" sz="1200" kern="0" dirty="0">
              <a:cs typeface="Arial"/>
            </a:endParaRPr>
          </a:p>
        </p:txBody>
      </p:sp>
      <p:sp>
        <p:nvSpPr>
          <p:cNvPr id="9" name="Rectangle 10">
            <a:extLst>
              <a:ext uri="{FF2B5EF4-FFF2-40B4-BE49-F238E27FC236}">
                <a16:creationId xmlns:a16="http://schemas.microsoft.com/office/drawing/2014/main" id="{CA7726BF-A84F-419C-9BC9-C88A9A31C948}"/>
              </a:ext>
            </a:extLst>
          </p:cNvPr>
          <p:cNvSpPr txBox="1">
            <a:spLocks noChangeArrowheads="1"/>
          </p:cNvSpPr>
          <p:nvPr/>
        </p:nvSpPr>
        <p:spPr>
          <a:xfrm>
            <a:off x="114300" y="6515100"/>
            <a:ext cx="4304865" cy="279402"/>
          </a:xfrm>
          <a:prstGeom prst="rect">
            <a:avLst/>
          </a:prstGeom>
        </p:spPr>
        <p:txBody>
          <a:bodyPr/>
          <a:lstStyle>
            <a:lvl1pPr marL="291333" indent="-291333" algn="l" defTabSz="778945" rtl="0" eaLnBrk="0" fontAlgn="base" hangingPunct="0">
              <a:spcBef>
                <a:spcPct val="20000"/>
              </a:spcBef>
              <a:spcAft>
                <a:spcPct val="0"/>
              </a:spcAft>
              <a:buChar char="•"/>
              <a:defRPr sz="2700">
                <a:solidFill>
                  <a:schemeClr val="tx1"/>
                </a:solidFill>
                <a:latin typeface="+mn-lt"/>
                <a:ea typeface="+mn-ea"/>
                <a:cs typeface="+mn-cs"/>
              </a:defRPr>
            </a:lvl1pPr>
            <a:lvl2pPr marL="633280" indent="-244424" algn="l" defTabSz="778945" rtl="0" eaLnBrk="0" fontAlgn="base" hangingPunct="0">
              <a:spcBef>
                <a:spcPct val="20000"/>
              </a:spcBef>
              <a:spcAft>
                <a:spcPct val="0"/>
              </a:spcAft>
              <a:buChar char="–"/>
              <a:defRPr sz="2400">
                <a:solidFill>
                  <a:schemeClr val="tx1"/>
                </a:solidFill>
                <a:latin typeface="+mn-lt"/>
              </a:defRPr>
            </a:lvl2pPr>
            <a:lvl3pPr marL="973991" indent="-195046" algn="l" defTabSz="778945" rtl="0" eaLnBrk="0" fontAlgn="base" hangingPunct="0">
              <a:spcBef>
                <a:spcPct val="20000"/>
              </a:spcBef>
              <a:spcAft>
                <a:spcPct val="0"/>
              </a:spcAft>
              <a:buChar char="•"/>
              <a:defRPr sz="2100">
                <a:solidFill>
                  <a:schemeClr val="tx1"/>
                </a:solidFill>
                <a:latin typeface="+mn-lt"/>
              </a:defRPr>
            </a:lvl3pPr>
            <a:lvl4pPr marL="1362845" indent="-193811" algn="l" defTabSz="778945" rtl="0" eaLnBrk="0" fontAlgn="base" hangingPunct="0">
              <a:spcBef>
                <a:spcPct val="20000"/>
              </a:spcBef>
              <a:spcAft>
                <a:spcPct val="0"/>
              </a:spcAft>
              <a:buChar char="–"/>
              <a:defRPr sz="1700">
                <a:solidFill>
                  <a:schemeClr val="tx1"/>
                </a:solidFill>
                <a:latin typeface="+mn-lt"/>
              </a:defRPr>
            </a:lvl4pPr>
            <a:lvl5pPr marL="1754170" indent="-196280" algn="l" defTabSz="778945" rtl="0" eaLnBrk="0" fontAlgn="base" hangingPunct="0">
              <a:spcBef>
                <a:spcPct val="20000"/>
              </a:spcBef>
              <a:spcAft>
                <a:spcPct val="0"/>
              </a:spcAft>
              <a:buChar char="»"/>
              <a:defRPr sz="1700">
                <a:solidFill>
                  <a:schemeClr val="tx1"/>
                </a:solidFill>
                <a:latin typeface="+mn-lt"/>
              </a:defRPr>
            </a:lvl5pPr>
            <a:lvl6pPr marL="1955387" indent="-177762" algn="l" rtl="0" fontAlgn="base">
              <a:spcBef>
                <a:spcPct val="20000"/>
              </a:spcBef>
              <a:spcAft>
                <a:spcPct val="0"/>
              </a:spcAft>
              <a:buChar char="»"/>
              <a:defRPr sz="1600">
                <a:solidFill>
                  <a:schemeClr val="tx1"/>
                </a:solidFill>
                <a:latin typeface="+mn-lt"/>
              </a:defRPr>
            </a:lvl6pPr>
            <a:lvl7pPr marL="2310912" indent="-177762" algn="l" rtl="0" fontAlgn="base">
              <a:spcBef>
                <a:spcPct val="20000"/>
              </a:spcBef>
              <a:spcAft>
                <a:spcPct val="0"/>
              </a:spcAft>
              <a:buChar char="»"/>
              <a:defRPr sz="1600">
                <a:solidFill>
                  <a:schemeClr val="tx1"/>
                </a:solidFill>
                <a:latin typeface="+mn-lt"/>
              </a:defRPr>
            </a:lvl7pPr>
            <a:lvl8pPr marL="2666437" indent="-177762" algn="l" rtl="0" fontAlgn="base">
              <a:spcBef>
                <a:spcPct val="20000"/>
              </a:spcBef>
              <a:spcAft>
                <a:spcPct val="0"/>
              </a:spcAft>
              <a:buChar char="»"/>
              <a:defRPr sz="1600">
                <a:solidFill>
                  <a:schemeClr val="tx1"/>
                </a:solidFill>
                <a:latin typeface="+mn-lt"/>
              </a:defRPr>
            </a:lvl8pPr>
            <a:lvl9pPr marL="3021963" indent="-177762" algn="l" rtl="0" fontAlgn="base">
              <a:spcBef>
                <a:spcPct val="20000"/>
              </a:spcBef>
              <a:spcAft>
                <a:spcPct val="0"/>
              </a:spcAft>
              <a:buChar char="»"/>
              <a:defRPr sz="1600">
                <a:solidFill>
                  <a:schemeClr val="tx1"/>
                </a:solidFill>
                <a:latin typeface="+mn-lt"/>
              </a:defRPr>
            </a:lvl9pPr>
          </a:lstStyle>
          <a:p>
            <a:pPr marL="0" indent="0" eaLnBrk="1" hangingPunct="1">
              <a:buFontTx/>
              <a:buNone/>
            </a:pPr>
            <a:r>
              <a:rPr lang="en-US" sz="1200" kern="0" dirty="0"/>
              <a:t>** Mission support required</a:t>
            </a:r>
          </a:p>
        </p:txBody>
      </p:sp>
    </p:spTree>
    <p:extLst>
      <p:ext uri="{BB962C8B-B14F-4D97-AF65-F5344CB8AC3E}">
        <p14:creationId xmlns:p14="http://schemas.microsoft.com/office/powerpoint/2010/main" val="3867055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9AC27-FE1D-42F1-8203-151ADD14702E}"/>
              </a:ext>
            </a:extLst>
          </p:cNvPr>
          <p:cNvSpPr>
            <a:spLocks noGrp="1"/>
          </p:cNvSpPr>
          <p:nvPr>
            <p:ph type="title"/>
          </p:nvPr>
        </p:nvSpPr>
        <p:spPr/>
        <p:txBody>
          <a:bodyPr/>
          <a:lstStyle/>
          <a:p>
            <a:r>
              <a:rPr lang="en-US" dirty="0"/>
              <a:t>Mission Support Required</a:t>
            </a:r>
          </a:p>
        </p:txBody>
      </p:sp>
      <p:sp>
        <p:nvSpPr>
          <p:cNvPr id="3" name="Content Placeholder 2">
            <a:extLst>
              <a:ext uri="{FF2B5EF4-FFF2-40B4-BE49-F238E27FC236}">
                <a16:creationId xmlns:a16="http://schemas.microsoft.com/office/drawing/2014/main" id="{3A5F20F6-0108-4171-8A40-B07FB47F6592}"/>
              </a:ext>
            </a:extLst>
          </p:cNvPr>
          <p:cNvSpPr>
            <a:spLocks noGrp="1"/>
          </p:cNvSpPr>
          <p:nvPr>
            <p:ph idx="1"/>
          </p:nvPr>
        </p:nvSpPr>
        <p:spPr>
          <a:xfrm>
            <a:off x="456973" y="1543050"/>
            <a:ext cx="8230054" cy="4525775"/>
          </a:xfrm>
        </p:spPr>
        <p:txBody>
          <a:bodyPr/>
          <a:lstStyle/>
          <a:p>
            <a:pPr marL="290830" indent="-290830"/>
            <a:r>
              <a:rPr lang="en-US" sz="1600" dirty="0"/>
              <a:t>Coordinate with JAG and report at major intervals on findings and actions</a:t>
            </a:r>
            <a:endParaRPr lang="en-US" sz="1600" dirty="0">
              <a:cs typeface="Arial"/>
            </a:endParaRPr>
          </a:p>
          <a:p>
            <a:pPr marL="290830" indent="-290830"/>
            <a:r>
              <a:rPr lang="en-US" sz="1600" dirty="0">
                <a:cs typeface="Arial"/>
              </a:rPr>
              <a:t>Report to DHS, CISA, FBI, and other entities in alignment with applicable laws and regulations</a:t>
            </a:r>
          </a:p>
          <a:p>
            <a:pPr marL="290830" indent="-290830"/>
            <a:r>
              <a:rPr lang="en-US" sz="1600" dirty="0">
                <a:solidFill>
                  <a:schemeClr val="dk1"/>
                </a:solidFill>
                <a:ea typeface="+mn-lt"/>
                <a:cs typeface="+mn-lt"/>
              </a:rPr>
              <a:t>Coordinate with Fusion Centers to report findings and request information on findings to identify adversary TTPs and mechanisms of intrusion and actions taken on customer assets</a:t>
            </a:r>
          </a:p>
          <a:p>
            <a:pPr marL="290830" indent="-290830"/>
            <a:r>
              <a:rPr lang="en-US" sz="1600" dirty="0">
                <a:solidFill>
                  <a:schemeClr val="dk1"/>
                </a:solidFill>
                <a:cs typeface="Arial"/>
              </a:rPr>
              <a:t>Maintain unit readiness to ensure soldiers can operate on customer assets</a:t>
            </a:r>
          </a:p>
          <a:p>
            <a:pPr marL="290830" indent="-290830"/>
            <a:endParaRPr lang="en-US" sz="1400" kern="1200" dirty="0">
              <a:cs typeface="Arial"/>
            </a:endParaRPr>
          </a:p>
          <a:p>
            <a:pPr marL="290830" indent="-290830"/>
            <a:endParaRPr lang="en-US" dirty="0">
              <a:cs typeface="Arial"/>
            </a:endParaRPr>
          </a:p>
        </p:txBody>
      </p:sp>
    </p:spTree>
    <p:extLst>
      <p:ext uri="{BB962C8B-B14F-4D97-AF65-F5344CB8AC3E}">
        <p14:creationId xmlns:p14="http://schemas.microsoft.com/office/powerpoint/2010/main" val="1231922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969276C5-7F2B-47DE-B4ED-9187B2575435}"/>
              </a:ext>
            </a:extLst>
          </p:cNvPr>
          <p:cNvSpPr>
            <a:spLocks noGrp="1"/>
          </p:cNvSpPr>
          <p:nvPr>
            <p:ph type="title"/>
          </p:nvPr>
        </p:nvSpPr>
        <p:spPr/>
        <p:txBody>
          <a:bodyPr/>
          <a:lstStyle/>
          <a:p>
            <a:r>
              <a:rPr lang="en-US" sz="3200" dirty="0"/>
              <a:t>Finding x – Details TEMPLATE</a:t>
            </a:r>
          </a:p>
        </p:txBody>
      </p:sp>
      <p:sp>
        <p:nvSpPr>
          <p:cNvPr id="2" name="Content Placeholder 1">
            <a:extLst>
              <a:ext uri="{FF2B5EF4-FFF2-40B4-BE49-F238E27FC236}">
                <a16:creationId xmlns:a16="http://schemas.microsoft.com/office/drawing/2014/main" id="{BFBF05C9-F03A-49F3-AC83-7D9F6C507EC9}"/>
              </a:ext>
            </a:extLst>
          </p:cNvPr>
          <p:cNvSpPr>
            <a:spLocks noGrp="1"/>
          </p:cNvSpPr>
          <p:nvPr>
            <p:ph idx="1"/>
          </p:nvPr>
        </p:nvSpPr>
        <p:spPr/>
        <p:txBody>
          <a:bodyPr/>
          <a:lstStyle/>
          <a:p>
            <a:pPr marL="290830" indent="-290830"/>
            <a:r>
              <a:rPr lang="en-US" sz="1200" dirty="0"/>
              <a:t>Finding – </a:t>
            </a:r>
            <a:endParaRPr lang="en-US"/>
          </a:p>
          <a:p>
            <a:pPr marL="290830" indent="-290830"/>
            <a:r>
              <a:rPr lang="en-US" sz="1200" dirty="0"/>
              <a:t>Artifacts, info, IOCs – (dates, times, filenames, processes, hashes, etc.)</a:t>
            </a:r>
            <a:endParaRPr lang="en-US" sz="1200" dirty="0">
              <a:cs typeface="Arial"/>
            </a:endParaRPr>
          </a:p>
          <a:p>
            <a:pPr marL="633095" lvl="1" indent="-243840"/>
            <a:r>
              <a:rPr lang="en-US" sz="900" dirty="0">
                <a:cs typeface="Arial"/>
              </a:rPr>
              <a:t>Date of </a:t>
            </a:r>
            <a:r>
              <a:rPr lang="en-US" sz="900" dirty="0" err="1">
                <a:cs typeface="Arial"/>
              </a:rPr>
              <a:t>creatiion</a:t>
            </a:r>
            <a:r>
              <a:rPr lang="en-US" sz="900" dirty="0">
                <a:cs typeface="Arial"/>
              </a:rPr>
              <a:t>, date of edit, </a:t>
            </a:r>
            <a:r>
              <a:rPr lang="en-US" sz="900" dirty="0" err="1">
                <a:cs typeface="Arial"/>
              </a:rPr>
              <a:t>inode</a:t>
            </a:r>
            <a:r>
              <a:rPr lang="en-US" sz="900" dirty="0">
                <a:cs typeface="Arial"/>
              </a:rPr>
              <a:t> info, </a:t>
            </a:r>
          </a:p>
          <a:p>
            <a:pPr marL="290830" indent="-290830"/>
            <a:r>
              <a:rPr lang="en-US" sz="1200" dirty="0"/>
              <a:t>Scope of adversary access and impact – </a:t>
            </a:r>
            <a:endParaRPr lang="en-US" sz="1200" dirty="0">
              <a:cs typeface="Arial"/>
            </a:endParaRPr>
          </a:p>
          <a:p>
            <a:pPr marL="633095" lvl="1" indent="-243840"/>
            <a:endParaRPr lang="en-US" sz="900" dirty="0">
              <a:cs typeface="Arial"/>
            </a:endParaRPr>
          </a:p>
          <a:p>
            <a:pPr marL="290830" indent="-290830"/>
            <a:r>
              <a:rPr lang="en-US" sz="1200" dirty="0"/>
              <a:t>Mitre ATT&amp;CK mapping – </a:t>
            </a:r>
            <a:endParaRPr lang="en-US" sz="1200" dirty="0">
              <a:cs typeface="Arial"/>
            </a:endParaRPr>
          </a:p>
          <a:p>
            <a:pPr marL="290830" indent="-290830"/>
            <a:r>
              <a:rPr lang="en-US" sz="1200" dirty="0">
                <a:solidFill>
                  <a:srgbClr val="FF0000"/>
                </a:solidFill>
                <a:cs typeface="Arial"/>
              </a:rPr>
              <a:t>What forensic artifacts have been retained? Chain of evidence? Integrity?</a:t>
            </a:r>
          </a:p>
          <a:p>
            <a:pPr marL="290830" indent="-290830"/>
            <a:r>
              <a:rPr lang="en-US" sz="1200" dirty="0"/>
              <a:t>Actions taken –</a:t>
            </a:r>
            <a:endParaRPr lang="en-US" sz="1200" dirty="0">
              <a:cs typeface="Arial"/>
            </a:endParaRPr>
          </a:p>
          <a:p>
            <a:pPr marL="633095" lvl="1" indent="-243840"/>
            <a:endParaRPr lang="en-US" sz="900" dirty="0">
              <a:cs typeface="Arial"/>
            </a:endParaRPr>
          </a:p>
          <a:p>
            <a:pPr marL="290830" indent="-290830"/>
            <a:r>
              <a:rPr lang="en-US" sz="1200" dirty="0"/>
              <a:t>Recommended actions – </a:t>
            </a:r>
            <a:endParaRPr lang="en-US" sz="1200" dirty="0">
              <a:cs typeface="Arial"/>
            </a:endParaRPr>
          </a:p>
          <a:p>
            <a:pPr marL="633095" lvl="1" indent="-243840"/>
            <a:r>
              <a:rPr lang="en-US" sz="1100" b="1" kern="0" dirty="0">
                <a:solidFill>
                  <a:srgbClr val="FF0000"/>
                </a:solidFill>
                <a:latin typeface="+mn-lt"/>
              </a:rPr>
              <a:t>CT7;ST3</a:t>
            </a:r>
            <a:r>
              <a:rPr lang="en-US" sz="1100" b="1" dirty="0">
                <a:solidFill>
                  <a:srgbClr val="FF0000"/>
                </a:solidFill>
                <a:effectLst/>
                <a:latin typeface="+mn-lt"/>
                <a:ea typeface="Times New Roman" panose="02020603050405020304" pitchFamily="18" charset="0"/>
              </a:rPr>
              <a:t>:</a:t>
            </a:r>
            <a:r>
              <a:rPr lang="en-US" sz="1100" b="0" dirty="0">
                <a:solidFill>
                  <a:srgbClr val="FF0000"/>
                </a:solidFill>
                <a:effectLst/>
                <a:latin typeface="+mn-lt"/>
                <a:ea typeface="Times New Roman" panose="02020603050405020304" pitchFamily="18" charset="0"/>
              </a:rPr>
              <a:t> </a:t>
            </a:r>
            <a:r>
              <a:rPr lang="en-US" sz="1100" kern="1200" dirty="0">
                <a:solidFill>
                  <a:srgbClr val="FF0000"/>
                </a:solidFill>
                <a:effectLst/>
                <a:latin typeface="+mn-lt"/>
                <a:ea typeface="+mn-ea"/>
                <a:cs typeface="+mn-cs"/>
              </a:rPr>
              <a:t>Provide evaluation and feedback necessary for improving intelligence production, intelligence reporting, collection requirements, and operations. [ASA; ME Lead; ME Host and Network Analysts]</a:t>
            </a:r>
            <a:endParaRPr lang="en-US" sz="1100" kern="1200">
              <a:solidFill>
                <a:srgbClr val="FF0000"/>
              </a:solidFill>
              <a:effectLst/>
              <a:latin typeface="+mn-lt"/>
              <a:ea typeface="+mn-ea"/>
              <a:cs typeface="Arial"/>
            </a:endParaRPr>
          </a:p>
          <a:p>
            <a:pPr marL="633095" lvl="1" indent="-243840"/>
            <a:endParaRPr lang="en-US" sz="1100" b="1" dirty="0">
              <a:solidFill>
                <a:srgbClr val="FF0000"/>
              </a:solidFill>
              <a:effectLst/>
              <a:latin typeface="+mn-lt"/>
              <a:ea typeface="Times New Roman" panose="02020603050405020304" pitchFamily="18" charset="0"/>
              <a:cs typeface="Arial"/>
            </a:endParaRPr>
          </a:p>
          <a:p>
            <a:pPr marL="290830" indent="-290830"/>
            <a:r>
              <a:rPr lang="en-US" sz="1200" dirty="0"/>
              <a:t>Method to emulate threat and validate technical/procedural actions – </a:t>
            </a:r>
            <a:endParaRPr lang="en-US" sz="1200" dirty="0">
              <a:cs typeface="Arial"/>
            </a:endParaRPr>
          </a:p>
          <a:p>
            <a:pPr marL="633095" lvl="1" indent="-243840"/>
            <a:r>
              <a:rPr lang="en-US" sz="1200" dirty="0">
                <a:solidFill>
                  <a:srgbClr val="000000"/>
                </a:solidFill>
                <a:ea typeface="Times New Roman" panose="02020603050405020304" pitchFamily="18" charset="0"/>
                <a:cs typeface="Arial"/>
              </a:rPr>
              <a:t>Test threat </a:t>
            </a:r>
            <a:r>
              <a:rPr lang="en-US" sz="1200" dirty="0" err="1">
                <a:solidFill>
                  <a:srgbClr val="000000"/>
                </a:solidFill>
                <a:ea typeface="Times New Roman" panose="02020603050405020304" pitchFamily="18" charset="0"/>
                <a:cs typeface="Arial"/>
              </a:rPr>
              <a:t>mitigiations</a:t>
            </a:r>
            <a:r>
              <a:rPr lang="en-US" sz="1200" dirty="0">
                <a:solidFill>
                  <a:srgbClr val="000000"/>
                </a:solidFill>
                <a:ea typeface="Times New Roman" panose="02020603050405020304" pitchFamily="18" charset="0"/>
                <a:cs typeface="Arial"/>
              </a:rPr>
              <a:t> in virtualized environment as like to the customer assets as possible as permitted by NDA and mission</a:t>
            </a:r>
          </a:p>
          <a:p>
            <a:pPr marL="633095" lvl="1" indent="-243840"/>
            <a:r>
              <a:rPr lang="en-US" sz="1200" dirty="0">
                <a:solidFill>
                  <a:srgbClr val="000000"/>
                </a:solidFill>
                <a:ea typeface="Times New Roman" panose="02020603050405020304" pitchFamily="18" charset="0"/>
                <a:cs typeface="Arial"/>
              </a:rPr>
              <a:t>Identify  how well remediation and hardening mechanisms will work on a customer asset and the implication of the </a:t>
            </a:r>
            <a:r>
              <a:rPr lang="en-US" sz="1200" dirty="0" err="1">
                <a:solidFill>
                  <a:srgbClr val="000000"/>
                </a:solidFill>
                <a:ea typeface="Times New Roman" panose="02020603050405020304" pitchFamily="18" charset="0"/>
                <a:cs typeface="Arial"/>
              </a:rPr>
              <a:t>miti</a:t>
            </a:r>
            <a:endParaRPr lang="en-US" sz="1200">
              <a:solidFill>
                <a:srgbClr val="000000"/>
              </a:solidFill>
              <a:ea typeface="Times New Roman" panose="02020603050405020304" pitchFamily="18" charset="0"/>
              <a:cs typeface="Arial"/>
            </a:endParaRPr>
          </a:p>
          <a:p>
            <a:pPr marL="633095" lvl="1" indent="-243840"/>
            <a:endParaRPr lang="en-US" sz="900" dirty="0">
              <a:solidFill>
                <a:srgbClr val="000000"/>
              </a:solidFill>
              <a:ea typeface="Times New Roman" panose="02020603050405020304" pitchFamily="18" charset="0"/>
            </a:endParaRPr>
          </a:p>
          <a:p>
            <a:pPr marL="290830" indent="-290830"/>
            <a:r>
              <a:rPr lang="en-US" sz="1200" dirty="0"/>
              <a:t>Overall finding status – </a:t>
            </a:r>
            <a:endParaRPr lang="en-US" sz="1200" dirty="0">
              <a:cs typeface="Arial"/>
            </a:endParaRPr>
          </a:p>
          <a:p>
            <a:pPr marL="633095" lvl="1" indent="-243840"/>
            <a:r>
              <a:rPr lang="en-US" sz="1200" dirty="0">
                <a:solidFill>
                  <a:srgbClr val="000000"/>
                </a:solidFill>
                <a:cs typeface="Arial"/>
              </a:rPr>
              <a:t>Review documentation, logs, permissions, and other records to identify threat actor vector of access to customer assets</a:t>
            </a:r>
          </a:p>
          <a:p>
            <a:pPr marL="633095" lvl="1" indent="-243840"/>
            <a:endParaRPr lang="en-US" sz="1200" dirty="0">
              <a:solidFill>
                <a:srgbClr val="000000"/>
              </a:solidFill>
              <a:cs typeface="Arial"/>
            </a:endParaRPr>
          </a:p>
          <a:p>
            <a:pPr marL="633095" lvl="1" indent="-243840"/>
            <a:endParaRPr lang="en-US" sz="1200" dirty="0">
              <a:solidFill>
                <a:srgbClr val="FF0000"/>
              </a:solidFill>
              <a:cs typeface="Arial"/>
            </a:endParaRPr>
          </a:p>
          <a:p>
            <a:pPr marL="633095" lvl="1" indent="-243840"/>
            <a:endParaRPr lang="en-US" sz="1100" dirty="0">
              <a:cs typeface="Arial"/>
            </a:endParaRPr>
          </a:p>
          <a:p>
            <a:pPr marL="633095" lvl="1" indent="-243840"/>
            <a:endParaRPr lang="en-US" sz="900" dirty="0">
              <a:cs typeface="Arial"/>
            </a:endParaRPr>
          </a:p>
          <a:p>
            <a:pPr marL="290830" indent="-290830"/>
            <a:endParaRPr lang="en-US" dirty="0">
              <a:cs typeface="Arial"/>
            </a:endParaRPr>
          </a:p>
          <a:p>
            <a:pPr marL="290830" indent="-290830"/>
            <a:endParaRPr lang="en-US" dirty="0">
              <a:cs typeface="Arial"/>
            </a:endParaRPr>
          </a:p>
          <a:p>
            <a:pPr marL="290830" indent="-290830"/>
            <a:endParaRPr lang="en-US" dirty="0">
              <a:cs typeface="Arial"/>
            </a:endParaRPr>
          </a:p>
        </p:txBody>
      </p:sp>
    </p:spTree>
    <p:extLst>
      <p:ext uri="{BB962C8B-B14F-4D97-AF65-F5344CB8AC3E}">
        <p14:creationId xmlns:p14="http://schemas.microsoft.com/office/powerpoint/2010/main" val="1670386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AB15-C756-CB82-A42D-1539D559FBDB}"/>
              </a:ext>
            </a:extLst>
          </p:cNvPr>
          <p:cNvSpPr>
            <a:spLocks noGrp="1"/>
          </p:cNvSpPr>
          <p:nvPr>
            <p:ph type="title"/>
          </p:nvPr>
        </p:nvSpPr>
        <p:spPr>
          <a:xfrm>
            <a:off x="628649" y="291090"/>
            <a:ext cx="7886699" cy="932688"/>
          </a:xfrm>
        </p:spPr>
        <p:txBody>
          <a:bodyPr vert="horz" lIns="91440" tIns="45720" rIns="91440" bIns="45720" rtlCol="0" anchor="b">
            <a:normAutofit/>
          </a:bodyPr>
          <a:lstStyle/>
          <a:p>
            <a:pPr defTabSz="914400" eaLnBrk="1" hangingPunct="1">
              <a:lnSpc>
                <a:spcPct val="90000"/>
              </a:lnSpc>
            </a:pPr>
            <a:r>
              <a:rPr lang="en-US" sz="4700" kern="1200" dirty="0">
                <a:solidFill>
                  <a:schemeClr val="tx1"/>
                </a:solidFill>
                <a:latin typeface="+mj-lt"/>
                <a:ea typeface="+mj-ea"/>
                <a:cs typeface="+mj-cs"/>
              </a:rPr>
              <a:t>MITRE ATT&amp;CK</a:t>
            </a:r>
            <a:r>
              <a:rPr lang="en-US" sz="4700" kern="1200" dirty="0">
                <a:solidFill>
                  <a:schemeClr val="tx1"/>
                </a:solidFill>
              </a:rPr>
              <a:t> pt. 1</a:t>
            </a:r>
            <a:endParaRPr lang="en-US" dirty="0">
              <a:solidFill>
                <a:schemeClr val="tx1"/>
              </a:solidFill>
              <a:ea typeface="+mj-ea"/>
              <a:cs typeface="+mj-cs"/>
            </a:endParaRPr>
          </a:p>
        </p:txBody>
      </p:sp>
      <p:graphicFrame>
        <p:nvGraphicFramePr>
          <p:cNvPr id="7" name="Table 6">
            <a:extLst>
              <a:ext uri="{FF2B5EF4-FFF2-40B4-BE49-F238E27FC236}">
                <a16:creationId xmlns:a16="http://schemas.microsoft.com/office/drawing/2014/main" id="{4EB362C4-A62A-7861-4B93-99D1B8128FBD}"/>
              </a:ext>
            </a:extLst>
          </p:cNvPr>
          <p:cNvGraphicFramePr>
            <a:graphicFrameLocks noGrp="1"/>
          </p:cNvGraphicFramePr>
          <p:nvPr>
            <p:extLst>
              <p:ext uri="{D42A27DB-BD31-4B8C-83A1-F6EECF244321}">
                <p14:modId xmlns:p14="http://schemas.microsoft.com/office/powerpoint/2010/main" val="2509155135"/>
              </p:ext>
            </p:extLst>
          </p:nvPr>
        </p:nvGraphicFramePr>
        <p:xfrm>
          <a:off x="35169" y="1477107"/>
          <a:ext cx="9105511" cy="5355484"/>
        </p:xfrm>
        <a:graphic>
          <a:graphicData uri="http://schemas.openxmlformats.org/drawingml/2006/table">
            <a:tbl>
              <a:tblPr firstRow="1" bandRow="1">
                <a:tableStyleId>{073A0DAA-6AF3-43AB-8588-CEC1D06C72B9}</a:tableStyleId>
              </a:tblPr>
              <a:tblGrid>
                <a:gridCol w="2112773">
                  <a:extLst>
                    <a:ext uri="{9D8B030D-6E8A-4147-A177-3AD203B41FA5}">
                      <a16:colId xmlns:a16="http://schemas.microsoft.com/office/drawing/2014/main" val="419996402"/>
                    </a:ext>
                  </a:extLst>
                </a:gridCol>
                <a:gridCol w="2513015">
                  <a:extLst>
                    <a:ext uri="{9D8B030D-6E8A-4147-A177-3AD203B41FA5}">
                      <a16:colId xmlns:a16="http://schemas.microsoft.com/office/drawing/2014/main" val="758480417"/>
                    </a:ext>
                  </a:extLst>
                </a:gridCol>
                <a:gridCol w="2204233">
                  <a:extLst>
                    <a:ext uri="{9D8B030D-6E8A-4147-A177-3AD203B41FA5}">
                      <a16:colId xmlns:a16="http://schemas.microsoft.com/office/drawing/2014/main" val="2167062402"/>
                    </a:ext>
                  </a:extLst>
                </a:gridCol>
                <a:gridCol w="2275490">
                  <a:extLst>
                    <a:ext uri="{9D8B030D-6E8A-4147-A177-3AD203B41FA5}">
                      <a16:colId xmlns:a16="http://schemas.microsoft.com/office/drawing/2014/main" val="3953101268"/>
                    </a:ext>
                  </a:extLst>
                </a:gridCol>
              </a:tblGrid>
              <a:tr h="270962">
                <a:tc>
                  <a:txBody>
                    <a:bodyPr/>
                    <a:lstStyle/>
                    <a:p>
                      <a:r>
                        <a:rPr lang="en-US" sz="700">
                          <a:effectLst/>
                        </a:rPr>
                        <a:t>Initial Access</a:t>
                      </a:r>
                    </a:p>
                  </a:txBody>
                  <a:tcPr marL="0" marR="0" marT="0" marB="0" anchor="ctr"/>
                </a:tc>
                <a:tc>
                  <a:txBody>
                    <a:bodyPr/>
                    <a:lstStyle/>
                    <a:p>
                      <a:r>
                        <a:rPr lang="en-US" sz="700">
                          <a:effectLst/>
                        </a:rPr>
                        <a:t>Execution</a:t>
                      </a:r>
                    </a:p>
                  </a:txBody>
                  <a:tcPr marL="0" marR="0" marT="0" marB="0" anchor="ctr"/>
                </a:tc>
                <a:tc>
                  <a:txBody>
                    <a:bodyPr/>
                    <a:lstStyle/>
                    <a:p>
                      <a:r>
                        <a:rPr lang="en-US" sz="700">
                          <a:effectLst/>
                        </a:rPr>
                        <a:t>Persistence</a:t>
                      </a:r>
                    </a:p>
                  </a:txBody>
                  <a:tcPr marL="0" marR="0" marT="0" marB="0" anchor="ctr"/>
                </a:tc>
                <a:tc>
                  <a:txBody>
                    <a:bodyPr/>
                    <a:lstStyle/>
                    <a:p>
                      <a:r>
                        <a:rPr lang="en-US" sz="700">
                          <a:effectLst/>
                        </a:rPr>
                        <a:t>Privilege Escalation</a:t>
                      </a:r>
                    </a:p>
                  </a:txBody>
                  <a:tcPr marL="0" marR="0" marT="0" marB="0" anchor="ctr"/>
                </a:tc>
                <a:extLst>
                  <a:ext uri="{0D108BD9-81ED-4DB2-BD59-A6C34878D82A}">
                    <a16:rowId xmlns:a16="http://schemas.microsoft.com/office/drawing/2014/main" val="842511482"/>
                  </a:ext>
                </a:extLst>
              </a:tr>
              <a:tr h="270962">
                <a:tc>
                  <a:txBody>
                    <a:bodyPr/>
                    <a:lstStyle/>
                    <a:p>
                      <a:r>
                        <a:rPr lang="en-US" sz="700">
                          <a:effectLst/>
                        </a:rPr>
                        <a:t>Drive-by Compromise</a:t>
                      </a:r>
                    </a:p>
                  </a:txBody>
                  <a:tcPr marL="0" marR="0" marT="0" marB="0" anchor="ctr"/>
                </a:tc>
                <a:tc>
                  <a:txBody>
                    <a:bodyPr/>
                    <a:lstStyle/>
                    <a:p>
                      <a:r>
                        <a:rPr lang="en-US" sz="700"/>
                        <a:t>Command and Scripting Interpreter</a:t>
                      </a:r>
                    </a:p>
                  </a:txBody>
                  <a:tcPr marL="0" marR="0" marT="0" marB="0" anchor="ctr"/>
                </a:tc>
                <a:tc>
                  <a:txBody>
                    <a:bodyPr/>
                    <a:lstStyle/>
                    <a:p>
                      <a:r>
                        <a:rPr lang="en-US" sz="700"/>
                        <a:t>Account Manipulation</a:t>
                      </a:r>
                    </a:p>
                  </a:txBody>
                  <a:tcPr marL="0" marR="0" marT="0" marB="0" anchor="ctr"/>
                </a:tc>
                <a:tc>
                  <a:txBody>
                    <a:bodyPr/>
                    <a:lstStyle/>
                    <a:p>
                      <a:r>
                        <a:rPr lang="en-US" sz="700"/>
                        <a:t>Abuse Elevation Control Mechanism</a:t>
                      </a:r>
                    </a:p>
                  </a:txBody>
                  <a:tcPr marL="0" marR="0" marT="0" marB="0" anchor="ctr"/>
                </a:tc>
                <a:extLst>
                  <a:ext uri="{0D108BD9-81ED-4DB2-BD59-A6C34878D82A}">
                    <a16:rowId xmlns:a16="http://schemas.microsoft.com/office/drawing/2014/main" val="714933725"/>
                  </a:ext>
                </a:extLst>
              </a:tr>
              <a:tr h="270962">
                <a:tc>
                  <a:txBody>
                    <a:bodyPr/>
                    <a:lstStyle/>
                    <a:p>
                      <a:r>
                        <a:rPr lang="en-US" sz="700">
                          <a:effectLst/>
                        </a:rPr>
                        <a:t>Exploit Public-Facing Application</a:t>
                      </a:r>
                    </a:p>
                  </a:txBody>
                  <a:tcPr marL="0" marR="0" marT="0" marB="0" anchor="ctr"/>
                </a:tc>
                <a:tc>
                  <a:txBody>
                    <a:bodyPr/>
                    <a:lstStyle/>
                    <a:p>
                      <a:r>
                        <a:rPr lang="en-US" sz="700"/>
                        <a:t>Exploitation for Client Execution</a:t>
                      </a:r>
                    </a:p>
                  </a:txBody>
                  <a:tcPr marL="0" marR="0" marT="0" marB="0" anchor="ctr"/>
                </a:tc>
                <a:tc>
                  <a:txBody>
                    <a:bodyPr/>
                    <a:lstStyle/>
                    <a:p>
                      <a:r>
                        <a:rPr lang="en-US" sz="700"/>
                        <a:t>BITS Jobs</a:t>
                      </a:r>
                    </a:p>
                  </a:txBody>
                  <a:tcPr marL="0" marR="0" marT="0" marB="0" anchor="ctr"/>
                </a:tc>
                <a:tc>
                  <a:txBody>
                    <a:bodyPr/>
                    <a:lstStyle/>
                    <a:p>
                      <a:r>
                        <a:rPr lang="en-US" sz="700"/>
                        <a:t>Access Token Manipulation</a:t>
                      </a:r>
                    </a:p>
                  </a:txBody>
                  <a:tcPr marL="0" marR="0" marT="0" marB="0" anchor="ctr"/>
                </a:tc>
                <a:extLst>
                  <a:ext uri="{0D108BD9-81ED-4DB2-BD59-A6C34878D82A}">
                    <a16:rowId xmlns:a16="http://schemas.microsoft.com/office/drawing/2014/main" val="4257787003"/>
                  </a:ext>
                </a:extLst>
              </a:tr>
              <a:tr h="270962">
                <a:tc>
                  <a:txBody>
                    <a:bodyPr/>
                    <a:lstStyle/>
                    <a:p>
                      <a:r>
                        <a:rPr lang="en-US" sz="700">
                          <a:effectLst/>
                        </a:rPr>
                        <a:t>External Remote Services</a:t>
                      </a:r>
                    </a:p>
                  </a:txBody>
                  <a:tcPr marL="0" marR="0" marT="0" marB="0" anchor="ctr"/>
                </a:tc>
                <a:tc>
                  <a:txBody>
                    <a:bodyPr/>
                    <a:lstStyle/>
                    <a:p>
                      <a:r>
                        <a:rPr lang="en-US" sz="700"/>
                        <a:t>Inter-Process Communication</a:t>
                      </a:r>
                    </a:p>
                  </a:txBody>
                  <a:tcPr marL="0" marR="0" marT="0" marB="0" anchor="ctr"/>
                </a:tc>
                <a:tc>
                  <a:txBody>
                    <a:bodyPr/>
                    <a:lstStyle/>
                    <a:p>
                      <a:r>
                        <a:rPr lang="en-US" sz="700"/>
                        <a:t>Boot or Logon Autostart Execution</a:t>
                      </a:r>
                    </a:p>
                  </a:txBody>
                  <a:tcPr marL="0" marR="0" marT="0" marB="0" anchor="ctr"/>
                </a:tc>
                <a:tc>
                  <a:txBody>
                    <a:bodyPr/>
                    <a:lstStyle/>
                    <a:p>
                      <a:r>
                        <a:rPr lang="en-US" sz="700"/>
                        <a:t>Boot or Logon Autostart Execution</a:t>
                      </a:r>
                    </a:p>
                  </a:txBody>
                  <a:tcPr marL="0" marR="0" marT="0" marB="0" anchor="ctr"/>
                </a:tc>
                <a:extLst>
                  <a:ext uri="{0D108BD9-81ED-4DB2-BD59-A6C34878D82A}">
                    <a16:rowId xmlns:a16="http://schemas.microsoft.com/office/drawing/2014/main" val="2065910374"/>
                  </a:ext>
                </a:extLst>
              </a:tr>
              <a:tr h="270962">
                <a:tc>
                  <a:txBody>
                    <a:bodyPr/>
                    <a:lstStyle/>
                    <a:p>
                      <a:r>
                        <a:rPr lang="en-US" sz="700">
                          <a:effectLst/>
                        </a:rPr>
                        <a:t>Hardware Additions</a:t>
                      </a:r>
                    </a:p>
                  </a:txBody>
                  <a:tcPr marL="0" marR="0" marT="0" marB="0" anchor="ctr"/>
                </a:tc>
                <a:tc>
                  <a:txBody>
                    <a:bodyPr/>
                    <a:lstStyle/>
                    <a:p>
                      <a:r>
                        <a:rPr lang="en-US" sz="700"/>
                        <a:t>Native API</a:t>
                      </a:r>
                    </a:p>
                  </a:txBody>
                  <a:tcPr marL="0" marR="0" marT="0" marB="0" anchor="ctr"/>
                </a:tc>
                <a:tc>
                  <a:txBody>
                    <a:bodyPr/>
                    <a:lstStyle/>
                    <a:p>
                      <a:r>
                        <a:rPr lang="en-US" sz="700"/>
                        <a:t>Boot or Logon Initialization Scripts</a:t>
                      </a:r>
                    </a:p>
                  </a:txBody>
                  <a:tcPr marL="0" marR="0" marT="0" marB="0" anchor="ctr"/>
                </a:tc>
                <a:tc>
                  <a:txBody>
                    <a:bodyPr/>
                    <a:lstStyle/>
                    <a:p>
                      <a:r>
                        <a:rPr lang="en-US" sz="700"/>
                        <a:t>Boot or Logon Initialization Scripts</a:t>
                      </a:r>
                    </a:p>
                  </a:txBody>
                  <a:tcPr marL="0" marR="0" marT="0" marB="0" anchor="ctr"/>
                </a:tc>
                <a:extLst>
                  <a:ext uri="{0D108BD9-81ED-4DB2-BD59-A6C34878D82A}">
                    <a16:rowId xmlns:a16="http://schemas.microsoft.com/office/drawing/2014/main" val="1493039058"/>
                  </a:ext>
                </a:extLst>
              </a:tr>
              <a:tr h="270962">
                <a:tc>
                  <a:txBody>
                    <a:bodyPr/>
                    <a:lstStyle/>
                    <a:p>
                      <a:r>
                        <a:rPr lang="en-US" sz="700">
                          <a:effectLst/>
                        </a:rPr>
                        <a:t>Phishing</a:t>
                      </a:r>
                    </a:p>
                  </a:txBody>
                  <a:tcPr marL="0" marR="0" marT="0" marB="0" anchor="ctr"/>
                </a:tc>
                <a:tc>
                  <a:txBody>
                    <a:bodyPr/>
                    <a:lstStyle/>
                    <a:p>
                      <a:r>
                        <a:rPr lang="en-US" sz="700"/>
                        <a:t>Scheduled Task/Job</a:t>
                      </a:r>
                    </a:p>
                  </a:txBody>
                  <a:tcPr marL="0" marR="0" marT="0" marB="0" anchor="ctr"/>
                </a:tc>
                <a:tc>
                  <a:txBody>
                    <a:bodyPr/>
                    <a:lstStyle/>
                    <a:p>
                      <a:r>
                        <a:rPr lang="en-US" sz="700"/>
                        <a:t>Browser Extensions</a:t>
                      </a:r>
                    </a:p>
                  </a:txBody>
                  <a:tcPr marL="0" marR="0" marT="0" marB="0" anchor="ctr"/>
                </a:tc>
                <a:tc>
                  <a:txBody>
                    <a:bodyPr/>
                    <a:lstStyle/>
                    <a:p>
                      <a:r>
                        <a:rPr lang="en-US" sz="700"/>
                        <a:t>Create or Modify System Process</a:t>
                      </a:r>
                    </a:p>
                  </a:txBody>
                  <a:tcPr marL="0" marR="0" marT="0" marB="0" anchor="ctr"/>
                </a:tc>
                <a:extLst>
                  <a:ext uri="{0D108BD9-81ED-4DB2-BD59-A6C34878D82A}">
                    <a16:rowId xmlns:a16="http://schemas.microsoft.com/office/drawing/2014/main" val="2348666518"/>
                  </a:ext>
                </a:extLst>
              </a:tr>
              <a:tr h="478168">
                <a:tc>
                  <a:txBody>
                    <a:bodyPr/>
                    <a:lstStyle/>
                    <a:p>
                      <a:r>
                        <a:rPr lang="en-US" sz="700">
                          <a:effectLst/>
                        </a:rPr>
                        <a:t>Replication Through Removable Media</a:t>
                      </a:r>
                    </a:p>
                  </a:txBody>
                  <a:tcPr marL="0" marR="0" marT="0" marB="0" anchor="ctr"/>
                </a:tc>
                <a:tc>
                  <a:txBody>
                    <a:bodyPr/>
                    <a:lstStyle/>
                    <a:p>
                      <a:r>
                        <a:rPr lang="en-US" sz="700"/>
                        <a:t>Shared Modules</a:t>
                      </a:r>
                    </a:p>
                  </a:txBody>
                  <a:tcPr marL="0" marR="0" marT="0" marB="0" anchor="ctr"/>
                </a:tc>
                <a:tc>
                  <a:txBody>
                    <a:bodyPr/>
                    <a:lstStyle/>
                    <a:p>
                      <a:r>
                        <a:rPr lang="en-US" sz="700"/>
                        <a:t>Compromise Client Software Binary</a:t>
                      </a:r>
                    </a:p>
                  </a:txBody>
                  <a:tcPr marL="0" marR="0" marT="0" marB="0" anchor="ctr"/>
                </a:tc>
                <a:tc>
                  <a:txBody>
                    <a:bodyPr/>
                    <a:lstStyle/>
                    <a:p>
                      <a:r>
                        <a:rPr lang="en-US" sz="700"/>
                        <a:t>Domain Policy Modification</a:t>
                      </a:r>
                    </a:p>
                  </a:txBody>
                  <a:tcPr marL="0" marR="0" marT="0" marB="0" anchor="ctr"/>
                </a:tc>
                <a:extLst>
                  <a:ext uri="{0D108BD9-81ED-4DB2-BD59-A6C34878D82A}">
                    <a16:rowId xmlns:a16="http://schemas.microsoft.com/office/drawing/2014/main" val="232742016"/>
                  </a:ext>
                </a:extLst>
              </a:tr>
              <a:tr h="270962">
                <a:tc>
                  <a:txBody>
                    <a:bodyPr/>
                    <a:lstStyle/>
                    <a:p>
                      <a:r>
                        <a:rPr lang="en-US" sz="700">
                          <a:effectLst/>
                        </a:rPr>
                        <a:t>Supply Chain Compromise</a:t>
                      </a:r>
                    </a:p>
                  </a:txBody>
                  <a:tcPr marL="0" marR="0" marT="0" marB="0" anchor="ctr"/>
                </a:tc>
                <a:tc>
                  <a:txBody>
                    <a:bodyPr/>
                    <a:lstStyle/>
                    <a:p>
                      <a:r>
                        <a:rPr lang="en-US" sz="700"/>
                        <a:t>Software Deployment Tools</a:t>
                      </a:r>
                    </a:p>
                  </a:txBody>
                  <a:tcPr marL="0" marR="0" marT="0" marB="0" anchor="ctr"/>
                </a:tc>
                <a:tc>
                  <a:txBody>
                    <a:bodyPr/>
                    <a:lstStyle/>
                    <a:p>
                      <a:r>
                        <a:rPr lang="en-US" sz="700"/>
                        <a:t>Create Account</a:t>
                      </a:r>
                    </a:p>
                  </a:txBody>
                  <a:tcPr marL="0" marR="0" marT="0" marB="0" anchor="ctr"/>
                </a:tc>
                <a:tc>
                  <a:txBody>
                    <a:bodyPr/>
                    <a:lstStyle/>
                    <a:p>
                      <a:r>
                        <a:rPr lang="en-US" sz="700"/>
                        <a:t>Escape to Host</a:t>
                      </a:r>
                    </a:p>
                  </a:txBody>
                  <a:tcPr marL="0" marR="0" marT="0" marB="0" anchor="ctr"/>
                </a:tc>
                <a:extLst>
                  <a:ext uri="{0D108BD9-81ED-4DB2-BD59-A6C34878D82A}">
                    <a16:rowId xmlns:a16="http://schemas.microsoft.com/office/drawing/2014/main" val="2129030905"/>
                  </a:ext>
                </a:extLst>
              </a:tr>
              <a:tr h="270962">
                <a:tc>
                  <a:txBody>
                    <a:bodyPr/>
                    <a:lstStyle/>
                    <a:p>
                      <a:r>
                        <a:rPr lang="en-US" sz="700">
                          <a:effectLst/>
                        </a:rPr>
                        <a:t>Trusted Relationship</a:t>
                      </a:r>
                    </a:p>
                  </a:txBody>
                  <a:tcPr marL="0" marR="0" marT="0" marB="0" anchor="ctr"/>
                </a:tc>
                <a:tc>
                  <a:txBody>
                    <a:bodyPr/>
                    <a:lstStyle/>
                    <a:p>
                      <a:r>
                        <a:rPr lang="en-US" sz="700"/>
                        <a:t>System Services</a:t>
                      </a:r>
                    </a:p>
                  </a:txBody>
                  <a:tcPr marL="0" marR="0" marT="0" marB="0" anchor="ctr"/>
                </a:tc>
                <a:tc>
                  <a:txBody>
                    <a:bodyPr/>
                    <a:lstStyle/>
                    <a:p>
                      <a:r>
                        <a:rPr lang="en-US" sz="700"/>
                        <a:t>Create or Modify System Process</a:t>
                      </a:r>
                    </a:p>
                  </a:txBody>
                  <a:tcPr marL="0" marR="0" marT="0" marB="0" anchor="ctr"/>
                </a:tc>
                <a:tc>
                  <a:txBody>
                    <a:bodyPr/>
                    <a:lstStyle/>
                    <a:p>
                      <a:r>
                        <a:rPr lang="en-US" sz="700"/>
                        <a:t>Event Triggered Execution</a:t>
                      </a:r>
                    </a:p>
                  </a:txBody>
                  <a:tcPr marL="0" marR="0" marT="0" marB="0" anchor="ctr"/>
                </a:tc>
                <a:extLst>
                  <a:ext uri="{0D108BD9-81ED-4DB2-BD59-A6C34878D82A}">
                    <a16:rowId xmlns:a16="http://schemas.microsoft.com/office/drawing/2014/main" val="880570639"/>
                  </a:ext>
                </a:extLst>
              </a:tr>
              <a:tr h="270962">
                <a:tc>
                  <a:txBody>
                    <a:bodyPr/>
                    <a:lstStyle/>
                    <a:p>
                      <a:r>
                        <a:rPr lang="en-US" sz="700">
                          <a:effectLst/>
                        </a:rPr>
                        <a:t>Valid Accounts</a:t>
                      </a:r>
                    </a:p>
                  </a:txBody>
                  <a:tcPr marL="0" marR="0" marT="0" marB="0" anchor="ctr"/>
                </a:tc>
                <a:tc>
                  <a:txBody>
                    <a:bodyPr/>
                    <a:lstStyle/>
                    <a:p>
                      <a:r>
                        <a:rPr lang="en-US" sz="700"/>
                        <a:t>User Execution</a:t>
                      </a:r>
                    </a:p>
                  </a:txBody>
                  <a:tcPr marL="0" marR="0" marT="0" marB="0" anchor="ctr"/>
                </a:tc>
                <a:tc>
                  <a:txBody>
                    <a:bodyPr/>
                    <a:lstStyle/>
                    <a:p>
                      <a:r>
                        <a:rPr lang="en-US" sz="700"/>
                        <a:t>Event Triggered Execution</a:t>
                      </a:r>
                    </a:p>
                  </a:txBody>
                  <a:tcPr marL="0" marR="0" marT="0" marB="0" anchor="ctr"/>
                </a:tc>
                <a:tc>
                  <a:txBody>
                    <a:bodyPr/>
                    <a:lstStyle/>
                    <a:p>
                      <a:r>
                        <a:rPr lang="en-US" sz="700"/>
                        <a:t>Exploitation for Privilege Escalation</a:t>
                      </a:r>
                    </a:p>
                  </a:txBody>
                  <a:tcPr marL="0" marR="0" marT="0" marB="0" anchor="ctr"/>
                </a:tc>
                <a:extLst>
                  <a:ext uri="{0D108BD9-81ED-4DB2-BD59-A6C34878D82A}">
                    <a16:rowId xmlns:a16="http://schemas.microsoft.com/office/drawing/2014/main" val="3583779715"/>
                  </a:ext>
                </a:extLst>
              </a:tr>
              <a:tr h="270962">
                <a:tc>
                  <a:txBody>
                    <a:bodyPr/>
                    <a:lstStyle/>
                    <a:p>
                      <a:endParaRPr lang="en-US" sz="700">
                        <a:effectLst/>
                      </a:endParaRPr>
                    </a:p>
                  </a:txBody>
                  <a:tcPr marL="0" marR="0" marT="0" marB="0" anchor="ctr"/>
                </a:tc>
                <a:tc>
                  <a:txBody>
                    <a:bodyPr/>
                    <a:lstStyle/>
                    <a:p>
                      <a:r>
                        <a:rPr lang="en-US" sz="700"/>
                        <a:t>Windows Management Instrumentation</a:t>
                      </a:r>
                    </a:p>
                  </a:txBody>
                  <a:tcPr marL="0" marR="0" marT="0" marB="0" anchor="ctr"/>
                </a:tc>
                <a:tc>
                  <a:txBody>
                    <a:bodyPr/>
                    <a:lstStyle/>
                    <a:p>
                      <a:r>
                        <a:rPr lang="en-US" sz="700"/>
                        <a:t>External Remote Services</a:t>
                      </a:r>
                    </a:p>
                  </a:txBody>
                  <a:tcPr marL="0" marR="0" marT="0" marB="0" anchor="ctr"/>
                </a:tc>
                <a:tc>
                  <a:txBody>
                    <a:bodyPr/>
                    <a:lstStyle/>
                    <a:p>
                      <a:r>
                        <a:rPr lang="en-US" sz="700"/>
                        <a:t>Hijack Execution Flow</a:t>
                      </a:r>
                    </a:p>
                  </a:txBody>
                  <a:tcPr marL="0" marR="0" marT="0" marB="0" anchor="ctr"/>
                </a:tc>
                <a:extLst>
                  <a:ext uri="{0D108BD9-81ED-4DB2-BD59-A6C34878D82A}">
                    <a16:rowId xmlns:a16="http://schemas.microsoft.com/office/drawing/2014/main" val="3987573045"/>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Hijack Execution Flow</a:t>
                      </a:r>
                    </a:p>
                  </a:txBody>
                  <a:tcPr marL="0" marR="0" marT="0" marB="0" anchor="ctr"/>
                </a:tc>
                <a:tc>
                  <a:txBody>
                    <a:bodyPr/>
                    <a:lstStyle/>
                    <a:p>
                      <a:r>
                        <a:rPr lang="en-US" sz="700"/>
                        <a:t>Process Injection</a:t>
                      </a:r>
                    </a:p>
                  </a:txBody>
                  <a:tcPr marL="0" marR="0" marT="0" marB="0" anchor="ctr"/>
                </a:tc>
                <a:extLst>
                  <a:ext uri="{0D108BD9-81ED-4DB2-BD59-A6C34878D82A}">
                    <a16:rowId xmlns:a16="http://schemas.microsoft.com/office/drawing/2014/main" val="232718173"/>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Modify Authentication Process</a:t>
                      </a:r>
                    </a:p>
                  </a:txBody>
                  <a:tcPr marL="0" marR="0" marT="0" marB="0" anchor="ctr"/>
                </a:tc>
                <a:tc>
                  <a:txBody>
                    <a:bodyPr/>
                    <a:lstStyle/>
                    <a:p>
                      <a:r>
                        <a:rPr lang="en-US" sz="700"/>
                        <a:t>Scheduled Task/Job</a:t>
                      </a:r>
                    </a:p>
                  </a:txBody>
                  <a:tcPr marL="0" marR="0" marT="0" marB="0" anchor="ctr"/>
                </a:tc>
                <a:extLst>
                  <a:ext uri="{0D108BD9-81ED-4DB2-BD59-A6C34878D82A}">
                    <a16:rowId xmlns:a16="http://schemas.microsoft.com/office/drawing/2014/main" val="3217374584"/>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Office Application Startup</a:t>
                      </a:r>
                    </a:p>
                  </a:txBody>
                  <a:tcPr marL="0" marR="0" marT="0" marB="0" anchor="ctr"/>
                </a:tc>
                <a:tc>
                  <a:txBody>
                    <a:bodyPr/>
                    <a:lstStyle/>
                    <a:p>
                      <a:r>
                        <a:rPr lang="en-US" sz="700"/>
                        <a:t>Valid Accounts</a:t>
                      </a:r>
                    </a:p>
                  </a:txBody>
                  <a:tcPr marL="0" marR="0" marT="0" marB="0" anchor="ctr"/>
                </a:tc>
                <a:extLst>
                  <a:ext uri="{0D108BD9-81ED-4DB2-BD59-A6C34878D82A}">
                    <a16:rowId xmlns:a16="http://schemas.microsoft.com/office/drawing/2014/main" val="257431337"/>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Pre-OS Boot</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624197289"/>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Scheduled Task/Job</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1107666679"/>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Server Software Component</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434600413"/>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Traffic Signaling</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2482375508"/>
                  </a:ext>
                </a:extLst>
              </a:tr>
              <a:tr h="270962">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Valid Accounts</a:t>
                      </a:r>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566633195"/>
                  </a:ext>
                </a:extLst>
              </a:tr>
            </a:tbl>
          </a:graphicData>
        </a:graphic>
      </p:graphicFrame>
    </p:spTree>
    <p:extLst>
      <p:ext uri="{BB962C8B-B14F-4D97-AF65-F5344CB8AC3E}">
        <p14:creationId xmlns:p14="http://schemas.microsoft.com/office/powerpoint/2010/main" val="3728310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AB15-C756-CB82-A42D-1539D559FBDB}"/>
              </a:ext>
            </a:extLst>
          </p:cNvPr>
          <p:cNvSpPr>
            <a:spLocks noGrp="1"/>
          </p:cNvSpPr>
          <p:nvPr>
            <p:ph type="title"/>
          </p:nvPr>
        </p:nvSpPr>
        <p:spPr>
          <a:xfrm>
            <a:off x="628649" y="291090"/>
            <a:ext cx="7886699" cy="932688"/>
          </a:xfrm>
        </p:spPr>
        <p:txBody>
          <a:bodyPr vert="horz" lIns="91440" tIns="45720" rIns="91440" bIns="45720" rtlCol="0" anchor="b">
            <a:normAutofit/>
          </a:bodyPr>
          <a:lstStyle/>
          <a:p>
            <a:pPr defTabSz="914400" eaLnBrk="1" hangingPunct="1">
              <a:lnSpc>
                <a:spcPct val="90000"/>
              </a:lnSpc>
            </a:pPr>
            <a:r>
              <a:rPr lang="en-US" sz="4700" kern="1200" dirty="0">
                <a:solidFill>
                  <a:schemeClr val="tx1"/>
                </a:solidFill>
                <a:latin typeface="+mj-lt"/>
                <a:ea typeface="+mj-ea"/>
                <a:cs typeface="+mj-cs"/>
              </a:rPr>
              <a:t>MITRE ATT&amp;CK</a:t>
            </a:r>
            <a:r>
              <a:rPr lang="en-US" sz="4700" kern="1200">
                <a:solidFill>
                  <a:schemeClr val="tx1"/>
                </a:solidFill>
                <a:latin typeface="+mj-lt"/>
                <a:ea typeface="+mj-ea"/>
                <a:cs typeface="+mj-cs"/>
              </a:rPr>
              <a:t> pt. 2</a:t>
            </a:r>
          </a:p>
        </p:txBody>
      </p:sp>
      <p:graphicFrame>
        <p:nvGraphicFramePr>
          <p:cNvPr id="4" name="Table 3">
            <a:extLst>
              <a:ext uri="{FF2B5EF4-FFF2-40B4-BE49-F238E27FC236}">
                <a16:creationId xmlns:a16="http://schemas.microsoft.com/office/drawing/2014/main" id="{C53A6CF6-536D-3A62-3DD6-6B2396E6E96D}"/>
              </a:ext>
            </a:extLst>
          </p:cNvPr>
          <p:cNvGraphicFramePr>
            <a:graphicFrameLocks noGrp="1"/>
          </p:cNvGraphicFramePr>
          <p:nvPr>
            <p:extLst>
              <p:ext uri="{D42A27DB-BD31-4B8C-83A1-F6EECF244321}">
                <p14:modId xmlns:p14="http://schemas.microsoft.com/office/powerpoint/2010/main" val="2105483562"/>
              </p:ext>
            </p:extLst>
          </p:nvPr>
        </p:nvGraphicFramePr>
        <p:xfrm>
          <a:off x="0" y="1350498"/>
          <a:ext cx="9124707" cy="5434153"/>
        </p:xfrm>
        <a:graphic>
          <a:graphicData uri="http://schemas.openxmlformats.org/drawingml/2006/table">
            <a:tbl>
              <a:tblPr firstRow="1" bandRow="1">
                <a:tableStyleId>{5202B0CA-FC54-4496-8BCA-5EF66A818D29}</a:tableStyleId>
              </a:tblPr>
              <a:tblGrid>
                <a:gridCol w="3193930">
                  <a:extLst>
                    <a:ext uri="{9D8B030D-6E8A-4147-A177-3AD203B41FA5}">
                      <a16:colId xmlns:a16="http://schemas.microsoft.com/office/drawing/2014/main" val="2952532053"/>
                    </a:ext>
                  </a:extLst>
                </a:gridCol>
                <a:gridCol w="2896818">
                  <a:extLst>
                    <a:ext uri="{9D8B030D-6E8A-4147-A177-3AD203B41FA5}">
                      <a16:colId xmlns:a16="http://schemas.microsoft.com/office/drawing/2014/main" val="1102839978"/>
                    </a:ext>
                  </a:extLst>
                </a:gridCol>
                <a:gridCol w="3033959">
                  <a:extLst>
                    <a:ext uri="{9D8B030D-6E8A-4147-A177-3AD203B41FA5}">
                      <a16:colId xmlns:a16="http://schemas.microsoft.com/office/drawing/2014/main" val="2372043833"/>
                    </a:ext>
                  </a:extLst>
                </a:gridCol>
              </a:tblGrid>
              <a:tr h="146869">
                <a:tc>
                  <a:txBody>
                    <a:bodyPr/>
                    <a:lstStyle/>
                    <a:p>
                      <a:r>
                        <a:rPr lang="en-US" sz="500">
                          <a:effectLst/>
                        </a:rPr>
                        <a:t>Defense Evasion</a:t>
                      </a:r>
                    </a:p>
                  </a:txBody>
                  <a:tcPr marL="0" marR="0" marT="0" marB="0" anchor="ctr"/>
                </a:tc>
                <a:tc>
                  <a:txBody>
                    <a:bodyPr/>
                    <a:lstStyle/>
                    <a:p>
                      <a:r>
                        <a:rPr lang="en-US" sz="500">
                          <a:effectLst/>
                        </a:rPr>
                        <a:t>Credential Access</a:t>
                      </a:r>
                    </a:p>
                  </a:txBody>
                  <a:tcPr marL="0" marR="0" marT="0" marB="0" anchor="ctr"/>
                </a:tc>
                <a:tc>
                  <a:txBody>
                    <a:bodyPr/>
                    <a:lstStyle/>
                    <a:p>
                      <a:r>
                        <a:rPr lang="en-US" sz="500">
                          <a:effectLst/>
                        </a:rPr>
                        <a:t>Discovery</a:t>
                      </a:r>
                    </a:p>
                  </a:txBody>
                  <a:tcPr marL="0" marR="0" marT="0" marB="0" anchor="ctr"/>
                </a:tc>
                <a:extLst>
                  <a:ext uri="{0D108BD9-81ED-4DB2-BD59-A6C34878D82A}">
                    <a16:rowId xmlns:a16="http://schemas.microsoft.com/office/drawing/2014/main" val="1218005644"/>
                  </a:ext>
                </a:extLst>
              </a:tr>
              <a:tr h="146869">
                <a:tc>
                  <a:txBody>
                    <a:bodyPr/>
                    <a:lstStyle/>
                    <a:p>
                      <a:r>
                        <a:rPr lang="en-US" sz="500">
                          <a:effectLst/>
                        </a:rPr>
                        <a:t>Abuse Elevation Control Mechanism</a:t>
                      </a:r>
                    </a:p>
                  </a:txBody>
                  <a:tcPr marL="0" marR="0" marT="0" marB="0" anchor="ctr"/>
                </a:tc>
                <a:tc>
                  <a:txBody>
                    <a:bodyPr/>
                    <a:lstStyle/>
                    <a:p>
                      <a:r>
                        <a:rPr lang="en-US" sz="500"/>
                        <a:t>Adversary-in-the-Middle</a:t>
                      </a:r>
                    </a:p>
                  </a:txBody>
                  <a:tcPr marL="0" marR="0" marT="0" marB="0" anchor="ctr"/>
                </a:tc>
                <a:tc>
                  <a:txBody>
                    <a:bodyPr/>
                    <a:lstStyle/>
                    <a:p>
                      <a:r>
                        <a:rPr lang="en-US" sz="500"/>
                        <a:t>Account Discovery</a:t>
                      </a:r>
                    </a:p>
                  </a:txBody>
                  <a:tcPr marL="0" marR="0" marT="0" marB="0" anchor="ctr"/>
                </a:tc>
                <a:extLst>
                  <a:ext uri="{0D108BD9-81ED-4DB2-BD59-A6C34878D82A}">
                    <a16:rowId xmlns:a16="http://schemas.microsoft.com/office/drawing/2014/main" val="833475803"/>
                  </a:ext>
                </a:extLst>
              </a:tr>
              <a:tr h="146869">
                <a:tc>
                  <a:txBody>
                    <a:bodyPr/>
                    <a:lstStyle/>
                    <a:p>
                      <a:r>
                        <a:rPr lang="en-US" sz="500">
                          <a:effectLst/>
                        </a:rPr>
                        <a:t>Access Token Manipulation</a:t>
                      </a:r>
                    </a:p>
                  </a:txBody>
                  <a:tcPr marL="0" marR="0" marT="0" marB="0" anchor="ctr"/>
                </a:tc>
                <a:tc>
                  <a:txBody>
                    <a:bodyPr/>
                    <a:lstStyle/>
                    <a:p>
                      <a:r>
                        <a:rPr lang="en-US" sz="500"/>
                        <a:t>Brute Force</a:t>
                      </a:r>
                    </a:p>
                  </a:txBody>
                  <a:tcPr marL="0" marR="0" marT="0" marB="0" anchor="ctr"/>
                </a:tc>
                <a:tc>
                  <a:txBody>
                    <a:bodyPr/>
                    <a:lstStyle/>
                    <a:p>
                      <a:r>
                        <a:rPr lang="en-US" sz="500"/>
                        <a:t>Application Window Discovery</a:t>
                      </a:r>
                    </a:p>
                  </a:txBody>
                  <a:tcPr marL="0" marR="0" marT="0" marB="0" anchor="ctr"/>
                </a:tc>
                <a:extLst>
                  <a:ext uri="{0D108BD9-81ED-4DB2-BD59-A6C34878D82A}">
                    <a16:rowId xmlns:a16="http://schemas.microsoft.com/office/drawing/2014/main" val="3814786902"/>
                  </a:ext>
                </a:extLst>
              </a:tr>
              <a:tr h="146869">
                <a:tc>
                  <a:txBody>
                    <a:bodyPr/>
                    <a:lstStyle/>
                    <a:p>
                      <a:r>
                        <a:rPr lang="en-US" sz="500">
                          <a:effectLst/>
                        </a:rPr>
                        <a:t>BITS Jobs</a:t>
                      </a:r>
                    </a:p>
                  </a:txBody>
                  <a:tcPr marL="0" marR="0" marT="0" marB="0" anchor="ctr"/>
                </a:tc>
                <a:tc>
                  <a:txBody>
                    <a:bodyPr/>
                    <a:lstStyle/>
                    <a:p>
                      <a:r>
                        <a:rPr lang="en-US" sz="500"/>
                        <a:t>Credentials from Password Stores</a:t>
                      </a:r>
                    </a:p>
                  </a:txBody>
                  <a:tcPr marL="0" marR="0" marT="0" marB="0" anchor="ctr"/>
                </a:tc>
                <a:tc>
                  <a:txBody>
                    <a:bodyPr/>
                    <a:lstStyle/>
                    <a:p>
                      <a:r>
                        <a:rPr lang="en-US" sz="500"/>
                        <a:t>Browser Bookmark Discovery</a:t>
                      </a:r>
                    </a:p>
                  </a:txBody>
                  <a:tcPr marL="0" marR="0" marT="0" marB="0" anchor="ctr"/>
                </a:tc>
                <a:extLst>
                  <a:ext uri="{0D108BD9-81ED-4DB2-BD59-A6C34878D82A}">
                    <a16:rowId xmlns:a16="http://schemas.microsoft.com/office/drawing/2014/main" val="364426885"/>
                  </a:ext>
                </a:extLst>
              </a:tr>
              <a:tr h="146869">
                <a:tc>
                  <a:txBody>
                    <a:bodyPr/>
                    <a:lstStyle/>
                    <a:p>
                      <a:r>
                        <a:rPr lang="en-US" sz="500">
                          <a:effectLst/>
                        </a:rPr>
                        <a:t>Debugger Evasion</a:t>
                      </a:r>
                    </a:p>
                  </a:txBody>
                  <a:tcPr marL="0" marR="0" marT="0" marB="0" anchor="ctr"/>
                </a:tc>
                <a:tc>
                  <a:txBody>
                    <a:bodyPr/>
                    <a:lstStyle/>
                    <a:p>
                      <a:r>
                        <a:rPr lang="en-US" sz="500"/>
                        <a:t>Exploitation for Credential Access</a:t>
                      </a:r>
                    </a:p>
                  </a:txBody>
                  <a:tcPr marL="0" marR="0" marT="0" marB="0" anchor="ctr"/>
                </a:tc>
                <a:tc>
                  <a:txBody>
                    <a:bodyPr/>
                    <a:lstStyle/>
                    <a:p>
                      <a:r>
                        <a:rPr lang="en-US" sz="500"/>
                        <a:t>Debugger Evasion</a:t>
                      </a:r>
                    </a:p>
                  </a:txBody>
                  <a:tcPr marL="0" marR="0" marT="0" marB="0" anchor="ctr"/>
                </a:tc>
                <a:extLst>
                  <a:ext uri="{0D108BD9-81ED-4DB2-BD59-A6C34878D82A}">
                    <a16:rowId xmlns:a16="http://schemas.microsoft.com/office/drawing/2014/main" val="804789853"/>
                  </a:ext>
                </a:extLst>
              </a:tr>
              <a:tr h="146869">
                <a:tc>
                  <a:txBody>
                    <a:bodyPr/>
                    <a:lstStyle/>
                    <a:p>
                      <a:r>
                        <a:rPr lang="en-US" sz="500">
                          <a:effectLst/>
                        </a:rPr>
                        <a:t>Deobfuscate/Decode Files or Information</a:t>
                      </a:r>
                    </a:p>
                  </a:txBody>
                  <a:tcPr marL="0" marR="0" marT="0" marB="0" anchor="ctr"/>
                </a:tc>
                <a:tc>
                  <a:txBody>
                    <a:bodyPr/>
                    <a:lstStyle/>
                    <a:p>
                      <a:r>
                        <a:rPr lang="en-US" sz="500"/>
                        <a:t>Forced Authentication</a:t>
                      </a:r>
                    </a:p>
                  </a:txBody>
                  <a:tcPr marL="0" marR="0" marT="0" marB="0" anchor="ctr"/>
                </a:tc>
                <a:tc>
                  <a:txBody>
                    <a:bodyPr/>
                    <a:lstStyle/>
                    <a:p>
                      <a:r>
                        <a:rPr lang="en-US" sz="500"/>
                        <a:t>Domain Trust Discovery</a:t>
                      </a:r>
                    </a:p>
                  </a:txBody>
                  <a:tcPr marL="0" marR="0" marT="0" marB="0" anchor="ctr"/>
                </a:tc>
                <a:extLst>
                  <a:ext uri="{0D108BD9-81ED-4DB2-BD59-A6C34878D82A}">
                    <a16:rowId xmlns:a16="http://schemas.microsoft.com/office/drawing/2014/main" val="3119403639"/>
                  </a:ext>
                </a:extLst>
              </a:tr>
              <a:tr h="146869">
                <a:tc>
                  <a:txBody>
                    <a:bodyPr/>
                    <a:lstStyle/>
                    <a:p>
                      <a:r>
                        <a:rPr lang="en-US" sz="500">
                          <a:effectLst/>
                        </a:rPr>
                        <a:t>Direct Volume Access</a:t>
                      </a:r>
                    </a:p>
                  </a:txBody>
                  <a:tcPr marL="0" marR="0" marT="0" marB="0" anchor="ctr"/>
                </a:tc>
                <a:tc>
                  <a:txBody>
                    <a:bodyPr/>
                    <a:lstStyle/>
                    <a:p>
                      <a:r>
                        <a:rPr lang="en-US" sz="500"/>
                        <a:t>Forge Web Credentials</a:t>
                      </a:r>
                    </a:p>
                  </a:txBody>
                  <a:tcPr marL="0" marR="0" marT="0" marB="0" anchor="ctr"/>
                </a:tc>
                <a:tc>
                  <a:txBody>
                    <a:bodyPr/>
                    <a:lstStyle/>
                    <a:p>
                      <a:r>
                        <a:rPr lang="en-US" sz="500"/>
                        <a:t>File and Directory Discovery</a:t>
                      </a:r>
                    </a:p>
                  </a:txBody>
                  <a:tcPr marL="0" marR="0" marT="0" marB="0" anchor="ctr"/>
                </a:tc>
                <a:extLst>
                  <a:ext uri="{0D108BD9-81ED-4DB2-BD59-A6C34878D82A}">
                    <a16:rowId xmlns:a16="http://schemas.microsoft.com/office/drawing/2014/main" val="1381500385"/>
                  </a:ext>
                </a:extLst>
              </a:tr>
              <a:tr h="146869">
                <a:tc>
                  <a:txBody>
                    <a:bodyPr/>
                    <a:lstStyle/>
                    <a:p>
                      <a:r>
                        <a:rPr lang="en-US" sz="500">
                          <a:effectLst/>
                        </a:rPr>
                        <a:t>Domain Policy Modification</a:t>
                      </a:r>
                    </a:p>
                  </a:txBody>
                  <a:tcPr marL="0" marR="0" marT="0" marB="0" anchor="ctr"/>
                </a:tc>
                <a:tc>
                  <a:txBody>
                    <a:bodyPr/>
                    <a:lstStyle/>
                    <a:p>
                      <a:r>
                        <a:rPr lang="en-US" sz="500"/>
                        <a:t>Input Capture</a:t>
                      </a:r>
                    </a:p>
                  </a:txBody>
                  <a:tcPr marL="0" marR="0" marT="0" marB="0" anchor="ctr"/>
                </a:tc>
                <a:tc>
                  <a:txBody>
                    <a:bodyPr/>
                    <a:lstStyle/>
                    <a:p>
                      <a:r>
                        <a:rPr lang="en-US" sz="500"/>
                        <a:t>Group Policy Discovery</a:t>
                      </a:r>
                    </a:p>
                  </a:txBody>
                  <a:tcPr marL="0" marR="0" marT="0" marB="0" anchor="ctr"/>
                </a:tc>
                <a:extLst>
                  <a:ext uri="{0D108BD9-81ED-4DB2-BD59-A6C34878D82A}">
                    <a16:rowId xmlns:a16="http://schemas.microsoft.com/office/drawing/2014/main" val="3623373968"/>
                  </a:ext>
                </a:extLst>
              </a:tr>
              <a:tr h="146869">
                <a:tc>
                  <a:txBody>
                    <a:bodyPr/>
                    <a:lstStyle/>
                    <a:p>
                      <a:r>
                        <a:rPr lang="en-US" sz="500">
                          <a:effectLst/>
                        </a:rPr>
                        <a:t>Execution Guardrails</a:t>
                      </a:r>
                    </a:p>
                  </a:txBody>
                  <a:tcPr marL="0" marR="0" marT="0" marB="0" anchor="ctr"/>
                </a:tc>
                <a:tc>
                  <a:txBody>
                    <a:bodyPr/>
                    <a:lstStyle/>
                    <a:p>
                      <a:r>
                        <a:rPr lang="en-US" sz="500"/>
                        <a:t>Modify Authentication Process</a:t>
                      </a:r>
                    </a:p>
                  </a:txBody>
                  <a:tcPr marL="0" marR="0" marT="0" marB="0" anchor="ctr"/>
                </a:tc>
                <a:tc>
                  <a:txBody>
                    <a:bodyPr/>
                    <a:lstStyle/>
                    <a:p>
                      <a:r>
                        <a:rPr lang="en-US" sz="500"/>
                        <a:t>Network Service Discovery</a:t>
                      </a:r>
                    </a:p>
                  </a:txBody>
                  <a:tcPr marL="0" marR="0" marT="0" marB="0" anchor="ctr"/>
                </a:tc>
                <a:extLst>
                  <a:ext uri="{0D108BD9-81ED-4DB2-BD59-A6C34878D82A}">
                    <a16:rowId xmlns:a16="http://schemas.microsoft.com/office/drawing/2014/main" val="532433149"/>
                  </a:ext>
                </a:extLst>
              </a:tr>
              <a:tr h="146869">
                <a:tc>
                  <a:txBody>
                    <a:bodyPr/>
                    <a:lstStyle/>
                    <a:p>
                      <a:r>
                        <a:rPr lang="en-US" sz="500">
                          <a:effectLst/>
                        </a:rPr>
                        <a:t>Exploitation for Defense Evasion</a:t>
                      </a:r>
                    </a:p>
                  </a:txBody>
                  <a:tcPr marL="0" marR="0" marT="0" marB="0" anchor="ctr"/>
                </a:tc>
                <a:tc>
                  <a:txBody>
                    <a:bodyPr/>
                    <a:lstStyle/>
                    <a:p>
                      <a:r>
                        <a:rPr lang="en-US" sz="500"/>
                        <a:t>Multi-Factor Authentication Interception</a:t>
                      </a:r>
                    </a:p>
                  </a:txBody>
                  <a:tcPr marL="0" marR="0" marT="0" marB="0" anchor="ctr"/>
                </a:tc>
                <a:tc>
                  <a:txBody>
                    <a:bodyPr/>
                    <a:lstStyle/>
                    <a:p>
                      <a:r>
                        <a:rPr lang="en-US" sz="500"/>
                        <a:t>Network Share Discovery</a:t>
                      </a:r>
                    </a:p>
                  </a:txBody>
                  <a:tcPr marL="0" marR="0" marT="0" marB="0" anchor="ctr"/>
                </a:tc>
                <a:extLst>
                  <a:ext uri="{0D108BD9-81ED-4DB2-BD59-A6C34878D82A}">
                    <a16:rowId xmlns:a16="http://schemas.microsoft.com/office/drawing/2014/main" val="920565847"/>
                  </a:ext>
                </a:extLst>
              </a:tr>
              <a:tr h="146869">
                <a:tc>
                  <a:txBody>
                    <a:bodyPr/>
                    <a:lstStyle/>
                    <a:p>
                      <a:r>
                        <a:rPr lang="en-US" sz="500">
                          <a:effectLst/>
                        </a:rPr>
                        <a:t>File and Directory Permissions Modification</a:t>
                      </a:r>
                    </a:p>
                  </a:txBody>
                  <a:tcPr marL="0" marR="0" marT="0" marB="0" anchor="ctr"/>
                </a:tc>
                <a:tc>
                  <a:txBody>
                    <a:bodyPr/>
                    <a:lstStyle/>
                    <a:p>
                      <a:r>
                        <a:rPr lang="en-US" sz="500"/>
                        <a:t>Multi-Factor Authentication Request Generation</a:t>
                      </a:r>
                    </a:p>
                  </a:txBody>
                  <a:tcPr marL="0" marR="0" marT="0" marB="0" anchor="ctr"/>
                </a:tc>
                <a:tc>
                  <a:txBody>
                    <a:bodyPr/>
                    <a:lstStyle/>
                    <a:p>
                      <a:r>
                        <a:rPr lang="en-US" sz="500"/>
                        <a:t>Network Sniffing</a:t>
                      </a:r>
                    </a:p>
                  </a:txBody>
                  <a:tcPr marL="0" marR="0" marT="0" marB="0" anchor="ctr"/>
                </a:tc>
                <a:extLst>
                  <a:ext uri="{0D108BD9-81ED-4DB2-BD59-A6C34878D82A}">
                    <a16:rowId xmlns:a16="http://schemas.microsoft.com/office/drawing/2014/main" val="3535346858"/>
                  </a:ext>
                </a:extLst>
              </a:tr>
              <a:tr h="146869">
                <a:tc>
                  <a:txBody>
                    <a:bodyPr/>
                    <a:lstStyle/>
                    <a:p>
                      <a:r>
                        <a:rPr lang="en-US" sz="500">
                          <a:effectLst/>
                        </a:rPr>
                        <a:t>Hide Artifacts</a:t>
                      </a:r>
                    </a:p>
                  </a:txBody>
                  <a:tcPr marL="0" marR="0" marT="0" marB="0" anchor="ctr"/>
                </a:tc>
                <a:tc>
                  <a:txBody>
                    <a:bodyPr/>
                    <a:lstStyle/>
                    <a:p>
                      <a:r>
                        <a:rPr lang="en-US" sz="500"/>
                        <a:t>Network Sniffing</a:t>
                      </a:r>
                    </a:p>
                  </a:txBody>
                  <a:tcPr marL="0" marR="0" marT="0" marB="0" anchor="ctr"/>
                </a:tc>
                <a:tc>
                  <a:txBody>
                    <a:bodyPr/>
                    <a:lstStyle/>
                    <a:p>
                      <a:r>
                        <a:rPr lang="en-US" sz="500"/>
                        <a:t>Password Policy Discovery</a:t>
                      </a:r>
                    </a:p>
                  </a:txBody>
                  <a:tcPr marL="0" marR="0" marT="0" marB="0" anchor="ctr"/>
                </a:tc>
                <a:extLst>
                  <a:ext uri="{0D108BD9-81ED-4DB2-BD59-A6C34878D82A}">
                    <a16:rowId xmlns:a16="http://schemas.microsoft.com/office/drawing/2014/main" val="2288585946"/>
                  </a:ext>
                </a:extLst>
              </a:tr>
              <a:tr h="146869">
                <a:tc>
                  <a:txBody>
                    <a:bodyPr/>
                    <a:lstStyle/>
                    <a:p>
                      <a:r>
                        <a:rPr lang="en-US" sz="500">
                          <a:effectLst/>
                        </a:rPr>
                        <a:t>Hijack Execution Flow</a:t>
                      </a:r>
                    </a:p>
                  </a:txBody>
                  <a:tcPr marL="0" marR="0" marT="0" marB="0" anchor="ctr"/>
                </a:tc>
                <a:tc>
                  <a:txBody>
                    <a:bodyPr/>
                    <a:lstStyle/>
                    <a:p>
                      <a:r>
                        <a:rPr lang="en-US" sz="500"/>
                        <a:t>OS Credential Dumping</a:t>
                      </a:r>
                    </a:p>
                  </a:txBody>
                  <a:tcPr marL="0" marR="0" marT="0" marB="0" anchor="ctr"/>
                </a:tc>
                <a:tc>
                  <a:txBody>
                    <a:bodyPr/>
                    <a:lstStyle/>
                    <a:p>
                      <a:r>
                        <a:rPr lang="en-US" sz="500"/>
                        <a:t>Peripheral Device Discovery</a:t>
                      </a:r>
                    </a:p>
                  </a:txBody>
                  <a:tcPr marL="0" marR="0" marT="0" marB="0" anchor="ctr"/>
                </a:tc>
                <a:extLst>
                  <a:ext uri="{0D108BD9-81ED-4DB2-BD59-A6C34878D82A}">
                    <a16:rowId xmlns:a16="http://schemas.microsoft.com/office/drawing/2014/main" val="1066832916"/>
                  </a:ext>
                </a:extLst>
              </a:tr>
              <a:tr h="146869">
                <a:tc>
                  <a:txBody>
                    <a:bodyPr/>
                    <a:lstStyle/>
                    <a:p>
                      <a:r>
                        <a:rPr lang="en-US" sz="500">
                          <a:effectLst/>
                        </a:rPr>
                        <a:t>Impair Defenses</a:t>
                      </a:r>
                    </a:p>
                  </a:txBody>
                  <a:tcPr marL="0" marR="0" marT="0" marB="0" anchor="ctr"/>
                </a:tc>
                <a:tc>
                  <a:txBody>
                    <a:bodyPr/>
                    <a:lstStyle/>
                    <a:p>
                      <a:r>
                        <a:rPr lang="en-US" sz="500"/>
                        <a:t>Steal or Forge Kerberos Tickets</a:t>
                      </a:r>
                    </a:p>
                  </a:txBody>
                  <a:tcPr marL="0" marR="0" marT="0" marB="0" anchor="ctr"/>
                </a:tc>
                <a:tc>
                  <a:txBody>
                    <a:bodyPr/>
                    <a:lstStyle/>
                    <a:p>
                      <a:r>
                        <a:rPr lang="en-US" sz="500"/>
                        <a:t>Permission Groups Discovery</a:t>
                      </a:r>
                    </a:p>
                  </a:txBody>
                  <a:tcPr marL="0" marR="0" marT="0" marB="0" anchor="ctr"/>
                </a:tc>
                <a:extLst>
                  <a:ext uri="{0D108BD9-81ED-4DB2-BD59-A6C34878D82A}">
                    <a16:rowId xmlns:a16="http://schemas.microsoft.com/office/drawing/2014/main" val="1406139748"/>
                  </a:ext>
                </a:extLst>
              </a:tr>
              <a:tr h="146869">
                <a:tc>
                  <a:txBody>
                    <a:bodyPr/>
                    <a:lstStyle/>
                    <a:p>
                      <a:r>
                        <a:rPr lang="en-US" sz="500">
                          <a:effectLst/>
                        </a:rPr>
                        <a:t>Indicator Removal on Host</a:t>
                      </a:r>
                    </a:p>
                  </a:txBody>
                  <a:tcPr marL="0" marR="0" marT="0" marB="0" anchor="ctr"/>
                </a:tc>
                <a:tc>
                  <a:txBody>
                    <a:bodyPr/>
                    <a:lstStyle/>
                    <a:p>
                      <a:r>
                        <a:rPr lang="en-US" sz="500"/>
                        <a:t>Steal Web Session Cookie</a:t>
                      </a:r>
                    </a:p>
                  </a:txBody>
                  <a:tcPr marL="0" marR="0" marT="0" marB="0" anchor="ctr"/>
                </a:tc>
                <a:tc>
                  <a:txBody>
                    <a:bodyPr/>
                    <a:lstStyle/>
                    <a:p>
                      <a:r>
                        <a:rPr lang="en-US" sz="500"/>
                        <a:t>Process Discovery</a:t>
                      </a:r>
                    </a:p>
                  </a:txBody>
                  <a:tcPr marL="0" marR="0" marT="0" marB="0" anchor="ctr"/>
                </a:tc>
                <a:extLst>
                  <a:ext uri="{0D108BD9-81ED-4DB2-BD59-A6C34878D82A}">
                    <a16:rowId xmlns:a16="http://schemas.microsoft.com/office/drawing/2014/main" val="138860856"/>
                  </a:ext>
                </a:extLst>
              </a:tr>
              <a:tr h="146869">
                <a:tc>
                  <a:txBody>
                    <a:bodyPr/>
                    <a:lstStyle/>
                    <a:p>
                      <a:r>
                        <a:rPr lang="en-US" sz="500">
                          <a:effectLst/>
                        </a:rPr>
                        <a:t>Indirect Command Execution</a:t>
                      </a:r>
                    </a:p>
                  </a:txBody>
                  <a:tcPr marL="0" marR="0" marT="0" marB="0" anchor="ctr"/>
                </a:tc>
                <a:tc>
                  <a:txBody>
                    <a:bodyPr/>
                    <a:lstStyle/>
                    <a:p>
                      <a:r>
                        <a:rPr lang="en-US" sz="500"/>
                        <a:t>Unsecured Credentials</a:t>
                      </a:r>
                    </a:p>
                  </a:txBody>
                  <a:tcPr marL="0" marR="0" marT="0" marB="0" anchor="ctr"/>
                </a:tc>
                <a:tc>
                  <a:txBody>
                    <a:bodyPr/>
                    <a:lstStyle/>
                    <a:p>
                      <a:r>
                        <a:rPr lang="en-US" sz="500"/>
                        <a:t>Query Registry</a:t>
                      </a:r>
                    </a:p>
                  </a:txBody>
                  <a:tcPr marL="0" marR="0" marT="0" marB="0" anchor="ctr"/>
                </a:tc>
                <a:extLst>
                  <a:ext uri="{0D108BD9-81ED-4DB2-BD59-A6C34878D82A}">
                    <a16:rowId xmlns:a16="http://schemas.microsoft.com/office/drawing/2014/main" val="281823199"/>
                  </a:ext>
                </a:extLst>
              </a:tr>
              <a:tr h="146869">
                <a:tc>
                  <a:txBody>
                    <a:bodyPr/>
                    <a:lstStyle/>
                    <a:p>
                      <a:r>
                        <a:rPr lang="en-US" sz="500">
                          <a:effectLst/>
                        </a:rPr>
                        <a:t>Masquerading</a:t>
                      </a:r>
                    </a:p>
                  </a:txBody>
                  <a:tcPr marL="0" marR="0" marT="0" marB="0" anchor="ctr"/>
                </a:tc>
                <a:tc>
                  <a:txBody>
                    <a:bodyPr/>
                    <a:lstStyle/>
                    <a:p>
                      <a:endParaRPr lang="en-US" sz="500"/>
                    </a:p>
                  </a:txBody>
                  <a:tcPr marL="0" marR="0" marT="0" marB="0" anchor="ctr"/>
                </a:tc>
                <a:tc>
                  <a:txBody>
                    <a:bodyPr/>
                    <a:lstStyle/>
                    <a:p>
                      <a:r>
                        <a:rPr lang="en-US" sz="500"/>
                        <a:t>Remote System Discovery</a:t>
                      </a:r>
                    </a:p>
                  </a:txBody>
                  <a:tcPr marL="0" marR="0" marT="0" marB="0" anchor="ctr"/>
                </a:tc>
                <a:extLst>
                  <a:ext uri="{0D108BD9-81ED-4DB2-BD59-A6C34878D82A}">
                    <a16:rowId xmlns:a16="http://schemas.microsoft.com/office/drawing/2014/main" val="163739748"/>
                  </a:ext>
                </a:extLst>
              </a:tr>
              <a:tr h="146869">
                <a:tc>
                  <a:txBody>
                    <a:bodyPr/>
                    <a:lstStyle/>
                    <a:p>
                      <a:r>
                        <a:rPr lang="en-US" sz="500">
                          <a:effectLst/>
                        </a:rPr>
                        <a:t>Modify Authentication Process</a:t>
                      </a:r>
                    </a:p>
                  </a:txBody>
                  <a:tcPr marL="0" marR="0" marT="0" marB="0" anchor="ctr"/>
                </a:tc>
                <a:tc>
                  <a:txBody>
                    <a:bodyPr/>
                    <a:lstStyle/>
                    <a:p>
                      <a:endParaRPr lang="en-US" sz="500"/>
                    </a:p>
                  </a:txBody>
                  <a:tcPr marL="0" marR="0" marT="0" marB="0" anchor="ctr"/>
                </a:tc>
                <a:tc>
                  <a:txBody>
                    <a:bodyPr/>
                    <a:lstStyle/>
                    <a:p>
                      <a:r>
                        <a:rPr lang="en-US" sz="500"/>
                        <a:t>Software Discovery</a:t>
                      </a:r>
                    </a:p>
                  </a:txBody>
                  <a:tcPr marL="0" marR="0" marT="0" marB="0" anchor="ctr"/>
                </a:tc>
                <a:extLst>
                  <a:ext uri="{0D108BD9-81ED-4DB2-BD59-A6C34878D82A}">
                    <a16:rowId xmlns:a16="http://schemas.microsoft.com/office/drawing/2014/main" val="2136639176"/>
                  </a:ext>
                </a:extLst>
              </a:tr>
              <a:tr h="146869">
                <a:tc>
                  <a:txBody>
                    <a:bodyPr/>
                    <a:lstStyle/>
                    <a:p>
                      <a:r>
                        <a:rPr lang="en-US" sz="500">
                          <a:effectLst/>
                        </a:rPr>
                        <a:t>Modify Registry</a:t>
                      </a:r>
                    </a:p>
                  </a:txBody>
                  <a:tcPr marL="0" marR="0" marT="0" marB="0" anchor="ctr"/>
                </a:tc>
                <a:tc>
                  <a:txBody>
                    <a:bodyPr/>
                    <a:lstStyle/>
                    <a:p>
                      <a:endParaRPr lang="en-US" sz="500"/>
                    </a:p>
                  </a:txBody>
                  <a:tcPr marL="0" marR="0" marT="0" marB="0" anchor="ctr"/>
                </a:tc>
                <a:tc>
                  <a:txBody>
                    <a:bodyPr/>
                    <a:lstStyle/>
                    <a:p>
                      <a:r>
                        <a:rPr lang="en-US" sz="500"/>
                        <a:t>System Information Discovery</a:t>
                      </a:r>
                    </a:p>
                  </a:txBody>
                  <a:tcPr marL="0" marR="0" marT="0" marB="0" anchor="ctr"/>
                </a:tc>
                <a:extLst>
                  <a:ext uri="{0D108BD9-81ED-4DB2-BD59-A6C34878D82A}">
                    <a16:rowId xmlns:a16="http://schemas.microsoft.com/office/drawing/2014/main" val="117631835"/>
                  </a:ext>
                </a:extLst>
              </a:tr>
              <a:tr h="146869">
                <a:tc>
                  <a:txBody>
                    <a:bodyPr/>
                    <a:lstStyle/>
                    <a:p>
                      <a:r>
                        <a:rPr lang="en-US" sz="500">
                          <a:effectLst/>
                        </a:rPr>
                        <a:t>Obfuscated Files or Information</a:t>
                      </a:r>
                    </a:p>
                  </a:txBody>
                  <a:tcPr marL="0" marR="0" marT="0" marB="0" anchor="ctr"/>
                </a:tc>
                <a:tc>
                  <a:txBody>
                    <a:bodyPr/>
                    <a:lstStyle/>
                    <a:p>
                      <a:endParaRPr lang="en-US" sz="500"/>
                    </a:p>
                  </a:txBody>
                  <a:tcPr marL="0" marR="0" marT="0" marB="0" anchor="ctr"/>
                </a:tc>
                <a:tc>
                  <a:txBody>
                    <a:bodyPr/>
                    <a:lstStyle/>
                    <a:p>
                      <a:r>
                        <a:rPr lang="en-US" sz="500"/>
                        <a:t>System Location Discovery</a:t>
                      </a:r>
                    </a:p>
                  </a:txBody>
                  <a:tcPr marL="0" marR="0" marT="0" marB="0" anchor="ctr"/>
                </a:tc>
                <a:extLst>
                  <a:ext uri="{0D108BD9-81ED-4DB2-BD59-A6C34878D82A}">
                    <a16:rowId xmlns:a16="http://schemas.microsoft.com/office/drawing/2014/main" val="1367280786"/>
                  </a:ext>
                </a:extLst>
              </a:tr>
              <a:tr h="146869">
                <a:tc>
                  <a:txBody>
                    <a:bodyPr/>
                    <a:lstStyle/>
                    <a:p>
                      <a:r>
                        <a:rPr lang="en-US" sz="500">
                          <a:effectLst/>
                        </a:rPr>
                        <a:t>Plist File Modification</a:t>
                      </a:r>
                    </a:p>
                  </a:txBody>
                  <a:tcPr marL="0" marR="0" marT="0" marB="0" anchor="ctr"/>
                </a:tc>
                <a:tc>
                  <a:txBody>
                    <a:bodyPr/>
                    <a:lstStyle/>
                    <a:p>
                      <a:endParaRPr lang="en-US" sz="500"/>
                    </a:p>
                  </a:txBody>
                  <a:tcPr marL="0" marR="0" marT="0" marB="0" anchor="ctr"/>
                </a:tc>
                <a:tc>
                  <a:txBody>
                    <a:bodyPr/>
                    <a:lstStyle/>
                    <a:p>
                      <a:r>
                        <a:rPr lang="en-US" sz="500"/>
                        <a:t>System Network Configuration Discovery</a:t>
                      </a:r>
                    </a:p>
                  </a:txBody>
                  <a:tcPr marL="0" marR="0" marT="0" marB="0" anchor="ctr"/>
                </a:tc>
                <a:extLst>
                  <a:ext uri="{0D108BD9-81ED-4DB2-BD59-A6C34878D82A}">
                    <a16:rowId xmlns:a16="http://schemas.microsoft.com/office/drawing/2014/main" val="3960933653"/>
                  </a:ext>
                </a:extLst>
              </a:tr>
              <a:tr h="146869">
                <a:tc>
                  <a:txBody>
                    <a:bodyPr/>
                    <a:lstStyle/>
                    <a:p>
                      <a:r>
                        <a:rPr lang="en-US" sz="500">
                          <a:effectLst/>
                        </a:rPr>
                        <a:t>Pre-OS Boot</a:t>
                      </a:r>
                    </a:p>
                  </a:txBody>
                  <a:tcPr marL="0" marR="0" marT="0" marB="0" anchor="ctr"/>
                </a:tc>
                <a:tc>
                  <a:txBody>
                    <a:bodyPr/>
                    <a:lstStyle/>
                    <a:p>
                      <a:endParaRPr lang="en-US" sz="500"/>
                    </a:p>
                  </a:txBody>
                  <a:tcPr marL="0" marR="0" marT="0" marB="0" anchor="ctr"/>
                </a:tc>
                <a:tc>
                  <a:txBody>
                    <a:bodyPr/>
                    <a:lstStyle/>
                    <a:p>
                      <a:r>
                        <a:rPr lang="en-US" sz="500"/>
                        <a:t>System Network Connections Discovery</a:t>
                      </a:r>
                    </a:p>
                  </a:txBody>
                  <a:tcPr marL="0" marR="0" marT="0" marB="0" anchor="ctr"/>
                </a:tc>
                <a:extLst>
                  <a:ext uri="{0D108BD9-81ED-4DB2-BD59-A6C34878D82A}">
                    <a16:rowId xmlns:a16="http://schemas.microsoft.com/office/drawing/2014/main" val="4196250678"/>
                  </a:ext>
                </a:extLst>
              </a:tr>
              <a:tr h="146869">
                <a:tc>
                  <a:txBody>
                    <a:bodyPr/>
                    <a:lstStyle/>
                    <a:p>
                      <a:r>
                        <a:rPr lang="en-US" sz="500">
                          <a:effectLst/>
                        </a:rPr>
                        <a:t>Process Injection</a:t>
                      </a:r>
                    </a:p>
                  </a:txBody>
                  <a:tcPr marL="0" marR="0" marT="0" marB="0" anchor="ctr"/>
                </a:tc>
                <a:tc>
                  <a:txBody>
                    <a:bodyPr/>
                    <a:lstStyle/>
                    <a:p>
                      <a:endParaRPr lang="en-US" sz="500"/>
                    </a:p>
                  </a:txBody>
                  <a:tcPr marL="0" marR="0" marT="0" marB="0" anchor="ctr"/>
                </a:tc>
                <a:tc>
                  <a:txBody>
                    <a:bodyPr/>
                    <a:lstStyle/>
                    <a:p>
                      <a:r>
                        <a:rPr lang="en-US" sz="500"/>
                        <a:t>System Owner/User Discovery</a:t>
                      </a:r>
                    </a:p>
                  </a:txBody>
                  <a:tcPr marL="0" marR="0" marT="0" marB="0" anchor="ctr"/>
                </a:tc>
                <a:extLst>
                  <a:ext uri="{0D108BD9-81ED-4DB2-BD59-A6C34878D82A}">
                    <a16:rowId xmlns:a16="http://schemas.microsoft.com/office/drawing/2014/main" val="2163258302"/>
                  </a:ext>
                </a:extLst>
              </a:tr>
              <a:tr h="146869">
                <a:tc>
                  <a:txBody>
                    <a:bodyPr/>
                    <a:lstStyle/>
                    <a:p>
                      <a:r>
                        <a:rPr lang="en-US" sz="500">
                          <a:effectLst/>
                        </a:rPr>
                        <a:t>Reflective Code Loading</a:t>
                      </a:r>
                    </a:p>
                  </a:txBody>
                  <a:tcPr marL="0" marR="0" marT="0" marB="0" anchor="ctr"/>
                </a:tc>
                <a:tc>
                  <a:txBody>
                    <a:bodyPr/>
                    <a:lstStyle/>
                    <a:p>
                      <a:endParaRPr lang="en-US" sz="500"/>
                    </a:p>
                  </a:txBody>
                  <a:tcPr marL="0" marR="0" marT="0" marB="0" anchor="ctr"/>
                </a:tc>
                <a:tc>
                  <a:txBody>
                    <a:bodyPr/>
                    <a:lstStyle/>
                    <a:p>
                      <a:r>
                        <a:rPr lang="en-US" sz="500"/>
                        <a:t>System Service Discovery</a:t>
                      </a:r>
                    </a:p>
                  </a:txBody>
                  <a:tcPr marL="0" marR="0" marT="0" marB="0" anchor="ctr"/>
                </a:tc>
                <a:extLst>
                  <a:ext uri="{0D108BD9-81ED-4DB2-BD59-A6C34878D82A}">
                    <a16:rowId xmlns:a16="http://schemas.microsoft.com/office/drawing/2014/main" val="2587455061"/>
                  </a:ext>
                </a:extLst>
              </a:tr>
              <a:tr h="146869">
                <a:tc>
                  <a:txBody>
                    <a:bodyPr/>
                    <a:lstStyle/>
                    <a:p>
                      <a:r>
                        <a:rPr lang="en-US" sz="500">
                          <a:effectLst/>
                        </a:rPr>
                        <a:t>Rogue Domain Controller</a:t>
                      </a:r>
                    </a:p>
                  </a:txBody>
                  <a:tcPr marL="0" marR="0" marT="0" marB="0" anchor="ctr"/>
                </a:tc>
                <a:tc>
                  <a:txBody>
                    <a:bodyPr/>
                    <a:lstStyle/>
                    <a:p>
                      <a:endParaRPr lang="en-US" sz="500"/>
                    </a:p>
                  </a:txBody>
                  <a:tcPr marL="0" marR="0" marT="0" marB="0" anchor="ctr"/>
                </a:tc>
                <a:tc>
                  <a:txBody>
                    <a:bodyPr/>
                    <a:lstStyle/>
                    <a:p>
                      <a:r>
                        <a:rPr lang="en-US" sz="500"/>
                        <a:t>System Time Discovery</a:t>
                      </a:r>
                    </a:p>
                  </a:txBody>
                  <a:tcPr marL="0" marR="0" marT="0" marB="0" anchor="ctr"/>
                </a:tc>
                <a:extLst>
                  <a:ext uri="{0D108BD9-81ED-4DB2-BD59-A6C34878D82A}">
                    <a16:rowId xmlns:a16="http://schemas.microsoft.com/office/drawing/2014/main" val="3192928033"/>
                  </a:ext>
                </a:extLst>
              </a:tr>
              <a:tr h="146869">
                <a:tc>
                  <a:txBody>
                    <a:bodyPr/>
                    <a:lstStyle/>
                    <a:p>
                      <a:r>
                        <a:rPr lang="en-US" sz="500">
                          <a:effectLst/>
                        </a:rPr>
                        <a:t>Rootkit</a:t>
                      </a:r>
                    </a:p>
                  </a:txBody>
                  <a:tcPr marL="0" marR="0" marT="0" marB="0" anchor="ctr"/>
                </a:tc>
                <a:tc>
                  <a:txBody>
                    <a:bodyPr/>
                    <a:lstStyle/>
                    <a:p>
                      <a:endParaRPr lang="en-US" sz="500"/>
                    </a:p>
                  </a:txBody>
                  <a:tcPr marL="0" marR="0" marT="0" marB="0" anchor="ctr"/>
                </a:tc>
                <a:tc>
                  <a:txBody>
                    <a:bodyPr/>
                    <a:lstStyle/>
                    <a:p>
                      <a:r>
                        <a:rPr lang="en-US" sz="500"/>
                        <a:t>Virtualization/Sandbox Evasion</a:t>
                      </a:r>
                    </a:p>
                  </a:txBody>
                  <a:tcPr marL="0" marR="0" marT="0" marB="0" anchor="ctr"/>
                </a:tc>
                <a:extLst>
                  <a:ext uri="{0D108BD9-81ED-4DB2-BD59-A6C34878D82A}">
                    <a16:rowId xmlns:a16="http://schemas.microsoft.com/office/drawing/2014/main" val="4015166454"/>
                  </a:ext>
                </a:extLst>
              </a:tr>
              <a:tr h="146869">
                <a:tc>
                  <a:txBody>
                    <a:bodyPr/>
                    <a:lstStyle/>
                    <a:p>
                      <a:r>
                        <a:rPr lang="en-US" sz="500">
                          <a:effectLst/>
                        </a:rPr>
                        <a:t>Subvert Trust Controls</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1592751501"/>
                  </a:ext>
                </a:extLst>
              </a:tr>
              <a:tr h="146869">
                <a:tc>
                  <a:txBody>
                    <a:bodyPr/>
                    <a:lstStyle/>
                    <a:p>
                      <a:r>
                        <a:rPr lang="en-US" sz="500">
                          <a:effectLst/>
                        </a:rPr>
                        <a:t>System Binary Proxy Execution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3184607385"/>
                  </a:ext>
                </a:extLst>
              </a:tr>
              <a:tr h="146869">
                <a:tc>
                  <a:txBody>
                    <a:bodyPr/>
                    <a:lstStyle/>
                    <a:p>
                      <a:r>
                        <a:rPr lang="en-US" sz="500">
                          <a:effectLst/>
                        </a:rPr>
                        <a:t>System Script Proxy Execution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3150486953"/>
                  </a:ext>
                </a:extLst>
              </a:tr>
              <a:tr h="146869">
                <a:tc>
                  <a:txBody>
                    <a:bodyPr/>
                    <a:lstStyle/>
                    <a:p>
                      <a:r>
                        <a:rPr lang="en-US" sz="500">
                          <a:effectLst/>
                        </a:rPr>
                        <a:t>Template Injection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66774956"/>
                  </a:ext>
                </a:extLst>
              </a:tr>
              <a:tr h="146869">
                <a:tc>
                  <a:txBody>
                    <a:bodyPr/>
                    <a:lstStyle/>
                    <a:p>
                      <a:r>
                        <a:rPr lang="en-US" sz="500">
                          <a:effectLst/>
                        </a:rPr>
                        <a:t>Traffic Signaling</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27986732"/>
                  </a:ext>
                </a:extLst>
              </a:tr>
              <a:tr h="146869">
                <a:tc gridSpan="2">
                  <a:txBody>
                    <a:bodyPr/>
                    <a:lstStyle/>
                    <a:p>
                      <a:r>
                        <a:rPr lang="en-US" sz="500">
                          <a:effectLst/>
                        </a:rPr>
                        <a:t>Trusted Developer Utilities Proxy Execution</a:t>
                      </a:r>
                    </a:p>
                  </a:txBody>
                  <a:tcPr marL="0" marR="0" marT="0" marB="0" anchor="ctr"/>
                </a:tc>
                <a:tc hMerge="1">
                  <a:txBody>
                    <a:bodyPr/>
                    <a:lstStyle/>
                    <a:p>
                      <a:endParaRPr lang="en-US"/>
                    </a:p>
                  </a:txBody>
                  <a:tcPr marL="0" marR="0" marT="0" marB="0" horzOverflow="overflow"/>
                </a:tc>
                <a:tc>
                  <a:txBody>
                    <a:bodyPr/>
                    <a:lstStyle/>
                    <a:p>
                      <a:endParaRPr lang="en-US" sz="500"/>
                    </a:p>
                  </a:txBody>
                  <a:tcPr marL="0" marR="0" marT="0" marB="0" anchor="ctr"/>
                </a:tc>
                <a:extLst>
                  <a:ext uri="{0D108BD9-81ED-4DB2-BD59-A6C34878D82A}">
                    <a16:rowId xmlns:a16="http://schemas.microsoft.com/office/drawing/2014/main" val="1234596724"/>
                  </a:ext>
                </a:extLst>
              </a:tr>
              <a:tr h="146869">
                <a:tc gridSpan="2">
                  <a:txBody>
                    <a:bodyPr/>
                    <a:lstStyle/>
                    <a:p>
                      <a:r>
                        <a:rPr lang="en-US" sz="500">
                          <a:effectLst/>
                        </a:rPr>
                        <a:t>Use Alternate Authentication Material</a:t>
                      </a:r>
                    </a:p>
                  </a:txBody>
                  <a:tcPr marL="0" marR="0" marT="0" marB="0" anchor="ctr"/>
                </a:tc>
                <a:tc hMerge="1">
                  <a:txBody>
                    <a:bodyPr/>
                    <a:lstStyle/>
                    <a:p>
                      <a:endParaRPr lang="en-US"/>
                    </a:p>
                  </a:txBody>
                  <a:tcPr marL="0" marR="0" marT="0" marB="0" horzOverflow="overflow"/>
                </a:tc>
                <a:tc>
                  <a:txBody>
                    <a:bodyPr/>
                    <a:lstStyle/>
                    <a:p>
                      <a:endParaRPr lang="en-US" sz="500"/>
                    </a:p>
                  </a:txBody>
                  <a:tcPr marL="0" marR="0" marT="0" marB="0" anchor="ctr"/>
                </a:tc>
                <a:extLst>
                  <a:ext uri="{0D108BD9-81ED-4DB2-BD59-A6C34878D82A}">
                    <a16:rowId xmlns:a16="http://schemas.microsoft.com/office/drawing/2014/main" val="130148403"/>
                  </a:ext>
                </a:extLst>
              </a:tr>
              <a:tr h="146869">
                <a:tc>
                  <a:txBody>
                    <a:bodyPr/>
                    <a:lstStyle/>
                    <a:p>
                      <a:r>
                        <a:rPr lang="en-US" sz="500">
                          <a:effectLst/>
                        </a:rPr>
                        <a:t>Valid Accounts</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666003507"/>
                  </a:ext>
                </a:extLst>
              </a:tr>
              <a:tr h="146869">
                <a:tc>
                  <a:txBody>
                    <a:bodyPr/>
                    <a:lstStyle/>
                    <a:p>
                      <a:r>
                        <a:rPr lang="en-US" sz="500">
                          <a:effectLst/>
                        </a:rPr>
                        <a:t>Virtualization/Sandbox Evasion</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008210430"/>
                  </a:ext>
                </a:extLst>
              </a:tr>
              <a:tr h="146869">
                <a:tc>
                  <a:txBody>
                    <a:bodyPr/>
                    <a:lstStyle/>
                    <a:p>
                      <a:r>
                        <a:rPr lang="en-US" sz="500">
                          <a:effectLst/>
                        </a:rPr>
                        <a:t>XSL Script Processing</a:t>
                      </a: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431644837"/>
                  </a:ext>
                </a:extLst>
              </a:tr>
              <a:tr h="146869">
                <a:tc>
                  <a:txBody>
                    <a:bodyPr/>
                    <a:lstStyle/>
                    <a:p>
                      <a:endParaRPr lang="en-US" sz="500">
                        <a:effectLst/>
                      </a:endParaRPr>
                    </a:p>
                  </a:txBody>
                  <a:tcPr marL="0" marR="0" marT="0" marB="0" anchor="ctr"/>
                </a:tc>
                <a:tc>
                  <a:txBody>
                    <a:bodyPr/>
                    <a:lstStyle/>
                    <a:p>
                      <a:endParaRPr lang="en-US" sz="500"/>
                    </a:p>
                  </a:txBody>
                  <a:tcPr marL="0" marR="0" marT="0" marB="0" anchor="ctr"/>
                </a:tc>
                <a:tc>
                  <a:txBody>
                    <a:bodyPr/>
                    <a:lstStyle/>
                    <a:p>
                      <a:endParaRPr lang="en-US" sz="500"/>
                    </a:p>
                  </a:txBody>
                  <a:tcPr marL="0" marR="0" marT="0" marB="0" anchor="ctr"/>
                </a:tc>
                <a:extLst>
                  <a:ext uri="{0D108BD9-81ED-4DB2-BD59-A6C34878D82A}">
                    <a16:rowId xmlns:a16="http://schemas.microsoft.com/office/drawing/2014/main" val="1425737968"/>
                  </a:ext>
                </a:extLst>
              </a:tr>
            </a:tbl>
          </a:graphicData>
        </a:graphic>
      </p:graphicFrame>
    </p:spTree>
    <p:extLst>
      <p:ext uri="{BB962C8B-B14F-4D97-AF65-F5344CB8AC3E}">
        <p14:creationId xmlns:p14="http://schemas.microsoft.com/office/powerpoint/2010/main" val="1181282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AB15-C756-CB82-A42D-1539D559FBDB}"/>
              </a:ext>
            </a:extLst>
          </p:cNvPr>
          <p:cNvSpPr>
            <a:spLocks noGrp="1"/>
          </p:cNvSpPr>
          <p:nvPr>
            <p:ph type="title"/>
          </p:nvPr>
        </p:nvSpPr>
        <p:spPr>
          <a:xfrm>
            <a:off x="628649" y="291090"/>
            <a:ext cx="7886699" cy="932688"/>
          </a:xfrm>
        </p:spPr>
        <p:txBody>
          <a:bodyPr vert="horz" lIns="91440" tIns="45720" rIns="91440" bIns="45720" rtlCol="0" anchor="b">
            <a:normAutofit/>
          </a:bodyPr>
          <a:lstStyle/>
          <a:p>
            <a:pPr algn="l" defTabSz="914400" eaLnBrk="1" hangingPunct="1">
              <a:lnSpc>
                <a:spcPct val="90000"/>
              </a:lnSpc>
            </a:pPr>
            <a:r>
              <a:rPr lang="en-US" sz="4700" kern="1200" dirty="0">
                <a:solidFill>
                  <a:schemeClr val="tx1"/>
                </a:solidFill>
                <a:latin typeface="+mj-lt"/>
                <a:ea typeface="+mj-ea"/>
                <a:cs typeface="+mj-cs"/>
              </a:rPr>
              <a:t>MITRE ATT&amp;CK pt. </a:t>
            </a:r>
            <a:r>
              <a:rPr lang="en-US" sz="4700" kern="1200">
                <a:solidFill>
                  <a:schemeClr val="tx1"/>
                </a:solidFill>
                <a:latin typeface="+mj-lt"/>
                <a:ea typeface="+mj-ea"/>
                <a:cs typeface="+mj-cs"/>
              </a:rPr>
              <a:t>3</a:t>
            </a:r>
          </a:p>
        </p:txBody>
      </p:sp>
      <p:graphicFrame>
        <p:nvGraphicFramePr>
          <p:cNvPr id="5" name="Table 4">
            <a:extLst>
              <a:ext uri="{FF2B5EF4-FFF2-40B4-BE49-F238E27FC236}">
                <a16:creationId xmlns:a16="http://schemas.microsoft.com/office/drawing/2014/main" id="{14EF098D-32B7-90C9-7F37-966660A685DC}"/>
              </a:ext>
            </a:extLst>
          </p:cNvPr>
          <p:cNvGraphicFramePr>
            <a:graphicFrameLocks noGrp="1"/>
          </p:cNvGraphicFramePr>
          <p:nvPr>
            <p:extLst>
              <p:ext uri="{D42A27DB-BD31-4B8C-83A1-F6EECF244321}">
                <p14:modId xmlns:p14="http://schemas.microsoft.com/office/powerpoint/2010/main" val="79082760"/>
              </p:ext>
            </p:extLst>
          </p:nvPr>
        </p:nvGraphicFramePr>
        <p:xfrm>
          <a:off x="24063" y="1431757"/>
          <a:ext cx="9098485" cy="5432396"/>
        </p:xfrm>
        <a:graphic>
          <a:graphicData uri="http://schemas.openxmlformats.org/drawingml/2006/table">
            <a:tbl>
              <a:tblPr firstRow="1" bandRow="1">
                <a:tableStyleId>{073A0DAA-6AF3-43AB-8588-CEC1D06C72B9}</a:tableStyleId>
              </a:tblPr>
              <a:tblGrid>
                <a:gridCol w="2055871">
                  <a:extLst>
                    <a:ext uri="{9D8B030D-6E8A-4147-A177-3AD203B41FA5}">
                      <a16:colId xmlns:a16="http://schemas.microsoft.com/office/drawing/2014/main" val="3940300848"/>
                    </a:ext>
                  </a:extLst>
                </a:gridCol>
                <a:gridCol w="1612871">
                  <a:extLst>
                    <a:ext uri="{9D8B030D-6E8A-4147-A177-3AD203B41FA5}">
                      <a16:colId xmlns:a16="http://schemas.microsoft.com/office/drawing/2014/main" val="1461558287"/>
                    </a:ext>
                  </a:extLst>
                </a:gridCol>
                <a:gridCol w="1741236">
                  <a:extLst>
                    <a:ext uri="{9D8B030D-6E8A-4147-A177-3AD203B41FA5}">
                      <a16:colId xmlns:a16="http://schemas.microsoft.com/office/drawing/2014/main" val="568975123"/>
                    </a:ext>
                  </a:extLst>
                </a:gridCol>
                <a:gridCol w="2209393">
                  <a:extLst>
                    <a:ext uri="{9D8B030D-6E8A-4147-A177-3AD203B41FA5}">
                      <a16:colId xmlns:a16="http://schemas.microsoft.com/office/drawing/2014/main" val="1534971720"/>
                    </a:ext>
                  </a:extLst>
                </a:gridCol>
                <a:gridCol w="1479114">
                  <a:extLst>
                    <a:ext uri="{9D8B030D-6E8A-4147-A177-3AD203B41FA5}">
                      <a16:colId xmlns:a16="http://schemas.microsoft.com/office/drawing/2014/main" val="9158997"/>
                    </a:ext>
                  </a:extLst>
                </a:gridCol>
              </a:tblGrid>
              <a:tr h="187324">
                <a:tc>
                  <a:txBody>
                    <a:bodyPr/>
                    <a:lstStyle/>
                    <a:p>
                      <a:r>
                        <a:rPr lang="en-US" sz="700">
                          <a:effectLst/>
                        </a:rPr>
                        <a:t>Lateral Movement</a:t>
                      </a:r>
                    </a:p>
                  </a:txBody>
                  <a:tcPr marL="0" marR="0" marT="0" marB="0" anchor="ctr"/>
                </a:tc>
                <a:tc>
                  <a:txBody>
                    <a:bodyPr/>
                    <a:lstStyle/>
                    <a:p>
                      <a:r>
                        <a:rPr lang="en-US" sz="700">
                          <a:effectLst/>
                        </a:rPr>
                        <a:t>Collection</a:t>
                      </a:r>
                    </a:p>
                  </a:txBody>
                  <a:tcPr marL="0" marR="0" marT="0" marB="0" anchor="ctr"/>
                </a:tc>
                <a:tc>
                  <a:txBody>
                    <a:bodyPr/>
                    <a:lstStyle/>
                    <a:p>
                      <a:r>
                        <a:rPr lang="en-US" sz="700">
                          <a:effectLst/>
                        </a:rPr>
                        <a:t>Command and Control</a:t>
                      </a:r>
                    </a:p>
                  </a:txBody>
                  <a:tcPr marL="0" marR="0" marT="0" marB="0" anchor="ctr"/>
                </a:tc>
                <a:tc>
                  <a:txBody>
                    <a:bodyPr/>
                    <a:lstStyle/>
                    <a:p>
                      <a:r>
                        <a:rPr lang="en-US" sz="700">
                          <a:effectLst/>
                        </a:rPr>
                        <a:t>Exfiltration</a:t>
                      </a:r>
                    </a:p>
                  </a:txBody>
                  <a:tcPr marL="0" marR="0" marT="0" marB="0" anchor="ctr"/>
                </a:tc>
                <a:tc>
                  <a:txBody>
                    <a:bodyPr/>
                    <a:lstStyle/>
                    <a:p>
                      <a:r>
                        <a:rPr lang="en-US" sz="700">
                          <a:effectLst/>
                        </a:rPr>
                        <a:t>Impact</a:t>
                      </a:r>
                    </a:p>
                  </a:txBody>
                  <a:tcPr marL="0" marR="0" marT="0" marB="0" anchor="ctr"/>
                </a:tc>
                <a:extLst>
                  <a:ext uri="{0D108BD9-81ED-4DB2-BD59-A6C34878D82A}">
                    <a16:rowId xmlns:a16="http://schemas.microsoft.com/office/drawing/2014/main" val="485973344"/>
                  </a:ext>
                </a:extLst>
              </a:tr>
              <a:tr h="374648">
                <a:tc>
                  <a:txBody>
                    <a:bodyPr/>
                    <a:lstStyle/>
                    <a:p>
                      <a:r>
                        <a:rPr lang="en-US" sz="700">
                          <a:effectLst/>
                        </a:rPr>
                        <a:t>Exploitation of Remote Services</a:t>
                      </a:r>
                    </a:p>
                  </a:txBody>
                  <a:tcPr marL="0" marR="0" marT="0" marB="0" anchor="ctr"/>
                </a:tc>
                <a:tc>
                  <a:txBody>
                    <a:bodyPr/>
                    <a:lstStyle/>
                    <a:p>
                      <a:r>
                        <a:rPr lang="en-US" sz="700"/>
                        <a:t>Adversary-in-the-Middle</a:t>
                      </a:r>
                    </a:p>
                  </a:txBody>
                  <a:tcPr marL="0" marR="0" marT="0" marB="0" anchor="ctr"/>
                </a:tc>
                <a:tc>
                  <a:txBody>
                    <a:bodyPr/>
                    <a:lstStyle/>
                    <a:p>
                      <a:r>
                        <a:rPr lang="en-US" sz="700"/>
                        <a:t>Application Layer Protocol</a:t>
                      </a:r>
                    </a:p>
                  </a:txBody>
                  <a:tcPr marL="0" marR="0" marT="0" marB="0" anchor="ctr"/>
                </a:tc>
                <a:tc>
                  <a:txBody>
                    <a:bodyPr/>
                    <a:lstStyle/>
                    <a:p>
                      <a:r>
                        <a:rPr lang="en-US" sz="700"/>
                        <a:t>Automated Exfiltration</a:t>
                      </a:r>
                    </a:p>
                  </a:txBody>
                  <a:tcPr marL="0" marR="0" marT="0" marB="0" anchor="ctr"/>
                </a:tc>
                <a:tc>
                  <a:txBody>
                    <a:bodyPr/>
                    <a:lstStyle/>
                    <a:p>
                      <a:r>
                        <a:rPr lang="en-US" sz="700"/>
                        <a:t>Account Access Removal</a:t>
                      </a:r>
                    </a:p>
                  </a:txBody>
                  <a:tcPr marL="0" marR="0" marT="0" marB="0" anchor="ctr"/>
                </a:tc>
                <a:extLst>
                  <a:ext uri="{0D108BD9-81ED-4DB2-BD59-A6C34878D82A}">
                    <a16:rowId xmlns:a16="http://schemas.microsoft.com/office/drawing/2014/main" val="741915846"/>
                  </a:ext>
                </a:extLst>
              </a:tr>
              <a:tr h="374648">
                <a:tc>
                  <a:txBody>
                    <a:bodyPr/>
                    <a:lstStyle/>
                    <a:p>
                      <a:r>
                        <a:rPr lang="en-US" sz="700">
                          <a:effectLst/>
                        </a:rPr>
                        <a:t>Internal Spearphishing</a:t>
                      </a:r>
                    </a:p>
                  </a:txBody>
                  <a:tcPr marL="0" marR="0" marT="0" marB="0" anchor="ctr"/>
                </a:tc>
                <a:tc>
                  <a:txBody>
                    <a:bodyPr/>
                    <a:lstStyle/>
                    <a:p>
                      <a:r>
                        <a:rPr lang="en-US" sz="700"/>
                        <a:t>Archive Collected Data</a:t>
                      </a:r>
                    </a:p>
                  </a:txBody>
                  <a:tcPr marL="0" marR="0" marT="0" marB="0" anchor="ctr"/>
                </a:tc>
                <a:tc>
                  <a:txBody>
                    <a:bodyPr/>
                    <a:lstStyle/>
                    <a:p>
                      <a:r>
                        <a:rPr lang="en-US" sz="700"/>
                        <a:t>Communication Through Removable Media</a:t>
                      </a:r>
                    </a:p>
                  </a:txBody>
                  <a:tcPr marL="0" marR="0" marT="0" marB="0" anchor="ctr"/>
                </a:tc>
                <a:tc>
                  <a:txBody>
                    <a:bodyPr/>
                    <a:lstStyle/>
                    <a:p>
                      <a:r>
                        <a:rPr lang="en-US" sz="700"/>
                        <a:t>Data Transfer Size Limits</a:t>
                      </a:r>
                    </a:p>
                  </a:txBody>
                  <a:tcPr marL="0" marR="0" marT="0" marB="0" anchor="ctr"/>
                </a:tc>
                <a:tc>
                  <a:txBody>
                    <a:bodyPr/>
                    <a:lstStyle/>
                    <a:p>
                      <a:r>
                        <a:rPr lang="en-US" sz="700"/>
                        <a:t>Data Destruction</a:t>
                      </a:r>
                    </a:p>
                  </a:txBody>
                  <a:tcPr marL="0" marR="0" marT="0" marB="0" anchor="ctr"/>
                </a:tc>
                <a:extLst>
                  <a:ext uri="{0D108BD9-81ED-4DB2-BD59-A6C34878D82A}">
                    <a16:rowId xmlns:a16="http://schemas.microsoft.com/office/drawing/2014/main" val="3983626744"/>
                  </a:ext>
                </a:extLst>
              </a:tr>
              <a:tr h="374648">
                <a:tc>
                  <a:txBody>
                    <a:bodyPr/>
                    <a:lstStyle/>
                    <a:p>
                      <a:r>
                        <a:rPr lang="en-US" sz="700">
                          <a:effectLst/>
                        </a:rPr>
                        <a:t>Lateral Tool Transfer</a:t>
                      </a:r>
                    </a:p>
                  </a:txBody>
                  <a:tcPr marL="0" marR="0" marT="0" marB="0" anchor="ctr"/>
                </a:tc>
                <a:tc>
                  <a:txBody>
                    <a:bodyPr/>
                    <a:lstStyle/>
                    <a:p>
                      <a:r>
                        <a:rPr lang="en-US" sz="700"/>
                        <a:t>Audio Capture</a:t>
                      </a:r>
                    </a:p>
                  </a:txBody>
                  <a:tcPr marL="0" marR="0" marT="0" marB="0" anchor="ctr"/>
                </a:tc>
                <a:tc>
                  <a:txBody>
                    <a:bodyPr/>
                    <a:lstStyle/>
                    <a:p>
                      <a:r>
                        <a:rPr lang="en-US" sz="700"/>
                        <a:t>Data Encoding</a:t>
                      </a:r>
                    </a:p>
                  </a:txBody>
                  <a:tcPr marL="0" marR="0" marT="0" marB="0" anchor="ctr"/>
                </a:tc>
                <a:tc>
                  <a:txBody>
                    <a:bodyPr/>
                    <a:lstStyle/>
                    <a:p>
                      <a:r>
                        <a:rPr lang="en-US" sz="700"/>
                        <a:t>Exfiltration Over Alternative Protocol</a:t>
                      </a:r>
                    </a:p>
                  </a:txBody>
                  <a:tcPr marL="0" marR="0" marT="0" marB="0" anchor="ctr"/>
                </a:tc>
                <a:tc>
                  <a:txBody>
                    <a:bodyPr/>
                    <a:lstStyle/>
                    <a:p>
                      <a:r>
                        <a:rPr lang="en-US" sz="700"/>
                        <a:t>Data Encrypted for Impact</a:t>
                      </a:r>
                    </a:p>
                  </a:txBody>
                  <a:tcPr marL="0" marR="0" marT="0" marB="0" anchor="ctr"/>
                </a:tc>
                <a:extLst>
                  <a:ext uri="{0D108BD9-81ED-4DB2-BD59-A6C34878D82A}">
                    <a16:rowId xmlns:a16="http://schemas.microsoft.com/office/drawing/2014/main" val="3325479595"/>
                  </a:ext>
                </a:extLst>
              </a:tr>
              <a:tr h="374648">
                <a:tc>
                  <a:txBody>
                    <a:bodyPr/>
                    <a:lstStyle/>
                    <a:p>
                      <a:r>
                        <a:rPr lang="en-US" sz="700">
                          <a:effectLst/>
                        </a:rPr>
                        <a:t>Remote Service Session Hijacking</a:t>
                      </a:r>
                    </a:p>
                  </a:txBody>
                  <a:tcPr marL="0" marR="0" marT="0" marB="0" anchor="ctr"/>
                </a:tc>
                <a:tc>
                  <a:txBody>
                    <a:bodyPr/>
                    <a:lstStyle/>
                    <a:p>
                      <a:r>
                        <a:rPr lang="en-US" sz="700"/>
                        <a:t>Automated Collection</a:t>
                      </a:r>
                    </a:p>
                  </a:txBody>
                  <a:tcPr marL="0" marR="0" marT="0" marB="0" anchor="ctr"/>
                </a:tc>
                <a:tc>
                  <a:txBody>
                    <a:bodyPr/>
                    <a:lstStyle/>
                    <a:p>
                      <a:r>
                        <a:rPr lang="en-US" sz="700"/>
                        <a:t>Data Obfuscation</a:t>
                      </a:r>
                    </a:p>
                  </a:txBody>
                  <a:tcPr marL="0" marR="0" marT="0" marB="0" anchor="ctr"/>
                </a:tc>
                <a:tc>
                  <a:txBody>
                    <a:bodyPr/>
                    <a:lstStyle/>
                    <a:p>
                      <a:r>
                        <a:rPr lang="en-US" sz="700"/>
                        <a:t>Exfiltration Over C2 Channel</a:t>
                      </a:r>
                    </a:p>
                  </a:txBody>
                  <a:tcPr marL="0" marR="0" marT="0" marB="0" anchor="ctr"/>
                </a:tc>
                <a:tc>
                  <a:txBody>
                    <a:bodyPr/>
                    <a:lstStyle/>
                    <a:p>
                      <a:r>
                        <a:rPr lang="en-US" sz="700"/>
                        <a:t>Data Manipulation</a:t>
                      </a:r>
                    </a:p>
                  </a:txBody>
                  <a:tcPr marL="0" marR="0" marT="0" marB="0" anchor="ctr"/>
                </a:tc>
                <a:extLst>
                  <a:ext uri="{0D108BD9-81ED-4DB2-BD59-A6C34878D82A}">
                    <a16:rowId xmlns:a16="http://schemas.microsoft.com/office/drawing/2014/main" val="3737137752"/>
                  </a:ext>
                </a:extLst>
              </a:tr>
              <a:tr h="374648">
                <a:tc>
                  <a:txBody>
                    <a:bodyPr/>
                    <a:lstStyle/>
                    <a:p>
                      <a:r>
                        <a:rPr lang="en-US" sz="700">
                          <a:effectLst/>
                        </a:rPr>
                        <a:t>Remote Services</a:t>
                      </a:r>
                    </a:p>
                  </a:txBody>
                  <a:tcPr marL="0" marR="0" marT="0" marB="0" anchor="ctr"/>
                </a:tc>
                <a:tc>
                  <a:txBody>
                    <a:bodyPr/>
                    <a:lstStyle/>
                    <a:p>
                      <a:r>
                        <a:rPr lang="en-US" sz="700"/>
                        <a:t>Browser Session Hijacking</a:t>
                      </a:r>
                    </a:p>
                  </a:txBody>
                  <a:tcPr marL="0" marR="0" marT="0" marB="0" anchor="ctr"/>
                </a:tc>
                <a:tc>
                  <a:txBody>
                    <a:bodyPr/>
                    <a:lstStyle/>
                    <a:p>
                      <a:r>
                        <a:rPr lang="en-US" sz="700"/>
                        <a:t>Dynamic Resolution</a:t>
                      </a:r>
                    </a:p>
                  </a:txBody>
                  <a:tcPr marL="0" marR="0" marT="0" marB="0" anchor="ctr"/>
                </a:tc>
                <a:tc>
                  <a:txBody>
                    <a:bodyPr/>
                    <a:lstStyle/>
                    <a:p>
                      <a:r>
                        <a:rPr lang="en-US" sz="700"/>
                        <a:t>Exfiltration Over Other Network Medium</a:t>
                      </a:r>
                    </a:p>
                  </a:txBody>
                  <a:tcPr marL="0" marR="0" marT="0" marB="0" anchor="ctr"/>
                </a:tc>
                <a:tc>
                  <a:txBody>
                    <a:bodyPr/>
                    <a:lstStyle/>
                    <a:p>
                      <a:r>
                        <a:rPr lang="en-US" sz="700"/>
                        <a:t>Defacement</a:t>
                      </a:r>
                    </a:p>
                  </a:txBody>
                  <a:tcPr marL="0" marR="0" marT="0" marB="0" anchor="ctr"/>
                </a:tc>
                <a:extLst>
                  <a:ext uri="{0D108BD9-81ED-4DB2-BD59-A6C34878D82A}">
                    <a16:rowId xmlns:a16="http://schemas.microsoft.com/office/drawing/2014/main" val="3981685521"/>
                  </a:ext>
                </a:extLst>
              </a:tr>
              <a:tr h="374648">
                <a:tc>
                  <a:txBody>
                    <a:bodyPr/>
                    <a:lstStyle/>
                    <a:p>
                      <a:r>
                        <a:rPr lang="en-US" sz="700">
                          <a:effectLst/>
                        </a:rPr>
                        <a:t>Replication Through Removable Media</a:t>
                      </a:r>
                    </a:p>
                  </a:txBody>
                  <a:tcPr marL="0" marR="0" marT="0" marB="0" anchor="ctr"/>
                </a:tc>
                <a:tc>
                  <a:txBody>
                    <a:bodyPr/>
                    <a:lstStyle/>
                    <a:p>
                      <a:r>
                        <a:rPr lang="en-US" sz="700"/>
                        <a:t>Clipboard Data</a:t>
                      </a:r>
                    </a:p>
                  </a:txBody>
                  <a:tcPr marL="0" marR="0" marT="0" marB="0" anchor="ctr"/>
                </a:tc>
                <a:tc>
                  <a:txBody>
                    <a:bodyPr/>
                    <a:lstStyle/>
                    <a:p>
                      <a:r>
                        <a:rPr lang="en-US" sz="700"/>
                        <a:t>Encrypted Channel</a:t>
                      </a:r>
                    </a:p>
                  </a:txBody>
                  <a:tcPr marL="0" marR="0" marT="0" marB="0" anchor="ctr"/>
                </a:tc>
                <a:tc>
                  <a:txBody>
                    <a:bodyPr/>
                    <a:lstStyle/>
                    <a:p>
                      <a:r>
                        <a:rPr lang="en-US" sz="700"/>
                        <a:t>Exfiltration Over Physical Medium</a:t>
                      </a:r>
                    </a:p>
                  </a:txBody>
                  <a:tcPr marL="0" marR="0" marT="0" marB="0" anchor="ctr"/>
                </a:tc>
                <a:tc>
                  <a:txBody>
                    <a:bodyPr/>
                    <a:lstStyle/>
                    <a:p>
                      <a:r>
                        <a:rPr lang="en-US" sz="700"/>
                        <a:t>Disk Wipe</a:t>
                      </a:r>
                    </a:p>
                  </a:txBody>
                  <a:tcPr marL="0" marR="0" marT="0" marB="0" anchor="ctr"/>
                </a:tc>
                <a:extLst>
                  <a:ext uri="{0D108BD9-81ED-4DB2-BD59-A6C34878D82A}">
                    <a16:rowId xmlns:a16="http://schemas.microsoft.com/office/drawing/2014/main" val="2922603500"/>
                  </a:ext>
                </a:extLst>
              </a:tr>
              <a:tr h="374648">
                <a:tc>
                  <a:txBody>
                    <a:bodyPr/>
                    <a:lstStyle/>
                    <a:p>
                      <a:r>
                        <a:rPr lang="en-US" sz="700">
                          <a:effectLst/>
                        </a:rPr>
                        <a:t>Software Deployment Tools</a:t>
                      </a:r>
                    </a:p>
                  </a:txBody>
                  <a:tcPr marL="0" marR="0" marT="0" marB="0" anchor="ctr"/>
                </a:tc>
                <a:tc>
                  <a:txBody>
                    <a:bodyPr/>
                    <a:lstStyle/>
                    <a:p>
                      <a:r>
                        <a:rPr lang="en-US" sz="700"/>
                        <a:t>Data from Information Repositories</a:t>
                      </a:r>
                    </a:p>
                  </a:txBody>
                  <a:tcPr marL="0" marR="0" marT="0" marB="0" anchor="ctr"/>
                </a:tc>
                <a:tc>
                  <a:txBody>
                    <a:bodyPr/>
                    <a:lstStyle/>
                    <a:p>
                      <a:r>
                        <a:rPr lang="en-US" sz="700"/>
                        <a:t>Fallback Channels</a:t>
                      </a:r>
                    </a:p>
                  </a:txBody>
                  <a:tcPr marL="0" marR="0" marT="0" marB="0" anchor="ctr"/>
                </a:tc>
                <a:tc>
                  <a:txBody>
                    <a:bodyPr/>
                    <a:lstStyle/>
                    <a:p>
                      <a:r>
                        <a:rPr lang="en-US" sz="700"/>
                        <a:t>Exfiltration Over Web Service</a:t>
                      </a:r>
                    </a:p>
                  </a:txBody>
                  <a:tcPr marL="0" marR="0" marT="0" marB="0" anchor="ctr"/>
                </a:tc>
                <a:tc>
                  <a:txBody>
                    <a:bodyPr/>
                    <a:lstStyle/>
                    <a:p>
                      <a:r>
                        <a:rPr lang="en-US" sz="700"/>
                        <a:t>Endpoint Denial of Service</a:t>
                      </a:r>
                    </a:p>
                  </a:txBody>
                  <a:tcPr marL="0" marR="0" marT="0" marB="0" anchor="ctr"/>
                </a:tc>
                <a:extLst>
                  <a:ext uri="{0D108BD9-81ED-4DB2-BD59-A6C34878D82A}">
                    <a16:rowId xmlns:a16="http://schemas.microsoft.com/office/drawing/2014/main" val="2136904869"/>
                  </a:ext>
                </a:extLst>
              </a:tr>
              <a:tr h="374648">
                <a:tc>
                  <a:txBody>
                    <a:bodyPr/>
                    <a:lstStyle/>
                    <a:p>
                      <a:r>
                        <a:rPr lang="en-US" sz="700">
                          <a:effectLst/>
                        </a:rPr>
                        <a:t>Taint Shared Content</a:t>
                      </a:r>
                    </a:p>
                  </a:txBody>
                  <a:tcPr marL="0" marR="0" marT="0" marB="0" anchor="ctr"/>
                </a:tc>
                <a:tc>
                  <a:txBody>
                    <a:bodyPr/>
                    <a:lstStyle/>
                    <a:p>
                      <a:r>
                        <a:rPr lang="en-US" sz="700"/>
                        <a:t>Data from Local System</a:t>
                      </a:r>
                    </a:p>
                  </a:txBody>
                  <a:tcPr marL="0" marR="0" marT="0" marB="0" anchor="ctr"/>
                </a:tc>
                <a:tc>
                  <a:txBody>
                    <a:bodyPr/>
                    <a:lstStyle/>
                    <a:p>
                      <a:r>
                        <a:rPr lang="en-US" sz="700"/>
                        <a:t>Ingress Tool Transfer</a:t>
                      </a:r>
                    </a:p>
                  </a:txBody>
                  <a:tcPr marL="0" marR="0" marT="0" marB="0" anchor="ctr"/>
                </a:tc>
                <a:tc>
                  <a:txBody>
                    <a:bodyPr/>
                    <a:lstStyle/>
                    <a:p>
                      <a:r>
                        <a:rPr lang="en-US" sz="700"/>
                        <a:t>Scheduled Transfer</a:t>
                      </a:r>
                    </a:p>
                  </a:txBody>
                  <a:tcPr marL="0" marR="0" marT="0" marB="0" anchor="ctr"/>
                </a:tc>
                <a:tc>
                  <a:txBody>
                    <a:bodyPr/>
                    <a:lstStyle/>
                    <a:p>
                      <a:r>
                        <a:rPr lang="en-US" sz="700"/>
                        <a:t>Firmware Corruption</a:t>
                      </a:r>
                    </a:p>
                  </a:txBody>
                  <a:tcPr marL="0" marR="0" marT="0" marB="0" anchor="ctr"/>
                </a:tc>
                <a:extLst>
                  <a:ext uri="{0D108BD9-81ED-4DB2-BD59-A6C34878D82A}">
                    <a16:rowId xmlns:a16="http://schemas.microsoft.com/office/drawing/2014/main" val="2220218530"/>
                  </a:ext>
                </a:extLst>
              </a:tr>
              <a:tr h="374648">
                <a:tc>
                  <a:txBody>
                    <a:bodyPr/>
                    <a:lstStyle/>
                    <a:p>
                      <a:r>
                        <a:rPr lang="en-US" sz="700">
                          <a:effectLst/>
                        </a:rPr>
                        <a:t>Use Alternate Authentication Material</a:t>
                      </a:r>
                    </a:p>
                  </a:txBody>
                  <a:tcPr marL="0" marR="0" marT="0" marB="0" anchor="ctr"/>
                </a:tc>
                <a:tc>
                  <a:txBody>
                    <a:bodyPr/>
                    <a:lstStyle/>
                    <a:p>
                      <a:r>
                        <a:rPr lang="en-US" sz="700"/>
                        <a:t>Data from Network Shared Drive</a:t>
                      </a:r>
                    </a:p>
                  </a:txBody>
                  <a:tcPr marL="0" marR="0" marT="0" marB="0" anchor="ctr"/>
                </a:tc>
                <a:tc>
                  <a:txBody>
                    <a:bodyPr/>
                    <a:lstStyle/>
                    <a:p>
                      <a:r>
                        <a:rPr lang="en-US" sz="700"/>
                        <a:t>Multi-Stage Channels</a:t>
                      </a:r>
                    </a:p>
                  </a:txBody>
                  <a:tcPr marL="0" marR="0" marT="0" marB="0" anchor="ctr"/>
                </a:tc>
                <a:tc>
                  <a:txBody>
                    <a:bodyPr/>
                    <a:lstStyle/>
                    <a:p>
                      <a:endParaRPr lang="en-US" sz="700"/>
                    </a:p>
                  </a:txBody>
                  <a:tcPr marL="0" marR="0" marT="0" marB="0" anchor="ctr"/>
                </a:tc>
                <a:tc>
                  <a:txBody>
                    <a:bodyPr/>
                    <a:lstStyle/>
                    <a:p>
                      <a:r>
                        <a:rPr lang="en-US" sz="700"/>
                        <a:t>Inhibit System Recovery</a:t>
                      </a:r>
                    </a:p>
                  </a:txBody>
                  <a:tcPr marL="0" marR="0" marT="0" marB="0" anchor="ctr"/>
                </a:tc>
                <a:extLst>
                  <a:ext uri="{0D108BD9-81ED-4DB2-BD59-A6C34878D82A}">
                    <a16:rowId xmlns:a16="http://schemas.microsoft.com/office/drawing/2014/main" val="270864614"/>
                  </a:ext>
                </a:extLst>
              </a:tr>
              <a:tr h="374648">
                <a:tc>
                  <a:txBody>
                    <a:bodyPr/>
                    <a:lstStyle/>
                    <a:p>
                      <a:endParaRPr lang="en-US" sz="700">
                        <a:effectLst/>
                      </a:endParaRPr>
                    </a:p>
                  </a:txBody>
                  <a:tcPr marL="0" marR="0" marT="0" marB="0" anchor="ctr"/>
                </a:tc>
                <a:tc>
                  <a:txBody>
                    <a:bodyPr/>
                    <a:lstStyle/>
                    <a:p>
                      <a:r>
                        <a:rPr lang="en-US" sz="700"/>
                        <a:t>Data from Removable Media</a:t>
                      </a:r>
                    </a:p>
                  </a:txBody>
                  <a:tcPr marL="0" marR="0" marT="0" marB="0" anchor="ctr"/>
                </a:tc>
                <a:tc>
                  <a:txBody>
                    <a:bodyPr/>
                    <a:lstStyle/>
                    <a:p>
                      <a:r>
                        <a:rPr lang="en-US" sz="700"/>
                        <a:t>Non-Application Layer Protocol</a:t>
                      </a:r>
                    </a:p>
                  </a:txBody>
                  <a:tcPr marL="0" marR="0" marT="0" marB="0" anchor="ctr"/>
                </a:tc>
                <a:tc>
                  <a:txBody>
                    <a:bodyPr/>
                    <a:lstStyle/>
                    <a:p>
                      <a:endParaRPr lang="en-US" sz="700"/>
                    </a:p>
                  </a:txBody>
                  <a:tcPr marL="0" marR="0" marT="0" marB="0" anchor="ctr"/>
                </a:tc>
                <a:tc>
                  <a:txBody>
                    <a:bodyPr/>
                    <a:lstStyle/>
                    <a:p>
                      <a:r>
                        <a:rPr lang="en-US" sz="700"/>
                        <a:t>Network Denial of Service</a:t>
                      </a:r>
                    </a:p>
                  </a:txBody>
                  <a:tcPr marL="0" marR="0" marT="0" marB="0" anchor="ctr"/>
                </a:tc>
                <a:extLst>
                  <a:ext uri="{0D108BD9-81ED-4DB2-BD59-A6C34878D82A}">
                    <a16:rowId xmlns:a16="http://schemas.microsoft.com/office/drawing/2014/main" val="3737078022"/>
                  </a:ext>
                </a:extLst>
              </a:tr>
              <a:tr h="187324">
                <a:tc>
                  <a:txBody>
                    <a:bodyPr/>
                    <a:lstStyle/>
                    <a:p>
                      <a:endParaRPr lang="en-US" sz="700">
                        <a:effectLst/>
                      </a:endParaRPr>
                    </a:p>
                  </a:txBody>
                  <a:tcPr marL="0" marR="0" marT="0" marB="0" anchor="ctr"/>
                </a:tc>
                <a:tc>
                  <a:txBody>
                    <a:bodyPr/>
                    <a:lstStyle/>
                    <a:p>
                      <a:r>
                        <a:rPr lang="en-US" sz="700"/>
                        <a:t>Data Staged</a:t>
                      </a:r>
                    </a:p>
                  </a:txBody>
                  <a:tcPr marL="0" marR="0" marT="0" marB="0" anchor="ctr"/>
                </a:tc>
                <a:tc>
                  <a:txBody>
                    <a:bodyPr/>
                    <a:lstStyle/>
                    <a:p>
                      <a:r>
                        <a:rPr lang="en-US" sz="700"/>
                        <a:t>Non-Standard Port</a:t>
                      </a:r>
                    </a:p>
                  </a:txBody>
                  <a:tcPr marL="0" marR="0" marT="0" marB="0" anchor="ctr"/>
                </a:tc>
                <a:tc>
                  <a:txBody>
                    <a:bodyPr/>
                    <a:lstStyle/>
                    <a:p>
                      <a:endParaRPr lang="en-US" sz="700"/>
                    </a:p>
                  </a:txBody>
                  <a:tcPr marL="0" marR="0" marT="0" marB="0" anchor="ctr"/>
                </a:tc>
                <a:tc>
                  <a:txBody>
                    <a:bodyPr/>
                    <a:lstStyle/>
                    <a:p>
                      <a:r>
                        <a:rPr lang="en-US" sz="700"/>
                        <a:t>Resource Hijacking</a:t>
                      </a:r>
                    </a:p>
                  </a:txBody>
                  <a:tcPr marL="0" marR="0" marT="0" marB="0" anchor="ctr"/>
                </a:tc>
                <a:extLst>
                  <a:ext uri="{0D108BD9-81ED-4DB2-BD59-A6C34878D82A}">
                    <a16:rowId xmlns:a16="http://schemas.microsoft.com/office/drawing/2014/main" val="876140350"/>
                  </a:ext>
                </a:extLst>
              </a:tr>
              <a:tr h="187324">
                <a:tc>
                  <a:txBody>
                    <a:bodyPr/>
                    <a:lstStyle/>
                    <a:p>
                      <a:endParaRPr lang="en-US" sz="700">
                        <a:effectLst/>
                      </a:endParaRPr>
                    </a:p>
                  </a:txBody>
                  <a:tcPr marL="0" marR="0" marT="0" marB="0" anchor="ctr"/>
                </a:tc>
                <a:tc>
                  <a:txBody>
                    <a:bodyPr/>
                    <a:lstStyle/>
                    <a:p>
                      <a:r>
                        <a:rPr lang="en-US" sz="700"/>
                        <a:t>Email Collection</a:t>
                      </a:r>
                    </a:p>
                  </a:txBody>
                  <a:tcPr marL="0" marR="0" marT="0" marB="0" anchor="ctr"/>
                </a:tc>
                <a:tc>
                  <a:txBody>
                    <a:bodyPr/>
                    <a:lstStyle/>
                    <a:p>
                      <a:r>
                        <a:rPr lang="en-US" sz="700"/>
                        <a:t>Protocol Tunneling</a:t>
                      </a:r>
                    </a:p>
                  </a:txBody>
                  <a:tcPr marL="0" marR="0" marT="0" marB="0" anchor="ctr"/>
                </a:tc>
                <a:tc>
                  <a:txBody>
                    <a:bodyPr/>
                    <a:lstStyle/>
                    <a:p>
                      <a:endParaRPr lang="en-US" sz="700"/>
                    </a:p>
                  </a:txBody>
                  <a:tcPr marL="0" marR="0" marT="0" marB="0" anchor="ctr"/>
                </a:tc>
                <a:tc>
                  <a:txBody>
                    <a:bodyPr/>
                    <a:lstStyle/>
                    <a:p>
                      <a:r>
                        <a:rPr lang="en-US" sz="700"/>
                        <a:t>Service Stop</a:t>
                      </a:r>
                    </a:p>
                  </a:txBody>
                  <a:tcPr marL="0" marR="0" marT="0" marB="0" anchor="ctr"/>
                </a:tc>
                <a:extLst>
                  <a:ext uri="{0D108BD9-81ED-4DB2-BD59-A6C34878D82A}">
                    <a16:rowId xmlns:a16="http://schemas.microsoft.com/office/drawing/2014/main" val="2892594633"/>
                  </a:ext>
                </a:extLst>
              </a:tr>
              <a:tr h="374648">
                <a:tc>
                  <a:txBody>
                    <a:bodyPr/>
                    <a:lstStyle/>
                    <a:p>
                      <a:endParaRPr lang="en-US" sz="700">
                        <a:effectLst/>
                      </a:endParaRPr>
                    </a:p>
                  </a:txBody>
                  <a:tcPr marL="0" marR="0" marT="0" marB="0" anchor="ctr"/>
                </a:tc>
                <a:tc>
                  <a:txBody>
                    <a:bodyPr/>
                    <a:lstStyle/>
                    <a:p>
                      <a:r>
                        <a:rPr lang="en-US" sz="700"/>
                        <a:t>Input Capture</a:t>
                      </a:r>
                    </a:p>
                  </a:txBody>
                  <a:tcPr marL="0" marR="0" marT="0" marB="0" anchor="ctr"/>
                </a:tc>
                <a:tc>
                  <a:txBody>
                    <a:bodyPr/>
                    <a:lstStyle/>
                    <a:p>
                      <a:r>
                        <a:rPr lang="en-US" sz="700"/>
                        <a:t>Proxy</a:t>
                      </a:r>
                    </a:p>
                  </a:txBody>
                  <a:tcPr marL="0" marR="0" marT="0" marB="0" anchor="ctr"/>
                </a:tc>
                <a:tc>
                  <a:txBody>
                    <a:bodyPr/>
                    <a:lstStyle/>
                    <a:p>
                      <a:endParaRPr lang="en-US" sz="700"/>
                    </a:p>
                  </a:txBody>
                  <a:tcPr marL="0" marR="0" marT="0" marB="0" anchor="ctr"/>
                </a:tc>
                <a:tc>
                  <a:txBody>
                    <a:bodyPr/>
                    <a:lstStyle/>
                    <a:p>
                      <a:r>
                        <a:rPr lang="en-US" sz="700"/>
                        <a:t>System Shutdown/Reboot</a:t>
                      </a:r>
                    </a:p>
                  </a:txBody>
                  <a:tcPr marL="0" marR="0" marT="0" marB="0" anchor="ctr"/>
                </a:tc>
                <a:extLst>
                  <a:ext uri="{0D108BD9-81ED-4DB2-BD59-A6C34878D82A}">
                    <a16:rowId xmlns:a16="http://schemas.microsoft.com/office/drawing/2014/main" val="466488049"/>
                  </a:ext>
                </a:extLst>
              </a:tr>
              <a:tr h="374648">
                <a:tc>
                  <a:txBody>
                    <a:bodyPr/>
                    <a:lstStyle/>
                    <a:p>
                      <a:endParaRPr lang="en-US" sz="700">
                        <a:effectLst/>
                      </a:endParaRPr>
                    </a:p>
                  </a:txBody>
                  <a:tcPr marL="0" marR="0" marT="0" marB="0" anchor="ctr"/>
                </a:tc>
                <a:tc>
                  <a:txBody>
                    <a:bodyPr/>
                    <a:lstStyle/>
                    <a:p>
                      <a:r>
                        <a:rPr lang="en-US" sz="700"/>
                        <a:t>Screen Capture</a:t>
                      </a:r>
                    </a:p>
                  </a:txBody>
                  <a:tcPr marL="0" marR="0" marT="0" marB="0" anchor="ctr"/>
                </a:tc>
                <a:tc>
                  <a:txBody>
                    <a:bodyPr/>
                    <a:lstStyle/>
                    <a:p>
                      <a:r>
                        <a:rPr lang="en-US" sz="700"/>
                        <a:t>Remote Access Software</a:t>
                      </a:r>
                    </a:p>
                  </a:txBody>
                  <a:tcPr marL="0" marR="0" marT="0" marB="0" anchor="ctr"/>
                </a:tc>
                <a:tc>
                  <a:txBody>
                    <a:bodyPr/>
                    <a:lstStyle/>
                    <a:p>
                      <a:endParaRPr lang="en-US" sz="700"/>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678884076"/>
                  </a:ext>
                </a:extLst>
              </a:tr>
              <a:tr h="187324">
                <a:tc>
                  <a:txBody>
                    <a:bodyPr/>
                    <a:lstStyle/>
                    <a:p>
                      <a:endParaRPr lang="en-US" sz="700">
                        <a:effectLst/>
                      </a:endParaRPr>
                    </a:p>
                  </a:txBody>
                  <a:tcPr marL="0" marR="0" marT="0" marB="0" anchor="ctr"/>
                </a:tc>
                <a:tc>
                  <a:txBody>
                    <a:bodyPr/>
                    <a:lstStyle/>
                    <a:p>
                      <a:r>
                        <a:rPr lang="en-US" sz="700"/>
                        <a:t>Video Capture</a:t>
                      </a:r>
                    </a:p>
                  </a:txBody>
                  <a:tcPr marL="0" marR="0" marT="0" marB="0" anchor="ctr"/>
                </a:tc>
                <a:tc>
                  <a:txBody>
                    <a:bodyPr/>
                    <a:lstStyle/>
                    <a:p>
                      <a:r>
                        <a:rPr lang="en-US" sz="700"/>
                        <a:t>Traffic Signaling</a:t>
                      </a:r>
                    </a:p>
                  </a:txBody>
                  <a:tcPr marL="0" marR="0" marT="0" marB="0" anchor="ctr"/>
                </a:tc>
                <a:tc>
                  <a:txBody>
                    <a:bodyPr/>
                    <a:lstStyle/>
                    <a:p>
                      <a:endParaRPr lang="en-US" sz="700"/>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999277659"/>
                  </a:ext>
                </a:extLst>
              </a:tr>
              <a:tr h="187324">
                <a:tc>
                  <a:txBody>
                    <a:bodyPr/>
                    <a:lstStyle/>
                    <a:p>
                      <a:endParaRPr lang="en-US" sz="700">
                        <a:effectLst/>
                      </a:endParaRPr>
                    </a:p>
                  </a:txBody>
                  <a:tcPr marL="0" marR="0" marT="0" marB="0" anchor="ctr"/>
                </a:tc>
                <a:tc>
                  <a:txBody>
                    <a:bodyPr/>
                    <a:lstStyle/>
                    <a:p>
                      <a:endParaRPr lang="en-US" sz="700"/>
                    </a:p>
                  </a:txBody>
                  <a:tcPr marL="0" marR="0" marT="0" marB="0" anchor="ctr"/>
                </a:tc>
                <a:tc>
                  <a:txBody>
                    <a:bodyPr/>
                    <a:lstStyle/>
                    <a:p>
                      <a:r>
                        <a:rPr lang="en-US" sz="700"/>
                        <a:t>Web Service</a:t>
                      </a:r>
                    </a:p>
                  </a:txBody>
                  <a:tcPr marL="0" marR="0" marT="0" marB="0" anchor="ctr"/>
                </a:tc>
                <a:tc>
                  <a:txBody>
                    <a:bodyPr/>
                    <a:lstStyle/>
                    <a:p>
                      <a:endParaRPr lang="en-US" sz="700"/>
                    </a:p>
                  </a:txBody>
                  <a:tcPr marL="0" marR="0" marT="0" marB="0" anchor="ctr"/>
                </a:tc>
                <a:tc>
                  <a:txBody>
                    <a:bodyPr/>
                    <a:lstStyle/>
                    <a:p>
                      <a:endParaRPr lang="en-US" sz="700"/>
                    </a:p>
                  </a:txBody>
                  <a:tcPr marL="0" marR="0" marT="0" marB="0" anchor="ctr"/>
                </a:tc>
                <a:extLst>
                  <a:ext uri="{0D108BD9-81ED-4DB2-BD59-A6C34878D82A}">
                    <a16:rowId xmlns:a16="http://schemas.microsoft.com/office/drawing/2014/main" val="3947670076"/>
                  </a:ext>
                </a:extLst>
              </a:tr>
            </a:tbl>
          </a:graphicData>
        </a:graphic>
      </p:graphicFrame>
    </p:spTree>
    <p:extLst>
      <p:ext uri="{BB962C8B-B14F-4D97-AF65-F5344CB8AC3E}">
        <p14:creationId xmlns:p14="http://schemas.microsoft.com/office/powerpoint/2010/main" val="3672221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9664-3F03-4340-AC57-A11EC92FF10E}"/>
              </a:ext>
            </a:extLst>
          </p:cNvPr>
          <p:cNvSpPr>
            <a:spLocks noGrp="1"/>
          </p:cNvSpPr>
          <p:nvPr>
            <p:ph type="title"/>
          </p:nvPr>
        </p:nvSpPr>
        <p:spPr>
          <a:xfrm>
            <a:off x="381405" y="293437"/>
            <a:ext cx="8230054" cy="1143000"/>
          </a:xfrm>
        </p:spPr>
        <p:txBody>
          <a:bodyPr/>
          <a:lstStyle/>
          <a:p>
            <a:r>
              <a:rPr lang="en-US" sz="3200" dirty="0"/>
              <a:t>ATT&amp;CK Storyboard &amp; Timeline</a:t>
            </a:r>
            <a:endParaRPr lang="en-US" sz="3200">
              <a:cs typeface="Arial"/>
            </a:endParaRPr>
          </a:p>
        </p:txBody>
      </p:sp>
      <p:cxnSp>
        <p:nvCxnSpPr>
          <p:cNvPr id="5" name="Straight Connector 4">
            <a:extLst>
              <a:ext uri="{FF2B5EF4-FFF2-40B4-BE49-F238E27FC236}">
                <a16:creationId xmlns:a16="http://schemas.microsoft.com/office/drawing/2014/main" id="{04969B80-B789-E892-FB0D-4B0B57C27D34}"/>
              </a:ext>
            </a:extLst>
          </p:cNvPr>
          <p:cNvCxnSpPr>
            <a:cxnSpLocks/>
          </p:cNvCxnSpPr>
          <p:nvPr/>
        </p:nvCxnSpPr>
        <p:spPr>
          <a:xfrm flipV="1">
            <a:off x="800100" y="2171700"/>
            <a:ext cx="7600950" cy="3429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69D709B4-6839-0AAC-CABC-F74BDF327BA5}"/>
              </a:ext>
            </a:extLst>
          </p:cNvPr>
          <p:cNvCxnSpPr/>
          <p:nvPr/>
        </p:nvCxnSpPr>
        <p:spPr>
          <a:xfrm flipH="1">
            <a:off x="806369" y="4659773"/>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44A9B2C-4804-FB91-AE6E-0C81590066A4}"/>
              </a:ext>
            </a:extLst>
          </p:cNvPr>
          <p:cNvCxnSpPr>
            <a:cxnSpLocks/>
          </p:cNvCxnSpPr>
          <p:nvPr/>
        </p:nvCxnSpPr>
        <p:spPr>
          <a:xfrm flipH="1">
            <a:off x="2098875" y="5026304"/>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DAC0FC5-D796-C9E4-C6A7-3952BAE6D33B}"/>
              </a:ext>
            </a:extLst>
          </p:cNvPr>
          <p:cNvCxnSpPr>
            <a:cxnSpLocks/>
          </p:cNvCxnSpPr>
          <p:nvPr/>
        </p:nvCxnSpPr>
        <p:spPr>
          <a:xfrm flipH="1">
            <a:off x="2928394" y="3704862"/>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B69E03D-96E2-1411-5F61-E4BA2A61DA1B}"/>
              </a:ext>
            </a:extLst>
          </p:cNvPr>
          <p:cNvCxnSpPr>
            <a:cxnSpLocks/>
          </p:cNvCxnSpPr>
          <p:nvPr/>
        </p:nvCxnSpPr>
        <p:spPr>
          <a:xfrm flipH="1">
            <a:off x="3844723" y="4220808"/>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63D7325-50C9-90AC-F48F-18B22957731A}"/>
              </a:ext>
            </a:extLst>
          </p:cNvPr>
          <p:cNvCxnSpPr>
            <a:cxnSpLocks/>
          </p:cNvCxnSpPr>
          <p:nvPr/>
        </p:nvCxnSpPr>
        <p:spPr>
          <a:xfrm flipH="1">
            <a:off x="4732116" y="2884988"/>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9184DC1-6AF3-C103-AF30-BEF2C2D54B5E}"/>
              </a:ext>
            </a:extLst>
          </p:cNvPr>
          <p:cNvCxnSpPr>
            <a:cxnSpLocks/>
          </p:cNvCxnSpPr>
          <p:nvPr/>
        </p:nvCxnSpPr>
        <p:spPr>
          <a:xfrm flipH="1">
            <a:off x="6236824" y="3145418"/>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197BC90-6175-BD55-BEAD-FC22B8B3281A}"/>
              </a:ext>
            </a:extLst>
          </p:cNvPr>
          <p:cNvCxnSpPr>
            <a:cxnSpLocks/>
          </p:cNvCxnSpPr>
          <p:nvPr/>
        </p:nvCxnSpPr>
        <p:spPr>
          <a:xfrm flipH="1">
            <a:off x="7201381" y="1766102"/>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A5F6A46-B3A5-993A-C41B-77CFA2168580}"/>
              </a:ext>
            </a:extLst>
          </p:cNvPr>
          <p:cNvCxnSpPr>
            <a:cxnSpLocks/>
          </p:cNvCxnSpPr>
          <p:nvPr/>
        </p:nvCxnSpPr>
        <p:spPr>
          <a:xfrm flipH="1">
            <a:off x="8387786" y="2161570"/>
            <a:ext cx="0" cy="916329"/>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50CA54C-9655-F9EA-C623-18CF6D471692}"/>
              </a:ext>
            </a:extLst>
          </p:cNvPr>
          <p:cNvSpPr txBox="1"/>
          <p:nvPr/>
        </p:nvSpPr>
        <p:spPr>
          <a:xfrm>
            <a:off x="0" y="3509889"/>
            <a:ext cx="196947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t>DDMMMYY – Event A took place on system N affecting &lt;customer impacted system or function&gt;. This was discovered/addressed by &lt;our action&gt;.</a:t>
            </a:r>
            <a:endParaRPr lang="en-US" sz="1100" dirty="0">
              <a:cs typeface="Arial"/>
            </a:endParaRPr>
          </a:p>
        </p:txBody>
      </p:sp>
    </p:spTree>
    <p:extLst>
      <p:ext uri="{BB962C8B-B14F-4D97-AF65-F5344CB8AC3E}">
        <p14:creationId xmlns:p14="http://schemas.microsoft.com/office/powerpoint/2010/main" val="1127541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9664-3F03-4340-AC57-A11EC92FF10E}"/>
              </a:ext>
            </a:extLst>
          </p:cNvPr>
          <p:cNvSpPr>
            <a:spLocks noGrp="1"/>
          </p:cNvSpPr>
          <p:nvPr>
            <p:ph type="title"/>
          </p:nvPr>
        </p:nvSpPr>
        <p:spPr>
          <a:xfrm>
            <a:off x="381405" y="293437"/>
            <a:ext cx="8230054" cy="1143000"/>
          </a:xfrm>
        </p:spPr>
        <p:txBody>
          <a:bodyPr/>
          <a:lstStyle/>
          <a:p>
            <a:r>
              <a:rPr lang="en-US" sz="3200" dirty="0"/>
              <a:t>ATT&amp;CK Storyboard &amp; Timeline</a:t>
            </a:r>
            <a:br>
              <a:rPr lang="en-US" sz="3200" dirty="0"/>
            </a:br>
            <a:r>
              <a:rPr lang="en-US" sz="3200" dirty="0">
                <a:cs typeface="Arial"/>
              </a:rPr>
              <a:t>TEMPLATE</a:t>
            </a:r>
          </a:p>
        </p:txBody>
      </p:sp>
      <p:cxnSp>
        <p:nvCxnSpPr>
          <p:cNvPr id="5" name="Straight Connector 4">
            <a:extLst>
              <a:ext uri="{FF2B5EF4-FFF2-40B4-BE49-F238E27FC236}">
                <a16:creationId xmlns:a16="http://schemas.microsoft.com/office/drawing/2014/main" id="{04969B80-B789-E892-FB0D-4B0B57C27D34}"/>
              </a:ext>
            </a:extLst>
          </p:cNvPr>
          <p:cNvCxnSpPr>
            <a:cxnSpLocks/>
          </p:cNvCxnSpPr>
          <p:nvPr/>
        </p:nvCxnSpPr>
        <p:spPr>
          <a:xfrm flipV="1">
            <a:off x="26378" y="1890346"/>
            <a:ext cx="9092124" cy="175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A085718-6A10-2249-78FD-528E5D769918}"/>
              </a:ext>
            </a:extLst>
          </p:cNvPr>
          <p:cNvSpPr txBox="1"/>
          <p:nvPr/>
        </p:nvSpPr>
        <p:spPr>
          <a:xfrm>
            <a:off x="0" y="1320127"/>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err="1"/>
              <a:t>Ddd</a:t>
            </a:r>
            <a:r>
              <a:rPr lang="en-US" sz="1100" dirty="0"/>
              <a:t> DDMMMYYYY</a:t>
            </a:r>
            <a:endParaRPr lang="en-US" sz="1100" dirty="0">
              <a:cs typeface="Arial"/>
            </a:endParaRPr>
          </a:p>
        </p:txBody>
      </p:sp>
      <p:cxnSp>
        <p:nvCxnSpPr>
          <p:cNvPr id="15" name="Straight Connector 14">
            <a:extLst>
              <a:ext uri="{FF2B5EF4-FFF2-40B4-BE49-F238E27FC236}">
                <a16:creationId xmlns:a16="http://schemas.microsoft.com/office/drawing/2014/main" id="{EE710BBB-B429-B1A8-C9E6-5AF9E515A30D}"/>
              </a:ext>
            </a:extLst>
          </p:cNvPr>
          <p:cNvCxnSpPr>
            <a:cxnSpLocks/>
          </p:cNvCxnSpPr>
          <p:nvPr/>
        </p:nvCxnSpPr>
        <p:spPr>
          <a:xfrm flipV="1">
            <a:off x="873763" y="1667233"/>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BD067B9-F17B-6816-5C2D-68ECCAAE0474}"/>
              </a:ext>
            </a:extLst>
          </p:cNvPr>
          <p:cNvCxnSpPr>
            <a:cxnSpLocks/>
          </p:cNvCxnSpPr>
          <p:nvPr/>
        </p:nvCxnSpPr>
        <p:spPr>
          <a:xfrm flipV="1">
            <a:off x="1705904"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52BD5E0-919C-78C7-564B-500B006AEBF3}"/>
              </a:ext>
            </a:extLst>
          </p:cNvPr>
          <p:cNvCxnSpPr>
            <a:cxnSpLocks/>
          </p:cNvCxnSpPr>
          <p:nvPr/>
        </p:nvCxnSpPr>
        <p:spPr>
          <a:xfrm flipV="1">
            <a:off x="2528482"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7F04F3B-4575-4AC2-0EAC-3D88EC37A32B}"/>
              </a:ext>
            </a:extLst>
          </p:cNvPr>
          <p:cNvCxnSpPr>
            <a:cxnSpLocks/>
          </p:cNvCxnSpPr>
          <p:nvPr/>
        </p:nvCxnSpPr>
        <p:spPr>
          <a:xfrm flipV="1">
            <a:off x="3360623"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8A4F4C7-3316-69B0-5A6E-FF1807093045}"/>
              </a:ext>
            </a:extLst>
          </p:cNvPr>
          <p:cNvCxnSpPr>
            <a:cxnSpLocks/>
          </p:cNvCxnSpPr>
          <p:nvPr/>
        </p:nvCxnSpPr>
        <p:spPr>
          <a:xfrm flipV="1">
            <a:off x="4173637"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38E03F8-96D0-5ED6-8344-F5A08358BA29}"/>
              </a:ext>
            </a:extLst>
          </p:cNvPr>
          <p:cNvCxnSpPr>
            <a:cxnSpLocks/>
          </p:cNvCxnSpPr>
          <p:nvPr/>
        </p:nvCxnSpPr>
        <p:spPr>
          <a:xfrm flipV="1">
            <a:off x="5005778"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DB9B9C7-C304-8890-28ED-B039C81C45C9}"/>
              </a:ext>
            </a:extLst>
          </p:cNvPr>
          <p:cNvCxnSpPr>
            <a:cxnSpLocks/>
          </p:cNvCxnSpPr>
          <p:nvPr/>
        </p:nvCxnSpPr>
        <p:spPr>
          <a:xfrm flipV="1">
            <a:off x="5828356"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9DC685A-6140-8805-2543-8D0A99F7F6B4}"/>
              </a:ext>
            </a:extLst>
          </p:cNvPr>
          <p:cNvCxnSpPr>
            <a:cxnSpLocks/>
          </p:cNvCxnSpPr>
          <p:nvPr/>
        </p:nvCxnSpPr>
        <p:spPr>
          <a:xfrm flipV="1">
            <a:off x="6660497" y="1667230"/>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D1807A3-7640-09D9-42B8-1D3E7073516F}"/>
              </a:ext>
            </a:extLst>
          </p:cNvPr>
          <p:cNvCxnSpPr>
            <a:cxnSpLocks/>
          </p:cNvCxnSpPr>
          <p:nvPr/>
        </p:nvCxnSpPr>
        <p:spPr>
          <a:xfrm flipV="1">
            <a:off x="7492641" y="1657667"/>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197BEFF-F9C3-6CEE-A494-6765DC56B343}"/>
              </a:ext>
            </a:extLst>
          </p:cNvPr>
          <p:cNvCxnSpPr>
            <a:cxnSpLocks/>
          </p:cNvCxnSpPr>
          <p:nvPr/>
        </p:nvCxnSpPr>
        <p:spPr>
          <a:xfrm flipV="1">
            <a:off x="8324782" y="1657666"/>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3998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89664-3F03-4340-AC57-A11EC92FF10E}"/>
              </a:ext>
            </a:extLst>
          </p:cNvPr>
          <p:cNvSpPr>
            <a:spLocks noGrp="1"/>
          </p:cNvSpPr>
          <p:nvPr>
            <p:ph type="title"/>
          </p:nvPr>
        </p:nvSpPr>
        <p:spPr>
          <a:xfrm>
            <a:off x="381405" y="293437"/>
            <a:ext cx="8230054" cy="1143000"/>
          </a:xfrm>
        </p:spPr>
        <p:txBody>
          <a:bodyPr/>
          <a:lstStyle/>
          <a:p>
            <a:r>
              <a:rPr lang="en-US" sz="3200" dirty="0"/>
              <a:t>ATT&amp;CK Storyboard &amp; Timeline</a:t>
            </a:r>
            <a:endParaRPr lang="en-US" sz="3200">
              <a:cs typeface="Arial"/>
            </a:endParaRPr>
          </a:p>
        </p:txBody>
      </p:sp>
      <p:cxnSp>
        <p:nvCxnSpPr>
          <p:cNvPr id="5" name="Straight Connector 4">
            <a:extLst>
              <a:ext uri="{FF2B5EF4-FFF2-40B4-BE49-F238E27FC236}">
                <a16:creationId xmlns:a16="http://schemas.microsoft.com/office/drawing/2014/main" id="{04969B80-B789-E892-FB0D-4B0B57C27D34}"/>
              </a:ext>
            </a:extLst>
          </p:cNvPr>
          <p:cNvCxnSpPr>
            <a:cxnSpLocks/>
          </p:cNvCxnSpPr>
          <p:nvPr/>
        </p:nvCxnSpPr>
        <p:spPr>
          <a:xfrm flipV="1">
            <a:off x="26378" y="1890346"/>
            <a:ext cx="9092124" cy="175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A085718-6A10-2249-78FD-528E5D769918}"/>
              </a:ext>
            </a:extLst>
          </p:cNvPr>
          <p:cNvSpPr txBox="1"/>
          <p:nvPr/>
        </p:nvSpPr>
        <p:spPr>
          <a:xfrm>
            <a:off x="0" y="1320127"/>
            <a:ext cx="2743200"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err="1"/>
              <a:t>Ddd</a:t>
            </a:r>
            <a:r>
              <a:rPr lang="en-US" sz="1100" dirty="0"/>
              <a:t> DDMMMYYYY</a:t>
            </a:r>
            <a:endParaRPr lang="en-US" sz="1100" dirty="0">
              <a:cs typeface="Arial"/>
            </a:endParaRPr>
          </a:p>
        </p:txBody>
      </p:sp>
      <p:cxnSp>
        <p:nvCxnSpPr>
          <p:cNvPr id="15" name="Straight Connector 14">
            <a:extLst>
              <a:ext uri="{FF2B5EF4-FFF2-40B4-BE49-F238E27FC236}">
                <a16:creationId xmlns:a16="http://schemas.microsoft.com/office/drawing/2014/main" id="{EE710BBB-B429-B1A8-C9E6-5AF9E515A30D}"/>
              </a:ext>
            </a:extLst>
          </p:cNvPr>
          <p:cNvCxnSpPr>
            <a:cxnSpLocks/>
          </p:cNvCxnSpPr>
          <p:nvPr/>
        </p:nvCxnSpPr>
        <p:spPr>
          <a:xfrm flipV="1">
            <a:off x="873763" y="1667233"/>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BD067B9-F17B-6816-5C2D-68ECCAAE0474}"/>
              </a:ext>
            </a:extLst>
          </p:cNvPr>
          <p:cNvCxnSpPr>
            <a:cxnSpLocks/>
          </p:cNvCxnSpPr>
          <p:nvPr/>
        </p:nvCxnSpPr>
        <p:spPr>
          <a:xfrm flipV="1">
            <a:off x="1705904"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52BD5E0-919C-78C7-564B-500B006AEBF3}"/>
              </a:ext>
            </a:extLst>
          </p:cNvPr>
          <p:cNvCxnSpPr>
            <a:cxnSpLocks/>
          </p:cNvCxnSpPr>
          <p:nvPr/>
        </p:nvCxnSpPr>
        <p:spPr>
          <a:xfrm flipV="1">
            <a:off x="2528482"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7F04F3B-4575-4AC2-0EAC-3D88EC37A32B}"/>
              </a:ext>
            </a:extLst>
          </p:cNvPr>
          <p:cNvCxnSpPr>
            <a:cxnSpLocks/>
          </p:cNvCxnSpPr>
          <p:nvPr/>
        </p:nvCxnSpPr>
        <p:spPr>
          <a:xfrm flipV="1">
            <a:off x="3360623"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8A4F4C7-3316-69B0-5A6E-FF1807093045}"/>
              </a:ext>
            </a:extLst>
          </p:cNvPr>
          <p:cNvCxnSpPr>
            <a:cxnSpLocks/>
          </p:cNvCxnSpPr>
          <p:nvPr/>
        </p:nvCxnSpPr>
        <p:spPr>
          <a:xfrm flipV="1">
            <a:off x="4173637" y="1667232"/>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38E03F8-96D0-5ED6-8344-F5A08358BA29}"/>
              </a:ext>
            </a:extLst>
          </p:cNvPr>
          <p:cNvCxnSpPr>
            <a:cxnSpLocks/>
          </p:cNvCxnSpPr>
          <p:nvPr/>
        </p:nvCxnSpPr>
        <p:spPr>
          <a:xfrm flipV="1">
            <a:off x="5005778"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DB9B9C7-C304-8890-28ED-B039C81C45C9}"/>
              </a:ext>
            </a:extLst>
          </p:cNvPr>
          <p:cNvCxnSpPr>
            <a:cxnSpLocks/>
          </p:cNvCxnSpPr>
          <p:nvPr/>
        </p:nvCxnSpPr>
        <p:spPr>
          <a:xfrm flipV="1">
            <a:off x="5828356" y="1667231"/>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9DC685A-6140-8805-2543-8D0A99F7F6B4}"/>
              </a:ext>
            </a:extLst>
          </p:cNvPr>
          <p:cNvCxnSpPr>
            <a:cxnSpLocks/>
          </p:cNvCxnSpPr>
          <p:nvPr/>
        </p:nvCxnSpPr>
        <p:spPr>
          <a:xfrm flipV="1">
            <a:off x="6660497" y="1667230"/>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D1807A3-7640-09D9-42B8-1D3E7073516F}"/>
              </a:ext>
            </a:extLst>
          </p:cNvPr>
          <p:cNvCxnSpPr>
            <a:cxnSpLocks/>
          </p:cNvCxnSpPr>
          <p:nvPr/>
        </p:nvCxnSpPr>
        <p:spPr>
          <a:xfrm flipV="1">
            <a:off x="7492641" y="1657667"/>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197BEFF-F9C3-6CEE-A494-6765DC56B343}"/>
              </a:ext>
            </a:extLst>
          </p:cNvPr>
          <p:cNvCxnSpPr>
            <a:cxnSpLocks/>
          </p:cNvCxnSpPr>
          <p:nvPr/>
        </p:nvCxnSpPr>
        <p:spPr>
          <a:xfrm flipV="1">
            <a:off x="8324782" y="1657666"/>
            <a:ext cx="32531" cy="520152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72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8DB8AA-FF28-4C75-A6EE-A7DDDF52E289}"/>
              </a:ext>
            </a:extLst>
          </p:cNvPr>
          <p:cNvSpPr>
            <a:spLocks noGrp="1"/>
          </p:cNvSpPr>
          <p:nvPr>
            <p:ph type="title"/>
          </p:nvPr>
        </p:nvSpPr>
        <p:spPr/>
        <p:txBody>
          <a:bodyPr/>
          <a:lstStyle/>
          <a:p>
            <a:r>
              <a:rPr lang="en-US" dirty="0"/>
              <a:t>Response Actions</a:t>
            </a:r>
          </a:p>
        </p:txBody>
      </p:sp>
      <p:sp>
        <p:nvSpPr>
          <p:cNvPr id="5" name="Content Placeholder 4">
            <a:extLst>
              <a:ext uri="{FF2B5EF4-FFF2-40B4-BE49-F238E27FC236}">
                <a16:creationId xmlns:a16="http://schemas.microsoft.com/office/drawing/2014/main" id="{DE9813F4-0065-474F-AA70-4ED6911F0A22}"/>
              </a:ext>
            </a:extLst>
          </p:cNvPr>
          <p:cNvSpPr>
            <a:spLocks noGrp="1"/>
          </p:cNvSpPr>
          <p:nvPr>
            <p:ph sz="half" idx="1"/>
          </p:nvPr>
        </p:nvSpPr>
        <p:spPr>
          <a:xfrm>
            <a:off x="456976" y="1950103"/>
            <a:ext cx="4060598" cy="3993497"/>
          </a:xfrm>
        </p:spPr>
        <p:txBody>
          <a:bodyPr/>
          <a:lstStyle/>
          <a:p>
            <a:pPr marL="0" indent="0" algn="ctr">
              <a:buNone/>
            </a:pPr>
            <a:r>
              <a:rPr lang="en-US" b="1" dirty="0"/>
              <a:t>Findings addressed</a:t>
            </a:r>
          </a:p>
          <a:p>
            <a:endParaRPr lang="en-US" dirty="0"/>
          </a:p>
        </p:txBody>
      </p:sp>
      <p:sp>
        <p:nvSpPr>
          <p:cNvPr id="6" name="Content Placeholder 5">
            <a:extLst>
              <a:ext uri="{FF2B5EF4-FFF2-40B4-BE49-F238E27FC236}">
                <a16:creationId xmlns:a16="http://schemas.microsoft.com/office/drawing/2014/main" id="{4D20E435-7151-4B36-890D-33B8F63277C0}"/>
              </a:ext>
            </a:extLst>
          </p:cNvPr>
          <p:cNvSpPr>
            <a:spLocks noGrp="1"/>
          </p:cNvSpPr>
          <p:nvPr>
            <p:ph sz="half" idx="2"/>
          </p:nvPr>
        </p:nvSpPr>
        <p:spPr>
          <a:xfrm>
            <a:off x="4626431" y="1950103"/>
            <a:ext cx="4060599" cy="3993497"/>
          </a:xfrm>
        </p:spPr>
        <p:txBody>
          <a:bodyPr/>
          <a:lstStyle/>
          <a:p>
            <a:pPr marL="0" indent="0" algn="ctr">
              <a:buNone/>
            </a:pPr>
            <a:r>
              <a:rPr lang="en-US" b="1" dirty="0"/>
              <a:t>Monitoring status</a:t>
            </a:r>
          </a:p>
          <a:p>
            <a:endParaRPr lang="en-US" dirty="0"/>
          </a:p>
        </p:txBody>
      </p:sp>
    </p:spTree>
    <p:extLst>
      <p:ext uri="{BB962C8B-B14F-4D97-AF65-F5344CB8AC3E}">
        <p14:creationId xmlns:p14="http://schemas.microsoft.com/office/powerpoint/2010/main" val="1366791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59A06-CA15-491C-ECE4-D226293F822B}"/>
              </a:ext>
            </a:extLst>
          </p:cNvPr>
          <p:cNvSpPr>
            <a:spLocks noGrp="1"/>
          </p:cNvSpPr>
          <p:nvPr>
            <p:ph type="title"/>
          </p:nvPr>
        </p:nvSpPr>
        <p:spPr/>
        <p:txBody>
          <a:bodyPr/>
          <a:lstStyle/>
          <a:p>
            <a:r>
              <a:rPr lang="en-US" sz="3600" kern="1200" dirty="0">
                <a:solidFill>
                  <a:schemeClr val="dk1"/>
                </a:solidFill>
                <a:effectLst/>
                <a:latin typeface="+mn-lt"/>
                <a:ea typeface="+mn-ea"/>
                <a:cs typeface="+mn-cs"/>
              </a:rPr>
              <a:t>Stakeholder </a:t>
            </a:r>
            <a:r>
              <a:rPr lang="en-US" sz="3600" kern="1200" dirty="0">
                <a:solidFill>
                  <a:schemeClr val="dk1"/>
                </a:solidFill>
                <a:latin typeface="+mn-lt"/>
                <a:ea typeface="+mn-ea"/>
                <a:cs typeface="+mn-cs"/>
              </a:rPr>
              <a:t>O</a:t>
            </a:r>
            <a:r>
              <a:rPr lang="en-US" sz="3600" kern="1200" dirty="0">
                <a:solidFill>
                  <a:schemeClr val="dk1"/>
                </a:solidFill>
                <a:effectLst/>
                <a:latin typeface="+mn-lt"/>
                <a:ea typeface="+mn-ea"/>
                <a:cs typeface="+mn-cs"/>
              </a:rPr>
              <a:t>utbrief</a:t>
            </a:r>
            <a:br>
              <a:rPr lang="en-US" sz="3600" b="1" dirty="0">
                <a:effectLst/>
                <a:latin typeface="+mn-lt"/>
                <a:ea typeface="Times New Roman" panose="02020603050405020304" pitchFamily="18" charset="0"/>
              </a:rPr>
            </a:br>
            <a:endParaRPr lang="en-US" sz="3600" dirty="0"/>
          </a:p>
        </p:txBody>
      </p:sp>
      <p:sp>
        <p:nvSpPr>
          <p:cNvPr id="5" name="Content Placeholder 4">
            <a:extLst>
              <a:ext uri="{FF2B5EF4-FFF2-40B4-BE49-F238E27FC236}">
                <a16:creationId xmlns:a16="http://schemas.microsoft.com/office/drawing/2014/main" id="{D0801880-BD8D-78DA-81BA-3D7B6E39141C}"/>
              </a:ext>
            </a:extLst>
          </p:cNvPr>
          <p:cNvSpPr>
            <a:spLocks noGrp="1"/>
          </p:cNvSpPr>
          <p:nvPr>
            <p:ph idx="1"/>
          </p:nvPr>
        </p:nvSpPr>
        <p:spPr/>
        <p:txBody>
          <a:bodyPr/>
          <a:lstStyle/>
          <a:p>
            <a:pPr marL="290830" indent="-290830"/>
            <a:r>
              <a:rPr lang="en-US" sz="2800" b="1" kern="0" dirty="0">
                <a:latin typeface="+mn-lt"/>
              </a:rPr>
              <a:t>CT7;ST4</a:t>
            </a:r>
            <a:r>
              <a:rPr lang="en-US" sz="2800" b="1" dirty="0">
                <a:effectLst/>
                <a:latin typeface="+mn-lt"/>
                <a:ea typeface="Times New Roman" panose="02020603050405020304" pitchFamily="18" charset="0"/>
              </a:rPr>
              <a:t>: </a:t>
            </a:r>
            <a:r>
              <a:rPr lang="en-US" sz="2800" kern="1200" dirty="0">
                <a:solidFill>
                  <a:schemeClr val="dk1"/>
                </a:solidFill>
                <a:effectLst/>
                <a:latin typeface="+mn-lt"/>
                <a:ea typeface="+mn-ea"/>
                <a:cs typeface="+mn-cs"/>
              </a:rPr>
              <a:t>Out brief to key stakeholders.</a:t>
            </a:r>
            <a:endParaRPr lang="en-US" sz="2800" kern="1200" dirty="0">
              <a:solidFill>
                <a:schemeClr val="dk1"/>
              </a:solidFill>
              <a:effectLst/>
              <a:latin typeface="+mn-lt"/>
              <a:cs typeface="Arial"/>
            </a:endParaRPr>
          </a:p>
          <a:p>
            <a:pPr marL="290830" indent="-290830"/>
            <a:r>
              <a:rPr lang="en-US" sz="2800" kern="1200" dirty="0">
                <a:solidFill>
                  <a:schemeClr val="dk1"/>
                </a:solidFill>
              </a:rPr>
              <a:t>ID slides for outbrief</a:t>
            </a:r>
            <a:endParaRPr lang="en-US" sz="2800" kern="1200" dirty="0">
              <a:solidFill>
                <a:schemeClr val="dk1"/>
              </a:solidFill>
              <a:cs typeface="Arial"/>
            </a:endParaRPr>
          </a:p>
          <a:p>
            <a:pPr marL="389255" lvl="1" indent="0">
              <a:buNone/>
            </a:pPr>
            <a:r>
              <a:rPr lang="en-US" sz="2500" kern="1200" dirty="0">
                <a:solidFill>
                  <a:schemeClr val="dk1"/>
                </a:solidFill>
                <a:cs typeface="Arial"/>
              </a:rPr>
              <a:t>-Insert </a:t>
            </a:r>
            <a:r>
              <a:rPr lang="en-US" sz="2500" kern="1200" dirty="0" err="1">
                <a:solidFill>
                  <a:schemeClr val="dk1"/>
                </a:solidFill>
                <a:cs typeface="Arial"/>
              </a:rPr>
              <a:t>Inbrief</a:t>
            </a:r>
            <a:endParaRPr lang="en-US" sz="2500" kern="1200" dirty="0">
              <a:solidFill>
                <a:schemeClr val="dk1"/>
              </a:solidFill>
              <a:cs typeface="Arial"/>
            </a:endParaRPr>
          </a:p>
          <a:p>
            <a:pPr marL="389255" lvl="1" indent="0">
              <a:buNone/>
            </a:pPr>
            <a:r>
              <a:rPr lang="en-US" sz="2500" kern="1200" dirty="0">
                <a:solidFill>
                  <a:schemeClr val="dk1"/>
                </a:solidFill>
                <a:cs typeface="Arial"/>
              </a:rPr>
              <a:t>-</a:t>
            </a:r>
            <a:r>
              <a:rPr lang="en-US" sz="2500" kern="1200" dirty="0">
                <a:solidFill>
                  <a:schemeClr val="dk1"/>
                </a:solidFill>
                <a:ea typeface="+mn-lt"/>
                <a:cs typeface="+mn-lt"/>
              </a:rPr>
              <a:t>Insert Refer to Findings, IOCs found, </a:t>
            </a:r>
          </a:p>
          <a:p>
            <a:pPr marL="389255" lvl="1" indent="0">
              <a:buNone/>
            </a:pPr>
            <a:r>
              <a:rPr lang="en-US" sz="2500" kern="1200" dirty="0">
                <a:solidFill>
                  <a:schemeClr val="dk1"/>
                </a:solidFill>
                <a:cs typeface="Arial"/>
              </a:rPr>
              <a:t>-Insert Response Actions</a:t>
            </a:r>
            <a:endParaRPr lang="en-US" dirty="0">
              <a:solidFill>
                <a:schemeClr val="dk1"/>
              </a:solidFill>
            </a:endParaRPr>
          </a:p>
          <a:p>
            <a:pPr marL="389255" lvl="1" indent="0">
              <a:buNone/>
            </a:pPr>
            <a:r>
              <a:rPr lang="en-US" sz="2500" kern="1200" dirty="0">
                <a:solidFill>
                  <a:schemeClr val="dk1"/>
                </a:solidFill>
                <a:cs typeface="Arial"/>
              </a:rPr>
              <a:t>-Insert Timeline</a:t>
            </a:r>
          </a:p>
          <a:p>
            <a:pPr marL="389255" lvl="1" indent="0">
              <a:buNone/>
            </a:pPr>
            <a:r>
              <a:rPr lang="en-US" sz="2500" kern="1200" dirty="0">
                <a:solidFill>
                  <a:schemeClr val="dk1"/>
                </a:solidFill>
                <a:cs typeface="Arial"/>
              </a:rPr>
              <a:t>-(don't make a new product)</a:t>
            </a:r>
          </a:p>
          <a:p>
            <a:pPr marL="290830" indent="-290830"/>
            <a:endParaRPr lang="en-US" dirty="0">
              <a:solidFill>
                <a:schemeClr val="dk1"/>
              </a:solidFill>
              <a:cs typeface="Arial"/>
            </a:endParaRPr>
          </a:p>
        </p:txBody>
      </p:sp>
    </p:spTree>
    <p:extLst>
      <p:ext uri="{BB962C8B-B14F-4D97-AF65-F5344CB8AC3E}">
        <p14:creationId xmlns:p14="http://schemas.microsoft.com/office/powerpoint/2010/main" val="1700921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8F43D2-3D98-4927-98B5-45719282AD3C}"/>
              </a:ext>
            </a:extLst>
          </p:cNvPr>
          <p:cNvSpPr>
            <a:spLocks noGrp="1"/>
          </p:cNvSpPr>
          <p:nvPr>
            <p:ph type="title"/>
          </p:nvPr>
        </p:nvSpPr>
        <p:spPr/>
        <p:txBody>
          <a:bodyPr/>
          <a:lstStyle/>
          <a:p>
            <a:r>
              <a:rPr lang="en-US" dirty="0"/>
              <a:t>Additional slide templates</a:t>
            </a:r>
          </a:p>
        </p:txBody>
      </p:sp>
      <p:sp>
        <p:nvSpPr>
          <p:cNvPr id="5" name="Text Placeholder 4">
            <a:extLst>
              <a:ext uri="{FF2B5EF4-FFF2-40B4-BE49-F238E27FC236}">
                <a16:creationId xmlns:a16="http://schemas.microsoft.com/office/drawing/2014/main" id="{299A0276-51CE-482B-9F92-2CF8C3CC667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40542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defRPr/>
            </a:pPr>
            <a:r>
              <a:rPr lang="en-US" dirty="0">
                <a:solidFill>
                  <a:schemeClr val="tx1"/>
                </a:solidFill>
                <a:cs typeface="Arial"/>
              </a:rPr>
              <a:t>JPP</a:t>
            </a:r>
          </a:p>
        </p:txBody>
      </p:sp>
      <p:sp>
        <p:nvSpPr>
          <p:cNvPr id="6149" name="Rectangle 3"/>
          <p:cNvSpPr>
            <a:spLocks noGrp="1" noChangeArrowheads="1"/>
          </p:cNvSpPr>
          <p:nvPr>
            <p:ph idx="1"/>
          </p:nvPr>
        </p:nvSpPr>
        <p:spPr/>
        <p:txBody>
          <a:bodyPr/>
          <a:lstStyle/>
          <a:p>
            <a:pPr marL="290830" indent="-290830" eaLnBrk="1" hangingPunct="1">
              <a:buFont typeface="Arial"/>
              <a:buChar char="•"/>
            </a:pPr>
            <a:r>
              <a:rPr lang="en-US" sz="1600" dirty="0">
                <a:cs typeface="Arial"/>
              </a:rPr>
              <a:t>Planning Initiation</a:t>
            </a:r>
            <a:endParaRPr lang="en-US" sz="1600">
              <a:cs typeface="Arial"/>
            </a:endParaRPr>
          </a:p>
          <a:p>
            <a:pPr marL="633095" lvl="1" indent="-243840">
              <a:buFont typeface="Arial"/>
              <a:buChar char="•"/>
            </a:pPr>
            <a:r>
              <a:rPr lang="en-US" sz="1400" dirty="0">
                <a:ea typeface="+mn-lt"/>
                <a:cs typeface="+mn-lt"/>
              </a:rPr>
              <a:t>Issue WARNO</a:t>
            </a:r>
          </a:p>
          <a:p>
            <a:pPr marL="290830" indent="-290830">
              <a:buFont typeface="Arial"/>
            </a:pPr>
            <a:endParaRPr lang="en-US" sz="1600" dirty="0">
              <a:ea typeface="+mn-lt"/>
              <a:cs typeface="+mn-lt"/>
            </a:endParaRPr>
          </a:p>
          <a:p>
            <a:pPr marL="290830" indent="-290830">
              <a:buFont typeface="Arial"/>
            </a:pPr>
            <a:r>
              <a:rPr lang="en-US" sz="1600" dirty="0">
                <a:ea typeface="+mn-lt"/>
                <a:cs typeface="+mn-lt"/>
              </a:rPr>
              <a:t>Mission Analysis</a:t>
            </a:r>
            <a:endParaRPr lang="en-US" sz="1600" dirty="0">
              <a:cs typeface="Arial"/>
            </a:endParaRPr>
          </a:p>
          <a:p>
            <a:pPr marL="290830" indent="-290830">
              <a:buFont typeface="Arial"/>
            </a:pPr>
            <a:endParaRPr lang="en-US" sz="1600" dirty="0">
              <a:ea typeface="+mn-lt"/>
              <a:cs typeface="+mn-lt"/>
            </a:endParaRPr>
          </a:p>
          <a:p>
            <a:pPr marL="290830" indent="-290830">
              <a:buFont typeface="Arial"/>
            </a:pPr>
            <a:r>
              <a:rPr lang="en-US" sz="1600" dirty="0">
                <a:ea typeface="+mn-lt"/>
                <a:cs typeface="+mn-lt"/>
              </a:rPr>
              <a:t>Course of Action Development</a:t>
            </a:r>
            <a:endParaRPr lang="en-US" sz="1600" dirty="0">
              <a:cs typeface="Arial"/>
            </a:endParaRPr>
          </a:p>
          <a:p>
            <a:pPr marL="290830" indent="-290830">
              <a:buFont typeface="Arial"/>
            </a:pPr>
            <a:endParaRPr lang="en-US" sz="1600" dirty="0">
              <a:ea typeface="+mn-lt"/>
              <a:cs typeface="+mn-lt"/>
            </a:endParaRPr>
          </a:p>
          <a:p>
            <a:pPr marL="290830" indent="-290830">
              <a:buFont typeface="Arial"/>
            </a:pPr>
            <a:r>
              <a:rPr lang="en-US" sz="1600" dirty="0">
                <a:ea typeface="+mn-lt"/>
                <a:cs typeface="+mn-lt"/>
              </a:rPr>
              <a:t>COA Analysis</a:t>
            </a:r>
            <a:endParaRPr lang="en-US" sz="1600" dirty="0">
              <a:cs typeface="Arial"/>
            </a:endParaRPr>
          </a:p>
          <a:p>
            <a:pPr marL="290830" indent="-290830">
              <a:buFont typeface="Arial"/>
            </a:pPr>
            <a:endParaRPr lang="en-US" sz="1600" dirty="0">
              <a:ea typeface="+mn-lt"/>
              <a:cs typeface="+mn-lt"/>
            </a:endParaRPr>
          </a:p>
          <a:p>
            <a:pPr marL="290830" indent="-290830">
              <a:buFont typeface="Arial"/>
            </a:pPr>
            <a:r>
              <a:rPr lang="en-US" sz="1600" dirty="0">
                <a:ea typeface="+mn-lt"/>
                <a:cs typeface="+mn-lt"/>
              </a:rPr>
              <a:t>COA Comparison</a:t>
            </a:r>
            <a:endParaRPr lang="en-US" sz="1600" dirty="0">
              <a:cs typeface="Arial"/>
            </a:endParaRPr>
          </a:p>
          <a:p>
            <a:pPr marL="290830" indent="-290830">
              <a:buFont typeface="Arial"/>
            </a:pPr>
            <a:endParaRPr lang="en-US" sz="1600" dirty="0">
              <a:ea typeface="+mn-lt"/>
              <a:cs typeface="+mn-lt"/>
            </a:endParaRPr>
          </a:p>
          <a:p>
            <a:pPr marL="290830" indent="-290830">
              <a:buFont typeface="Arial"/>
            </a:pPr>
            <a:r>
              <a:rPr lang="en-US" sz="1600" dirty="0">
                <a:ea typeface="+mn-lt"/>
                <a:cs typeface="+mn-lt"/>
              </a:rPr>
              <a:t>COA Approval</a:t>
            </a:r>
            <a:endParaRPr lang="en-US" sz="1600" dirty="0">
              <a:cs typeface="Arial"/>
            </a:endParaRPr>
          </a:p>
          <a:p>
            <a:pPr marL="633095" lvl="1" indent="-243840">
              <a:buFont typeface="Arial"/>
              <a:buChar char="•"/>
            </a:pPr>
            <a:r>
              <a:rPr lang="en-US" sz="1400" dirty="0">
                <a:ea typeface="+mn-lt"/>
                <a:cs typeface="+mn-lt"/>
              </a:rPr>
              <a:t>Issue WARNO</a:t>
            </a:r>
            <a:endParaRPr lang="en-US" sz="1400" dirty="0">
              <a:cs typeface="Arial"/>
            </a:endParaRPr>
          </a:p>
          <a:p>
            <a:pPr marL="290830" indent="-290830">
              <a:buFont typeface="Arial"/>
            </a:pPr>
            <a:endParaRPr lang="en-US" sz="1600" dirty="0">
              <a:ea typeface="+mn-lt"/>
              <a:cs typeface="+mn-lt"/>
            </a:endParaRPr>
          </a:p>
          <a:p>
            <a:pPr marL="290830" indent="-290830">
              <a:buFont typeface="Arial"/>
            </a:pPr>
            <a:r>
              <a:rPr lang="en-US" sz="1600" dirty="0">
                <a:ea typeface="+mn-lt"/>
                <a:cs typeface="+mn-lt"/>
              </a:rPr>
              <a:t>Plan or Order Development</a:t>
            </a:r>
            <a:endParaRPr lang="en-US" sz="1600" dirty="0"/>
          </a:p>
          <a:p>
            <a:pPr marL="290830" indent="-290830"/>
            <a:endParaRPr lang="en-US" sz="1400">
              <a:ea typeface="+mn-lt"/>
              <a:cs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endParaRPr lang="en-US" dirty="0">
              <a:solidFill>
                <a:schemeClr val="tx1"/>
              </a:solidFill>
            </a:endParaRPr>
          </a:p>
        </p:txBody>
      </p:sp>
      <p:sp>
        <p:nvSpPr>
          <p:cNvPr id="6149" name="Rectangle 3"/>
          <p:cNvSpPr>
            <a:spLocks noGrp="1" noChangeArrowheads="1"/>
          </p:cNvSpPr>
          <p:nvPr>
            <p:ph idx="1"/>
          </p:nvPr>
        </p:nvSpPr>
        <p:spPr/>
        <p:txBody>
          <a:bodyPr/>
          <a:lstStyle/>
          <a:p>
            <a:pPr marL="290830" indent="-290830">
              <a:buFont typeface="Arial"/>
              <a:buChar char="•"/>
            </a:pPr>
            <a:r>
              <a:rPr lang="en-US" sz="1800" dirty="0">
                <a:cs typeface="Arial"/>
              </a:rPr>
              <a:t>Receive Order from 126th CPB</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Confirm CDR intent</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Task Org and equip team</a:t>
            </a:r>
            <a:endParaRPr lang="en-US" sz="1800">
              <a:ea typeface="+mn-lt"/>
              <a:cs typeface="+mn-lt"/>
            </a:endParaRPr>
          </a:p>
          <a:p>
            <a:pPr marL="290830" indent="-290830">
              <a:buFont typeface="Arial"/>
              <a:buChar char="•"/>
            </a:pPr>
            <a:endParaRPr lang="en-US" sz="1800" dirty="0">
              <a:cs typeface="Arial"/>
            </a:endParaRPr>
          </a:p>
          <a:p>
            <a:pPr marL="290830" indent="-290830">
              <a:buFont typeface="Arial"/>
              <a:buChar char="•"/>
            </a:pPr>
            <a:r>
              <a:rPr lang="en-US" sz="1800" dirty="0">
                <a:ea typeface="+mn-lt"/>
                <a:cs typeface="+mn-lt"/>
              </a:rPr>
              <a:t>Personnel Status &amp; Logistics</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Validate team has key documents and equipment</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Legal Support</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Issue WARNO to team</a:t>
            </a:r>
            <a:endParaRPr lang="en-US" sz="1800">
              <a:ea typeface="+mn-lt"/>
              <a:cs typeface="+mn-lt"/>
            </a:endParaRPr>
          </a:p>
          <a:p>
            <a:pPr marL="290830" indent="-290830">
              <a:buFont typeface="Arial"/>
              <a:buChar char="•"/>
            </a:pPr>
            <a:endParaRPr lang="en-US" sz="1800" dirty="0">
              <a:cs typeface="Arial"/>
            </a:endParaRPr>
          </a:p>
          <a:p>
            <a:pPr marL="290830" indent="-290830">
              <a:buFont typeface="Arial"/>
              <a:buChar char="•"/>
            </a:pPr>
            <a:r>
              <a:rPr lang="en-US" sz="1800" dirty="0">
                <a:ea typeface="+mn-lt"/>
                <a:cs typeface="+mn-lt"/>
              </a:rPr>
              <a:t>Partner Engagements</a:t>
            </a:r>
            <a:endParaRPr lang="en-US" sz="1800">
              <a:cs typeface="Arial"/>
            </a:endParaRPr>
          </a:p>
          <a:p>
            <a:pPr marL="633095" lvl="1" indent="-243840">
              <a:buFont typeface="Arial"/>
            </a:pPr>
            <a:endParaRPr lang="en-US" sz="1500" dirty="0">
              <a:ea typeface="+mn-lt"/>
              <a:cs typeface="+mn-lt"/>
            </a:endParaRPr>
          </a:p>
        </p:txBody>
      </p:sp>
    </p:spTree>
    <p:extLst>
      <p:ext uri="{BB962C8B-B14F-4D97-AF65-F5344CB8AC3E}">
        <p14:creationId xmlns:p14="http://schemas.microsoft.com/office/powerpoint/2010/main" val="1456844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solidFill>
                  <a:schemeClr val="tx1"/>
                </a:solidFill>
                <a:cs typeface="Arial"/>
              </a:rPr>
              <a:t>Order Received</a:t>
            </a:r>
            <a:endParaRPr lang="en-US" sz="2400" dirty="0">
              <a:solidFill>
                <a:schemeClr val="tx1"/>
              </a:solidFill>
              <a:cs typeface="Arial"/>
            </a:endParaRPr>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126th CPB Issued OPORD FINISH LINE 31 MAY 2022</a:t>
            </a:r>
            <a:endParaRPr lang="en-US" dirty="0"/>
          </a:p>
          <a:p>
            <a:pPr marL="633095" lvl="1" indent="-243840">
              <a:buFont typeface="Arial"/>
              <a:buChar char="•"/>
            </a:pPr>
            <a:endParaRPr lang="en-US" sz="1500" dirty="0">
              <a:ea typeface="+mn-lt"/>
              <a:cs typeface="+mn-lt"/>
            </a:endParaRPr>
          </a:p>
          <a:p>
            <a:pPr marL="633095" lvl="1" indent="-243840">
              <a:buFont typeface="Arial"/>
              <a:buChar char="•"/>
            </a:pPr>
            <a:r>
              <a:rPr lang="en-US" sz="1500" dirty="0">
                <a:ea typeface="+mn-lt"/>
                <a:cs typeface="+mn-lt"/>
              </a:rPr>
              <a:t>The 126th Cyber Protection Battalion deploys cybersecurity elements (Cyber Protection Teams and Security Company) NLT 081700RJUN22 in order to conduct Defensive Cyberspace Operations (DCO) Malicious Cyber Activity (MCA).</a:t>
            </a:r>
          </a:p>
          <a:p>
            <a:pPr marL="633095" lvl="1" indent="-243840">
              <a:buFont typeface="Arial"/>
              <a:buChar char="•"/>
            </a:pPr>
            <a:endParaRPr lang="en-US" sz="1500" dirty="0">
              <a:ea typeface="+mn-lt"/>
              <a:cs typeface="+mn-lt"/>
            </a:endParaRPr>
          </a:p>
          <a:p>
            <a:pPr marL="633095" lvl="1" indent="-243840">
              <a:buFont typeface="Arial"/>
              <a:buChar char="•"/>
            </a:pPr>
            <a:r>
              <a:rPr lang="en-US" sz="1500" dirty="0">
                <a:ea typeface="+mn-lt"/>
                <a:cs typeface="+mn-lt"/>
              </a:rPr>
              <a:t>CPT 173 to deploy to PEC Little Rock AR on 05 June 2022 to conduct DCO-ISM mission in defense of the DoDIN-NG AR to be complete NLT 16 June 2022.</a:t>
            </a:r>
            <a:endParaRPr lang="en-US" dirty="0"/>
          </a:p>
          <a:p>
            <a:pPr marL="633095" lvl="1" indent="-243840">
              <a:buFont typeface="Arial"/>
              <a:buChar char="•"/>
            </a:pPr>
            <a:endParaRPr lang="en-US" sz="1500" dirty="0">
              <a:cs typeface="Arial"/>
            </a:endParaRPr>
          </a:p>
          <a:p>
            <a:pPr marL="633095" lvl="1" indent="-243840">
              <a:buFont typeface="Arial"/>
              <a:buChar char="•"/>
            </a:pPr>
            <a:endParaRPr lang="en-US" sz="1500" dirty="0">
              <a:cs typeface="Arial"/>
            </a:endParaRPr>
          </a:p>
        </p:txBody>
      </p:sp>
    </p:spTree>
    <p:extLst>
      <p:ext uri="{BB962C8B-B14F-4D97-AF65-F5344CB8AC3E}">
        <p14:creationId xmlns:p14="http://schemas.microsoft.com/office/powerpoint/2010/main" val="1027444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CDR Intent</a:t>
            </a:r>
            <a:endParaRPr lang="en-US" sz="1800" dirty="0">
              <a:solidFill>
                <a:schemeClr val="tx1"/>
              </a:solidFill>
              <a:cs typeface="Arial"/>
            </a:endParaRPr>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CPT 173 issued 3 RFI to 126th CPB</a:t>
            </a:r>
            <a:endParaRPr lang="en-US" dirty="0">
              <a:cs typeface="Arial"/>
            </a:endParaRPr>
          </a:p>
          <a:p>
            <a:pPr marL="633095" lvl="1" indent="-243840">
              <a:buFont typeface="Arial"/>
              <a:buChar char="•"/>
            </a:pPr>
            <a:endParaRPr lang="en-US" sz="1400" dirty="0">
              <a:ea typeface="+mn-lt"/>
              <a:cs typeface="+mn-lt"/>
            </a:endParaRPr>
          </a:p>
          <a:p>
            <a:pPr marL="633095" lvl="1" indent="-243840">
              <a:buFont typeface="Arial"/>
              <a:buChar char="•"/>
            </a:pPr>
            <a:r>
              <a:rPr lang="en-US" sz="1800" dirty="0">
                <a:ea typeface="+mn-lt"/>
                <a:cs typeface="+mn-lt"/>
              </a:rPr>
              <a:t>Who is the CPT 173 assigned JAG representative referenced in 1d(4)?</a:t>
            </a:r>
            <a:endParaRPr lang="en-US" sz="1800">
              <a:cs typeface="Arial"/>
            </a:endParaRPr>
          </a:p>
          <a:p>
            <a:pPr marL="633095" lvl="1" indent="-243840">
              <a:buFont typeface="Arial"/>
              <a:buChar char="•"/>
            </a:pPr>
            <a:endParaRPr lang="en-US" sz="1800" dirty="0">
              <a:ea typeface="+mn-lt"/>
              <a:cs typeface="+mn-lt"/>
            </a:endParaRPr>
          </a:p>
          <a:p>
            <a:pPr marL="633095" lvl="1" indent="-243840">
              <a:buFont typeface="Arial"/>
              <a:buChar char="•"/>
            </a:pPr>
            <a:r>
              <a:rPr lang="en-US" sz="1800" dirty="0">
                <a:ea typeface="+mn-lt"/>
                <a:cs typeface="+mn-lt"/>
              </a:rPr>
              <a:t>What is scheduled time and location for briefing on the Rules for Use of Cyber (RUC) mentioned in 5b?</a:t>
            </a:r>
            <a:endParaRPr lang="en-US" sz="1800">
              <a:cs typeface="Arial"/>
            </a:endParaRPr>
          </a:p>
          <a:p>
            <a:pPr marL="633095" lvl="1" indent="-243840">
              <a:buFont typeface="Arial"/>
              <a:buChar char="•"/>
            </a:pPr>
            <a:endParaRPr lang="en-US" sz="1800" dirty="0">
              <a:ea typeface="+mn-lt"/>
              <a:cs typeface="+mn-lt"/>
            </a:endParaRPr>
          </a:p>
          <a:p>
            <a:pPr marL="633095" lvl="1" indent="-243840">
              <a:buFont typeface="Arial"/>
              <a:buChar char="•"/>
            </a:pPr>
            <a:r>
              <a:rPr lang="en-US" sz="1800" dirty="0">
                <a:ea typeface="+mn-lt"/>
                <a:cs typeface="+mn-lt"/>
              </a:rPr>
              <a:t>It’s unclear what is meant by “Establish Unit Operations RTI Classroom 10 A/B NLT 081700RJUN22” as directed in 3i(2)(a). Request clarification on the meaning of “unit operations” as CPT 173 intends to occupy the referenced classroom 05 June.</a:t>
            </a:r>
            <a:endParaRPr lang="en-US" sz="1800">
              <a:cs typeface="Arial"/>
            </a:endParaRPr>
          </a:p>
          <a:p>
            <a:pPr marL="633095" lvl="1" indent="-243840">
              <a:buFont typeface="Arial"/>
              <a:buChar char="•"/>
            </a:pPr>
            <a:endParaRPr lang="en-US" sz="1800" dirty="0">
              <a:cs typeface="Arial"/>
            </a:endParaRPr>
          </a:p>
          <a:p>
            <a:pPr marL="290830" indent="-290830">
              <a:buFont typeface="Arial"/>
              <a:buChar char="•"/>
            </a:pPr>
            <a:endParaRPr lang="en-US" sz="1800">
              <a:cs typeface="Arial"/>
            </a:endParaRPr>
          </a:p>
        </p:txBody>
      </p:sp>
    </p:spTree>
    <p:extLst>
      <p:ext uri="{BB962C8B-B14F-4D97-AF65-F5344CB8AC3E}">
        <p14:creationId xmlns:p14="http://schemas.microsoft.com/office/powerpoint/2010/main" val="171206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Task Org and Equipment</a:t>
            </a:r>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CPT 173 can deploy Support Element and Mission Element 1 in support of ARARNG forces</a:t>
            </a:r>
            <a:endParaRPr lang="en-US" dirty="0"/>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DDS-M Kits are available</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Orders, Lodging and Meals are available at mission AO</a:t>
            </a:r>
          </a:p>
          <a:p>
            <a:pPr marL="290830" indent="-290830">
              <a:buFont typeface="Arial"/>
              <a:buChar char="•"/>
            </a:pPr>
            <a:endParaRPr lang="en-US" sz="1800">
              <a:cs typeface="Arial"/>
            </a:endParaRPr>
          </a:p>
        </p:txBody>
      </p:sp>
    </p:spTree>
    <p:extLst>
      <p:ext uri="{BB962C8B-B14F-4D97-AF65-F5344CB8AC3E}">
        <p14:creationId xmlns:p14="http://schemas.microsoft.com/office/powerpoint/2010/main" val="1140652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Key Documents and Equipment</a:t>
            </a:r>
            <a:endParaRPr lang="en-US" sz="1800" dirty="0"/>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SOP's are located in MS Teams Channel</a:t>
            </a:r>
            <a:endParaRPr lang="en-US" dirty="0"/>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Training and certification records are complete for ME's</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DDS-M has been system checked prior to movement</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DDS-M Kit passed full systems checks at mission location</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Out of Band communications channels are operational</a:t>
            </a: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DCO Managers have conducted TLP's</a:t>
            </a:r>
          </a:p>
        </p:txBody>
      </p:sp>
    </p:spTree>
    <p:extLst>
      <p:ext uri="{BB962C8B-B14F-4D97-AF65-F5344CB8AC3E}">
        <p14:creationId xmlns:p14="http://schemas.microsoft.com/office/powerpoint/2010/main" val="507307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Legal Support</a:t>
            </a:r>
            <a:endParaRPr lang="en-US" sz="2400" dirty="0">
              <a:solidFill>
                <a:schemeClr val="tx1"/>
              </a:solidFill>
              <a:cs typeface="Arial"/>
            </a:endParaRPr>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126th CPB will provide legal support</a:t>
            </a:r>
            <a:endParaRPr lang="en-US"/>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NDA's are in place</a:t>
            </a:r>
            <a:endParaRPr lang="en-US" dirty="0">
              <a:ea typeface="+mn-lt"/>
              <a:cs typeface="+mn-lt"/>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MOU's have been sent to AR JFHQ ARNG CIO/G-6</a:t>
            </a:r>
            <a:endParaRPr lang="en-US" dirty="0">
              <a:ea typeface="+mn-lt"/>
              <a:cs typeface="+mn-lt"/>
            </a:endParaRPr>
          </a:p>
        </p:txBody>
      </p:sp>
    </p:spTree>
    <p:extLst>
      <p:ext uri="{BB962C8B-B14F-4D97-AF65-F5344CB8AC3E}">
        <p14:creationId xmlns:p14="http://schemas.microsoft.com/office/powerpoint/2010/main" val="5136659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Issue WARNO to team</a:t>
            </a:r>
            <a:endParaRPr lang="en-US" sz="2400" dirty="0">
              <a:solidFill>
                <a:schemeClr val="tx1"/>
              </a:solidFill>
              <a:cs typeface="Arial"/>
            </a:endParaRPr>
          </a:p>
        </p:txBody>
      </p:sp>
      <p:sp>
        <p:nvSpPr>
          <p:cNvPr id="6149" name="Rectangle 3"/>
          <p:cNvSpPr>
            <a:spLocks noGrp="1" noChangeArrowheads="1"/>
          </p:cNvSpPr>
          <p:nvPr>
            <p:ph idx="1"/>
          </p:nvPr>
        </p:nvSpPr>
        <p:spPr/>
        <p:txBody>
          <a:bodyPr/>
          <a:lstStyle/>
          <a:p>
            <a:pPr marL="0" indent="0">
              <a:buNone/>
            </a:pPr>
            <a:r>
              <a:rPr lang="en-US" sz="1800" dirty="0">
                <a:ea typeface="+mn-lt"/>
                <a:cs typeface="+mn-lt"/>
              </a:rPr>
              <a:t>Team received WARNO 1200L 05 June 2022  </a:t>
            </a:r>
            <a:endParaRPr lang="en-US" sz="1800" dirty="0">
              <a:cs typeface="Arial"/>
            </a:endParaRPr>
          </a:p>
          <a:p>
            <a:pPr marL="0" indent="0">
              <a:buNone/>
            </a:pPr>
            <a:endParaRPr lang="en-US" sz="1800" dirty="0">
              <a:ea typeface="+mn-lt"/>
              <a:cs typeface="+mn-lt"/>
            </a:endParaRPr>
          </a:p>
          <a:p>
            <a:pPr marL="0" indent="0">
              <a:buNone/>
            </a:pPr>
            <a:r>
              <a:rPr lang="en-US" sz="1800" dirty="0">
                <a:solidFill>
                  <a:srgbClr val="FF0000"/>
                </a:solidFill>
                <a:ea typeface="+mn-lt"/>
                <a:cs typeface="+mn-lt"/>
              </a:rPr>
              <a:t>WARNO CONTENTS</a:t>
            </a:r>
          </a:p>
          <a:p>
            <a:pPr marL="633095" lvl="1" indent="-243840">
              <a:buFont typeface="Arial"/>
            </a:pPr>
            <a:endParaRPr lang="en-US" sz="1500" dirty="0">
              <a:ea typeface="+mn-lt"/>
              <a:cs typeface="+mn-lt"/>
            </a:endParaRPr>
          </a:p>
        </p:txBody>
      </p:sp>
    </p:spTree>
    <p:extLst>
      <p:ext uri="{BB962C8B-B14F-4D97-AF65-F5344CB8AC3E}">
        <p14:creationId xmlns:p14="http://schemas.microsoft.com/office/powerpoint/2010/main" val="42510813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cs typeface="Arial"/>
              </a:rPr>
              <a:t>Planning Initiation</a:t>
            </a:r>
            <a:br>
              <a:rPr lang="en-US" dirty="0">
                <a:solidFill>
                  <a:schemeClr val="tx1"/>
                </a:solidFill>
                <a:cs typeface="Arial"/>
              </a:rPr>
            </a:br>
            <a:r>
              <a:rPr lang="en-US" sz="1800" dirty="0">
                <a:cs typeface="Arial"/>
              </a:rPr>
              <a:t>Partner Engagements</a:t>
            </a:r>
            <a:endParaRPr lang="en-US" sz="2400" dirty="0">
              <a:cs typeface="Arial"/>
            </a:endParaRPr>
          </a:p>
        </p:txBody>
      </p:sp>
      <p:sp>
        <p:nvSpPr>
          <p:cNvPr id="6149" name="Rectangle 3"/>
          <p:cNvSpPr>
            <a:spLocks noGrp="1" noChangeArrowheads="1"/>
          </p:cNvSpPr>
          <p:nvPr>
            <p:ph idx="1"/>
          </p:nvPr>
        </p:nvSpPr>
        <p:spPr/>
        <p:txBody>
          <a:bodyPr/>
          <a:lstStyle/>
          <a:p>
            <a:pPr marL="290830" indent="-290830">
              <a:buFont typeface="Arial"/>
              <a:buChar char="•"/>
            </a:pPr>
            <a:r>
              <a:rPr lang="en-US" sz="1800" dirty="0">
                <a:ea typeface="+mn-lt"/>
                <a:cs typeface="+mn-lt"/>
              </a:rPr>
              <a:t>MOU has been issued 05 June 2022 to JFHQ ARARNG CIO G-6</a:t>
            </a:r>
            <a:endParaRPr lang="en-US" dirty="0"/>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JFHQ ARARNG CIO G-6 will be engaged 08 June 2022</a:t>
            </a:r>
            <a:endParaRPr lang="en-US" dirty="0"/>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RFI's have been issued 05 June 2022 to JFHQ ARARNG CIO G-6 </a:t>
            </a:r>
            <a:endParaRPr lang="en-US" dirty="0">
              <a:cs typeface="Arial"/>
            </a:endParaRPr>
          </a:p>
        </p:txBody>
      </p:sp>
    </p:spTree>
    <p:extLst>
      <p:ext uri="{BB962C8B-B14F-4D97-AF65-F5344CB8AC3E}">
        <p14:creationId xmlns:p14="http://schemas.microsoft.com/office/powerpoint/2010/main" val="39997792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ea typeface="+mj-lt"/>
                <a:cs typeface="+mj-lt"/>
              </a:rPr>
              <a:t>Mission Analysis</a:t>
            </a:r>
            <a:br>
              <a:rPr lang="en-US" dirty="0">
                <a:solidFill>
                  <a:schemeClr val="tx1"/>
                </a:solidFill>
                <a:ea typeface="+mj-lt"/>
                <a:cs typeface="+mj-lt"/>
              </a:rPr>
            </a:br>
            <a:r>
              <a:rPr lang="en-US" sz="1800" dirty="0">
                <a:ea typeface="+mj-lt"/>
                <a:cs typeface="+mj-lt"/>
              </a:rPr>
              <a:t>Planning Mission Analysis</a:t>
            </a:r>
          </a:p>
        </p:txBody>
      </p:sp>
      <p:sp>
        <p:nvSpPr>
          <p:cNvPr id="6149" name="Rectangle 3"/>
          <p:cNvSpPr>
            <a:spLocks noGrp="1" noChangeArrowheads="1"/>
          </p:cNvSpPr>
          <p:nvPr>
            <p:ph idx="1"/>
          </p:nvPr>
        </p:nvSpPr>
        <p:spPr/>
        <p:txBody>
          <a:bodyPr/>
          <a:lstStyle/>
          <a:p>
            <a:pPr marL="0" indent="0">
              <a:buNone/>
            </a:pPr>
            <a:r>
              <a:rPr lang="en-US" sz="1800" dirty="0">
                <a:cs typeface="Arial"/>
              </a:rPr>
              <a:t>Steps to planning Mission Analysis</a:t>
            </a:r>
          </a:p>
          <a:p>
            <a:pPr marL="290830" indent="-290830">
              <a:buFont typeface="Arial"/>
              <a:buChar char="•"/>
            </a:pPr>
            <a:endParaRPr lang="en-US" sz="1800" dirty="0">
              <a:cs typeface="Arial"/>
            </a:endParaRPr>
          </a:p>
          <a:p>
            <a:pPr marL="290830" indent="-290830">
              <a:buFont typeface="Arial"/>
              <a:buChar char="•"/>
            </a:pPr>
            <a:r>
              <a:rPr lang="en-US" sz="1800" dirty="0">
                <a:cs typeface="Arial"/>
              </a:rPr>
              <a:t>Organize Planning Working Group</a:t>
            </a:r>
            <a:endParaRPr lang="en-US" dirty="0">
              <a:cs typeface="Arial"/>
            </a:endParaRPr>
          </a:p>
          <a:p>
            <a:pPr marL="290830" indent="-290830">
              <a:buFont typeface="Arial"/>
              <a:buChar char="•"/>
            </a:pPr>
            <a:endParaRPr lang="en-US" sz="1800" dirty="0">
              <a:cs typeface="Arial"/>
            </a:endParaRPr>
          </a:p>
          <a:p>
            <a:pPr marL="290830" indent="-290830">
              <a:buFont typeface="Arial"/>
              <a:buChar char="•"/>
            </a:pPr>
            <a:r>
              <a:rPr lang="en-US" sz="1800" dirty="0">
                <a:cs typeface="Arial"/>
              </a:rPr>
              <a:t>Frame Problem and Conduct Operational Design</a:t>
            </a:r>
            <a:endParaRPr lang="en-US" dirty="0">
              <a:cs typeface="Arial"/>
            </a:endParaRPr>
          </a:p>
          <a:p>
            <a:pPr marL="290830" indent="-290830">
              <a:buFont typeface="Arial"/>
              <a:buChar char="•"/>
            </a:pPr>
            <a:endParaRPr lang="en-US" sz="1800" dirty="0">
              <a:ea typeface="+mn-lt"/>
              <a:cs typeface="+mn-lt"/>
            </a:endParaRPr>
          </a:p>
          <a:p>
            <a:pPr marL="290830" indent="-290830">
              <a:buFont typeface="Arial"/>
            </a:pPr>
            <a:r>
              <a:rPr lang="en-US" sz="1800" dirty="0">
                <a:ea typeface="+mn-lt"/>
                <a:cs typeface="+mn-lt"/>
              </a:rPr>
              <a:t>Conduct CIPB</a:t>
            </a:r>
          </a:p>
          <a:p>
            <a:pPr marL="290830" indent="-290830">
              <a:buFont typeface="Arial"/>
            </a:pPr>
            <a:endParaRPr lang="en-US" sz="1800" dirty="0">
              <a:ea typeface="+mn-lt"/>
              <a:cs typeface="+mn-lt"/>
            </a:endParaRPr>
          </a:p>
          <a:p>
            <a:pPr marL="290830" indent="-290830">
              <a:buFont typeface="Arial"/>
            </a:pPr>
            <a:r>
              <a:rPr lang="en-US" sz="1800" dirty="0">
                <a:ea typeface="+mn-lt"/>
                <a:cs typeface="+mn-lt"/>
              </a:rPr>
              <a:t>Integrate Additional Support</a:t>
            </a:r>
          </a:p>
          <a:p>
            <a:pPr marL="290830" indent="-290830"/>
            <a:endParaRPr lang="en-US" sz="1400">
              <a:ea typeface="+mn-lt"/>
              <a:cs typeface="+mn-lt"/>
            </a:endParaRPr>
          </a:p>
        </p:txBody>
      </p:sp>
    </p:spTree>
    <p:extLst>
      <p:ext uri="{BB962C8B-B14F-4D97-AF65-F5344CB8AC3E}">
        <p14:creationId xmlns:p14="http://schemas.microsoft.com/office/powerpoint/2010/main" val="3497425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ea typeface="+mj-lt"/>
                <a:cs typeface="+mj-lt"/>
              </a:rPr>
              <a:t>Mission Analysis</a:t>
            </a:r>
            <a:br>
              <a:rPr lang="en-US" dirty="0">
                <a:solidFill>
                  <a:schemeClr val="tx1"/>
                </a:solidFill>
                <a:ea typeface="+mj-lt"/>
                <a:cs typeface="+mj-lt"/>
              </a:rPr>
            </a:br>
            <a:r>
              <a:rPr lang="en-US" sz="1800" dirty="0">
                <a:ea typeface="+mj-lt"/>
                <a:cs typeface="+mj-lt"/>
              </a:rPr>
              <a:t>Planning Working Group</a:t>
            </a:r>
          </a:p>
        </p:txBody>
      </p:sp>
      <p:sp>
        <p:nvSpPr>
          <p:cNvPr id="6149" name="Rectangle 3"/>
          <p:cNvSpPr>
            <a:spLocks noGrp="1" noChangeArrowheads="1"/>
          </p:cNvSpPr>
          <p:nvPr>
            <p:ph idx="1"/>
          </p:nvPr>
        </p:nvSpPr>
        <p:spPr/>
        <p:txBody>
          <a:bodyPr/>
          <a:lstStyle/>
          <a:p>
            <a:pPr marL="0" indent="0">
              <a:buNone/>
            </a:pPr>
            <a:r>
              <a:rPr lang="en-US" sz="1800" dirty="0">
                <a:cs typeface="Arial"/>
              </a:rPr>
              <a:t>CPT 173 </a:t>
            </a:r>
            <a:endParaRPr lang="en-US" dirty="0">
              <a:cs typeface="Arial"/>
            </a:endParaRPr>
          </a:p>
          <a:p>
            <a:pPr marL="290830" indent="-290830">
              <a:buFont typeface="Arial"/>
              <a:buChar char="•"/>
            </a:pPr>
            <a:endParaRPr lang="en-US" sz="1800" dirty="0">
              <a:cs typeface="Arial"/>
            </a:endParaRPr>
          </a:p>
          <a:p>
            <a:pPr marL="290830" indent="-290830">
              <a:buFont typeface="Arial"/>
              <a:buChar char="•"/>
            </a:pPr>
            <a:r>
              <a:rPr lang="en-US" sz="1800" dirty="0">
                <a:cs typeface="Arial"/>
              </a:rPr>
              <a:t>Leadership</a:t>
            </a:r>
            <a:endParaRPr lang="en-US" dirty="0"/>
          </a:p>
          <a:p>
            <a:pPr marL="290830" indent="-290830">
              <a:buFont typeface="Arial"/>
              <a:buChar char="•"/>
            </a:pPr>
            <a:endParaRPr lang="en-US" sz="1800">
              <a:cs typeface="Arial"/>
            </a:endParaRPr>
          </a:p>
          <a:p>
            <a:pPr marL="290830" indent="-290830">
              <a:buFont typeface="Arial"/>
              <a:buChar char="•"/>
            </a:pPr>
            <a:r>
              <a:rPr lang="en-US" sz="1800" dirty="0">
                <a:cs typeface="Arial"/>
              </a:rPr>
              <a:t>Operations Support</a:t>
            </a:r>
          </a:p>
          <a:p>
            <a:pPr marL="290830" indent="-290830">
              <a:buFont typeface="Arial"/>
              <a:buChar char="•"/>
            </a:pPr>
            <a:endParaRPr lang="en-US" sz="1800">
              <a:cs typeface="Arial"/>
            </a:endParaRPr>
          </a:p>
          <a:p>
            <a:pPr marL="290830" indent="-290830">
              <a:buFont typeface="Arial"/>
              <a:buChar char="•"/>
            </a:pPr>
            <a:r>
              <a:rPr lang="en-US" sz="1800" dirty="0">
                <a:cs typeface="Arial"/>
              </a:rPr>
              <a:t>Intelligence Support</a:t>
            </a:r>
          </a:p>
          <a:p>
            <a:pPr marL="290830" indent="-290830">
              <a:buFont typeface="Arial"/>
              <a:buChar char="•"/>
            </a:pPr>
            <a:endParaRPr lang="en-US" sz="1800" dirty="0">
              <a:cs typeface="Arial"/>
            </a:endParaRPr>
          </a:p>
          <a:p>
            <a:pPr marL="290830" indent="-290830">
              <a:buFont typeface="Arial"/>
              <a:buChar char="•"/>
            </a:pPr>
            <a:r>
              <a:rPr lang="en-US" sz="1800" dirty="0">
                <a:cs typeface="Arial"/>
              </a:rPr>
              <a:t>Mission Element 1 CND Managers and Team Leads</a:t>
            </a:r>
            <a:endParaRPr lang="en-US" dirty="0"/>
          </a:p>
        </p:txBody>
      </p:sp>
    </p:spTree>
    <p:extLst>
      <p:ext uri="{BB962C8B-B14F-4D97-AF65-F5344CB8AC3E}">
        <p14:creationId xmlns:p14="http://schemas.microsoft.com/office/powerpoint/2010/main" val="9388208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defRPr/>
            </a:pPr>
            <a:r>
              <a:rPr lang="en-US" dirty="0">
                <a:solidFill>
                  <a:schemeClr val="tx1"/>
                </a:solidFill>
                <a:ea typeface="+mj-lt"/>
                <a:cs typeface="+mj-lt"/>
              </a:rPr>
              <a:t>Mission Analysis</a:t>
            </a:r>
            <a:br>
              <a:rPr lang="en-US" sz="1800" dirty="0">
                <a:ea typeface="+mj-lt"/>
                <a:cs typeface="+mj-lt"/>
              </a:rPr>
            </a:br>
            <a:r>
              <a:rPr lang="en-US" sz="1800" dirty="0">
                <a:ea typeface="+mj-lt"/>
                <a:cs typeface="+mj-lt"/>
              </a:rPr>
              <a:t>Frame Problem and Conduct Operational Design</a:t>
            </a:r>
            <a:endParaRPr lang="en-US" sz="1800" dirty="0">
              <a:cs typeface="Arial"/>
            </a:endParaRPr>
          </a:p>
        </p:txBody>
      </p:sp>
      <p:sp>
        <p:nvSpPr>
          <p:cNvPr id="6149" name="Rectangle 3"/>
          <p:cNvSpPr>
            <a:spLocks noGrp="1" noChangeArrowheads="1"/>
          </p:cNvSpPr>
          <p:nvPr>
            <p:ph idx="1"/>
          </p:nvPr>
        </p:nvSpPr>
        <p:spPr/>
        <p:txBody>
          <a:bodyPr/>
          <a:lstStyle/>
          <a:p>
            <a:pPr marL="0" indent="0">
              <a:buNone/>
            </a:pPr>
            <a:r>
              <a:rPr lang="en-US" sz="1900" dirty="0">
                <a:ea typeface="+mn-lt"/>
                <a:cs typeface="+mn-lt"/>
              </a:rPr>
              <a:t>Steps to Frame Problem and Conduct Operational Design</a:t>
            </a:r>
          </a:p>
          <a:p>
            <a:pPr marL="0" indent="0">
              <a:buNone/>
            </a:pPr>
            <a:endParaRPr lang="en-US" sz="1900" dirty="0">
              <a:ea typeface="+mn-lt"/>
              <a:cs typeface="+mn-lt"/>
            </a:endParaRPr>
          </a:p>
          <a:p>
            <a:pPr marL="290830" indent="-290830">
              <a:buFont typeface="Arial"/>
              <a:buChar char="•"/>
            </a:pPr>
            <a:r>
              <a:rPr lang="en-US" sz="1900" dirty="0">
                <a:ea typeface="+mn-lt"/>
                <a:cs typeface="+mn-lt"/>
              </a:rPr>
              <a:t>Understand current Operational Environment (OE)</a:t>
            </a:r>
            <a:endParaRPr lang="en-US" sz="1900" dirty="0">
              <a:cs typeface="Arial"/>
            </a:endParaRPr>
          </a:p>
          <a:p>
            <a:pPr marL="290830" indent="-290830">
              <a:buFont typeface="Arial"/>
            </a:pPr>
            <a:endParaRPr lang="en-US" sz="1800" dirty="0">
              <a:ea typeface="+mn-lt"/>
              <a:cs typeface="+mn-lt"/>
            </a:endParaRPr>
          </a:p>
          <a:p>
            <a:pPr marL="290830" indent="-290830">
              <a:buFont typeface="Arial"/>
              <a:buChar char="•"/>
            </a:pPr>
            <a:r>
              <a:rPr lang="en-US" sz="1900" dirty="0">
                <a:ea typeface="+mn-lt"/>
                <a:cs typeface="+mn-lt"/>
              </a:rPr>
              <a:t>Identify what the optimal end state looks like for the OE (what fixed looks like)</a:t>
            </a:r>
            <a:endParaRPr lang="en-US" sz="1900" dirty="0">
              <a:cs typeface="Arial"/>
            </a:endParaRPr>
          </a:p>
          <a:p>
            <a:pPr marL="633095" lvl="1" indent="-243840">
              <a:buFont typeface="Arial"/>
              <a:buChar char="•"/>
            </a:pPr>
            <a:r>
              <a:rPr lang="en-US" sz="1700" dirty="0">
                <a:ea typeface="+mn-lt"/>
                <a:cs typeface="+mn-lt"/>
              </a:rPr>
              <a:t>Develop initial problem statement</a:t>
            </a:r>
            <a:endParaRPr lang="en-US" sz="1700">
              <a:cs typeface="Arial"/>
            </a:endParaRPr>
          </a:p>
          <a:p>
            <a:pPr marL="290830" indent="-290830">
              <a:buFont typeface="Arial"/>
              <a:buChar char="•"/>
            </a:pPr>
            <a:endParaRPr lang="en-US" sz="1900" dirty="0">
              <a:cs typeface="Arial"/>
            </a:endParaRPr>
          </a:p>
          <a:p>
            <a:pPr marL="290830" indent="-290830">
              <a:buFont typeface="Arial"/>
              <a:buChar char="•"/>
            </a:pPr>
            <a:r>
              <a:rPr lang="en-US" sz="1900" dirty="0">
                <a:ea typeface="+mn-lt"/>
                <a:cs typeface="+mn-lt"/>
              </a:rPr>
              <a:t>Identify the obstacles that will prevent end state</a:t>
            </a:r>
            <a:endParaRPr lang="en-US" sz="1900" dirty="0">
              <a:cs typeface="Arial"/>
            </a:endParaRPr>
          </a:p>
          <a:p>
            <a:pPr marL="633095" lvl="1" indent="-243840">
              <a:buFont typeface="Arial"/>
              <a:buChar char="•"/>
            </a:pPr>
            <a:r>
              <a:rPr lang="en-US" sz="1700" dirty="0">
                <a:ea typeface="+mn-lt"/>
                <a:cs typeface="+mn-lt"/>
              </a:rPr>
              <a:t>ID key obstacles that prevent mission success</a:t>
            </a:r>
            <a:endParaRPr lang="en-US" sz="1700">
              <a:cs typeface="Arial"/>
            </a:endParaRPr>
          </a:p>
          <a:p>
            <a:pPr marL="290830" indent="-290830">
              <a:buFont typeface="Arial"/>
              <a:buChar char="•"/>
            </a:pPr>
            <a:endParaRPr lang="en-US" sz="1900" dirty="0">
              <a:ea typeface="+mn-lt"/>
              <a:cs typeface="+mn-lt"/>
            </a:endParaRPr>
          </a:p>
          <a:p>
            <a:pPr marL="290830" indent="-290830">
              <a:buFont typeface="Arial"/>
              <a:buChar char="•"/>
            </a:pPr>
            <a:r>
              <a:rPr lang="en-US" sz="1900" dirty="0">
                <a:ea typeface="+mn-lt"/>
                <a:cs typeface="+mn-lt"/>
              </a:rPr>
              <a:t>Develop an operational approach</a:t>
            </a:r>
            <a:endParaRPr lang="en-US" sz="1900" dirty="0">
              <a:cs typeface="Arial"/>
            </a:endParaRPr>
          </a:p>
          <a:p>
            <a:pPr marL="633095" lvl="1" indent="-243840">
              <a:buFont typeface="Arial"/>
              <a:buChar char="•"/>
            </a:pPr>
            <a:r>
              <a:rPr lang="en-US" sz="1700" dirty="0">
                <a:ea typeface="+mn-lt"/>
                <a:cs typeface="+mn-lt"/>
              </a:rPr>
              <a:t>Ends with development of Mission statement</a:t>
            </a:r>
            <a:endParaRPr lang="en-US" sz="1700">
              <a:cs typeface="Arial"/>
            </a:endParaRPr>
          </a:p>
          <a:p>
            <a:pPr marL="290830" indent="-290830"/>
            <a:endParaRPr lang="en-US" dirty="0">
              <a:cs typeface="Arial"/>
            </a:endParaRPr>
          </a:p>
        </p:txBody>
      </p:sp>
    </p:spTree>
    <p:extLst>
      <p:ext uri="{BB962C8B-B14F-4D97-AF65-F5344CB8AC3E}">
        <p14:creationId xmlns:p14="http://schemas.microsoft.com/office/powerpoint/2010/main" val="33006738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defRPr/>
            </a:pPr>
            <a:r>
              <a:rPr lang="en-US" sz="3600" dirty="0">
                <a:solidFill>
                  <a:schemeClr val="tx1"/>
                </a:solidFill>
              </a:rPr>
              <a:t>Mission Analysis</a:t>
            </a:r>
            <a:br>
              <a:rPr lang="en-US" sz="3600" dirty="0">
                <a:solidFill>
                  <a:schemeClr val="tx1"/>
                </a:solidFill>
                <a:cs typeface="Arial"/>
              </a:rPr>
            </a:br>
            <a:r>
              <a:rPr lang="en-US" sz="1800" dirty="0">
                <a:cs typeface="Arial"/>
              </a:rPr>
              <a:t>Operational Environment</a:t>
            </a:r>
            <a:endParaRPr lang="en-US" sz="1800" dirty="0">
              <a:solidFill>
                <a:schemeClr val="tx1"/>
              </a:solidFill>
              <a:cs typeface="Arial"/>
            </a:endParaRPr>
          </a:p>
        </p:txBody>
      </p:sp>
      <p:sp>
        <p:nvSpPr>
          <p:cNvPr id="6149" name="Rectangle 3"/>
          <p:cNvSpPr>
            <a:spLocks noGrp="1" noChangeArrowheads="1"/>
          </p:cNvSpPr>
          <p:nvPr>
            <p:ph idx="1"/>
          </p:nvPr>
        </p:nvSpPr>
        <p:spPr/>
        <p:txBody>
          <a:bodyPr/>
          <a:lstStyle/>
          <a:p>
            <a:pPr marL="0" indent="0">
              <a:buNone/>
            </a:pPr>
            <a:r>
              <a:rPr lang="en-US" sz="1800" dirty="0">
                <a:ea typeface="+mn-lt"/>
                <a:cs typeface="+mn-lt"/>
              </a:rPr>
              <a:t>Forces Currently Operating in the Area of Operations (AO)</a:t>
            </a:r>
            <a:endParaRPr lang="en-US" dirty="0"/>
          </a:p>
          <a:p>
            <a:pPr marL="290830" indent="-290830"/>
            <a:endParaRPr lang="en-US" sz="1800" dirty="0">
              <a:ea typeface="+mn-lt"/>
              <a:cs typeface="+mn-lt"/>
            </a:endParaRPr>
          </a:p>
          <a:p>
            <a:pPr marL="290830" indent="-290830"/>
            <a:r>
              <a:rPr lang="en-US" sz="1800" dirty="0">
                <a:ea typeface="+mn-lt"/>
                <a:cs typeface="+mn-lt"/>
              </a:rPr>
              <a:t>ARCYBER is located at FT Gordon, GA</a:t>
            </a:r>
            <a:endParaRPr lang="en-US" sz="1800" dirty="0">
              <a:cs typeface="Arial"/>
            </a:endParaRPr>
          </a:p>
          <a:p>
            <a:pPr marL="290830" indent="-290830"/>
            <a:endParaRPr lang="en-US" sz="1800" dirty="0">
              <a:ea typeface="+mn-lt"/>
              <a:cs typeface="+mn-lt"/>
            </a:endParaRPr>
          </a:p>
          <a:p>
            <a:pPr marL="290830" indent="-290830"/>
            <a:r>
              <a:rPr lang="en-US" sz="1800" dirty="0">
                <a:ea typeface="+mn-lt"/>
                <a:cs typeface="+mn-lt"/>
              </a:rPr>
              <a:t>91st CB is located at FT Belvoir, VA</a:t>
            </a:r>
            <a:endParaRPr lang="en-US" dirty="0"/>
          </a:p>
          <a:p>
            <a:pPr marL="290830" indent="-290830"/>
            <a:endParaRPr lang="en-US" sz="1800" dirty="0">
              <a:ea typeface="+mn-lt"/>
              <a:cs typeface="+mn-lt"/>
            </a:endParaRPr>
          </a:p>
          <a:p>
            <a:pPr marL="290830" indent="-290830"/>
            <a:r>
              <a:rPr lang="en-US" sz="1800" dirty="0">
                <a:ea typeface="+mn-lt"/>
                <a:cs typeface="+mn-lt"/>
              </a:rPr>
              <a:t>126th CPB is located at Bedford, MA</a:t>
            </a:r>
            <a:endParaRPr lang="en-US" dirty="0"/>
          </a:p>
          <a:p>
            <a:pPr marL="290830" indent="-290830"/>
            <a:endParaRPr lang="en-US" sz="1800" dirty="0">
              <a:cs typeface="Arial"/>
            </a:endParaRPr>
          </a:p>
          <a:p>
            <a:pPr marL="290830" indent="-290830"/>
            <a:r>
              <a:rPr lang="en-US" sz="1800" dirty="0">
                <a:cs typeface="Arial"/>
              </a:rPr>
              <a:t>CPT 173 Support Element and Mission Element 1 are deployed at RTI building PEC Little Rock, AR</a:t>
            </a:r>
            <a:endParaRPr lang="en-US" dirty="0">
              <a:cs typeface="Arial"/>
            </a:endParaRPr>
          </a:p>
          <a:p>
            <a:pPr marL="290830" indent="-290830"/>
            <a:endParaRPr lang="en-US" sz="1800" dirty="0">
              <a:cs typeface="Arial"/>
            </a:endParaRPr>
          </a:p>
          <a:p>
            <a:pPr marL="290830" indent="-290830"/>
            <a:r>
              <a:rPr lang="en-US" sz="1800" dirty="0">
                <a:cs typeface="Arial"/>
              </a:rPr>
              <a:t>CPT 173 ME 2 and 3 remain at home station in reserve</a:t>
            </a:r>
            <a:endParaRPr lang="en-US" dirty="0"/>
          </a:p>
          <a:p>
            <a:pPr marL="290830" indent="-290830"/>
            <a:endParaRPr lang="en-US" sz="1800" dirty="0">
              <a:cs typeface="Arial"/>
            </a:endParaRPr>
          </a:p>
          <a:p>
            <a:pPr marL="290830" indent="-290830"/>
            <a:r>
              <a:rPr lang="en-US" sz="1800" dirty="0">
                <a:cs typeface="Arial"/>
              </a:rPr>
              <a:t>AR JFHQ is located at PEC</a:t>
            </a:r>
            <a:endParaRPr lang="en-US" dirty="0"/>
          </a:p>
          <a:p>
            <a:pPr marL="290830" indent="-290830"/>
            <a:endParaRPr lang="en-US" dirty="0">
              <a:cs typeface="Arial"/>
            </a:endParaRPr>
          </a:p>
          <a:p>
            <a:pPr marL="290830" indent="-290830"/>
            <a:endParaRPr lang="en-US" dirty="0">
              <a:cs typeface="Arial"/>
            </a:endParaRPr>
          </a:p>
        </p:txBody>
      </p:sp>
    </p:spTree>
    <p:extLst>
      <p:ext uri="{BB962C8B-B14F-4D97-AF65-F5344CB8AC3E}">
        <p14:creationId xmlns:p14="http://schemas.microsoft.com/office/powerpoint/2010/main" val="1655455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1">
            <a:extLst>
              <a:ext uri="{FF2B5EF4-FFF2-40B4-BE49-F238E27FC236}">
                <a16:creationId xmlns:a16="http://schemas.microsoft.com/office/drawing/2014/main" id="{5682EA86-26AC-FE6C-C7E5-678C9E4C2667}"/>
              </a:ext>
            </a:extLst>
          </p:cNvPr>
          <p:cNvPicPr>
            <a:picLocks noChangeAspect="1"/>
          </p:cNvPicPr>
          <p:nvPr/>
        </p:nvPicPr>
        <p:blipFill>
          <a:blip r:embed="rId2"/>
          <a:stretch>
            <a:fillRect/>
          </a:stretch>
        </p:blipFill>
        <p:spPr>
          <a:xfrm>
            <a:off x="457200" y="1536669"/>
            <a:ext cx="8229600" cy="4715839"/>
          </a:xfrm>
          <a:prstGeom prst="rect">
            <a:avLst/>
          </a:prstGeom>
        </p:spPr>
      </p:pic>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solidFill>
                  <a:schemeClr val="tx1"/>
                </a:solidFill>
                <a:ea typeface="+mj-lt"/>
                <a:cs typeface="+mj-lt"/>
              </a:rPr>
              <a:t>Mission Analysis</a:t>
            </a:r>
            <a:br>
              <a:rPr lang="en-US" dirty="0">
                <a:solidFill>
                  <a:schemeClr val="tx1"/>
                </a:solidFill>
                <a:ea typeface="+mj-lt"/>
                <a:cs typeface="+mj-lt"/>
              </a:rPr>
            </a:br>
            <a:r>
              <a:rPr lang="en-US" sz="1800" dirty="0">
                <a:cs typeface="Arial"/>
              </a:rPr>
              <a:t>Operational Environment</a:t>
            </a:r>
            <a:endParaRPr lang="en-US" sz="1800" dirty="0">
              <a:solidFill>
                <a:schemeClr val="tx1"/>
              </a:solidFill>
              <a:cs typeface="Arial"/>
            </a:endParaRPr>
          </a:p>
        </p:txBody>
      </p:sp>
      <p:sp>
        <p:nvSpPr>
          <p:cNvPr id="7" name="Rectangle 6">
            <a:extLst>
              <a:ext uri="{FF2B5EF4-FFF2-40B4-BE49-F238E27FC236}">
                <a16:creationId xmlns:a16="http://schemas.microsoft.com/office/drawing/2014/main" id="{BD71D744-1744-7792-0627-57DCB8BE5B02}"/>
              </a:ext>
            </a:extLst>
          </p:cNvPr>
          <p:cNvSpPr/>
          <p:nvPr/>
        </p:nvSpPr>
        <p:spPr>
          <a:xfrm>
            <a:off x="4014132" y="5043881"/>
            <a:ext cx="557868" cy="31039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ARCYBER</a:t>
            </a:r>
          </a:p>
        </p:txBody>
      </p:sp>
      <p:grpSp>
        <p:nvGrpSpPr>
          <p:cNvPr id="9" name="Group 8">
            <a:extLst>
              <a:ext uri="{FF2B5EF4-FFF2-40B4-BE49-F238E27FC236}">
                <a16:creationId xmlns:a16="http://schemas.microsoft.com/office/drawing/2014/main" id="{0C07F816-444C-C010-034D-D7D18CFEA087}"/>
              </a:ext>
            </a:extLst>
          </p:cNvPr>
          <p:cNvGrpSpPr/>
          <p:nvPr/>
        </p:nvGrpSpPr>
        <p:grpSpPr>
          <a:xfrm>
            <a:off x="6109281" y="2925398"/>
            <a:ext cx="1719743" cy="545401"/>
            <a:chOff x="2910876" y="2221899"/>
            <a:chExt cx="3330231" cy="1056253"/>
          </a:xfrm>
        </p:grpSpPr>
        <p:grpSp>
          <p:nvGrpSpPr>
            <p:cNvPr id="34" name="Group 33">
              <a:extLst>
                <a:ext uri="{FF2B5EF4-FFF2-40B4-BE49-F238E27FC236}">
                  <a16:creationId xmlns:a16="http://schemas.microsoft.com/office/drawing/2014/main" id="{6C5344AD-789F-4553-F9AF-DD9A6F341F37}"/>
                </a:ext>
              </a:extLst>
            </p:cNvPr>
            <p:cNvGrpSpPr/>
            <p:nvPr/>
          </p:nvGrpSpPr>
          <p:grpSpPr>
            <a:xfrm>
              <a:off x="4060272" y="2221899"/>
              <a:ext cx="1082179" cy="930263"/>
              <a:chOff x="4060272" y="2523903"/>
              <a:chExt cx="1082179" cy="930263"/>
            </a:xfrm>
          </p:grpSpPr>
          <p:sp>
            <p:nvSpPr>
              <p:cNvPr id="37" name="Rectangle 36">
                <a:extLst>
                  <a:ext uri="{FF2B5EF4-FFF2-40B4-BE49-F238E27FC236}">
                    <a16:creationId xmlns:a16="http://schemas.microsoft.com/office/drawing/2014/main" id="{67E80197-5396-D196-0806-8895763E3433}"/>
                  </a:ext>
                </a:extLst>
              </p:cNvPr>
              <p:cNvSpPr/>
              <p:nvPr/>
            </p:nvSpPr>
            <p:spPr>
              <a:xfrm>
                <a:off x="4060272" y="2854354"/>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CYBER</a:t>
                </a:r>
              </a:p>
            </p:txBody>
          </p:sp>
          <p:sp>
            <p:nvSpPr>
              <p:cNvPr id="38" name="TextBox 37">
                <a:extLst>
                  <a:ext uri="{FF2B5EF4-FFF2-40B4-BE49-F238E27FC236}">
                    <a16:creationId xmlns:a16="http://schemas.microsoft.com/office/drawing/2014/main" id="{C4AF2964-E0CD-55A6-A6A6-93A68BAD2588}"/>
                  </a:ext>
                </a:extLst>
              </p:cNvPr>
              <p:cNvSpPr txBox="1"/>
              <p:nvPr/>
            </p:nvSpPr>
            <p:spPr>
              <a:xfrm>
                <a:off x="4439009" y="2523903"/>
                <a:ext cx="302004" cy="4470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900" dirty="0"/>
                  <a:t>X</a:t>
                </a:r>
              </a:p>
            </p:txBody>
          </p:sp>
        </p:grpSp>
        <p:sp>
          <p:nvSpPr>
            <p:cNvPr id="35" name="TextBox 34">
              <a:extLst>
                <a:ext uri="{FF2B5EF4-FFF2-40B4-BE49-F238E27FC236}">
                  <a16:creationId xmlns:a16="http://schemas.microsoft.com/office/drawing/2014/main" id="{D5B20686-D03E-DBCD-0741-8C49FF5E125C}"/>
                </a:ext>
              </a:extLst>
            </p:cNvPr>
            <p:cNvSpPr txBox="1"/>
            <p:nvPr/>
          </p:nvSpPr>
          <p:spPr>
            <a:xfrm>
              <a:off x="2910876" y="2920518"/>
              <a:ext cx="1182848" cy="357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91st CB</a:t>
              </a:r>
            </a:p>
          </p:txBody>
        </p:sp>
        <p:sp>
          <p:nvSpPr>
            <p:cNvPr id="36" name="TextBox 35">
              <a:extLst>
                <a:ext uri="{FF2B5EF4-FFF2-40B4-BE49-F238E27FC236}">
                  <a16:creationId xmlns:a16="http://schemas.microsoft.com/office/drawing/2014/main" id="{4867D60F-0ACB-6BE2-B7E0-7658A35880EB}"/>
                </a:ext>
              </a:extLst>
            </p:cNvPr>
            <p:cNvSpPr txBox="1"/>
            <p:nvPr/>
          </p:nvSpPr>
          <p:spPr>
            <a:xfrm>
              <a:off x="5058259" y="2920514"/>
              <a:ext cx="1182848" cy="357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b="1" dirty="0">
                  <a:solidFill>
                    <a:schemeClr val="bg1"/>
                  </a:solidFill>
                </a:rPr>
                <a:t>ARCYBER</a:t>
              </a:r>
            </a:p>
          </p:txBody>
        </p:sp>
      </p:grpSp>
      <p:grpSp>
        <p:nvGrpSpPr>
          <p:cNvPr id="10" name="Group 9">
            <a:extLst>
              <a:ext uri="{FF2B5EF4-FFF2-40B4-BE49-F238E27FC236}">
                <a16:creationId xmlns:a16="http://schemas.microsoft.com/office/drawing/2014/main" id="{25833403-D221-F603-4316-36882F6F69B5}"/>
              </a:ext>
            </a:extLst>
          </p:cNvPr>
          <p:cNvGrpSpPr/>
          <p:nvPr/>
        </p:nvGrpSpPr>
        <p:grpSpPr>
          <a:xfrm>
            <a:off x="7317297" y="1457325"/>
            <a:ext cx="1786854" cy="509490"/>
            <a:chOff x="2715936" y="3541989"/>
            <a:chExt cx="3452068" cy="994937"/>
          </a:xfrm>
        </p:grpSpPr>
        <p:grpSp>
          <p:nvGrpSpPr>
            <p:cNvPr id="41" name="Group 40">
              <a:extLst>
                <a:ext uri="{FF2B5EF4-FFF2-40B4-BE49-F238E27FC236}">
                  <a16:creationId xmlns:a16="http://schemas.microsoft.com/office/drawing/2014/main" id="{7FE97BDD-6FD1-F730-EA72-B65D5EE2D015}"/>
                </a:ext>
              </a:extLst>
            </p:cNvPr>
            <p:cNvGrpSpPr/>
            <p:nvPr/>
          </p:nvGrpSpPr>
          <p:grpSpPr>
            <a:xfrm>
              <a:off x="3900881" y="3541989"/>
              <a:ext cx="1082179" cy="885299"/>
              <a:chOff x="3913464" y="3898521"/>
              <a:chExt cx="1082179" cy="885299"/>
            </a:xfrm>
          </p:grpSpPr>
          <p:sp>
            <p:nvSpPr>
              <p:cNvPr id="44" name="Rectangle 43">
                <a:extLst>
                  <a:ext uri="{FF2B5EF4-FFF2-40B4-BE49-F238E27FC236}">
                    <a16:creationId xmlns:a16="http://schemas.microsoft.com/office/drawing/2014/main" id="{A3B749CF-FA6D-6D45-E7A2-CD1D84C7F46B}"/>
                  </a:ext>
                </a:extLst>
              </p:cNvPr>
              <p:cNvSpPr/>
              <p:nvPr/>
            </p:nvSpPr>
            <p:spPr>
              <a:xfrm>
                <a:off x="3913464" y="4184008"/>
                <a:ext cx="1082179" cy="599812"/>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 dirty="0">
                    <a:solidFill>
                      <a:schemeClr val="tx1"/>
                    </a:solidFill>
                    <a:cs typeface="Arial"/>
                  </a:rPr>
                  <a:t>CYBER</a:t>
                </a:r>
              </a:p>
            </p:txBody>
          </p:sp>
          <p:sp>
            <p:nvSpPr>
              <p:cNvPr id="45" name="TextBox 44">
                <a:extLst>
                  <a:ext uri="{FF2B5EF4-FFF2-40B4-BE49-F238E27FC236}">
                    <a16:creationId xmlns:a16="http://schemas.microsoft.com/office/drawing/2014/main" id="{D7941D37-AE12-AAD6-A7FD-9BDF37167674}"/>
                  </a:ext>
                </a:extLst>
              </p:cNvPr>
              <p:cNvSpPr txBox="1"/>
              <p:nvPr/>
            </p:nvSpPr>
            <p:spPr>
              <a:xfrm>
                <a:off x="4211199" y="3898521"/>
                <a:ext cx="478082" cy="420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dirty="0">
                    <a:cs typeface="Arial"/>
                  </a:rPr>
                  <a:t>II</a:t>
                </a:r>
              </a:p>
            </p:txBody>
          </p:sp>
        </p:grpSp>
        <p:sp>
          <p:nvSpPr>
            <p:cNvPr id="42" name="TextBox 41">
              <a:extLst>
                <a:ext uri="{FF2B5EF4-FFF2-40B4-BE49-F238E27FC236}">
                  <a16:creationId xmlns:a16="http://schemas.microsoft.com/office/drawing/2014/main" id="{A6C4BBE0-AC85-1437-5E9C-7FE53278CA7B}"/>
                </a:ext>
              </a:extLst>
            </p:cNvPr>
            <p:cNvSpPr txBox="1"/>
            <p:nvPr/>
          </p:nvSpPr>
          <p:spPr>
            <a:xfrm>
              <a:off x="2715936" y="4150455"/>
              <a:ext cx="1182848" cy="3606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126th CPB</a:t>
              </a:r>
            </a:p>
          </p:txBody>
        </p:sp>
        <p:sp>
          <p:nvSpPr>
            <p:cNvPr id="43" name="TextBox 42">
              <a:extLst>
                <a:ext uri="{FF2B5EF4-FFF2-40B4-BE49-F238E27FC236}">
                  <a16:creationId xmlns:a16="http://schemas.microsoft.com/office/drawing/2014/main" id="{036E4781-CFAC-D4BD-DA88-95378998346C}"/>
                </a:ext>
              </a:extLst>
            </p:cNvPr>
            <p:cNvSpPr txBox="1"/>
            <p:nvPr/>
          </p:nvSpPr>
          <p:spPr>
            <a:xfrm>
              <a:off x="4985156" y="4146257"/>
              <a:ext cx="1182848" cy="3906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b="1" dirty="0">
                  <a:solidFill>
                    <a:schemeClr val="bg1"/>
                  </a:solidFill>
                  <a:cs typeface="Arial"/>
                </a:rPr>
                <a:t>91st CB</a:t>
              </a:r>
            </a:p>
          </p:txBody>
        </p:sp>
      </p:grpSp>
      <p:grpSp>
        <p:nvGrpSpPr>
          <p:cNvPr id="12" name="Group 11">
            <a:extLst>
              <a:ext uri="{FF2B5EF4-FFF2-40B4-BE49-F238E27FC236}">
                <a16:creationId xmlns:a16="http://schemas.microsoft.com/office/drawing/2014/main" id="{2FC8B8FB-9C95-19AC-0B09-A57044D3C77C}"/>
              </a:ext>
            </a:extLst>
          </p:cNvPr>
          <p:cNvGrpSpPr/>
          <p:nvPr/>
        </p:nvGrpSpPr>
        <p:grpSpPr>
          <a:xfrm>
            <a:off x="6738453" y="1968110"/>
            <a:ext cx="933790" cy="416573"/>
            <a:chOff x="2094683" y="5868198"/>
            <a:chExt cx="1806711" cy="802251"/>
          </a:xfrm>
        </p:grpSpPr>
        <p:grpSp>
          <p:nvGrpSpPr>
            <p:cNvPr id="52" name="Group 51">
              <a:extLst>
                <a:ext uri="{FF2B5EF4-FFF2-40B4-BE49-F238E27FC236}">
                  <a16:creationId xmlns:a16="http://schemas.microsoft.com/office/drawing/2014/main" id="{DAABB751-60B9-260D-52B8-967870D6AFAC}"/>
                </a:ext>
              </a:extLst>
            </p:cNvPr>
            <p:cNvGrpSpPr/>
            <p:nvPr/>
          </p:nvGrpSpPr>
          <p:grpSpPr>
            <a:xfrm>
              <a:off x="3268026" y="5868198"/>
              <a:ext cx="633368" cy="725824"/>
              <a:chOff x="-1396254" y="1908756"/>
              <a:chExt cx="914399" cy="1061207"/>
            </a:xfrm>
          </p:grpSpPr>
          <p:sp>
            <p:nvSpPr>
              <p:cNvPr id="53" name="Hexagon 52">
                <a:extLst>
                  <a:ext uri="{FF2B5EF4-FFF2-40B4-BE49-F238E27FC236}">
                    <a16:creationId xmlns:a16="http://schemas.microsoft.com/office/drawing/2014/main" id="{78A5237B-4FAA-B83C-B767-4BC8E3D32243}"/>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Delay 53">
                <a:extLst>
                  <a:ext uri="{FF2B5EF4-FFF2-40B4-BE49-F238E27FC236}">
                    <a16:creationId xmlns:a16="http://schemas.microsoft.com/office/drawing/2014/main" id="{59D450E0-800F-D181-0423-CD6E3651E680}"/>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D7996A8A-38DE-7B7C-B49D-8B162F6B3FB7}"/>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CA67034A-2354-D6F9-42AD-43F0BB6BA630}"/>
                </a:ext>
              </a:extLst>
            </p:cNvPr>
            <p:cNvSpPr txBox="1"/>
            <p:nvPr/>
          </p:nvSpPr>
          <p:spPr>
            <a:xfrm>
              <a:off x="2094683" y="6314813"/>
              <a:ext cx="1199272" cy="3556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ME 3</a:t>
              </a:r>
              <a:endParaRPr lang="en-US" sz="600" b="1" dirty="0">
                <a:solidFill>
                  <a:schemeClr val="bg1"/>
                </a:solidFill>
                <a:cs typeface="Arial"/>
              </a:endParaRPr>
            </a:p>
          </p:txBody>
        </p:sp>
      </p:grpSp>
      <p:sp>
        <p:nvSpPr>
          <p:cNvPr id="13" name="Rectangle 12">
            <a:extLst>
              <a:ext uri="{FF2B5EF4-FFF2-40B4-BE49-F238E27FC236}">
                <a16:creationId xmlns:a16="http://schemas.microsoft.com/office/drawing/2014/main" id="{EE086531-E215-5656-DC7B-26ABD4285D89}"/>
              </a:ext>
            </a:extLst>
          </p:cNvPr>
          <p:cNvSpPr/>
          <p:nvPr/>
        </p:nvSpPr>
        <p:spPr>
          <a:xfrm>
            <a:off x="1661018" y="4808988"/>
            <a:ext cx="553674" cy="306197"/>
          </a:xfrm>
          <a:prstGeom prst="rect">
            <a:avLst/>
          </a:prstGeom>
          <a:solidFill>
            <a:srgbClr val="00B0F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700" dirty="0">
                <a:solidFill>
                  <a:schemeClr val="tx1"/>
                </a:solidFill>
                <a:cs typeface="Arial"/>
              </a:rPr>
              <a:t>AR JFHQ</a:t>
            </a:r>
          </a:p>
        </p:txBody>
      </p:sp>
      <p:grpSp>
        <p:nvGrpSpPr>
          <p:cNvPr id="59" name="Group 58">
            <a:extLst>
              <a:ext uri="{FF2B5EF4-FFF2-40B4-BE49-F238E27FC236}">
                <a16:creationId xmlns:a16="http://schemas.microsoft.com/office/drawing/2014/main" id="{226FFB9C-4F71-8B86-4234-BBFE8162A444}"/>
              </a:ext>
            </a:extLst>
          </p:cNvPr>
          <p:cNvGrpSpPr/>
          <p:nvPr/>
        </p:nvGrpSpPr>
        <p:grpSpPr>
          <a:xfrm>
            <a:off x="6577033" y="1849796"/>
            <a:ext cx="933791" cy="416573"/>
            <a:chOff x="2094683" y="5868198"/>
            <a:chExt cx="1806711" cy="802251"/>
          </a:xfrm>
        </p:grpSpPr>
        <p:grpSp>
          <p:nvGrpSpPr>
            <p:cNvPr id="63" name="Group 62">
              <a:extLst>
                <a:ext uri="{FF2B5EF4-FFF2-40B4-BE49-F238E27FC236}">
                  <a16:creationId xmlns:a16="http://schemas.microsoft.com/office/drawing/2014/main" id="{3FE1DC45-4DFE-4495-6F8D-DD386B0486D2}"/>
                </a:ext>
              </a:extLst>
            </p:cNvPr>
            <p:cNvGrpSpPr/>
            <p:nvPr/>
          </p:nvGrpSpPr>
          <p:grpSpPr>
            <a:xfrm>
              <a:off x="3268027" y="5868198"/>
              <a:ext cx="633367" cy="725824"/>
              <a:chOff x="-1396254" y="1908756"/>
              <a:chExt cx="914399" cy="1061207"/>
            </a:xfrm>
          </p:grpSpPr>
          <p:sp>
            <p:nvSpPr>
              <p:cNvPr id="64" name="Hexagon 63">
                <a:extLst>
                  <a:ext uri="{FF2B5EF4-FFF2-40B4-BE49-F238E27FC236}">
                    <a16:creationId xmlns:a16="http://schemas.microsoft.com/office/drawing/2014/main" id="{52060FCD-FD6B-D1CA-A417-26FA525E3F90}"/>
                  </a:ext>
                </a:extLst>
              </p:cNvPr>
              <p:cNvSpPr/>
              <p:nvPr/>
            </p:nvSpPr>
            <p:spPr>
              <a:xfrm rot="5400000">
                <a:off x="-1469658" y="1982160"/>
                <a:ext cx="1061207" cy="914399"/>
              </a:xfrm>
              <a:prstGeom prst="hexagon">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lowchart: Delay 64">
                <a:extLst>
                  <a:ext uri="{FF2B5EF4-FFF2-40B4-BE49-F238E27FC236}">
                    <a16:creationId xmlns:a16="http://schemas.microsoft.com/office/drawing/2014/main" id="{5040A387-F266-E3E5-1D46-07E9A86A14D5}"/>
                  </a:ext>
                </a:extLst>
              </p:cNvPr>
              <p:cNvSpPr/>
              <p:nvPr/>
            </p:nvSpPr>
            <p:spPr>
              <a:xfrm rot="5400000">
                <a:off x="-1121630" y="2307369"/>
                <a:ext cx="373310" cy="260060"/>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E438F795-2750-C904-F025-603A121D4995}"/>
                  </a:ext>
                </a:extLst>
              </p:cNvPr>
              <p:cNvCxnSpPr>
                <a:cxnSpLocks/>
              </p:cNvCxnSpPr>
              <p:nvPr/>
            </p:nvCxnSpPr>
            <p:spPr>
              <a:xfrm flipH="1">
                <a:off x="-1374222" y="2151249"/>
                <a:ext cx="864067" cy="56625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4EE41693-07F9-8EB7-0D4C-648CDEFAFBA4}"/>
                </a:ext>
              </a:extLst>
            </p:cNvPr>
            <p:cNvSpPr txBox="1"/>
            <p:nvPr/>
          </p:nvSpPr>
          <p:spPr>
            <a:xfrm>
              <a:off x="2094683" y="6314813"/>
              <a:ext cx="1199272" cy="3556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600" b="1" dirty="0">
                  <a:solidFill>
                    <a:schemeClr val="bg1"/>
                  </a:solidFill>
                </a:rPr>
                <a:t>ME 2</a:t>
              </a:r>
              <a:endParaRPr lang="en-US" sz="600" b="1">
                <a:solidFill>
                  <a:schemeClr val="bg1"/>
                </a:solidFill>
                <a:cs typeface="Arial"/>
              </a:endParaRPr>
            </a:p>
          </p:txBody>
        </p:sp>
      </p:grpSp>
      <p:grpSp>
        <p:nvGrpSpPr>
          <p:cNvPr id="3" name="Group 2">
            <a:extLst>
              <a:ext uri="{FF2B5EF4-FFF2-40B4-BE49-F238E27FC236}">
                <a16:creationId xmlns:a16="http://schemas.microsoft.com/office/drawing/2014/main" id="{574D09BE-25D8-BC89-66C2-B4FB6B6C1639}"/>
              </a:ext>
            </a:extLst>
          </p:cNvPr>
          <p:cNvGrpSpPr/>
          <p:nvPr/>
        </p:nvGrpSpPr>
        <p:grpSpPr>
          <a:xfrm>
            <a:off x="1441086" y="4957335"/>
            <a:ext cx="1696544" cy="302111"/>
            <a:chOff x="8629650" y="2425403"/>
            <a:chExt cx="3162300" cy="615655"/>
          </a:xfrm>
        </p:grpSpPr>
        <p:sp>
          <p:nvSpPr>
            <p:cNvPr id="47" name="Rectangle 46">
              <a:extLst>
                <a:ext uri="{FF2B5EF4-FFF2-40B4-BE49-F238E27FC236}">
                  <a16:creationId xmlns:a16="http://schemas.microsoft.com/office/drawing/2014/main" id="{2B2B1D0F-3535-2AE9-4A77-C7A51ED62767}"/>
                </a:ext>
              </a:extLst>
            </p:cNvPr>
            <p:cNvSpPr/>
            <p:nvPr/>
          </p:nvSpPr>
          <p:spPr>
            <a:xfrm>
              <a:off x="9604631" y="2441246"/>
              <a:ext cx="1082179" cy="599812"/>
            </a:xfrm>
            <a:prstGeom prst="rect">
              <a:avLst/>
            </a:prstGeom>
            <a:solidFill>
              <a:srgbClr val="00B0F0"/>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dirty="0">
                <a:solidFill>
                  <a:schemeClr val="tx1"/>
                </a:solidFill>
                <a:cs typeface="Arial"/>
              </a:endParaRPr>
            </a:p>
          </p:txBody>
        </p:sp>
        <p:cxnSp>
          <p:nvCxnSpPr>
            <p:cNvPr id="48" name="Straight Arrow Connector 47">
              <a:extLst>
                <a:ext uri="{FF2B5EF4-FFF2-40B4-BE49-F238E27FC236}">
                  <a16:creationId xmlns:a16="http://schemas.microsoft.com/office/drawing/2014/main" id="{57D84915-64B4-FFDE-7050-C311774C9EDC}"/>
                </a:ext>
              </a:extLst>
            </p:cNvPr>
            <p:cNvCxnSpPr>
              <a:cxnSpLocks/>
            </p:cNvCxnSpPr>
            <p:nvPr/>
          </p:nvCxnSpPr>
          <p:spPr>
            <a:xfrm flipH="1">
              <a:off x="9592937" y="2425403"/>
              <a:ext cx="1107399" cy="607101"/>
            </a:xfrm>
            <a:prstGeom prst="straightConnector1">
              <a:avLst/>
            </a:prstGeom>
            <a:ln w="28575">
              <a:solidFill>
                <a:schemeClr val="tx1"/>
              </a:solidFill>
            </a:ln>
          </p:spPr>
          <p:style>
            <a:lnRef idx="1">
              <a:schemeClr val="accent4"/>
            </a:lnRef>
            <a:fillRef idx="0">
              <a:schemeClr val="accent4"/>
            </a:fillRef>
            <a:effectRef idx="0">
              <a:schemeClr val="accent4"/>
            </a:effectRef>
            <a:fontRef idx="minor">
              <a:schemeClr val="tx1"/>
            </a:fontRef>
          </p:style>
        </p:cxnSp>
        <p:sp>
          <p:nvSpPr>
            <p:cNvPr id="49" name="TextBox 48">
              <a:extLst>
                <a:ext uri="{FF2B5EF4-FFF2-40B4-BE49-F238E27FC236}">
                  <a16:creationId xmlns:a16="http://schemas.microsoft.com/office/drawing/2014/main" id="{4A9E12F4-B03F-23E0-B46F-24076CB743F5}"/>
                </a:ext>
              </a:extLst>
            </p:cNvPr>
            <p:cNvSpPr txBox="1"/>
            <p:nvPr/>
          </p:nvSpPr>
          <p:spPr>
            <a:xfrm>
              <a:off x="8629650" y="2724150"/>
              <a:ext cx="102870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800" b="1" dirty="0">
                  <a:solidFill>
                    <a:schemeClr val="bg1">
                      <a:lumMod val="85000"/>
                    </a:schemeClr>
                  </a:solidFill>
                </a:rPr>
                <a:t>CPT 173</a:t>
              </a:r>
            </a:p>
          </p:txBody>
        </p:sp>
        <p:sp>
          <p:nvSpPr>
            <p:cNvPr id="51" name="TextBox 50">
              <a:extLst>
                <a:ext uri="{FF2B5EF4-FFF2-40B4-BE49-F238E27FC236}">
                  <a16:creationId xmlns:a16="http://schemas.microsoft.com/office/drawing/2014/main" id="{6C3922A0-9975-1223-01DD-2AB3DEFABD7B}"/>
                </a:ext>
              </a:extLst>
            </p:cNvPr>
            <p:cNvSpPr txBox="1"/>
            <p:nvPr/>
          </p:nvSpPr>
          <p:spPr>
            <a:xfrm>
              <a:off x="10648950" y="2724150"/>
              <a:ext cx="114300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b="1" dirty="0">
                  <a:solidFill>
                    <a:schemeClr val="bg1">
                      <a:lumMod val="85000"/>
                    </a:schemeClr>
                  </a:solidFill>
                </a:rPr>
                <a:t>126th CPB</a:t>
              </a:r>
              <a:endParaRPr lang="en-US" sz="1050">
                <a:solidFill>
                  <a:schemeClr val="bg1">
                    <a:lumMod val="85000"/>
                  </a:schemeClr>
                </a:solidFill>
                <a:cs typeface="Arial"/>
              </a:endParaRPr>
            </a:p>
          </p:txBody>
        </p:sp>
        <p:sp>
          <p:nvSpPr>
            <p:cNvPr id="56" name="Flowchart: Delay 55">
              <a:extLst>
                <a:ext uri="{FF2B5EF4-FFF2-40B4-BE49-F238E27FC236}">
                  <a16:creationId xmlns:a16="http://schemas.microsoft.com/office/drawing/2014/main" id="{6D4B436D-9637-DDCA-50D5-FFD43BC22BDD}"/>
                </a:ext>
              </a:extLst>
            </p:cNvPr>
            <p:cNvSpPr/>
            <p:nvPr/>
          </p:nvSpPr>
          <p:spPr>
            <a:xfrm rot="5400000">
              <a:off x="9987617" y="2602375"/>
              <a:ext cx="325975" cy="242865"/>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528360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ACCF7AF6-35CA-9212-EEE8-412FF392429B}"/>
              </a:ext>
            </a:extLst>
          </p:cNvPr>
          <p:cNvPicPr>
            <a:picLocks noChangeAspect="1"/>
          </p:cNvPicPr>
          <p:nvPr/>
        </p:nvPicPr>
        <p:blipFill>
          <a:blip r:embed="rId2"/>
          <a:stretch>
            <a:fillRect/>
          </a:stretch>
        </p:blipFill>
        <p:spPr>
          <a:xfrm>
            <a:off x="1111542" y="1498312"/>
            <a:ext cx="6920917" cy="5216197"/>
          </a:xfrm>
          <a:prstGeom prst="rect">
            <a:avLst/>
          </a:prstGeom>
        </p:spPr>
      </p:pic>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solidFill>
                  <a:schemeClr val="tx1"/>
                </a:solidFill>
                <a:ea typeface="+mj-lt"/>
                <a:cs typeface="+mj-lt"/>
              </a:rPr>
              <a:t>Mission Analysis</a:t>
            </a:r>
            <a:br>
              <a:rPr lang="en-US" dirty="0">
                <a:solidFill>
                  <a:schemeClr val="tx1"/>
                </a:solidFill>
                <a:ea typeface="+mj-lt"/>
                <a:cs typeface="+mj-lt"/>
              </a:rPr>
            </a:br>
            <a:r>
              <a:rPr lang="en-US" sz="1800" dirty="0">
                <a:cs typeface="Arial"/>
              </a:rPr>
              <a:t>Operational Environment</a:t>
            </a:r>
            <a:endParaRPr lang="en-US" sz="1800" dirty="0"/>
          </a:p>
        </p:txBody>
      </p:sp>
      <p:sp>
        <p:nvSpPr>
          <p:cNvPr id="7" name="Rectangle 6">
            <a:extLst>
              <a:ext uri="{FF2B5EF4-FFF2-40B4-BE49-F238E27FC236}">
                <a16:creationId xmlns:a16="http://schemas.microsoft.com/office/drawing/2014/main" id="{8A375CC8-A03B-0108-74DB-E3EA0F81530A}"/>
              </a:ext>
            </a:extLst>
          </p:cNvPr>
          <p:cNvSpPr/>
          <p:nvPr/>
        </p:nvSpPr>
        <p:spPr>
          <a:xfrm>
            <a:off x="3546107" y="2731525"/>
            <a:ext cx="1082179" cy="599812"/>
          </a:xfrm>
          <a:prstGeom prst="rect">
            <a:avLst/>
          </a:prstGeom>
          <a:solidFill>
            <a:srgbClr val="00B0F0"/>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solidFill>
                  <a:schemeClr val="tx1"/>
                </a:solidFill>
                <a:cs typeface="Arial"/>
              </a:rPr>
              <a:t>AR JFHQ</a:t>
            </a:r>
            <a:endParaRPr lang="en-US" sz="1400" dirty="0">
              <a:solidFill>
                <a:schemeClr val="tx1"/>
              </a:solidFill>
            </a:endParaRPr>
          </a:p>
        </p:txBody>
      </p:sp>
      <p:cxnSp>
        <p:nvCxnSpPr>
          <p:cNvPr id="9" name="Straight Arrow Connector 8">
            <a:extLst>
              <a:ext uri="{FF2B5EF4-FFF2-40B4-BE49-F238E27FC236}">
                <a16:creationId xmlns:a16="http://schemas.microsoft.com/office/drawing/2014/main" id="{7701F51D-59F1-EA53-3BA0-B40C733624F8}"/>
              </a:ext>
            </a:extLst>
          </p:cNvPr>
          <p:cNvCxnSpPr/>
          <p:nvPr/>
        </p:nvCxnSpPr>
        <p:spPr>
          <a:xfrm>
            <a:off x="4114799" y="2971799"/>
            <a:ext cx="911901" cy="911901"/>
          </a:xfrm>
          <a:prstGeom prst="straightConnector1">
            <a:avLst/>
          </a:prstGeom>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E751ED8-1412-0C09-1061-C2485D003422}"/>
              </a:ext>
            </a:extLst>
          </p:cNvPr>
          <p:cNvGrpSpPr/>
          <p:nvPr/>
        </p:nvGrpSpPr>
        <p:grpSpPr>
          <a:xfrm>
            <a:off x="3724275" y="3120728"/>
            <a:ext cx="3162300" cy="615655"/>
            <a:chOff x="8629650" y="2425403"/>
            <a:chExt cx="3162300" cy="615655"/>
          </a:xfrm>
        </p:grpSpPr>
        <p:sp>
          <p:nvSpPr>
            <p:cNvPr id="21" name="Rectangle 20">
              <a:extLst>
                <a:ext uri="{FF2B5EF4-FFF2-40B4-BE49-F238E27FC236}">
                  <a16:creationId xmlns:a16="http://schemas.microsoft.com/office/drawing/2014/main" id="{282CE36B-8D2A-A46D-5EE6-5F2CFC120BD2}"/>
                </a:ext>
              </a:extLst>
            </p:cNvPr>
            <p:cNvSpPr/>
            <p:nvPr/>
          </p:nvSpPr>
          <p:spPr>
            <a:xfrm>
              <a:off x="9604631" y="2441246"/>
              <a:ext cx="1082179" cy="599812"/>
            </a:xfrm>
            <a:prstGeom prst="rect">
              <a:avLst/>
            </a:prstGeom>
            <a:solidFill>
              <a:srgbClr val="00B0F0"/>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400" dirty="0">
                <a:solidFill>
                  <a:schemeClr val="tx1"/>
                </a:solidFill>
                <a:cs typeface="Arial"/>
              </a:endParaRPr>
            </a:p>
          </p:txBody>
        </p:sp>
        <p:cxnSp>
          <p:nvCxnSpPr>
            <p:cNvPr id="29" name="Straight Arrow Connector 28">
              <a:extLst>
                <a:ext uri="{FF2B5EF4-FFF2-40B4-BE49-F238E27FC236}">
                  <a16:creationId xmlns:a16="http://schemas.microsoft.com/office/drawing/2014/main" id="{CC9C8AAA-574B-22B5-DBDF-975FB15228CA}"/>
                </a:ext>
              </a:extLst>
            </p:cNvPr>
            <p:cNvCxnSpPr>
              <a:cxnSpLocks/>
            </p:cNvCxnSpPr>
            <p:nvPr/>
          </p:nvCxnSpPr>
          <p:spPr>
            <a:xfrm flipH="1">
              <a:off x="9592937" y="2425403"/>
              <a:ext cx="1107399" cy="607101"/>
            </a:xfrm>
            <a:prstGeom prst="straightConnector1">
              <a:avLst/>
            </a:prstGeom>
            <a:ln w="28575">
              <a:solidFill>
                <a:schemeClr val="tx1"/>
              </a:solidFill>
            </a:ln>
          </p:spPr>
          <p:style>
            <a:lnRef idx="1">
              <a:schemeClr val="accent4"/>
            </a:lnRef>
            <a:fillRef idx="0">
              <a:schemeClr val="accent4"/>
            </a:fillRef>
            <a:effectRef idx="0">
              <a:schemeClr val="accent4"/>
            </a:effectRef>
            <a:fontRef idx="minor">
              <a:schemeClr val="tx1"/>
            </a:fontRef>
          </p:style>
        </p:cxnSp>
        <p:sp>
          <p:nvSpPr>
            <p:cNvPr id="11" name="TextBox 10">
              <a:extLst>
                <a:ext uri="{FF2B5EF4-FFF2-40B4-BE49-F238E27FC236}">
                  <a16:creationId xmlns:a16="http://schemas.microsoft.com/office/drawing/2014/main" id="{0456B24E-9E10-4A05-97BC-2B3B88B724B5}"/>
                </a:ext>
              </a:extLst>
            </p:cNvPr>
            <p:cNvSpPr txBox="1"/>
            <p:nvPr/>
          </p:nvSpPr>
          <p:spPr>
            <a:xfrm>
              <a:off x="8629650" y="2724150"/>
              <a:ext cx="10287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chemeClr val="bg1">
                      <a:lumMod val="85000"/>
                    </a:schemeClr>
                  </a:solidFill>
                </a:rPr>
                <a:t>CPT 173</a:t>
              </a:r>
            </a:p>
          </p:txBody>
        </p:sp>
        <p:sp>
          <p:nvSpPr>
            <p:cNvPr id="30" name="TextBox 29">
              <a:extLst>
                <a:ext uri="{FF2B5EF4-FFF2-40B4-BE49-F238E27FC236}">
                  <a16:creationId xmlns:a16="http://schemas.microsoft.com/office/drawing/2014/main" id="{19CF4528-9308-39D3-5816-FBC61DD4887C}"/>
                </a:ext>
              </a:extLst>
            </p:cNvPr>
            <p:cNvSpPr txBox="1"/>
            <p:nvPr/>
          </p:nvSpPr>
          <p:spPr>
            <a:xfrm>
              <a:off x="10648950" y="2724150"/>
              <a:ext cx="11430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chemeClr val="bg1">
                      <a:lumMod val="85000"/>
                    </a:schemeClr>
                  </a:solidFill>
                </a:rPr>
                <a:t>126th CPB</a:t>
              </a:r>
              <a:endParaRPr lang="en-US">
                <a:solidFill>
                  <a:schemeClr val="bg1">
                    <a:lumMod val="85000"/>
                  </a:schemeClr>
                </a:solidFill>
                <a:cs typeface="Arial"/>
              </a:endParaRPr>
            </a:p>
          </p:txBody>
        </p:sp>
        <p:sp>
          <p:nvSpPr>
            <p:cNvPr id="3" name="Flowchart: Delay 2">
              <a:extLst>
                <a:ext uri="{FF2B5EF4-FFF2-40B4-BE49-F238E27FC236}">
                  <a16:creationId xmlns:a16="http://schemas.microsoft.com/office/drawing/2014/main" id="{F6A88C0E-4D86-EB68-8AE3-027E3C9AC81C}"/>
                </a:ext>
              </a:extLst>
            </p:cNvPr>
            <p:cNvSpPr/>
            <p:nvPr/>
          </p:nvSpPr>
          <p:spPr>
            <a:xfrm rot="5400000">
              <a:off x="9987617" y="2602375"/>
              <a:ext cx="325975" cy="242865"/>
            </a:xfrm>
            <a:prstGeom prst="flowChartDela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69290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a:defRPr/>
            </a:pPr>
            <a:r>
              <a:rPr lang="en-US" dirty="0">
                <a:solidFill>
                  <a:schemeClr val="tx1"/>
                </a:solidFill>
              </a:rPr>
              <a:t>Mission Analysis</a:t>
            </a:r>
            <a:br>
              <a:rPr lang="en-US" dirty="0">
                <a:solidFill>
                  <a:schemeClr val="tx1"/>
                </a:solidFill>
              </a:rPr>
            </a:br>
            <a:r>
              <a:rPr lang="en-US" sz="1800" dirty="0">
                <a:cs typeface="Arial"/>
              </a:rPr>
              <a:t>Optimal End State</a:t>
            </a:r>
            <a:endParaRPr lang="en-US" sz="1800" dirty="0"/>
          </a:p>
        </p:txBody>
      </p:sp>
      <p:sp>
        <p:nvSpPr>
          <p:cNvPr id="25605" name="Rectangle 3"/>
          <p:cNvSpPr>
            <a:spLocks noGrp="1" noChangeArrowheads="1"/>
          </p:cNvSpPr>
          <p:nvPr>
            <p:ph type="body" idx="1"/>
          </p:nvPr>
        </p:nvSpPr>
        <p:spPr/>
        <p:txBody>
          <a:bodyPr/>
          <a:lstStyle/>
          <a:p>
            <a:pPr marL="0" indent="0">
              <a:buNone/>
            </a:pPr>
            <a:r>
              <a:rPr lang="en-US" sz="1800" dirty="0">
                <a:ea typeface="+mn-lt"/>
                <a:cs typeface="+mn-lt"/>
              </a:rPr>
              <a:t>Situation</a:t>
            </a:r>
            <a:endParaRPr lang="en-US" dirty="0">
              <a:cs typeface="Arial"/>
            </a:endParaRPr>
          </a:p>
          <a:p>
            <a:pPr marL="290830" indent="-290830">
              <a:buFont typeface="Arial"/>
              <a:buChar char="•"/>
            </a:pPr>
            <a:r>
              <a:rPr lang="en-US" sz="1800" dirty="0">
                <a:ea typeface="+mn-lt"/>
                <a:cs typeface="+mn-lt"/>
              </a:rPr>
              <a:t>JFHQ Arkansas National Guard, Guard Net has been potentially compromised. The G6 identified suspicious traffic in their network.</a:t>
            </a:r>
            <a:endParaRPr lang="en-US">
              <a:cs typeface="Arial"/>
            </a:endParaRPr>
          </a:p>
          <a:p>
            <a:pPr marL="0" indent="0">
              <a:buNone/>
            </a:pPr>
            <a:endParaRPr lang="en-US" sz="1800" dirty="0">
              <a:ea typeface="+mn-lt"/>
              <a:cs typeface="+mn-lt"/>
            </a:endParaRPr>
          </a:p>
          <a:p>
            <a:pPr marL="0" indent="0">
              <a:buNone/>
            </a:pPr>
            <a:r>
              <a:rPr lang="en-US" sz="1800" dirty="0">
                <a:ea typeface="+mn-lt"/>
                <a:cs typeface="+mn-lt"/>
              </a:rPr>
              <a:t>Desired End State</a:t>
            </a:r>
            <a:endParaRPr lang="en-US" dirty="0"/>
          </a:p>
          <a:p>
            <a:pPr marL="290830" indent="-290830">
              <a:buFont typeface="Arial"/>
              <a:buChar char="•"/>
            </a:pPr>
            <a:r>
              <a:rPr lang="en-US" sz="1800" dirty="0">
                <a:ea typeface="+mn-lt"/>
                <a:cs typeface="+mn-lt"/>
              </a:rPr>
              <a:t>CPT 173 disrupted adversary MCA, deterred future adversary operations, and successfully defended the DoDIN-NG AR network and assessed the improved security posture.</a:t>
            </a:r>
            <a:endParaRPr lang="en-US" sz="1800">
              <a:cs typeface="Arial"/>
            </a:endParaRPr>
          </a:p>
          <a:p>
            <a:pPr marL="290830" indent="-290830">
              <a:buNone/>
            </a:pPr>
            <a:endParaRPr lang="en-US" sz="1800" dirty="0">
              <a:cs typeface="Arial"/>
            </a:endParaRPr>
          </a:p>
          <a:p>
            <a:pPr marL="290830" indent="-290830">
              <a:buNone/>
            </a:pPr>
            <a:r>
              <a:rPr lang="en-US" sz="1800" dirty="0">
                <a:cs typeface="Arial"/>
              </a:rPr>
              <a:t>Initial Problem Statement</a:t>
            </a:r>
            <a:endParaRPr lang="en-US"/>
          </a:p>
          <a:p>
            <a:pPr marL="290830" indent="-290830">
              <a:buFont typeface="Arial"/>
              <a:buChar char="•"/>
            </a:pPr>
            <a:r>
              <a:rPr lang="en-US" sz="1800" dirty="0">
                <a:ea typeface="+mn-lt"/>
                <a:cs typeface="+mn-lt"/>
              </a:rPr>
              <a:t>How does CPT 173 remove all adversaries from DoDIN-NG AR</a:t>
            </a:r>
            <a:endParaRPr lang="en-US" sz="1800" dirty="0">
              <a:cs typeface="Arial"/>
            </a:endParaRPr>
          </a:p>
          <a:p>
            <a:pPr marL="290830" indent="-290830">
              <a:buNone/>
            </a:pPr>
            <a:endParaRPr lang="en-US" dirty="0">
              <a:cs typeface="Arial"/>
            </a:endParaRPr>
          </a:p>
        </p:txBody>
      </p:sp>
    </p:spTree>
    <p:extLst>
      <p:ext uri="{BB962C8B-B14F-4D97-AF65-F5344CB8AC3E}">
        <p14:creationId xmlns:p14="http://schemas.microsoft.com/office/powerpoint/2010/main" val="31563611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a:defRPr/>
            </a:pPr>
            <a:r>
              <a:rPr lang="en-US" dirty="0"/>
              <a:t>Mission Analysis</a:t>
            </a:r>
            <a:br>
              <a:rPr lang="en-US" dirty="0"/>
            </a:br>
            <a:r>
              <a:rPr lang="en-US" sz="1800" dirty="0"/>
              <a:t>Obstacles to End State</a:t>
            </a:r>
          </a:p>
        </p:txBody>
      </p:sp>
      <p:sp>
        <p:nvSpPr>
          <p:cNvPr id="25605" name="Rectangle 3"/>
          <p:cNvSpPr>
            <a:spLocks noGrp="1" noChangeArrowheads="1"/>
          </p:cNvSpPr>
          <p:nvPr>
            <p:ph type="body" idx="1"/>
          </p:nvPr>
        </p:nvSpPr>
        <p:spPr>
          <a:xfrm>
            <a:off x="457200" y="1543050"/>
            <a:ext cx="8230054" cy="4978780"/>
          </a:xfrm>
        </p:spPr>
        <p:txBody>
          <a:bodyPr/>
          <a:lstStyle/>
          <a:p>
            <a:pPr marL="0" indent="0">
              <a:buNone/>
            </a:pPr>
            <a:r>
              <a:rPr lang="en-US" sz="1400" dirty="0">
                <a:ea typeface="+mn-lt"/>
                <a:cs typeface="+mn-lt"/>
              </a:rPr>
              <a:t>Desired End State</a:t>
            </a:r>
            <a:endParaRPr lang="en-US" sz="1400" dirty="0">
              <a:cs typeface="Arial"/>
            </a:endParaRPr>
          </a:p>
          <a:p>
            <a:pPr marL="290830" indent="-290830">
              <a:buFont typeface="Arial,Sans-Serif"/>
              <a:buChar char="•"/>
            </a:pPr>
            <a:r>
              <a:rPr lang="en-US" sz="1400" dirty="0">
                <a:ea typeface="+mn-lt"/>
                <a:cs typeface="+mn-lt"/>
              </a:rPr>
              <a:t>CPT 173 disrupted adversary MCA, deterred future adversary operations, and successfully defended the DoDIN-NG AR network and assessed the improved security posture.</a:t>
            </a:r>
            <a:endParaRPr lang="en-US" sz="1400" dirty="0">
              <a:cs typeface="Arial"/>
            </a:endParaRPr>
          </a:p>
          <a:p>
            <a:pPr marL="290830" indent="-290830">
              <a:buFont typeface="Arial"/>
              <a:buChar char="•"/>
            </a:pPr>
            <a:endParaRPr lang="en-US" sz="1400" dirty="0">
              <a:ea typeface="+mn-lt"/>
              <a:cs typeface="+mn-lt"/>
            </a:endParaRPr>
          </a:p>
          <a:p>
            <a:pPr marL="0" indent="0">
              <a:buNone/>
            </a:pPr>
            <a:r>
              <a:rPr lang="en-US" sz="1400" dirty="0">
                <a:ea typeface="+mn-lt"/>
                <a:cs typeface="+mn-lt"/>
              </a:rPr>
              <a:t>Obstacles</a:t>
            </a:r>
          </a:p>
          <a:p>
            <a:pPr marL="290830" indent="-290830">
              <a:buFont typeface="Arial"/>
              <a:buChar char="•"/>
            </a:pPr>
            <a:r>
              <a:rPr lang="en-US" sz="1400" dirty="0">
                <a:ea typeface="+mn-lt"/>
                <a:cs typeface="+mn-lt"/>
              </a:rPr>
              <a:t>Legal Considerations (MOU)</a:t>
            </a:r>
          </a:p>
          <a:p>
            <a:pPr marL="290830" indent="-290830">
              <a:buFont typeface="Arial"/>
              <a:buChar char="•"/>
            </a:pPr>
            <a:r>
              <a:rPr lang="en-US" sz="1400" dirty="0">
                <a:ea typeface="+mn-lt"/>
                <a:cs typeface="+mn-lt"/>
              </a:rPr>
              <a:t>Must complete mission NLT 151700LJUN22</a:t>
            </a:r>
            <a:endParaRPr lang="en-US" sz="1400" dirty="0">
              <a:cs typeface="Arial"/>
            </a:endParaRPr>
          </a:p>
          <a:p>
            <a:pPr marL="290830" indent="-290830">
              <a:buFont typeface="Arial"/>
              <a:buChar char="•"/>
            </a:pPr>
            <a:r>
              <a:rPr lang="en-US" sz="1400" dirty="0">
                <a:ea typeface="+mn-lt"/>
                <a:cs typeface="+mn-lt"/>
              </a:rPr>
              <a:t>Cannot make changes to local defender systems without local defenders</a:t>
            </a:r>
            <a:endParaRPr lang="en-US" sz="1400" dirty="0">
              <a:cs typeface="Arial"/>
            </a:endParaRPr>
          </a:p>
          <a:p>
            <a:pPr marL="290830" indent="-290830">
              <a:buFont typeface="Arial"/>
              <a:buChar char="•"/>
            </a:pPr>
            <a:r>
              <a:rPr lang="en-US" sz="1400" dirty="0">
                <a:ea typeface="+mn-lt"/>
                <a:cs typeface="+mn-lt"/>
              </a:rPr>
              <a:t>Compromised Systems</a:t>
            </a:r>
          </a:p>
          <a:p>
            <a:pPr marL="290830" indent="-290830">
              <a:buFont typeface="Arial"/>
              <a:buChar char="•"/>
            </a:pPr>
            <a:r>
              <a:rPr lang="en-US" sz="1400" dirty="0">
                <a:ea typeface="+mn-lt"/>
                <a:cs typeface="+mn-lt"/>
              </a:rPr>
              <a:t>Vulnerabilities on Network</a:t>
            </a:r>
          </a:p>
          <a:p>
            <a:pPr marL="290830" indent="-290830">
              <a:buFont typeface="Arial"/>
              <a:buChar char="•"/>
            </a:pPr>
            <a:r>
              <a:rPr lang="en-US" sz="1400" dirty="0">
                <a:ea typeface="+mn-lt"/>
                <a:cs typeface="+mn-lt"/>
              </a:rPr>
              <a:t>Unknown Attacker / TTP’s</a:t>
            </a:r>
            <a:endParaRPr lang="en-US" sz="1400" dirty="0">
              <a:cs typeface="Arial"/>
            </a:endParaRPr>
          </a:p>
          <a:p>
            <a:pPr marL="290830" indent="-290830">
              <a:buFont typeface="Arial"/>
              <a:buChar char="•"/>
            </a:pPr>
            <a:endParaRPr lang="en-US" sz="1400" dirty="0">
              <a:ea typeface="+mn-lt"/>
              <a:cs typeface="+mn-lt"/>
            </a:endParaRPr>
          </a:p>
          <a:p>
            <a:pPr marL="0" indent="0">
              <a:buNone/>
            </a:pPr>
            <a:r>
              <a:rPr lang="en-US" sz="1400" dirty="0">
                <a:ea typeface="+mn-lt"/>
                <a:cs typeface="+mn-lt"/>
              </a:rPr>
              <a:t>Initial Problem Statement</a:t>
            </a:r>
          </a:p>
          <a:p>
            <a:pPr marL="290830" indent="-290830">
              <a:buFont typeface="Arial,Sans-Serif"/>
              <a:buChar char="•"/>
            </a:pPr>
            <a:r>
              <a:rPr lang="en-US" sz="1400" dirty="0">
                <a:cs typeface="Arial"/>
              </a:rPr>
              <a:t>How does CPT 173 remove all adversaries from DoDIN-NG AR</a:t>
            </a:r>
          </a:p>
          <a:p>
            <a:pPr marL="290830" indent="-290830">
              <a:buFont typeface="Arial,Sans-Serif"/>
              <a:buChar char="•"/>
            </a:pPr>
            <a:endParaRPr lang="en-US" sz="1400" dirty="0">
              <a:cs typeface="Arial"/>
            </a:endParaRPr>
          </a:p>
          <a:p>
            <a:pPr marL="0" indent="0">
              <a:buNone/>
            </a:pPr>
            <a:r>
              <a:rPr lang="en-US" sz="1400" dirty="0">
                <a:cs typeface="Arial"/>
              </a:rPr>
              <a:t>Key Obstacles</a:t>
            </a:r>
          </a:p>
          <a:p>
            <a:pPr marL="290830" indent="-290830">
              <a:buFont typeface="Arial,Sans-Serif"/>
              <a:buChar char="•"/>
            </a:pPr>
            <a:r>
              <a:rPr lang="en-US" sz="1400" dirty="0">
                <a:cs typeface="Arial"/>
              </a:rPr>
              <a:t>Legal Considerations, Compromised Systems, Vulnerabilities, Unknown Threat Actor</a:t>
            </a:r>
            <a:endParaRPr lang="en-US" dirty="0"/>
          </a:p>
          <a:p>
            <a:pPr marL="290830" indent="-290830">
              <a:buFont typeface="Arial"/>
              <a:buChar char="•"/>
            </a:pPr>
            <a:endParaRPr lang="en-US" sz="1800" dirty="0">
              <a:cs typeface="Arial"/>
            </a:endParaRPr>
          </a:p>
          <a:p>
            <a:pPr marL="290830" indent="-290830">
              <a:buNone/>
            </a:pPr>
            <a:endParaRPr lang="en-US">
              <a:cs typeface="Arial"/>
            </a:endParaRPr>
          </a:p>
        </p:txBody>
      </p:sp>
    </p:spTree>
    <p:extLst>
      <p:ext uri="{BB962C8B-B14F-4D97-AF65-F5344CB8AC3E}">
        <p14:creationId xmlns:p14="http://schemas.microsoft.com/office/powerpoint/2010/main" val="37339972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a:defRPr/>
            </a:pPr>
            <a:r>
              <a:rPr lang="en-US" dirty="0"/>
              <a:t>Mission Analysis</a:t>
            </a:r>
            <a:br>
              <a:rPr lang="en-US" dirty="0"/>
            </a:br>
            <a:r>
              <a:rPr lang="en-US" sz="1800" dirty="0"/>
              <a:t>Obstacles</a:t>
            </a:r>
            <a:r>
              <a:rPr lang="en-US" sz="1800" dirty="0">
                <a:ea typeface="+mj-lt"/>
                <a:cs typeface="+mj-lt"/>
              </a:rPr>
              <a:t> to End State</a:t>
            </a:r>
            <a:endParaRPr lang="en-US" dirty="0"/>
          </a:p>
        </p:txBody>
      </p:sp>
      <p:sp>
        <p:nvSpPr>
          <p:cNvPr id="25605" name="Rectangle 3"/>
          <p:cNvSpPr>
            <a:spLocks noGrp="1" noChangeArrowheads="1"/>
          </p:cNvSpPr>
          <p:nvPr>
            <p:ph type="body" idx="1"/>
          </p:nvPr>
        </p:nvSpPr>
        <p:spPr/>
        <p:txBody>
          <a:bodyPr/>
          <a:lstStyle/>
          <a:p>
            <a:pPr marL="0" indent="0">
              <a:buNone/>
            </a:pPr>
            <a:r>
              <a:rPr lang="en-US" sz="1800" dirty="0">
                <a:cs typeface="Arial"/>
              </a:rPr>
              <a:t>Problem Statement</a:t>
            </a:r>
            <a:endParaRPr lang="en-US"/>
          </a:p>
          <a:p>
            <a:pPr marL="290830" indent="-290830">
              <a:buFont typeface="Arial"/>
              <a:buChar char="•"/>
            </a:pPr>
            <a:r>
              <a:rPr lang="en-US" sz="1600" dirty="0">
                <a:cs typeface="Arial"/>
              </a:rPr>
              <a:t>How does CPT 173 remove all adversaries from DoDIN-NG AR</a:t>
            </a:r>
          </a:p>
          <a:p>
            <a:pPr marL="290830" indent="-290830">
              <a:buFont typeface="Arial,Sans-Serif"/>
              <a:buChar char="•"/>
            </a:pPr>
            <a:endParaRPr lang="en-US" sz="1800" dirty="0">
              <a:ea typeface="+mn-lt"/>
              <a:cs typeface="+mn-lt"/>
            </a:endParaRPr>
          </a:p>
          <a:p>
            <a:pPr marL="0" indent="0">
              <a:buNone/>
            </a:pPr>
            <a:r>
              <a:rPr lang="en-US" sz="1800" dirty="0">
                <a:ea typeface="+mn-lt"/>
                <a:cs typeface="+mn-lt"/>
              </a:rPr>
              <a:t>Key Obstacles</a:t>
            </a:r>
          </a:p>
          <a:p>
            <a:pPr marL="290830" indent="-290830">
              <a:buFont typeface="Arial,Sans-Serif"/>
              <a:buChar char="•"/>
            </a:pPr>
            <a:r>
              <a:rPr lang="en-US" sz="1600" dirty="0">
                <a:ea typeface="+mn-lt"/>
                <a:cs typeface="+mn-lt"/>
              </a:rPr>
              <a:t>Legal Considerations, Compromised Systems, Vulnerabilities, Unknown Threat Actor</a:t>
            </a:r>
          </a:p>
          <a:p>
            <a:pPr marL="290830" indent="-290830">
              <a:buFont typeface="Arial,Sans-Serif"/>
              <a:buChar char="•"/>
            </a:pPr>
            <a:endParaRPr lang="en-US" sz="1800" dirty="0">
              <a:cs typeface="Arial"/>
            </a:endParaRPr>
          </a:p>
          <a:p>
            <a:pPr marL="0" indent="0">
              <a:buNone/>
            </a:pPr>
            <a:r>
              <a:rPr lang="en-US" sz="1800" dirty="0">
                <a:cs typeface="Arial"/>
              </a:rPr>
              <a:t>Operational Approach</a:t>
            </a:r>
          </a:p>
          <a:p>
            <a:pPr marL="290830" indent="-290830">
              <a:buFont typeface="Arial"/>
              <a:buChar char="•"/>
            </a:pPr>
            <a:r>
              <a:rPr lang="en-US" sz="1600" dirty="0">
                <a:cs typeface="Arial"/>
              </a:rPr>
              <a:t>4 lines of effort</a:t>
            </a:r>
          </a:p>
          <a:p>
            <a:pPr marL="633095" lvl="1" indent="-243840">
              <a:buFont typeface="Arial"/>
              <a:buChar char="•"/>
            </a:pPr>
            <a:r>
              <a:rPr lang="en-US" sz="1600" dirty="0">
                <a:cs typeface="Arial"/>
              </a:rPr>
              <a:t>Complete MOU</a:t>
            </a:r>
          </a:p>
          <a:p>
            <a:pPr marL="633095" lvl="1" indent="-243840">
              <a:buFont typeface="Arial"/>
              <a:buChar char="•"/>
            </a:pPr>
            <a:r>
              <a:rPr lang="en-US" sz="1600" dirty="0">
                <a:cs typeface="Arial"/>
              </a:rPr>
              <a:t>Assess KT-C Vulnerabilities</a:t>
            </a:r>
          </a:p>
          <a:p>
            <a:pPr marL="633095" lvl="1" indent="-243840">
              <a:buFont typeface="Arial"/>
              <a:buChar char="•"/>
            </a:pPr>
            <a:r>
              <a:rPr lang="en-US" sz="1600" dirty="0">
                <a:cs typeface="Arial"/>
              </a:rPr>
              <a:t>Harden Compromised Systems</a:t>
            </a:r>
          </a:p>
          <a:p>
            <a:pPr marL="633095" lvl="1" indent="-243840">
              <a:buFont typeface="Arial"/>
              <a:buChar char="•"/>
            </a:pPr>
            <a:r>
              <a:rPr lang="en-US" sz="1600" dirty="0">
                <a:cs typeface="Arial"/>
              </a:rPr>
              <a:t>Defend Systems from Threat Actor</a:t>
            </a:r>
          </a:p>
          <a:p>
            <a:pPr marL="290830" indent="-290830">
              <a:buNone/>
            </a:pPr>
            <a:endParaRPr lang="en-US" sz="1800" dirty="0">
              <a:cs typeface="Arial"/>
            </a:endParaRPr>
          </a:p>
          <a:p>
            <a:pPr marL="290830" indent="-290830">
              <a:buNone/>
            </a:pPr>
            <a:r>
              <a:rPr lang="en-US" sz="1800" dirty="0">
                <a:cs typeface="Arial"/>
              </a:rPr>
              <a:t>Proposed Mission Statement</a:t>
            </a:r>
            <a:endParaRPr lang="en-US" dirty="0"/>
          </a:p>
          <a:p>
            <a:pPr marL="457200" indent="-457200">
              <a:buFont typeface="Arial"/>
              <a:buChar char="•"/>
            </a:pPr>
            <a:r>
              <a:rPr lang="en-US" sz="1600" dirty="0">
                <a:cs typeface="Arial"/>
              </a:rPr>
              <a:t>Next Slide</a:t>
            </a:r>
          </a:p>
        </p:txBody>
      </p:sp>
    </p:spTree>
    <p:extLst>
      <p:ext uri="{BB962C8B-B14F-4D97-AF65-F5344CB8AC3E}">
        <p14:creationId xmlns:p14="http://schemas.microsoft.com/office/powerpoint/2010/main" val="19749088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a:defRPr/>
            </a:pPr>
            <a:r>
              <a:rPr lang="en-US" dirty="0">
                <a:cs typeface="Arial"/>
              </a:rPr>
              <a:t>Mission Analysis</a:t>
            </a:r>
            <a:br>
              <a:rPr lang="en-US" dirty="0"/>
            </a:br>
            <a:r>
              <a:rPr lang="en-US" sz="1800" dirty="0">
                <a:cs typeface="Arial"/>
              </a:rPr>
              <a:t>Proposed Mission Statement</a:t>
            </a:r>
            <a:endParaRPr lang="en-US" dirty="0"/>
          </a:p>
        </p:txBody>
      </p:sp>
      <p:sp>
        <p:nvSpPr>
          <p:cNvPr id="28677" name="Rectangle 3"/>
          <p:cNvSpPr>
            <a:spLocks noGrp="1" noChangeArrowheads="1"/>
          </p:cNvSpPr>
          <p:nvPr>
            <p:ph type="body" idx="1"/>
          </p:nvPr>
        </p:nvSpPr>
        <p:spPr/>
        <p:txBody>
          <a:bodyPr/>
          <a:lstStyle/>
          <a:p>
            <a:pPr marL="0" indent="0">
              <a:buNone/>
            </a:pPr>
            <a:r>
              <a:rPr lang="en-US" sz="1800" dirty="0">
                <a:ea typeface="+mn-lt"/>
                <a:cs typeface="+mn-lt"/>
              </a:rPr>
              <a:t>CPT 173 elements (HQ and ME1) deploys NLT 081700RJUN22 to conduct Defensive Cyberspace Operations-Internal Defensive Measures (DCO-IDM) to identify malicious cyber activity. </a:t>
            </a:r>
            <a:endParaRPr lang="en-US" dirty="0"/>
          </a:p>
          <a:p>
            <a:pPr marL="0" indent="0">
              <a:buNone/>
            </a:pPr>
            <a:endParaRPr lang="en-US" sz="1800" dirty="0">
              <a:ea typeface="+mn-lt"/>
              <a:cs typeface="+mn-lt"/>
            </a:endParaRPr>
          </a:p>
          <a:p>
            <a:pPr marL="0" indent="0">
              <a:buNone/>
            </a:pPr>
            <a:r>
              <a:rPr lang="en-US" sz="1800" dirty="0">
                <a:ea typeface="+mn-lt"/>
                <a:cs typeface="+mn-lt"/>
              </a:rPr>
              <a:t>On detection CPT 173 ME1 assists local defender to harden KT-C. </a:t>
            </a:r>
          </a:p>
          <a:p>
            <a:pPr marL="0" indent="0">
              <a:buNone/>
            </a:pPr>
            <a:endParaRPr lang="en-US" sz="1800" dirty="0">
              <a:ea typeface="+mn-lt"/>
              <a:cs typeface="+mn-lt"/>
            </a:endParaRPr>
          </a:p>
          <a:p>
            <a:pPr marL="0" indent="0">
              <a:buNone/>
            </a:pPr>
            <a:r>
              <a:rPr lang="en-US" sz="1800" dirty="0">
                <a:ea typeface="+mn-lt"/>
                <a:cs typeface="+mn-lt"/>
              </a:rPr>
              <a:t>CPT 173 ME1 emulates cyber threat on KT-C once local defenders have hardened assets to ensure defenses are in place. </a:t>
            </a:r>
            <a:endParaRPr lang="en-US" sz="1800">
              <a:cs typeface="Arial"/>
            </a:endParaRPr>
          </a:p>
          <a:p>
            <a:pPr marL="0" indent="0">
              <a:buNone/>
            </a:pPr>
            <a:endParaRPr lang="en-US" sz="1800" dirty="0">
              <a:ea typeface="+mn-lt"/>
              <a:cs typeface="+mn-lt"/>
            </a:endParaRPr>
          </a:p>
          <a:p>
            <a:pPr marL="0" indent="0">
              <a:buNone/>
            </a:pPr>
            <a:r>
              <a:rPr lang="en-US" sz="1800" dirty="0">
                <a:ea typeface="+mn-lt"/>
                <a:cs typeface="+mn-lt"/>
              </a:rPr>
              <a:t>CPT 173 ME1 assesses remediation actions once threat emulation concludes to ensure no further actions are taking place against KT-C.</a:t>
            </a:r>
            <a:r>
              <a:rPr lang="en-US" sz="2000" dirty="0">
                <a:ea typeface="+mn-lt"/>
                <a:cs typeface="+mn-lt"/>
              </a:rPr>
              <a:t> </a:t>
            </a:r>
            <a:endParaRPr lang="en-US" sz="2000">
              <a:cs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426F-7C23-C88A-A1AA-5741EA72CA32}"/>
              </a:ext>
            </a:extLst>
          </p:cNvPr>
          <p:cNvSpPr>
            <a:spLocks noGrp="1"/>
          </p:cNvSpPr>
          <p:nvPr>
            <p:ph type="title"/>
          </p:nvPr>
        </p:nvSpPr>
        <p:spPr/>
        <p:txBody>
          <a:bodyPr/>
          <a:lstStyle/>
          <a:p>
            <a:r>
              <a:rPr lang="en-US" dirty="0">
                <a:cs typeface="Arial"/>
              </a:rPr>
              <a:t>Mission Analysis</a:t>
            </a:r>
            <a:br>
              <a:rPr lang="en-US" dirty="0">
                <a:cs typeface="Arial"/>
              </a:rPr>
            </a:br>
            <a:r>
              <a:rPr lang="en-US" dirty="0">
                <a:cs typeface="Arial"/>
              </a:rPr>
              <a:t>Cyber IPB</a:t>
            </a:r>
            <a:endParaRPr lang="en-US" dirty="0"/>
          </a:p>
        </p:txBody>
      </p:sp>
      <p:sp>
        <p:nvSpPr>
          <p:cNvPr id="3" name="Content Placeholder 2">
            <a:extLst>
              <a:ext uri="{FF2B5EF4-FFF2-40B4-BE49-F238E27FC236}">
                <a16:creationId xmlns:a16="http://schemas.microsoft.com/office/drawing/2014/main" id="{DC7A3E58-011B-194B-9044-E1FB8F460D35}"/>
              </a:ext>
            </a:extLst>
          </p:cNvPr>
          <p:cNvSpPr>
            <a:spLocks noGrp="1"/>
          </p:cNvSpPr>
          <p:nvPr>
            <p:ph idx="1"/>
          </p:nvPr>
        </p:nvSpPr>
        <p:spPr/>
        <p:txBody>
          <a:bodyPr/>
          <a:lstStyle/>
          <a:p>
            <a:pPr marL="290830" indent="-290830"/>
            <a:r>
              <a:rPr lang="en-US" sz="1800" dirty="0">
                <a:ea typeface="+mn-lt"/>
                <a:cs typeface="+mn-lt"/>
              </a:rPr>
              <a:t>Steps to Conduct Cyber IPB</a:t>
            </a:r>
          </a:p>
          <a:p>
            <a:pPr marL="633095" lvl="1" indent="-243840">
              <a:buFont typeface="Arial"/>
              <a:buChar char="•"/>
            </a:pPr>
            <a:endParaRPr lang="en-US" sz="1500" dirty="0">
              <a:ea typeface="+mn-lt"/>
              <a:cs typeface="+mn-lt"/>
            </a:endParaRPr>
          </a:p>
          <a:p>
            <a:pPr marL="633095" lvl="1" indent="-243840">
              <a:buFont typeface="Arial"/>
              <a:buChar char="•"/>
            </a:pPr>
            <a:r>
              <a:rPr lang="en-US" sz="1500" dirty="0">
                <a:ea typeface="+mn-lt"/>
                <a:cs typeface="+mn-lt"/>
              </a:rPr>
              <a:t>Define the Technical OE and key terrain </a:t>
            </a:r>
            <a:endParaRPr lang="en-US" sz="1500" dirty="0">
              <a:cs typeface="Arial"/>
            </a:endParaRPr>
          </a:p>
          <a:p>
            <a:pPr marL="633095" lvl="1" indent="-243840">
              <a:buFont typeface="Arial"/>
              <a:buChar char="•"/>
            </a:pPr>
            <a:endParaRPr lang="en-US" sz="1500" dirty="0">
              <a:ea typeface="+mn-lt"/>
              <a:cs typeface="+mn-lt"/>
            </a:endParaRPr>
          </a:p>
          <a:p>
            <a:pPr marL="633095" lvl="1" indent="-243840">
              <a:buFont typeface="Arial"/>
              <a:buChar char="•"/>
            </a:pPr>
            <a:r>
              <a:rPr lang="en-US" sz="1500" dirty="0">
                <a:ea typeface="+mn-lt"/>
                <a:cs typeface="+mn-lt"/>
              </a:rPr>
              <a:t>Describe Impact of Technical OE </a:t>
            </a:r>
          </a:p>
          <a:p>
            <a:pPr marL="633095" lvl="1" indent="-243840">
              <a:buFont typeface="Arial"/>
              <a:buChar char="•"/>
            </a:pPr>
            <a:endParaRPr lang="en-US" sz="1500" dirty="0">
              <a:cs typeface="Arial"/>
            </a:endParaRPr>
          </a:p>
          <a:p>
            <a:pPr marL="633095" lvl="1" indent="-243840">
              <a:buFont typeface="Arial"/>
              <a:buChar char="•"/>
            </a:pPr>
            <a:r>
              <a:rPr lang="en-US" sz="1500" dirty="0">
                <a:ea typeface="+mn-lt"/>
                <a:cs typeface="+mn-lt"/>
              </a:rPr>
              <a:t>Evaluate Adversary Effects </a:t>
            </a:r>
            <a:endParaRPr lang="en-US" sz="1500" dirty="0">
              <a:cs typeface="Arial"/>
            </a:endParaRPr>
          </a:p>
          <a:p>
            <a:pPr marL="633095" lvl="1" indent="-243840">
              <a:buFont typeface="Arial"/>
              <a:buChar char="•"/>
            </a:pPr>
            <a:endParaRPr lang="en-US" sz="1500" dirty="0">
              <a:ea typeface="+mn-lt"/>
              <a:cs typeface="+mn-lt"/>
            </a:endParaRPr>
          </a:p>
          <a:p>
            <a:pPr marL="633095" lvl="1" indent="-243840">
              <a:buFont typeface="Arial"/>
              <a:buChar char="•"/>
            </a:pPr>
            <a:r>
              <a:rPr lang="en-US" sz="1500" dirty="0">
                <a:ea typeface="+mn-lt"/>
                <a:cs typeface="+mn-lt"/>
              </a:rPr>
              <a:t>Determine Adversary COAs </a:t>
            </a:r>
            <a:endParaRPr lang="en-US" sz="1500" dirty="0">
              <a:cs typeface="Arial"/>
            </a:endParaRPr>
          </a:p>
          <a:p>
            <a:pPr marL="290830" indent="-290830"/>
            <a:endParaRPr lang="en-US" dirty="0">
              <a:cs typeface="Arial"/>
            </a:endParaRPr>
          </a:p>
        </p:txBody>
      </p:sp>
    </p:spTree>
    <p:extLst>
      <p:ext uri="{BB962C8B-B14F-4D97-AF65-F5344CB8AC3E}">
        <p14:creationId xmlns:p14="http://schemas.microsoft.com/office/powerpoint/2010/main" val="21300495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426F-7C23-C88A-A1AA-5741EA72CA32}"/>
              </a:ext>
            </a:extLst>
          </p:cNvPr>
          <p:cNvSpPr>
            <a:spLocks noGrp="1"/>
          </p:cNvSpPr>
          <p:nvPr>
            <p:ph type="title"/>
          </p:nvPr>
        </p:nvSpPr>
        <p:spPr/>
        <p:txBody>
          <a:bodyPr/>
          <a:lstStyle/>
          <a:p>
            <a:r>
              <a:rPr lang="en-US" dirty="0">
                <a:cs typeface="Arial"/>
              </a:rPr>
              <a:t>Mission Analysis</a:t>
            </a:r>
            <a:br>
              <a:rPr lang="en-US" dirty="0">
                <a:cs typeface="Arial"/>
              </a:rPr>
            </a:br>
            <a:r>
              <a:rPr lang="en-US" sz="1800" dirty="0">
                <a:cs typeface="Arial"/>
              </a:rPr>
              <a:t>IBP – Technical OE/KT-C</a:t>
            </a:r>
          </a:p>
        </p:txBody>
      </p:sp>
      <p:sp>
        <p:nvSpPr>
          <p:cNvPr id="3" name="Content Placeholder 2">
            <a:extLst>
              <a:ext uri="{FF2B5EF4-FFF2-40B4-BE49-F238E27FC236}">
                <a16:creationId xmlns:a16="http://schemas.microsoft.com/office/drawing/2014/main" id="{DC7A3E58-011B-194B-9044-E1FB8F460D35}"/>
              </a:ext>
            </a:extLst>
          </p:cNvPr>
          <p:cNvSpPr>
            <a:spLocks noGrp="1"/>
          </p:cNvSpPr>
          <p:nvPr>
            <p:ph idx="1"/>
          </p:nvPr>
        </p:nvSpPr>
        <p:spPr/>
        <p:txBody>
          <a:bodyPr/>
          <a:lstStyle/>
          <a:p>
            <a:pPr marL="0" indent="0">
              <a:buNone/>
            </a:pPr>
            <a:r>
              <a:rPr lang="en-US" sz="1800" dirty="0">
                <a:ea typeface="+mn-lt"/>
                <a:cs typeface="+mn-lt"/>
              </a:rPr>
              <a:t>Technical OE and Key Terrain</a:t>
            </a:r>
            <a:endParaRPr lang="en-US" dirty="0">
              <a:cs typeface="Arial"/>
            </a:endParaRPr>
          </a:p>
          <a:p>
            <a:pPr marL="290830" indent="-290830"/>
            <a:r>
              <a:rPr lang="en-US" sz="1800" dirty="0">
                <a:ea typeface="+mn-lt"/>
                <a:cs typeface="+mn-lt"/>
              </a:rPr>
              <a:t>DoDIN-NG NIPR network</a:t>
            </a:r>
            <a:endParaRPr lang="en-US" dirty="0"/>
          </a:p>
          <a:p>
            <a:pPr marL="290830" indent="-290830"/>
            <a:r>
              <a:rPr lang="en-US" sz="1800" dirty="0">
                <a:cs typeface="Arial"/>
              </a:rPr>
              <a:t>WANS</a:t>
            </a:r>
          </a:p>
          <a:p>
            <a:pPr marL="290830" indent="-290830"/>
            <a:r>
              <a:rPr lang="en-US" sz="1800" dirty="0">
                <a:cs typeface="Arial"/>
              </a:rPr>
              <a:t>LANS</a:t>
            </a:r>
          </a:p>
          <a:p>
            <a:pPr marL="290830" indent="-290830"/>
            <a:r>
              <a:rPr lang="en-US" sz="1800" dirty="0">
                <a:cs typeface="Arial"/>
              </a:rPr>
              <a:t>Applications</a:t>
            </a:r>
          </a:p>
          <a:p>
            <a:pPr marL="290830" indent="-290830"/>
            <a:r>
              <a:rPr lang="en-US" sz="1800" dirty="0">
                <a:ea typeface="+mn-lt"/>
                <a:cs typeface="+mn-lt"/>
              </a:rPr>
              <a:t>Servers, AD, DNS, DHCP, RADIUS, NCS</a:t>
            </a:r>
          </a:p>
          <a:p>
            <a:pPr marL="290830" indent="-290830"/>
            <a:r>
              <a:rPr lang="en-US" sz="1800" dirty="0">
                <a:ea typeface="+mn-lt"/>
                <a:cs typeface="+mn-lt"/>
              </a:rPr>
              <a:t>Data Stores</a:t>
            </a:r>
          </a:p>
          <a:p>
            <a:pPr marL="290830" indent="-290830"/>
            <a:r>
              <a:rPr lang="en-US" sz="1800" dirty="0">
                <a:ea typeface="+mn-lt"/>
                <a:cs typeface="+mn-lt"/>
              </a:rPr>
              <a:t>Other KT-C</a:t>
            </a:r>
          </a:p>
          <a:p>
            <a:pPr marL="290830" indent="-290830"/>
            <a:r>
              <a:rPr lang="en-US" sz="1800" dirty="0">
                <a:ea typeface="+mn-lt"/>
                <a:cs typeface="+mn-lt"/>
              </a:rPr>
              <a:t>Firewalls</a:t>
            </a:r>
          </a:p>
          <a:p>
            <a:pPr marL="290830" indent="-290830"/>
            <a:r>
              <a:rPr lang="en-US" sz="1800" dirty="0">
                <a:ea typeface="+mn-lt"/>
                <a:cs typeface="+mn-lt"/>
              </a:rPr>
              <a:t>Vulnerability Scanners</a:t>
            </a:r>
          </a:p>
          <a:p>
            <a:pPr marL="290830" indent="-290830"/>
            <a:r>
              <a:rPr lang="en-US" sz="1800" dirty="0">
                <a:ea typeface="+mn-lt"/>
                <a:cs typeface="+mn-lt"/>
              </a:rPr>
              <a:t>Log Servers</a:t>
            </a:r>
          </a:p>
          <a:p>
            <a:pPr marL="290830" indent="-290830"/>
            <a:r>
              <a:rPr lang="en-US" sz="1800" dirty="0">
                <a:ea typeface="+mn-lt"/>
                <a:cs typeface="+mn-lt"/>
              </a:rPr>
              <a:t>Operating Systems</a:t>
            </a:r>
          </a:p>
          <a:p>
            <a:pPr marL="290830" indent="-290830"/>
            <a:r>
              <a:rPr lang="en-US" sz="1800" dirty="0">
                <a:ea typeface="+mn-lt"/>
                <a:cs typeface="+mn-lt"/>
              </a:rPr>
              <a:t>Inventories</a:t>
            </a:r>
          </a:p>
          <a:p>
            <a:pPr marL="290830" indent="-290830"/>
            <a:r>
              <a:rPr lang="en-US" sz="1800" dirty="0">
                <a:ea typeface="+mn-lt"/>
                <a:cs typeface="+mn-lt"/>
              </a:rPr>
              <a:t>RMF Documentation</a:t>
            </a:r>
          </a:p>
        </p:txBody>
      </p:sp>
    </p:spTree>
    <p:extLst>
      <p:ext uri="{BB962C8B-B14F-4D97-AF65-F5344CB8AC3E}">
        <p14:creationId xmlns:p14="http://schemas.microsoft.com/office/powerpoint/2010/main" val="3372577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ea typeface="+mj-lt"/>
                <a:cs typeface="+mj-lt"/>
              </a:rPr>
              <a:t>Mission Analysis</a:t>
            </a:r>
            <a:br>
              <a:rPr lang="en-US" dirty="0">
                <a:ea typeface="+mj-lt"/>
                <a:cs typeface="+mj-lt"/>
              </a:rPr>
            </a:br>
            <a:r>
              <a:rPr lang="en-US" sz="1800" dirty="0">
                <a:ea typeface="+mj-lt"/>
                <a:cs typeface="+mj-lt"/>
              </a:rPr>
              <a:t>IBP – Technical OE/KT-C</a:t>
            </a:r>
          </a:p>
        </p:txBody>
      </p:sp>
      <p:sp>
        <p:nvSpPr>
          <p:cNvPr id="3" name="TextBox 2">
            <a:extLst>
              <a:ext uri="{FF2B5EF4-FFF2-40B4-BE49-F238E27FC236}">
                <a16:creationId xmlns:a16="http://schemas.microsoft.com/office/drawing/2014/main" id="{DBF24457-A203-6D18-C3FA-380AF6E949C3}"/>
              </a:ext>
            </a:extLst>
          </p:cNvPr>
          <p:cNvSpPr txBox="1"/>
          <p:nvPr/>
        </p:nvSpPr>
        <p:spPr>
          <a:xfrm>
            <a:off x="3200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0000"/>
                </a:solidFill>
              </a:rPr>
              <a:t>Logical Network Diagram</a:t>
            </a:r>
            <a:endParaRPr lang="en-US" dirty="0">
              <a:solidFill>
                <a:srgbClr val="FF0000"/>
              </a:solidFill>
              <a:cs typeface="Arial"/>
            </a:endParaRPr>
          </a:p>
        </p:txBody>
      </p:sp>
    </p:spTree>
    <p:extLst>
      <p:ext uri="{BB962C8B-B14F-4D97-AF65-F5344CB8AC3E}">
        <p14:creationId xmlns:p14="http://schemas.microsoft.com/office/powerpoint/2010/main" val="14029826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ea typeface="+mj-lt"/>
                <a:cs typeface="+mj-lt"/>
              </a:rPr>
              <a:t>Mission Analysis</a:t>
            </a:r>
            <a:br>
              <a:rPr lang="en-US" dirty="0">
                <a:ea typeface="+mj-lt"/>
                <a:cs typeface="+mj-lt"/>
              </a:rPr>
            </a:br>
            <a:r>
              <a:rPr lang="en-US" sz="1800" dirty="0">
                <a:ea typeface="+mj-lt"/>
                <a:cs typeface="+mj-lt"/>
              </a:rPr>
              <a:t>IBP – Technical OE/KT-C</a:t>
            </a:r>
          </a:p>
        </p:txBody>
      </p:sp>
      <p:sp>
        <p:nvSpPr>
          <p:cNvPr id="3" name="TextBox 2">
            <a:extLst>
              <a:ext uri="{FF2B5EF4-FFF2-40B4-BE49-F238E27FC236}">
                <a16:creationId xmlns:a16="http://schemas.microsoft.com/office/drawing/2014/main" id="{DBF24457-A203-6D18-C3FA-380AF6E949C3}"/>
              </a:ext>
            </a:extLst>
          </p:cNvPr>
          <p:cNvSpPr txBox="1"/>
          <p:nvPr/>
        </p:nvSpPr>
        <p:spPr>
          <a:xfrm>
            <a:off x="3200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F0000"/>
                </a:solidFill>
              </a:rPr>
              <a:t>KT-C Diagram</a:t>
            </a:r>
            <a:endParaRPr lang="en-US" dirty="0">
              <a:solidFill>
                <a:srgbClr val="FF0000"/>
              </a:solidFill>
              <a:cs typeface="Arial"/>
            </a:endParaRPr>
          </a:p>
        </p:txBody>
      </p:sp>
    </p:spTree>
    <p:extLst>
      <p:ext uri="{BB962C8B-B14F-4D97-AF65-F5344CB8AC3E}">
        <p14:creationId xmlns:p14="http://schemas.microsoft.com/office/powerpoint/2010/main" val="8251299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426F-7C23-C88A-A1AA-5741EA72CA32}"/>
              </a:ext>
            </a:extLst>
          </p:cNvPr>
          <p:cNvSpPr>
            <a:spLocks noGrp="1"/>
          </p:cNvSpPr>
          <p:nvPr>
            <p:ph type="title"/>
          </p:nvPr>
        </p:nvSpPr>
        <p:spPr/>
        <p:txBody>
          <a:bodyPr/>
          <a:lstStyle/>
          <a:p>
            <a:r>
              <a:rPr lang="en-US" dirty="0">
                <a:cs typeface="Arial"/>
              </a:rPr>
              <a:t>Mission Analysis</a:t>
            </a:r>
            <a:br>
              <a:rPr lang="en-US" dirty="0">
                <a:cs typeface="Arial"/>
              </a:rPr>
            </a:br>
            <a:r>
              <a:rPr lang="en-US" sz="1800" dirty="0">
                <a:cs typeface="Arial"/>
              </a:rPr>
              <a:t>IBP – Technical OE/KT-C</a:t>
            </a:r>
          </a:p>
        </p:txBody>
      </p:sp>
      <p:sp>
        <p:nvSpPr>
          <p:cNvPr id="3" name="Content Placeholder 2">
            <a:extLst>
              <a:ext uri="{FF2B5EF4-FFF2-40B4-BE49-F238E27FC236}">
                <a16:creationId xmlns:a16="http://schemas.microsoft.com/office/drawing/2014/main" id="{DC7A3E58-011B-194B-9044-E1FB8F460D35}"/>
              </a:ext>
            </a:extLst>
          </p:cNvPr>
          <p:cNvSpPr>
            <a:spLocks noGrp="1"/>
          </p:cNvSpPr>
          <p:nvPr>
            <p:ph idx="1"/>
          </p:nvPr>
        </p:nvSpPr>
        <p:spPr/>
        <p:txBody>
          <a:bodyPr/>
          <a:lstStyle/>
          <a:p>
            <a:pPr marL="0" indent="0">
              <a:buNone/>
            </a:pPr>
            <a:r>
              <a:rPr lang="en-US" sz="1800" dirty="0">
                <a:ea typeface="+mn-lt"/>
                <a:cs typeface="+mn-lt"/>
              </a:rPr>
              <a:t>Impact of Technical OE</a:t>
            </a:r>
            <a:endParaRPr lang="en-US"/>
          </a:p>
          <a:p>
            <a:pPr marL="290830" indent="-290830">
              <a:buFont typeface="Arial"/>
              <a:buChar char="•"/>
            </a:pPr>
            <a:r>
              <a:rPr lang="en-US" sz="1800" dirty="0">
                <a:cs typeface="Arial"/>
              </a:rPr>
              <a:t>Disruption and Degradation of FF ability to deploy resources</a:t>
            </a:r>
          </a:p>
          <a:p>
            <a:pPr marL="290830" indent="-290830">
              <a:buFont typeface="Arial"/>
              <a:buChar char="•"/>
            </a:pPr>
            <a:r>
              <a:rPr lang="en-US" sz="1800" dirty="0">
                <a:cs typeface="Arial"/>
              </a:rPr>
              <a:t>Loss of CIA of PII, CUI, OPSEC Information</a:t>
            </a:r>
          </a:p>
          <a:p>
            <a:pPr marL="290830" indent="-290830">
              <a:buFont typeface="Arial"/>
              <a:buChar char="•"/>
            </a:pPr>
            <a:r>
              <a:rPr lang="en-US" sz="1800" dirty="0">
                <a:cs typeface="Arial"/>
              </a:rPr>
              <a:t>Exfiltration of PII, CUI, and OPSEC information</a:t>
            </a:r>
          </a:p>
          <a:p>
            <a:pPr marL="290830" indent="-290830">
              <a:buFont typeface="Arial"/>
              <a:buChar char="•"/>
            </a:pPr>
            <a:r>
              <a:rPr lang="en-US" sz="1800" dirty="0">
                <a:cs typeface="Arial"/>
              </a:rPr>
              <a:t>Pivoting to DoDIN and impact to outside FF</a:t>
            </a:r>
          </a:p>
          <a:p>
            <a:pPr marL="290830" indent="-290830">
              <a:buFont typeface="Arial"/>
              <a:buChar char="•"/>
            </a:pPr>
            <a:endParaRPr lang="en-US" sz="1800" dirty="0">
              <a:cs typeface="Arial"/>
            </a:endParaRPr>
          </a:p>
          <a:p>
            <a:pPr marL="290830" indent="-290830">
              <a:buFont typeface="Arial"/>
              <a:buChar char="•"/>
            </a:pPr>
            <a:r>
              <a:rPr lang="en-US" sz="1800" dirty="0">
                <a:cs typeface="Arial"/>
              </a:rPr>
              <a:t>RFI to AR JFHQ ARNG CIO/G-6</a:t>
            </a:r>
          </a:p>
          <a:p>
            <a:pPr marL="633095" lvl="1" indent="-290830">
              <a:buFont typeface="Arial"/>
              <a:buChar char="•"/>
            </a:pPr>
            <a:r>
              <a:rPr lang="en-US" sz="1500" dirty="0">
                <a:cs typeface="Arial"/>
              </a:rPr>
              <a:t>Backup and Restore Operations</a:t>
            </a:r>
          </a:p>
          <a:p>
            <a:pPr marL="633095" lvl="1" indent="-290830">
              <a:buFont typeface="Arial"/>
              <a:buChar char="•"/>
            </a:pPr>
            <a:r>
              <a:rPr lang="en-US" sz="1500" dirty="0">
                <a:cs typeface="Arial"/>
              </a:rPr>
              <a:t>Baseline Configurations</a:t>
            </a:r>
          </a:p>
          <a:p>
            <a:pPr marL="633095" lvl="1" indent="-290830">
              <a:buFont typeface="Arial"/>
              <a:buChar char="•"/>
            </a:pPr>
            <a:r>
              <a:rPr lang="en-US" sz="1500" dirty="0">
                <a:cs typeface="Arial"/>
              </a:rPr>
              <a:t>Audit Processes</a:t>
            </a:r>
          </a:p>
          <a:p>
            <a:pPr marL="633095" lvl="1" indent="-290830">
              <a:buFont typeface="Arial"/>
              <a:buChar char="•"/>
            </a:pPr>
            <a:r>
              <a:rPr lang="en-US" sz="1500" dirty="0">
                <a:cs typeface="Arial"/>
              </a:rPr>
              <a:t>Information Security</a:t>
            </a:r>
          </a:p>
        </p:txBody>
      </p:sp>
    </p:spTree>
    <p:extLst>
      <p:ext uri="{BB962C8B-B14F-4D97-AF65-F5344CB8AC3E}">
        <p14:creationId xmlns:p14="http://schemas.microsoft.com/office/powerpoint/2010/main" val="1849172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426F-7C23-C88A-A1AA-5741EA72CA32}"/>
              </a:ext>
            </a:extLst>
          </p:cNvPr>
          <p:cNvSpPr>
            <a:spLocks noGrp="1"/>
          </p:cNvSpPr>
          <p:nvPr>
            <p:ph type="title"/>
          </p:nvPr>
        </p:nvSpPr>
        <p:spPr/>
        <p:txBody>
          <a:bodyPr/>
          <a:lstStyle/>
          <a:p>
            <a:r>
              <a:rPr lang="en-US" dirty="0">
                <a:cs typeface="Arial"/>
              </a:rPr>
              <a:t>Mission Analysis</a:t>
            </a:r>
            <a:br>
              <a:rPr lang="en-US" dirty="0">
                <a:cs typeface="Arial"/>
              </a:rPr>
            </a:br>
            <a:r>
              <a:rPr lang="en-US" sz="1800" dirty="0">
                <a:ea typeface="+mj-lt"/>
                <a:cs typeface="+mj-lt"/>
              </a:rPr>
              <a:t>IBP – Technical OE/KT-C</a:t>
            </a:r>
          </a:p>
        </p:txBody>
      </p:sp>
      <p:sp>
        <p:nvSpPr>
          <p:cNvPr id="3" name="Content Placeholder 2">
            <a:extLst>
              <a:ext uri="{FF2B5EF4-FFF2-40B4-BE49-F238E27FC236}">
                <a16:creationId xmlns:a16="http://schemas.microsoft.com/office/drawing/2014/main" id="{DC7A3E58-011B-194B-9044-E1FB8F460D35}"/>
              </a:ext>
            </a:extLst>
          </p:cNvPr>
          <p:cNvSpPr>
            <a:spLocks noGrp="1"/>
          </p:cNvSpPr>
          <p:nvPr>
            <p:ph idx="1"/>
          </p:nvPr>
        </p:nvSpPr>
        <p:spPr/>
        <p:txBody>
          <a:bodyPr/>
          <a:lstStyle/>
          <a:p>
            <a:pPr marL="0" indent="0">
              <a:buNone/>
            </a:pPr>
            <a:r>
              <a:rPr lang="en-US" sz="1800" dirty="0">
                <a:cs typeface="Arial"/>
              </a:rPr>
              <a:t>Adversary Effects</a:t>
            </a:r>
          </a:p>
          <a:p>
            <a:pPr marL="0" indent="0">
              <a:buNone/>
            </a:pPr>
            <a:r>
              <a:rPr lang="en-US" sz="1800" dirty="0">
                <a:solidFill>
                  <a:srgbClr val="FF0000"/>
                </a:solidFill>
                <a:cs typeface="Arial"/>
              </a:rPr>
              <a:t>Waiting for Intel Briefing</a:t>
            </a:r>
            <a:endParaRPr lang="en-US" sz="1500" dirty="0">
              <a:solidFill>
                <a:srgbClr val="000000"/>
              </a:solidFill>
              <a:cs typeface="Arial"/>
            </a:endParaRPr>
          </a:p>
          <a:p>
            <a:pPr marL="0" indent="0">
              <a:buNone/>
            </a:pPr>
            <a:r>
              <a:rPr lang="en-US" sz="1500" b="1" dirty="0">
                <a:solidFill>
                  <a:srgbClr val="000000"/>
                </a:solidFill>
                <a:cs typeface="Arial"/>
              </a:rPr>
              <a:t>Key</a:t>
            </a:r>
            <a:r>
              <a:rPr lang="en-US" sz="1500" b="1" dirty="0">
                <a:ea typeface="+mn-lt"/>
                <a:cs typeface="+mn-lt"/>
              </a:rPr>
              <a:t> task</a:t>
            </a:r>
            <a:endParaRPr lang="en-US" sz="1500" dirty="0">
              <a:ea typeface="+mn-lt"/>
              <a:cs typeface="+mn-lt"/>
            </a:endParaRPr>
          </a:p>
          <a:p>
            <a:pPr marL="285750" indent="-285750">
              <a:buFont typeface="Arial"/>
              <a:buChar char="•"/>
            </a:pPr>
            <a:r>
              <a:rPr lang="en-US" sz="1500" dirty="0">
                <a:ea typeface="+mn-lt"/>
                <a:cs typeface="+mn-lt"/>
              </a:rPr>
              <a:t>Physical location of all assets </a:t>
            </a:r>
          </a:p>
          <a:p>
            <a:pPr marL="285750" indent="-285750">
              <a:buFont typeface="Arial"/>
              <a:buChar char="•"/>
            </a:pPr>
            <a:r>
              <a:rPr lang="en-US" sz="1500" dirty="0">
                <a:ea typeface="+mn-lt"/>
                <a:cs typeface="+mn-lt"/>
              </a:rPr>
              <a:t>Architecture and automation skills </a:t>
            </a:r>
          </a:p>
          <a:p>
            <a:pPr marL="285750" indent="-285750">
              <a:buFont typeface="Arial"/>
              <a:buChar char="•"/>
            </a:pPr>
            <a:r>
              <a:rPr lang="en-US" sz="1500" dirty="0">
                <a:ea typeface="+mn-lt"/>
                <a:cs typeface="+mn-lt"/>
              </a:rPr>
              <a:t>Security and policies </a:t>
            </a:r>
          </a:p>
          <a:p>
            <a:pPr marL="285750" indent="-285750">
              <a:buFont typeface="Arial"/>
              <a:buChar char="•"/>
            </a:pPr>
            <a:r>
              <a:rPr lang="en-US" sz="1500" dirty="0">
                <a:ea typeface="+mn-lt"/>
                <a:cs typeface="+mn-lt"/>
              </a:rPr>
              <a:t>Baseline activity </a:t>
            </a:r>
          </a:p>
          <a:p>
            <a:pPr marL="285750" indent="-285750">
              <a:buFont typeface="Arial"/>
              <a:buChar char="•"/>
            </a:pPr>
            <a:r>
              <a:rPr lang="en-US" sz="1500" dirty="0">
                <a:ea typeface="+mn-lt"/>
                <a:cs typeface="+mn-lt"/>
              </a:rPr>
              <a:t>Peculiarities and vulnerabilities </a:t>
            </a:r>
          </a:p>
          <a:p>
            <a:pPr marL="285750" indent="-285750">
              <a:buFont typeface="Arial"/>
              <a:buChar char="•"/>
            </a:pPr>
            <a:r>
              <a:rPr lang="en-US" sz="1500" dirty="0">
                <a:ea typeface="+mn-lt"/>
                <a:cs typeface="+mn-lt"/>
              </a:rPr>
              <a:t>Adversary capabilities </a:t>
            </a:r>
          </a:p>
          <a:p>
            <a:pPr marL="285750" indent="-285750">
              <a:buFont typeface="Arial"/>
              <a:buChar char="•"/>
            </a:pPr>
            <a:r>
              <a:rPr lang="en-US" sz="1500" dirty="0">
                <a:ea typeface="+mn-lt"/>
                <a:cs typeface="+mn-lt"/>
              </a:rPr>
              <a:t>Most likely tools they will use </a:t>
            </a:r>
          </a:p>
          <a:p>
            <a:pPr marL="285750" indent="-285750">
              <a:buFont typeface="Arial"/>
              <a:buChar char="•"/>
            </a:pPr>
            <a:r>
              <a:rPr lang="en-US" sz="1500" dirty="0">
                <a:ea typeface="+mn-lt"/>
                <a:cs typeface="+mn-lt"/>
              </a:rPr>
              <a:t>Most dangerous tools they will use </a:t>
            </a:r>
          </a:p>
          <a:p>
            <a:pPr marL="285750" indent="-285750">
              <a:buFont typeface="Arial"/>
              <a:buChar char="•"/>
            </a:pPr>
            <a:r>
              <a:rPr lang="en-US" sz="1500" dirty="0">
                <a:ea typeface="+mn-lt"/>
                <a:cs typeface="+mn-lt"/>
              </a:rPr>
              <a:t>Conclusions that address: Rules of engagement (ROE) for Information Assurance (IA), and Defensive Cyber Operations</a:t>
            </a:r>
            <a:endParaRPr lang="en-US" sz="1500">
              <a:cs typeface="Arial"/>
            </a:endParaRPr>
          </a:p>
        </p:txBody>
      </p:sp>
    </p:spTree>
    <p:extLst>
      <p:ext uri="{BB962C8B-B14F-4D97-AF65-F5344CB8AC3E}">
        <p14:creationId xmlns:p14="http://schemas.microsoft.com/office/powerpoint/2010/main" val="15474208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1426F-7C23-C88A-A1AA-5741EA72CA32}"/>
              </a:ext>
            </a:extLst>
          </p:cNvPr>
          <p:cNvSpPr>
            <a:spLocks noGrp="1"/>
          </p:cNvSpPr>
          <p:nvPr>
            <p:ph type="title"/>
          </p:nvPr>
        </p:nvSpPr>
        <p:spPr/>
        <p:txBody>
          <a:bodyPr/>
          <a:lstStyle/>
          <a:p>
            <a:r>
              <a:rPr lang="en-US" dirty="0">
                <a:cs typeface="Arial"/>
              </a:rPr>
              <a:t>Mission Analysis</a:t>
            </a:r>
            <a:br>
              <a:rPr lang="en-US" dirty="0">
                <a:cs typeface="Arial"/>
              </a:rPr>
            </a:br>
            <a:r>
              <a:rPr lang="en-US" sz="1800" dirty="0">
                <a:cs typeface="Arial"/>
              </a:rPr>
              <a:t>IBP – Technical OE/KT-C</a:t>
            </a:r>
          </a:p>
        </p:txBody>
      </p:sp>
      <p:sp>
        <p:nvSpPr>
          <p:cNvPr id="3" name="Content Placeholder 2">
            <a:extLst>
              <a:ext uri="{FF2B5EF4-FFF2-40B4-BE49-F238E27FC236}">
                <a16:creationId xmlns:a16="http://schemas.microsoft.com/office/drawing/2014/main" id="{DC7A3E58-011B-194B-9044-E1FB8F460D35}"/>
              </a:ext>
            </a:extLst>
          </p:cNvPr>
          <p:cNvSpPr>
            <a:spLocks noGrp="1"/>
          </p:cNvSpPr>
          <p:nvPr>
            <p:ph idx="1"/>
          </p:nvPr>
        </p:nvSpPr>
        <p:spPr/>
        <p:txBody>
          <a:bodyPr/>
          <a:lstStyle/>
          <a:p>
            <a:pPr marL="0" indent="0">
              <a:buNone/>
            </a:pPr>
            <a:r>
              <a:rPr lang="en-US" sz="1600" dirty="0">
                <a:ea typeface="+mn-lt"/>
                <a:cs typeface="+mn-lt"/>
              </a:rPr>
              <a:t>Adversary COA</a:t>
            </a:r>
            <a:endParaRPr lang="en-US" sz="1600" dirty="0">
              <a:cs typeface="Arial"/>
            </a:endParaRPr>
          </a:p>
          <a:p>
            <a:pPr marL="290830" indent="-290830">
              <a:buFont typeface="Arial"/>
              <a:buChar char="•"/>
            </a:pPr>
            <a:r>
              <a:rPr lang="en-US" sz="1600" dirty="0">
                <a:ea typeface="+mn-lt"/>
                <a:cs typeface="+mn-lt"/>
              </a:rPr>
              <a:t>As of May 2022, there are several suspected threat actors with the motive and resources to successfully conduct an attack against the DODIN. Army Cyber Operation Information Center (ACOIC) will deliver an Intel PowerPoint on potential Threat Actors in the environment.</a:t>
            </a:r>
            <a:endParaRPr lang="en-US" sz="1600" dirty="0">
              <a:solidFill>
                <a:srgbClr val="FF0000"/>
              </a:solidFill>
              <a:cs typeface="Arial"/>
            </a:endParaRPr>
          </a:p>
          <a:p>
            <a:pPr marL="290830" indent="-290830">
              <a:buFont typeface="Arial"/>
              <a:buChar char="•"/>
            </a:pPr>
            <a:endParaRPr lang="en-US" sz="1600" dirty="0">
              <a:ea typeface="+mn-lt"/>
              <a:cs typeface="+mn-lt"/>
            </a:endParaRPr>
          </a:p>
          <a:p>
            <a:pPr marL="290830" indent="-290830">
              <a:buFont typeface="Arial"/>
              <a:buChar char="•"/>
            </a:pPr>
            <a:r>
              <a:rPr lang="en-US" sz="1600" dirty="0">
                <a:ea typeface="+mn-lt"/>
                <a:cs typeface="+mn-lt"/>
              </a:rPr>
              <a:t>Enemy Most Likely Course of Action (MLCOA). The threat actor identifies and exploits a vulnerability in the network to gain initial access. The threat actor begins enumeration to pivot to KT-C within the network and conducts privilege escalation IOT data exfil PII and OPSEC documents.</a:t>
            </a:r>
            <a:endParaRPr lang="en-US">
              <a:cs typeface="Arial"/>
            </a:endParaRPr>
          </a:p>
          <a:p>
            <a:pPr marL="290830" indent="-290830">
              <a:buFont typeface="Arial"/>
              <a:buChar char="•"/>
            </a:pPr>
            <a:endParaRPr lang="en-US" sz="1600" dirty="0">
              <a:ea typeface="+mn-lt"/>
              <a:cs typeface="+mn-lt"/>
            </a:endParaRPr>
          </a:p>
          <a:p>
            <a:pPr marL="290830" indent="-290830">
              <a:buFont typeface="Arial"/>
              <a:buChar char="•"/>
            </a:pPr>
            <a:r>
              <a:rPr lang="en-US" sz="1600" dirty="0">
                <a:ea typeface="+mn-lt"/>
                <a:cs typeface="+mn-lt"/>
              </a:rPr>
              <a:t>Enemy Most Dangerous Course of Action (MDCOA). The threat actor identifies and exploits a vulnerability in the network to gain initial access. The threat actor begins enumeration to pivot to KT-C within the network and establish a foothold for future exploitation. Once persistence is established the threat actor will data exfil PII and OPSEC documents for financial gain. Additionally, system or network access could be denied, degraded, or destroyed</a:t>
            </a:r>
            <a:endParaRPr lang="en-US">
              <a:cs typeface="Arial"/>
            </a:endParaRPr>
          </a:p>
        </p:txBody>
      </p:sp>
    </p:spTree>
    <p:extLst>
      <p:ext uri="{BB962C8B-B14F-4D97-AF65-F5344CB8AC3E}">
        <p14:creationId xmlns:p14="http://schemas.microsoft.com/office/powerpoint/2010/main" val="18750348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IBP – Technical OE/KT-C</a:t>
            </a:r>
          </a:p>
        </p:txBody>
      </p:sp>
      <p:sp>
        <p:nvSpPr>
          <p:cNvPr id="19461" name="Rectangle 3"/>
          <p:cNvSpPr>
            <a:spLocks noGrp="1" noChangeArrowheads="1"/>
          </p:cNvSpPr>
          <p:nvPr>
            <p:ph type="body" idx="1"/>
          </p:nvPr>
        </p:nvSpPr>
        <p:spPr/>
        <p:txBody>
          <a:bodyPr/>
          <a:lstStyle/>
          <a:p>
            <a:pPr marL="0" indent="0">
              <a:buNone/>
            </a:pPr>
            <a:r>
              <a:rPr lang="en-US" sz="1100" dirty="0">
                <a:cs typeface="Arial"/>
              </a:rPr>
              <a:t>Specified Tasks</a:t>
            </a:r>
            <a:endParaRPr lang="en-US" sz="1100" dirty="0">
              <a:ea typeface="+mn-lt"/>
              <a:cs typeface="+mn-lt"/>
            </a:endParaRPr>
          </a:p>
          <a:p>
            <a:pPr marL="290830" indent="-290830"/>
            <a:r>
              <a:rPr lang="en-US" sz="1100" dirty="0">
                <a:cs typeface="Arial"/>
              </a:rPr>
              <a:t>Identify and assess Malicious Cyber Activity in DoDIN-NG ARARNG Enclave</a:t>
            </a:r>
            <a:endParaRPr lang="en-US" sz="1100" dirty="0">
              <a:ea typeface="+mn-lt"/>
              <a:cs typeface="+mn-lt"/>
            </a:endParaRPr>
          </a:p>
          <a:p>
            <a:pPr marL="290830" indent="-290830"/>
            <a:r>
              <a:rPr lang="en-US" sz="1100" dirty="0">
                <a:cs typeface="Arial"/>
              </a:rPr>
              <a:t>Defend DoDIN-NG ARARNG Enclave from Malicious Activity</a:t>
            </a:r>
            <a:endParaRPr lang="en-US" sz="1100" dirty="0">
              <a:ea typeface="+mn-lt"/>
              <a:cs typeface="+mn-lt"/>
            </a:endParaRPr>
          </a:p>
          <a:p>
            <a:pPr marL="290830" indent="-290830"/>
            <a:r>
              <a:rPr lang="en-US" sz="1100" dirty="0">
                <a:cs typeface="Arial"/>
              </a:rPr>
              <a:t>Deter future Malicious Cyber Activity in DoDIN-NG ARARNG Enclave</a:t>
            </a:r>
          </a:p>
          <a:p>
            <a:pPr marL="290830" indent="-290830"/>
            <a:endParaRPr lang="en-US" sz="1100" dirty="0">
              <a:cs typeface="Arial"/>
            </a:endParaRPr>
          </a:p>
          <a:p>
            <a:pPr marL="0" indent="0">
              <a:buNone/>
            </a:pPr>
            <a:r>
              <a:rPr lang="en-US" sz="1100" dirty="0">
                <a:cs typeface="Arial"/>
              </a:rPr>
              <a:t>Implied Tasks</a:t>
            </a:r>
          </a:p>
          <a:p>
            <a:pPr marL="290830" indent="-290830">
              <a:buFont typeface="Arial,Sans-Serif"/>
            </a:pPr>
            <a:r>
              <a:rPr lang="en-US" sz="1100" b="1" dirty="0">
                <a:cs typeface="Arial"/>
              </a:rPr>
              <a:t>Signed MOU</a:t>
            </a:r>
            <a:endParaRPr lang="en-US" sz="1100" dirty="0">
              <a:ea typeface="+mn-lt"/>
              <a:cs typeface="+mn-lt"/>
            </a:endParaRPr>
          </a:p>
          <a:p>
            <a:pPr marL="290830" indent="-290830">
              <a:buFont typeface="Arial,Sans-Serif"/>
            </a:pPr>
            <a:r>
              <a:rPr lang="en-US" sz="1100" dirty="0">
                <a:cs typeface="Arial"/>
              </a:rPr>
              <a:t>Emplace Sensors</a:t>
            </a:r>
            <a:endParaRPr lang="en-US" sz="1100" dirty="0">
              <a:ea typeface="+mn-lt"/>
              <a:cs typeface="+mn-lt"/>
            </a:endParaRPr>
          </a:p>
          <a:p>
            <a:pPr marL="290830" indent="-290830">
              <a:buFont typeface="Arial,Sans-Serif"/>
            </a:pPr>
            <a:r>
              <a:rPr lang="en-US" sz="1100" dirty="0">
                <a:cs typeface="Arial"/>
              </a:rPr>
              <a:t>Validate Inventory and Network Topology</a:t>
            </a:r>
            <a:endParaRPr lang="en-US" sz="1100" dirty="0">
              <a:ea typeface="+mn-lt"/>
              <a:cs typeface="+mn-lt"/>
            </a:endParaRPr>
          </a:p>
          <a:p>
            <a:pPr marL="290830" indent="-290830">
              <a:buFont typeface="Arial,Sans-Serif"/>
            </a:pPr>
            <a:r>
              <a:rPr lang="en-US" sz="1100" dirty="0">
                <a:cs typeface="Arial"/>
              </a:rPr>
              <a:t>Identify KT-C and receive full inventory of system (services, software, </a:t>
            </a:r>
            <a:r>
              <a:rPr lang="en-US" sz="1100" dirty="0" err="1">
                <a:cs typeface="Arial"/>
              </a:rPr>
              <a:t>etc</a:t>
            </a:r>
            <a:r>
              <a:rPr lang="en-US" sz="1100" dirty="0">
                <a:cs typeface="Arial"/>
              </a:rPr>
              <a:t>)</a:t>
            </a:r>
            <a:endParaRPr lang="en-US" sz="1100" dirty="0">
              <a:ea typeface="+mn-lt"/>
              <a:cs typeface="+mn-lt"/>
            </a:endParaRPr>
          </a:p>
          <a:p>
            <a:pPr marL="290830" indent="-290830">
              <a:buFont typeface="Arial,Sans-Serif"/>
            </a:pPr>
            <a:r>
              <a:rPr lang="en-US" sz="1100" dirty="0">
                <a:cs typeface="Arial"/>
              </a:rPr>
              <a:t>Identify Existing Vulnerabilities</a:t>
            </a:r>
            <a:endParaRPr lang="en-US" sz="1100" dirty="0">
              <a:ea typeface="+mn-lt"/>
              <a:cs typeface="+mn-lt"/>
            </a:endParaRPr>
          </a:p>
          <a:p>
            <a:pPr marL="290830" indent="-290830">
              <a:buFont typeface="Arial,Sans-Serif"/>
            </a:pPr>
            <a:r>
              <a:rPr lang="en-US" sz="1100" dirty="0">
                <a:cs typeface="Arial"/>
              </a:rPr>
              <a:t>Threat Detection and Emulation</a:t>
            </a:r>
            <a:endParaRPr lang="en-US" sz="1100" dirty="0">
              <a:ea typeface="+mn-lt"/>
              <a:cs typeface="+mn-lt"/>
            </a:endParaRPr>
          </a:p>
          <a:p>
            <a:pPr marL="290830" indent="-290830">
              <a:buFont typeface="Arial,Sans-Serif"/>
            </a:pPr>
            <a:r>
              <a:rPr lang="en-US" sz="1100" dirty="0">
                <a:ea typeface="+mn-lt"/>
                <a:cs typeface="+mn-lt"/>
              </a:rPr>
              <a:t>Record all </a:t>
            </a:r>
            <a:r>
              <a:rPr lang="en-US" sz="1100" dirty="0" err="1">
                <a:ea typeface="+mn-lt"/>
                <a:cs typeface="+mn-lt"/>
              </a:rPr>
              <a:t>IoCs</a:t>
            </a:r>
            <a:r>
              <a:rPr lang="en-US" sz="1100" dirty="0">
                <a:ea typeface="+mn-lt"/>
                <a:cs typeface="+mn-lt"/>
              </a:rPr>
              <a:t> found or associated with incident in BDP</a:t>
            </a:r>
          </a:p>
          <a:p>
            <a:pPr marL="0" indent="0">
              <a:buNone/>
            </a:pPr>
            <a:endParaRPr lang="en-US" sz="1100" dirty="0">
              <a:ea typeface="+mn-lt"/>
              <a:cs typeface="+mn-lt"/>
            </a:endParaRPr>
          </a:p>
          <a:p>
            <a:pPr marL="0" indent="0">
              <a:buNone/>
            </a:pPr>
            <a:r>
              <a:rPr lang="en-US" sz="1100" dirty="0">
                <a:cs typeface="Arial"/>
              </a:rPr>
              <a:t>Essential Tasks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ea typeface="+mn-lt"/>
                <a:cs typeface="+mn-lt"/>
              </a:rPr>
              <a:t>Identify and assess Malicious Cyber Activity in DoDIN-NG ARARNG Enclave</a:t>
            </a:r>
          </a:p>
          <a:p>
            <a:pPr marL="290830" indent="-290830">
              <a:buFont typeface="Arial,Sans-Serif"/>
            </a:pPr>
            <a:r>
              <a:rPr lang="en-US" sz="1100" dirty="0">
                <a:ea typeface="+mn-lt"/>
                <a:cs typeface="+mn-lt"/>
              </a:rPr>
              <a:t>Defend DoDIN-NG ARARNG Enclave from Malicious Activity</a:t>
            </a:r>
          </a:p>
          <a:p>
            <a:pPr marL="290830" indent="-290830">
              <a:buFont typeface="Arial,Sans-Serif"/>
            </a:pPr>
            <a:r>
              <a:rPr lang="en-US" sz="1100" dirty="0">
                <a:ea typeface="+mn-lt"/>
                <a:cs typeface="+mn-lt"/>
              </a:rPr>
              <a:t>Deter future Malicious Cyber Activity in DoDIN-NG ARARNG Enclave</a:t>
            </a:r>
          </a:p>
          <a:p>
            <a:pPr marL="290830" indent="-290830">
              <a:buFont typeface="Arial,Sans-Serif"/>
            </a:pPr>
            <a:endParaRPr lang="en-US" sz="1100" dirty="0">
              <a:cs typeface="Arial"/>
            </a:endParaRPr>
          </a:p>
          <a:p>
            <a:pPr marL="0" indent="0">
              <a:buNone/>
            </a:pPr>
            <a:r>
              <a:rPr lang="en-US" sz="1100" dirty="0">
                <a:ea typeface="+mn-lt"/>
                <a:cs typeface="+mn-lt"/>
              </a:rPr>
              <a:t>Shortfalls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ea typeface="+mn-lt"/>
                <a:cs typeface="+mn-lt"/>
              </a:rPr>
              <a:t>Diagrams, Inventory, KT-C</a:t>
            </a:r>
          </a:p>
          <a:p>
            <a:pPr marL="290830" indent="-290830">
              <a:buFont typeface="Arial,Sans-Serif"/>
            </a:pPr>
            <a:r>
              <a:rPr lang="en-US" sz="1100" dirty="0">
                <a:ea typeface="+mn-lt"/>
                <a:cs typeface="+mn-lt"/>
              </a:rPr>
              <a:t>Sensors Emplacement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IBP – Technical OE/KT-C</a:t>
            </a:r>
          </a:p>
        </p:txBody>
      </p:sp>
      <p:sp>
        <p:nvSpPr>
          <p:cNvPr id="19461" name="Rectangle 3"/>
          <p:cNvSpPr>
            <a:spLocks noGrp="1" noChangeArrowheads="1"/>
          </p:cNvSpPr>
          <p:nvPr>
            <p:ph type="body" idx="1"/>
          </p:nvPr>
        </p:nvSpPr>
        <p:spPr/>
        <p:txBody>
          <a:bodyPr/>
          <a:lstStyle/>
          <a:p>
            <a:pPr marL="0" indent="0" algn="ctr">
              <a:buNone/>
            </a:pPr>
            <a:r>
              <a:rPr lang="en-US" sz="1100" b="1" dirty="0">
                <a:cs typeface="Arial"/>
              </a:rPr>
              <a:t>Running Estimate Page 1</a:t>
            </a:r>
          </a:p>
          <a:p>
            <a:pPr marL="0" indent="0">
              <a:buNone/>
            </a:pPr>
            <a:r>
              <a:rPr lang="en-US" sz="1100" dirty="0">
                <a:cs typeface="Arial"/>
              </a:rPr>
              <a:t>Specified Tasks</a:t>
            </a:r>
            <a:endParaRPr lang="en-US" sz="1100" dirty="0">
              <a:ea typeface="+mn-lt"/>
              <a:cs typeface="+mn-lt"/>
            </a:endParaRPr>
          </a:p>
          <a:p>
            <a:pPr marL="290830" indent="-290830"/>
            <a:r>
              <a:rPr lang="en-US" sz="1100" dirty="0">
                <a:cs typeface="Arial"/>
              </a:rPr>
              <a:t>Identify and assess Malicious Cyber Activity in DoDIN-NG ARARNG Enclave</a:t>
            </a:r>
            <a:endParaRPr lang="en-US" sz="1100" dirty="0">
              <a:ea typeface="+mn-lt"/>
              <a:cs typeface="+mn-lt"/>
            </a:endParaRPr>
          </a:p>
          <a:p>
            <a:pPr marL="290830" indent="-290830"/>
            <a:r>
              <a:rPr lang="en-US" sz="1100" dirty="0">
                <a:cs typeface="Arial"/>
              </a:rPr>
              <a:t>Defend DoDIN-NG ARARNG Enclave from Malicious Activity</a:t>
            </a:r>
            <a:endParaRPr lang="en-US" sz="1100" dirty="0">
              <a:ea typeface="+mn-lt"/>
              <a:cs typeface="+mn-lt"/>
            </a:endParaRPr>
          </a:p>
          <a:p>
            <a:pPr marL="290830" indent="-290830"/>
            <a:r>
              <a:rPr lang="en-US" sz="1100" dirty="0">
                <a:cs typeface="Arial"/>
              </a:rPr>
              <a:t>Deter future Malicious Cyber Activity in DoDIN-NG ARARNG Enclave</a:t>
            </a:r>
          </a:p>
          <a:p>
            <a:pPr marL="290830" indent="-290830"/>
            <a:endParaRPr lang="en-US" sz="1100" dirty="0">
              <a:cs typeface="Arial"/>
            </a:endParaRPr>
          </a:p>
          <a:p>
            <a:pPr marL="0" indent="0">
              <a:buNone/>
            </a:pPr>
            <a:r>
              <a:rPr lang="en-US" sz="1100" dirty="0">
                <a:cs typeface="Arial"/>
              </a:rPr>
              <a:t>Implied Tasks</a:t>
            </a:r>
          </a:p>
          <a:p>
            <a:pPr marL="290830" indent="-290830">
              <a:buFont typeface="Arial,Sans-Serif"/>
            </a:pPr>
            <a:r>
              <a:rPr lang="en-US" sz="1100" b="1" dirty="0">
                <a:cs typeface="Arial"/>
              </a:rPr>
              <a:t>Signed MOU</a:t>
            </a:r>
            <a:endParaRPr lang="en-US" sz="1100" dirty="0">
              <a:ea typeface="+mn-lt"/>
              <a:cs typeface="+mn-lt"/>
            </a:endParaRPr>
          </a:p>
          <a:p>
            <a:pPr marL="290830" indent="-290830">
              <a:buFont typeface="Arial,Sans-Serif"/>
            </a:pPr>
            <a:r>
              <a:rPr lang="en-US" sz="1100" dirty="0">
                <a:cs typeface="Arial"/>
              </a:rPr>
              <a:t>Emplace Sensors</a:t>
            </a:r>
            <a:endParaRPr lang="en-US" sz="1100" dirty="0">
              <a:ea typeface="+mn-lt"/>
              <a:cs typeface="+mn-lt"/>
            </a:endParaRPr>
          </a:p>
          <a:p>
            <a:pPr marL="290830" indent="-290830">
              <a:buFont typeface="Arial,Sans-Serif"/>
            </a:pPr>
            <a:r>
              <a:rPr lang="en-US" sz="1100" dirty="0">
                <a:cs typeface="Arial"/>
              </a:rPr>
              <a:t>Validate Inventory and Network Topology</a:t>
            </a:r>
            <a:endParaRPr lang="en-US" sz="1100" dirty="0">
              <a:ea typeface="+mn-lt"/>
              <a:cs typeface="+mn-lt"/>
            </a:endParaRPr>
          </a:p>
          <a:p>
            <a:pPr marL="290830" indent="-290830">
              <a:buFont typeface="Arial,Sans-Serif"/>
            </a:pPr>
            <a:r>
              <a:rPr lang="en-US" sz="1100" dirty="0">
                <a:cs typeface="Arial"/>
              </a:rPr>
              <a:t>Identify KT-C and receive full inventory of system (services, software, </a:t>
            </a:r>
            <a:r>
              <a:rPr lang="en-US" sz="1100" dirty="0" err="1">
                <a:cs typeface="Arial"/>
              </a:rPr>
              <a:t>etc</a:t>
            </a:r>
            <a:r>
              <a:rPr lang="en-US" sz="1100" dirty="0">
                <a:cs typeface="Arial"/>
              </a:rPr>
              <a:t>)</a:t>
            </a:r>
            <a:endParaRPr lang="en-US" sz="1100" dirty="0">
              <a:ea typeface="+mn-lt"/>
              <a:cs typeface="+mn-lt"/>
            </a:endParaRPr>
          </a:p>
          <a:p>
            <a:pPr marL="290830" indent="-290830">
              <a:buFont typeface="Arial,Sans-Serif"/>
            </a:pPr>
            <a:r>
              <a:rPr lang="en-US" sz="1100" dirty="0">
                <a:cs typeface="Arial"/>
              </a:rPr>
              <a:t>Identify Existing Vulnerabilities</a:t>
            </a:r>
            <a:endParaRPr lang="en-US" sz="1100" dirty="0">
              <a:ea typeface="+mn-lt"/>
              <a:cs typeface="+mn-lt"/>
            </a:endParaRPr>
          </a:p>
          <a:p>
            <a:pPr marL="290830" indent="-290830">
              <a:buFont typeface="Arial,Sans-Serif"/>
            </a:pPr>
            <a:r>
              <a:rPr lang="en-US" sz="1100" dirty="0">
                <a:cs typeface="Arial"/>
              </a:rPr>
              <a:t>Threat Detection and Emulation</a:t>
            </a:r>
            <a:endParaRPr lang="en-US" sz="1100" dirty="0">
              <a:ea typeface="+mn-lt"/>
              <a:cs typeface="+mn-lt"/>
            </a:endParaRPr>
          </a:p>
          <a:p>
            <a:pPr marL="290830" indent="-290830">
              <a:buFont typeface="Arial,Sans-Serif"/>
            </a:pPr>
            <a:r>
              <a:rPr lang="en-US" sz="1100" dirty="0">
                <a:ea typeface="+mn-lt"/>
                <a:cs typeface="+mn-lt"/>
              </a:rPr>
              <a:t>Record all </a:t>
            </a:r>
            <a:r>
              <a:rPr lang="en-US" sz="1100" dirty="0" err="1">
                <a:ea typeface="+mn-lt"/>
                <a:cs typeface="+mn-lt"/>
              </a:rPr>
              <a:t>IoCs</a:t>
            </a:r>
            <a:r>
              <a:rPr lang="en-US" sz="1100" dirty="0">
                <a:ea typeface="+mn-lt"/>
                <a:cs typeface="+mn-lt"/>
              </a:rPr>
              <a:t> found or associated with incident in BDP</a:t>
            </a:r>
          </a:p>
          <a:p>
            <a:pPr marL="0" indent="0">
              <a:buNone/>
            </a:pPr>
            <a:endParaRPr lang="en-US" sz="1100" dirty="0">
              <a:ea typeface="+mn-lt"/>
              <a:cs typeface="+mn-lt"/>
            </a:endParaRPr>
          </a:p>
          <a:p>
            <a:pPr marL="0" indent="0">
              <a:buNone/>
            </a:pPr>
            <a:r>
              <a:rPr lang="en-US" sz="1100" dirty="0">
                <a:cs typeface="Arial"/>
              </a:rPr>
              <a:t>Essential Tasks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ea typeface="+mn-lt"/>
                <a:cs typeface="+mn-lt"/>
              </a:rPr>
              <a:t>Identify and assess Malicious Cyber Activity in DoDIN-NG ARARNG Enclave</a:t>
            </a:r>
          </a:p>
          <a:p>
            <a:pPr marL="290830" indent="-290830">
              <a:buFont typeface="Arial,Sans-Serif"/>
            </a:pPr>
            <a:r>
              <a:rPr lang="en-US" sz="1100" dirty="0">
                <a:ea typeface="+mn-lt"/>
                <a:cs typeface="+mn-lt"/>
              </a:rPr>
              <a:t>Defend DoDIN-NG ARARNG Enclave from Malicious Activity</a:t>
            </a:r>
          </a:p>
          <a:p>
            <a:pPr marL="290830" indent="-290830">
              <a:buFont typeface="Arial,Sans-Serif"/>
            </a:pPr>
            <a:r>
              <a:rPr lang="en-US" sz="1100" dirty="0">
                <a:ea typeface="+mn-lt"/>
                <a:cs typeface="+mn-lt"/>
              </a:rPr>
              <a:t>Deter future Malicious Cyber Activity in DoDIN-NG ARARNG Enclave</a:t>
            </a:r>
          </a:p>
          <a:p>
            <a:pPr marL="290830" indent="-290830">
              <a:buFont typeface="Arial,Sans-Serif"/>
            </a:pPr>
            <a:endParaRPr lang="en-US" sz="1100" dirty="0">
              <a:cs typeface="Arial"/>
            </a:endParaRPr>
          </a:p>
          <a:p>
            <a:pPr marL="0" indent="0">
              <a:buNone/>
            </a:pPr>
            <a:r>
              <a:rPr lang="en-US" sz="1100" dirty="0">
                <a:ea typeface="+mn-lt"/>
                <a:cs typeface="+mn-lt"/>
              </a:rPr>
              <a:t>Shortfalls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ea typeface="+mn-lt"/>
                <a:cs typeface="+mn-lt"/>
              </a:rPr>
              <a:t>Diagrams, Inventory, KT-C</a:t>
            </a:r>
          </a:p>
          <a:p>
            <a:pPr marL="290830" indent="-290830">
              <a:buFont typeface="Arial,Sans-Serif"/>
            </a:pPr>
            <a:r>
              <a:rPr lang="en-US" sz="1100" dirty="0">
                <a:ea typeface="+mn-lt"/>
                <a:cs typeface="+mn-lt"/>
              </a:rPr>
              <a:t>Sensors Emplacement</a:t>
            </a:r>
          </a:p>
        </p:txBody>
      </p:sp>
    </p:spTree>
    <p:extLst>
      <p:ext uri="{BB962C8B-B14F-4D97-AF65-F5344CB8AC3E}">
        <p14:creationId xmlns:p14="http://schemas.microsoft.com/office/powerpoint/2010/main" val="10880770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IBP – Technical OE/KT-C</a:t>
            </a:r>
          </a:p>
        </p:txBody>
      </p:sp>
      <p:sp>
        <p:nvSpPr>
          <p:cNvPr id="19461" name="Rectangle 3"/>
          <p:cNvSpPr>
            <a:spLocks noGrp="1" noChangeArrowheads="1"/>
          </p:cNvSpPr>
          <p:nvPr>
            <p:ph type="body" idx="1"/>
          </p:nvPr>
        </p:nvSpPr>
        <p:spPr/>
        <p:txBody>
          <a:bodyPr/>
          <a:lstStyle/>
          <a:p>
            <a:pPr marL="0" indent="0" algn="ctr">
              <a:buNone/>
            </a:pPr>
            <a:r>
              <a:rPr lang="en-US" sz="1100" b="1" dirty="0">
                <a:cs typeface="Arial"/>
              </a:rPr>
              <a:t>Running Estimate Page 2</a:t>
            </a:r>
          </a:p>
          <a:p>
            <a:pPr marL="0" indent="0">
              <a:buNone/>
            </a:pPr>
            <a:r>
              <a:rPr lang="en-US" sz="1100" dirty="0">
                <a:cs typeface="Arial"/>
              </a:rPr>
              <a:t>Facts</a:t>
            </a:r>
            <a:endParaRPr lang="en-US" sz="1100" dirty="0">
              <a:ea typeface="+mn-lt"/>
              <a:cs typeface="+mn-lt"/>
            </a:endParaRPr>
          </a:p>
          <a:p>
            <a:pPr marL="290830" indent="-290830"/>
            <a:r>
              <a:rPr lang="en-US" sz="1100" dirty="0">
                <a:ea typeface="+mn-lt"/>
                <a:cs typeface="+mn-lt"/>
              </a:rPr>
              <a:t>ARARNG reports suspicious network activity detected</a:t>
            </a:r>
          </a:p>
          <a:p>
            <a:pPr marL="290830" indent="-290830"/>
            <a:r>
              <a:rPr lang="en-US" sz="1100" dirty="0">
                <a:ea typeface="+mn-lt"/>
                <a:cs typeface="+mn-lt"/>
              </a:rPr>
              <a:t>New hardware or software was installed from new vendor</a:t>
            </a:r>
            <a:endParaRPr lang="en-US" dirty="0"/>
          </a:p>
          <a:p>
            <a:pPr marL="290830" indent="-290830"/>
            <a:r>
              <a:rPr lang="en-US" sz="1100" dirty="0">
                <a:ea typeface="+mn-lt"/>
                <a:cs typeface="+mn-lt"/>
              </a:rPr>
              <a:t>Known threat actors have attempted previous attacks </a:t>
            </a:r>
            <a:endParaRPr lang="en-US"/>
          </a:p>
          <a:p>
            <a:pPr marL="290830" indent="-290830"/>
            <a:endParaRPr lang="en-US" sz="1100" dirty="0">
              <a:cs typeface="Arial"/>
            </a:endParaRPr>
          </a:p>
          <a:p>
            <a:pPr marL="0" indent="0">
              <a:buNone/>
            </a:pPr>
            <a:r>
              <a:rPr lang="en-US" sz="1100" dirty="0">
                <a:cs typeface="Arial"/>
              </a:rPr>
              <a:t>Assumptions</a:t>
            </a:r>
          </a:p>
          <a:p>
            <a:pPr marL="290830" indent="-290830">
              <a:buFont typeface="Arial,Sans-Serif"/>
            </a:pPr>
            <a:r>
              <a:rPr lang="en-US" sz="1100" b="1" dirty="0">
                <a:cs typeface="Arial"/>
              </a:rPr>
              <a:t>We will have a signed MOU</a:t>
            </a:r>
            <a:endParaRPr lang="en-US" sz="1100" dirty="0">
              <a:ea typeface="+mn-lt"/>
              <a:cs typeface="+mn-lt"/>
            </a:endParaRPr>
          </a:p>
          <a:p>
            <a:pPr marL="290830" indent="-290830">
              <a:buFont typeface="Arial,Sans-Serif"/>
            </a:pPr>
            <a:r>
              <a:rPr lang="en-US" sz="1100" dirty="0">
                <a:ea typeface="+mn-lt"/>
                <a:cs typeface="+mn-lt"/>
              </a:rPr>
              <a:t>Cyber-attack exploited vulnerability utilizing a deliberate attack method </a:t>
            </a:r>
          </a:p>
          <a:p>
            <a:pPr marL="290830" indent="-290830">
              <a:buFont typeface="Arial,Sans-Serif"/>
            </a:pPr>
            <a:r>
              <a:rPr lang="en-US" sz="1100" dirty="0">
                <a:ea typeface="+mn-lt"/>
                <a:cs typeface="+mn-lt"/>
              </a:rPr>
              <a:t>Network is compromised</a:t>
            </a:r>
            <a:endParaRPr lang="en-US" sz="1100" dirty="0">
              <a:cs typeface="Arial"/>
            </a:endParaRPr>
          </a:p>
          <a:p>
            <a:pPr marL="290830" indent="-290830">
              <a:buFont typeface="Arial,Sans-Serif"/>
            </a:pPr>
            <a:r>
              <a:rPr lang="en-US" sz="1100" dirty="0">
                <a:ea typeface="+mn-lt"/>
                <a:cs typeface="+mn-lt"/>
              </a:rPr>
              <a:t>Indicators of compromise exist in network traffic</a:t>
            </a:r>
            <a:endParaRPr lang="en-US" dirty="0"/>
          </a:p>
          <a:p>
            <a:pPr marL="290830" indent="-290830">
              <a:buFont typeface="Arial,Sans-Serif"/>
              <a:buChar char="•"/>
            </a:pPr>
            <a:r>
              <a:rPr lang="en-US" sz="1100" dirty="0">
                <a:ea typeface="+mn-lt"/>
                <a:cs typeface="+mn-lt"/>
              </a:rPr>
              <a:t>Adversary has had time in network to compromise additional systems and establish C2</a:t>
            </a:r>
          </a:p>
          <a:p>
            <a:pPr marL="0" indent="0">
              <a:buNone/>
            </a:pPr>
            <a:endParaRPr lang="en-US" sz="1100" dirty="0">
              <a:cs typeface="Arial"/>
            </a:endParaRPr>
          </a:p>
          <a:p>
            <a:pPr marL="0" indent="0">
              <a:buNone/>
            </a:pPr>
            <a:r>
              <a:rPr lang="en-US" sz="1100" dirty="0">
                <a:cs typeface="Arial"/>
              </a:rPr>
              <a:t>RFI's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cs typeface="Arial"/>
              </a:rPr>
              <a:t>Diagrams, Inventory, KT-C</a:t>
            </a:r>
            <a:endParaRPr lang="en-US" sz="1100" dirty="0">
              <a:ea typeface="+mn-lt"/>
              <a:cs typeface="+mn-lt"/>
            </a:endParaRPr>
          </a:p>
          <a:p>
            <a:pPr marL="290830" indent="-290830">
              <a:buFont typeface="Arial,Sans-Serif"/>
            </a:pPr>
            <a:r>
              <a:rPr lang="en-US" sz="1100" dirty="0">
                <a:cs typeface="Arial"/>
              </a:rPr>
              <a:t>Logs</a:t>
            </a:r>
          </a:p>
          <a:p>
            <a:pPr marL="290830" indent="-290830">
              <a:buFont typeface="Arial,Sans-Serif"/>
              <a:buChar char="•"/>
            </a:pPr>
            <a:r>
              <a:rPr lang="en-US" sz="1100" dirty="0">
                <a:ea typeface="+mn-lt"/>
                <a:cs typeface="+mn-lt"/>
              </a:rPr>
              <a:t>Scanner results</a:t>
            </a:r>
          </a:p>
          <a:p>
            <a:pPr marL="290830" indent="-290830">
              <a:buFont typeface="Arial,Sans-Serif"/>
              <a:buChar char="•"/>
            </a:pPr>
            <a:endParaRPr lang="en-US" sz="1100" dirty="0">
              <a:ea typeface="+mn-lt"/>
              <a:cs typeface="+mn-lt"/>
            </a:endParaRPr>
          </a:p>
          <a:p>
            <a:pPr marL="0" indent="0">
              <a:buNone/>
            </a:pPr>
            <a:r>
              <a:rPr lang="en-US" sz="1100" dirty="0">
                <a:ea typeface="+mn-lt"/>
                <a:cs typeface="+mn-lt"/>
              </a:rPr>
              <a:t>Constraints</a:t>
            </a:r>
          </a:p>
          <a:p>
            <a:pPr marL="290830" indent="-290830">
              <a:buFont typeface="Arial,Sans-Serif"/>
            </a:pPr>
            <a:r>
              <a:rPr lang="en-US" sz="1100" b="1" dirty="0">
                <a:ea typeface="+mn-lt"/>
                <a:cs typeface="+mn-lt"/>
              </a:rPr>
              <a:t>Signed MOU</a:t>
            </a:r>
            <a:endParaRPr lang="en-US" sz="1100" dirty="0">
              <a:ea typeface="+mn-lt"/>
              <a:cs typeface="+mn-lt"/>
            </a:endParaRPr>
          </a:p>
          <a:p>
            <a:pPr marL="290830" indent="-290830">
              <a:buFont typeface="Arial,Sans-Serif"/>
            </a:pPr>
            <a:r>
              <a:rPr lang="en-US" sz="1100" dirty="0">
                <a:ea typeface="+mn-lt"/>
                <a:cs typeface="+mn-lt"/>
              </a:rPr>
              <a:t>Must complete mission NLT 151700LJUN22</a:t>
            </a:r>
          </a:p>
          <a:p>
            <a:pPr marL="290830" indent="-290830">
              <a:buFont typeface="Arial,Sans-Serif"/>
            </a:pPr>
            <a:r>
              <a:rPr lang="en-US" sz="1100" dirty="0">
                <a:ea typeface="+mn-lt"/>
                <a:cs typeface="+mn-lt"/>
              </a:rPr>
              <a:t>Cannot make changes to local defender systems without local defenders</a:t>
            </a:r>
            <a:endParaRPr lang="en-US" dirty="0"/>
          </a:p>
          <a:p>
            <a:pPr marL="290830" indent="-290830">
              <a:buFont typeface="Arial,Sans-Serif"/>
            </a:pPr>
            <a:r>
              <a:rPr lang="en-US" sz="1100" dirty="0">
                <a:ea typeface="+mn-lt"/>
                <a:cs typeface="+mn-lt"/>
              </a:rPr>
              <a:t>Cannot conduct OSINT activities</a:t>
            </a:r>
          </a:p>
        </p:txBody>
      </p:sp>
    </p:spTree>
    <p:extLst>
      <p:ext uri="{BB962C8B-B14F-4D97-AF65-F5344CB8AC3E}">
        <p14:creationId xmlns:p14="http://schemas.microsoft.com/office/powerpoint/2010/main" val="39399308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endParaRPr lang="en-US" dirty="0"/>
          </a:p>
        </p:txBody>
      </p:sp>
      <p:sp>
        <p:nvSpPr>
          <p:cNvPr id="19461" name="Rectangle 3"/>
          <p:cNvSpPr>
            <a:spLocks noGrp="1" noChangeArrowheads="1"/>
          </p:cNvSpPr>
          <p:nvPr>
            <p:ph type="body" idx="1"/>
          </p:nvPr>
        </p:nvSpPr>
        <p:spPr/>
        <p:txBody>
          <a:bodyPr/>
          <a:lstStyle/>
          <a:p>
            <a:pPr marL="0" indent="0">
              <a:buNone/>
            </a:pPr>
            <a:r>
              <a:rPr lang="en-US" sz="1800" dirty="0">
                <a:cs typeface="Arial"/>
              </a:rPr>
              <a:t>Develop Decision Points and CCIR</a:t>
            </a:r>
          </a:p>
          <a:p>
            <a:pPr marL="290830" indent="-290830">
              <a:buFont typeface="Arial"/>
              <a:buChar char="•"/>
            </a:pPr>
            <a:r>
              <a:rPr lang="en-US" sz="1800" dirty="0">
                <a:cs typeface="Arial"/>
              </a:rPr>
              <a:t>Critical Events</a:t>
            </a:r>
          </a:p>
          <a:p>
            <a:pPr marL="290830" indent="-290830">
              <a:buFont typeface="Arial"/>
              <a:buChar char="•"/>
            </a:pPr>
            <a:r>
              <a:rPr lang="en-US" sz="1800" dirty="0">
                <a:cs typeface="Arial"/>
              </a:rPr>
              <a:t>Decision Points</a:t>
            </a:r>
          </a:p>
          <a:p>
            <a:pPr marL="290830" indent="-290830">
              <a:buFont typeface="Arial"/>
              <a:buChar char="•"/>
            </a:pPr>
            <a:r>
              <a:rPr lang="en-US" sz="1800" dirty="0">
                <a:cs typeface="Arial"/>
              </a:rPr>
              <a:t>CCIR</a:t>
            </a:r>
          </a:p>
          <a:p>
            <a:pPr marL="290830" indent="-290830">
              <a:buFont typeface="Arial"/>
              <a:buChar char="•"/>
            </a:pPr>
            <a:r>
              <a:rPr lang="en-US" sz="1800" dirty="0">
                <a:cs typeface="Arial"/>
              </a:rPr>
              <a:t>EEFI</a:t>
            </a:r>
          </a:p>
        </p:txBody>
      </p:sp>
    </p:spTree>
    <p:extLst>
      <p:ext uri="{BB962C8B-B14F-4D97-AF65-F5344CB8AC3E}">
        <p14:creationId xmlns:p14="http://schemas.microsoft.com/office/powerpoint/2010/main" val="31696190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Critical Events</a:t>
            </a:r>
            <a:endParaRPr lang="en-US" sz="2800" dirty="0">
              <a:cs typeface="Arial"/>
            </a:endParaRPr>
          </a:p>
        </p:txBody>
      </p:sp>
      <p:sp>
        <p:nvSpPr>
          <p:cNvPr id="19461" name="Rectangle 3"/>
          <p:cNvSpPr>
            <a:spLocks noGrp="1" noChangeArrowheads="1"/>
          </p:cNvSpPr>
          <p:nvPr>
            <p:ph type="body" idx="1"/>
          </p:nvPr>
        </p:nvSpPr>
        <p:spPr/>
        <p:txBody>
          <a:bodyPr/>
          <a:lstStyle/>
          <a:p>
            <a:pPr marL="0" indent="0">
              <a:buNone/>
            </a:pPr>
            <a:r>
              <a:rPr lang="en-US" sz="1800" dirty="0">
                <a:cs typeface="Arial"/>
              </a:rPr>
              <a:t>Critical Events</a:t>
            </a:r>
            <a:endParaRPr lang="en-US" dirty="0">
              <a:cs typeface="Arial"/>
            </a:endParaRPr>
          </a:p>
          <a:p>
            <a:pPr marL="290830" indent="-290830">
              <a:buFont typeface="Arial"/>
              <a:buChar char="•"/>
            </a:pPr>
            <a:endParaRPr lang="en-US" sz="1800" dirty="0">
              <a:cs typeface="Arial"/>
            </a:endParaRPr>
          </a:p>
          <a:p>
            <a:pPr marL="290830" indent="-290830">
              <a:buFont typeface="Arial"/>
              <a:buChar char="•"/>
            </a:pPr>
            <a:r>
              <a:rPr lang="en-US" sz="1800" dirty="0">
                <a:cs typeface="Arial"/>
              </a:rPr>
              <a:t>Receive MOU</a:t>
            </a:r>
          </a:p>
          <a:p>
            <a:pPr marL="290830" indent="-290830">
              <a:buFont typeface="Arial"/>
              <a:buChar char="•"/>
            </a:pPr>
            <a:r>
              <a:rPr lang="en-US" sz="1800" dirty="0">
                <a:cs typeface="Arial"/>
              </a:rPr>
              <a:t>Network Enumeration Complete</a:t>
            </a:r>
          </a:p>
          <a:p>
            <a:pPr marL="290830" indent="-290830">
              <a:buFont typeface="Arial"/>
              <a:buChar char="•"/>
            </a:pPr>
            <a:r>
              <a:rPr lang="en-US" sz="1800" dirty="0">
                <a:cs typeface="Arial"/>
              </a:rPr>
              <a:t>Vulnerability Scans Complete</a:t>
            </a:r>
          </a:p>
          <a:p>
            <a:pPr marL="290830" indent="-290830">
              <a:buFont typeface="Arial"/>
              <a:buChar char="•"/>
            </a:pPr>
            <a:r>
              <a:rPr lang="en-US" sz="1800" dirty="0">
                <a:cs typeface="Arial"/>
              </a:rPr>
              <a:t>Sensor Emplacement</a:t>
            </a:r>
          </a:p>
          <a:p>
            <a:pPr marL="290830" indent="-290830">
              <a:buFont typeface="Arial"/>
              <a:buChar char="•"/>
            </a:pPr>
            <a:r>
              <a:rPr lang="en-US" sz="1800" dirty="0">
                <a:cs typeface="Arial"/>
              </a:rPr>
              <a:t>ID Type, Source, Location of Attack</a:t>
            </a:r>
          </a:p>
        </p:txBody>
      </p:sp>
    </p:spTree>
    <p:extLst>
      <p:ext uri="{BB962C8B-B14F-4D97-AF65-F5344CB8AC3E}">
        <p14:creationId xmlns:p14="http://schemas.microsoft.com/office/powerpoint/2010/main" val="34551153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Decision Points</a:t>
            </a: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cs typeface="Arial"/>
              </a:rPr>
              <a:t>ID Vulnerability from scan</a:t>
            </a:r>
            <a:endParaRPr lang="en-US" dirty="0"/>
          </a:p>
          <a:p>
            <a:pPr marL="290830" indent="-290830">
              <a:buFont typeface="Arial"/>
              <a:buChar char="•"/>
            </a:pPr>
            <a:r>
              <a:rPr lang="en-US" sz="1800" dirty="0">
                <a:cs typeface="Arial"/>
              </a:rPr>
              <a:t>Threat Identified in network</a:t>
            </a:r>
          </a:p>
        </p:txBody>
      </p:sp>
    </p:spTree>
    <p:extLst>
      <p:ext uri="{BB962C8B-B14F-4D97-AF65-F5344CB8AC3E}">
        <p14:creationId xmlns:p14="http://schemas.microsoft.com/office/powerpoint/2010/main" val="30332516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CCIR</a:t>
            </a:r>
            <a:endParaRPr lang="en-US" sz="2400" dirty="0">
              <a:cs typeface="Arial"/>
            </a:endParaRPr>
          </a:p>
        </p:txBody>
      </p:sp>
      <p:sp>
        <p:nvSpPr>
          <p:cNvPr id="19461" name="Rectangle 3"/>
          <p:cNvSpPr>
            <a:spLocks noGrp="1" noChangeArrowheads="1"/>
          </p:cNvSpPr>
          <p:nvPr>
            <p:ph type="body" idx="1"/>
          </p:nvPr>
        </p:nvSpPr>
        <p:spPr/>
        <p:txBody>
          <a:bodyPr/>
          <a:lstStyle/>
          <a:p>
            <a:pPr marL="285750" indent="-285750">
              <a:buFont typeface="Arial"/>
              <a:buChar char="•"/>
            </a:pPr>
            <a:r>
              <a:rPr lang="en-US" sz="1600" dirty="0">
                <a:ea typeface="+mn-lt"/>
                <a:cs typeface="+mn-lt"/>
              </a:rPr>
              <a:t>FFIR</a:t>
            </a:r>
            <a:endParaRPr lang="en-US" dirty="0"/>
          </a:p>
          <a:p>
            <a:pPr marL="628015" lvl="1" indent="-285750">
              <a:buFont typeface="Arial"/>
              <a:buChar char="•"/>
            </a:pPr>
            <a:r>
              <a:rPr lang="en-US" sz="1400" dirty="0">
                <a:ea typeface="+mn-lt"/>
                <a:cs typeface="+mn-lt"/>
              </a:rPr>
              <a:t>Verify Malicious Activity</a:t>
            </a:r>
            <a:endParaRPr lang="en-US" sz="1400">
              <a:cs typeface="Arial"/>
            </a:endParaRPr>
          </a:p>
          <a:p>
            <a:pPr marL="628015" lvl="1" indent="-285750">
              <a:buFont typeface="Arial"/>
              <a:buChar char="•"/>
            </a:pPr>
            <a:r>
              <a:rPr lang="en-US" sz="1400" dirty="0" err="1">
                <a:ea typeface="+mn-lt"/>
                <a:cs typeface="+mn-lt"/>
              </a:rPr>
              <a:t>Unauth</a:t>
            </a:r>
            <a:r>
              <a:rPr lang="en-US" sz="1400" dirty="0">
                <a:ea typeface="+mn-lt"/>
                <a:cs typeface="+mn-lt"/>
              </a:rPr>
              <a:t> exfil of data</a:t>
            </a:r>
            <a:endParaRPr lang="en-US" sz="1400">
              <a:cs typeface="Arial"/>
            </a:endParaRPr>
          </a:p>
          <a:p>
            <a:pPr marL="628015" lvl="1" indent="-285750">
              <a:buFont typeface="Arial"/>
              <a:buChar char="•"/>
            </a:pPr>
            <a:r>
              <a:rPr lang="en-US" sz="1400" dirty="0" err="1">
                <a:ea typeface="+mn-lt"/>
                <a:cs typeface="+mn-lt"/>
              </a:rPr>
              <a:t>Unauth</a:t>
            </a:r>
            <a:r>
              <a:rPr lang="en-US" sz="1400" dirty="0">
                <a:ea typeface="+mn-lt"/>
                <a:cs typeface="+mn-lt"/>
              </a:rPr>
              <a:t> access to data</a:t>
            </a:r>
            <a:endParaRPr lang="en-US" sz="1400">
              <a:cs typeface="Arial"/>
            </a:endParaRPr>
          </a:p>
          <a:p>
            <a:pPr marL="628015" lvl="1" indent="-285750">
              <a:buFont typeface="Arial"/>
              <a:buChar char="•"/>
            </a:pPr>
            <a:r>
              <a:rPr lang="en-US" sz="1400" dirty="0" err="1">
                <a:ea typeface="+mn-lt"/>
                <a:cs typeface="+mn-lt"/>
              </a:rPr>
              <a:t>Unauth</a:t>
            </a:r>
            <a:r>
              <a:rPr lang="en-US" sz="1400" dirty="0">
                <a:ea typeface="+mn-lt"/>
                <a:cs typeface="+mn-lt"/>
              </a:rPr>
              <a:t> access to network infrastructure</a:t>
            </a:r>
          </a:p>
          <a:p>
            <a:pPr marL="628015" lvl="1" indent="-285750">
              <a:buFont typeface="Arial"/>
              <a:buChar char="•"/>
            </a:pPr>
            <a:r>
              <a:rPr lang="en-US" sz="1400" dirty="0">
                <a:ea typeface="+mn-lt"/>
                <a:cs typeface="+mn-lt"/>
              </a:rPr>
              <a:t>Any Positive COVID-19</a:t>
            </a:r>
            <a:endParaRPr lang="en-US" sz="1400">
              <a:cs typeface="Arial"/>
            </a:endParaRPr>
          </a:p>
          <a:p>
            <a:pPr marL="628015" lvl="1" indent="-285750">
              <a:buFont typeface="Arial"/>
              <a:buChar char="•"/>
            </a:pPr>
            <a:r>
              <a:rPr lang="en-US" sz="1400" dirty="0">
                <a:ea typeface="+mn-lt"/>
                <a:cs typeface="+mn-lt"/>
              </a:rPr>
              <a:t>Loss of life or limb</a:t>
            </a:r>
          </a:p>
          <a:p>
            <a:pPr marL="628015" lvl="1" indent="-285750">
              <a:buFont typeface="Arial"/>
              <a:buChar char="•"/>
            </a:pPr>
            <a:r>
              <a:rPr lang="en-US" sz="1400" dirty="0">
                <a:ea typeface="+mn-lt"/>
                <a:cs typeface="+mn-lt"/>
              </a:rPr>
              <a:t>Loss of critical equipment</a:t>
            </a:r>
            <a:endParaRPr lang="en-US" sz="1400">
              <a:cs typeface="Arial"/>
            </a:endParaRPr>
          </a:p>
          <a:p>
            <a:pPr marL="285750" indent="-285750">
              <a:buFont typeface="Arial"/>
              <a:buChar char="•"/>
            </a:pPr>
            <a:r>
              <a:rPr lang="en-US" sz="1600" dirty="0">
                <a:cs typeface="Arial"/>
              </a:rPr>
              <a:t>PIR</a:t>
            </a:r>
          </a:p>
          <a:p>
            <a:pPr marL="633095" lvl="1" indent="-243840">
              <a:buFont typeface="Arial"/>
              <a:buChar char="•"/>
            </a:pPr>
            <a:r>
              <a:rPr lang="en-US" sz="1400" dirty="0">
                <a:ea typeface="+mn-lt"/>
                <a:cs typeface="+mn-lt"/>
              </a:rPr>
              <a:t>ID Threat Actor and TTP’s</a:t>
            </a:r>
            <a:endParaRPr lang="en-US" sz="1400">
              <a:cs typeface="Arial"/>
            </a:endParaRPr>
          </a:p>
          <a:p>
            <a:pPr marL="633095" lvl="1" indent="-243840">
              <a:buFont typeface="Arial"/>
              <a:buChar char="•"/>
            </a:pPr>
            <a:r>
              <a:rPr lang="en-US" sz="1400" dirty="0">
                <a:ea typeface="+mn-lt"/>
                <a:cs typeface="+mn-lt"/>
              </a:rPr>
              <a:t>ID Vulnerabilities that allowed access</a:t>
            </a:r>
            <a:endParaRPr lang="en-US" sz="1400">
              <a:cs typeface="Arial"/>
            </a:endParaRPr>
          </a:p>
          <a:p>
            <a:pPr marL="633095" lvl="1" indent="-243840">
              <a:buFont typeface="Arial"/>
              <a:buChar char="•"/>
            </a:pPr>
            <a:r>
              <a:rPr lang="en-US" sz="1400" dirty="0">
                <a:ea typeface="+mn-lt"/>
                <a:cs typeface="+mn-lt"/>
              </a:rPr>
              <a:t>ID TTP’s for persistence</a:t>
            </a:r>
            <a:endParaRPr lang="en-US" sz="1400">
              <a:cs typeface="Arial"/>
            </a:endParaRPr>
          </a:p>
          <a:p>
            <a:pPr marL="633095" lvl="1" indent="-243840">
              <a:buFont typeface="Arial"/>
              <a:buChar char="•"/>
            </a:pPr>
            <a:r>
              <a:rPr lang="en-US" sz="1400" dirty="0">
                <a:ea typeface="+mn-lt"/>
                <a:cs typeface="+mn-lt"/>
              </a:rPr>
              <a:t>ID Objectives of Threat Actor</a:t>
            </a:r>
            <a:endParaRPr lang="en-US" sz="1400">
              <a:cs typeface="Arial"/>
            </a:endParaRPr>
          </a:p>
          <a:p>
            <a:pPr marL="633095" lvl="1" indent="-243840">
              <a:buFont typeface="Arial"/>
              <a:buChar char="•"/>
            </a:pPr>
            <a:r>
              <a:rPr lang="en-US" sz="1400" dirty="0">
                <a:ea typeface="+mn-lt"/>
                <a:cs typeface="+mn-lt"/>
              </a:rPr>
              <a:t>ID C2</a:t>
            </a:r>
            <a:endParaRPr lang="en-US" sz="1400">
              <a:cs typeface="Arial"/>
            </a:endParaRPr>
          </a:p>
          <a:p>
            <a:pPr marL="633095" lvl="1" indent="-243840">
              <a:buFont typeface="Arial"/>
              <a:buChar char="•"/>
            </a:pPr>
            <a:r>
              <a:rPr lang="en-US" sz="1400" dirty="0">
                <a:ea typeface="+mn-lt"/>
                <a:cs typeface="+mn-lt"/>
              </a:rPr>
              <a:t>ID Malware</a:t>
            </a:r>
            <a:endParaRPr lang="en-US" sz="1400">
              <a:cs typeface="Arial"/>
            </a:endParaRPr>
          </a:p>
          <a:p>
            <a:pPr marL="633095" lvl="1" indent="-243840">
              <a:buFont typeface="Arial"/>
              <a:buChar char="•"/>
            </a:pPr>
            <a:r>
              <a:rPr lang="en-US" sz="1400" dirty="0">
                <a:ea typeface="+mn-lt"/>
                <a:cs typeface="+mn-lt"/>
              </a:rPr>
              <a:t>ID IOC’s</a:t>
            </a:r>
            <a:endParaRPr lang="en-US" sz="1400">
              <a:cs typeface="Arial"/>
            </a:endParaRPr>
          </a:p>
          <a:p>
            <a:pPr marL="633095" lvl="1" indent="-243840">
              <a:buFont typeface="Arial"/>
              <a:buChar char="•"/>
            </a:pPr>
            <a:r>
              <a:rPr lang="en-US" sz="1400" dirty="0">
                <a:ea typeface="+mn-lt"/>
                <a:cs typeface="+mn-lt"/>
              </a:rPr>
              <a:t>ID Remaining Vulnerabilities</a:t>
            </a:r>
            <a:endParaRPr lang="en-US" sz="1400">
              <a:cs typeface="Arial"/>
            </a:endParaRPr>
          </a:p>
          <a:p>
            <a:pPr marL="633095" lvl="1" indent="-243840">
              <a:buFont typeface="Arial"/>
              <a:buChar char="•"/>
            </a:pPr>
            <a:r>
              <a:rPr lang="en-US" sz="1400" dirty="0">
                <a:ea typeface="+mn-lt"/>
                <a:cs typeface="+mn-lt"/>
              </a:rPr>
              <a:t>ID Related Attacks (Big Data Platform)</a:t>
            </a:r>
            <a:endParaRPr lang="en-US" sz="1400" dirty="0">
              <a:cs typeface="Arial"/>
            </a:endParaRPr>
          </a:p>
          <a:p>
            <a:pPr marL="285750" indent="-285750">
              <a:buFont typeface="Arial"/>
              <a:buChar char="•"/>
            </a:pPr>
            <a:endParaRPr lang="en-US" sz="18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10670240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Mission Analysis</a:t>
            </a:r>
            <a:br>
              <a:rPr lang="en-US" dirty="0">
                <a:ea typeface="+mj-lt"/>
                <a:cs typeface="+mj-lt"/>
              </a:rPr>
            </a:br>
            <a:r>
              <a:rPr lang="en-US" sz="1800" dirty="0">
                <a:ea typeface="+mj-lt"/>
                <a:cs typeface="+mj-lt"/>
              </a:rPr>
              <a:t>CCIR</a:t>
            </a:r>
            <a:endParaRPr lang="en-US" sz="1800" dirty="0"/>
          </a:p>
        </p:txBody>
      </p:sp>
      <p:sp>
        <p:nvSpPr>
          <p:cNvPr id="19461" name="Rectangle 3"/>
          <p:cNvSpPr>
            <a:spLocks noGrp="1" noChangeArrowheads="1"/>
          </p:cNvSpPr>
          <p:nvPr>
            <p:ph type="body" idx="1"/>
          </p:nvPr>
        </p:nvSpPr>
        <p:spPr/>
        <p:txBody>
          <a:bodyPr/>
          <a:lstStyle/>
          <a:p>
            <a:pPr marL="0" indent="0">
              <a:buNone/>
            </a:pPr>
            <a:r>
              <a:rPr lang="en-US" sz="1800" dirty="0">
                <a:cs typeface="Arial"/>
              </a:rPr>
              <a:t>EEFI</a:t>
            </a:r>
            <a:endParaRPr lang="en-US" sz="900" dirty="0">
              <a:cs typeface="Arial"/>
            </a:endParaRPr>
          </a:p>
          <a:p>
            <a:pPr marL="290830" indent="-285750">
              <a:buFont typeface="Arial"/>
              <a:buChar char="•"/>
            </a:pPr>
            <a:r>
              <a:rPr lang="en-US" sz="1800" dirty="0">
                <a:ea typeface="+mn-lt"/>
                <a:cs typeface="+mn-lt"/>
              </a:rPr>
              <a:t>Location of Key Personnel</a:t>
            </a:r>
            <a:endParaRPr lang="en-US" sz="1800">
              <a:cs typeface="Arial"/>
            </a:endParaRPr>
          </a:p>
          <a:p>
            <a:pPr marL="290830" indent="-285750">
              <a:buFont typeface="Arial"/>
              <a:buChar char="•"/>
            </a:pPr>
            <a:r>
              <a:rPr lang="en-US" sz="1800" dirty="0">
                <a:ea typeface="+mn-lt"/>
                <a:cs typeface="+mn-lt"/>
              </a:rPr>
              <a:t>Location of Operations Centers</a:t>
            </a:r>
            <a:endParaRPr lang="en-US" sz="1800">
              <a:cs typeface="Arial"/>
            </a:endParaRPr>
          </a:p>
          <a:p>
            <a:pPr marL="290830" indent="-285750">
              <a:buFont typeface="Arial"/>
              <a:buChar char="•"/>
            </a:pPr>
            <a:r>
              <a:rPr lang="en-US" sz="1800" dirty="0">
                <a:ea typeface="+mn-lt"/>
                <a:cs typeface="+mn-lt"/>
              </a:rPr>
              <a:t>Tools being used</a:t>
            </a:r>
            <a:endParaRPr lang="en-US" sz="1800" dirty="0">
              <a:cs typeface="Arial"/>
            </a:endParaRPr>
          </a:p>
          <a:p>
            <a:pPr marL="285750" indent="-285750">
              <a:buFont typeface="Arial"/>
              <a:buChar char="•"/>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42152350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endParaRPr lang="en-US" dirty="0" err="1"/>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Assess DCO-E and mission partner capabilities</a:t>
            </a:r>
            <a:endParaRPr lang="en-US" dirty="0">
              <a:cs typeface="Arial"/>
            </a:endParaRPr>
          </a:p>
          <a:p>
            <a:pPr marL="290830" indent="-290830">
              <a:buFont typeface="Arial"/>
              <a:buChar char="•"/>
            </a:pPr>
            <a:r>
              <a:rPr lang="en-US" sz="1800" dirty="0">
                <a:ea typeface="+mn-lt"/>
                <a:cs typeface="+mn-lt"/>
              </a:rPr>
              <a:t>Generate options</a:t>
            </a:r>
            <a:endParaRPr lang="en-US" dirty="0">
              <a:cs typeface="Arial"/>
            </a:endParaRPr>
          </a:p>
          <a:p>
            <a:pPr marL="290830" indent="-290830">
              <a:buFont typeface="Arial"/>
              <a:buChar char="•"/>
            </a:pPr>
            <a:r>
              <a:rPr lang="en-US" sz="1800" dirty="0">
                <a:ea typeface="+mn-lt"/>
                <a:cs typeface="+mn-lt"/>
              </a:rPr>
              <a:t>Array team(s)</a:t>
            </a:r>
            <a:endParaRPr lang="en-US" dirty="0">
              <a:cs typeface="Arial"/>
            </a:endParaRPr>
          </a:p>
          <a:p>
            <a:pPr marL="290830" indent="-290830">
              <a:buFont typeface="Arial"/>
              <a:buChar char="•"/>
            </a:pPr>
            <a:r>
              <a:rPr lang="en-US" sz="1800" dirty="0">
                <a:ea typeface="+mn-lt"/>
                <a:cs typeface="+mn-lt"/>
              </a:rPr>
              <a:t>Develop broad concept</a:t>
            </a:r>
            <a:endParaRPr lang="en-US" dirty="0">
              <a:cs typeface="Arial"/>
            </a:endParaRPr>
          </a:p>
          <a:p>
            <a:pPr marL="290830" indent="-290830">
              <a:buFont typeface="Arial"/>
              <a:buChar char="•"/>
            </a:pPr>
            <a:r>
              <a:rPr lang="en-US" sz="1800" dirty="0">
                <a:ea typeface="+mn-lt"/>
                <a:cs typeface="+mn-lt"/>
              </a:rPr>
              <a:t>Assign HQ’s</a:t>
            </a:r>
            <a:endParaRPr lang="en-US" dirty="0">
              <a:cs typeface="Arial"/>
            </a:endParaRPr>
          </a:p>
          <a:p>
            <a:pPr marL="290830" indent="-290830">
              <a:buFont typeface="Arial"/>
              <a:buChar char="•"/>
            </a:pPr>
            <a:r>
              <a:rPr lang="en-US" sz="1800" dirty="0">
                <a:ea typeface="+mn-lt"/>
                <a:cs typeface="+mn-lt"/>
              </a:rPr>
              <a:t>Develop COA statements, Sketches</a:t>
            </a:r>
            <a:endParaRPr lang="en-US" dirty="0">
              <a:cs typeface="Arial"/>
            </a:endParaRPr>
          </a:p>
          <a:p>
            <a:pPr marL="290830" indent="-290830">
              <a:buFont typeface="Arial"/>
              <a:buChar char="•"/>
            </a:pPr>
            <a:r>
              <a:rPr lang="en-US" sz="1800" dirty="0">
                <a:ea typeface="+mn-lt"/>
                <a:cs typeface="+mn-lt"/>
              </a:rPr>
              <a:t>Refine CCIR, EEFI for selected COA</a:t>
            </a:r>
            <a:endParaRPr lang="en-US" dirty="0">
              <a:cs typeface="Arial"/>
            </a:endParaRPr>
          </a:p>
          <a:p>
            <a:pPr marL="0" indent="0">
              <a:buNone/>
            </a:pPr>
            <a:endParaRPr lang="en-US" sz="1800" dirty="0">
              <a:cs typeface="Arial"/>
            </a:endParaRPr>
          </a:p>
          <a:p>
            <a:pPr marL="285750" indent="-285750">
              <a:buFont typeface="Arial"/>
              <a:buChar char="•"/>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855802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vert="horz" wrap="square" lIns="0" tIns="0" rIns="0" bIns="0" numCol="1" anchor="ctr" anchorCtr="0" compatLnSpc="1">
            <a:prstTxWarp prst="textNoShape">
              <a:avLst/>
            </a:prstTxWarp>
          </a:bodyPr>
          <a:lstStyle/>
          <a:p>
            <a:pPr>
              <a:defRPr/>
            </a:pPr>
            <a:r>
              <a:rPr lang="en-US" dirty="0">
                <a:ea typeface="+mj-lt"/>
                <a:cs typeface="+mj-lt"/>
              </a:rPr>
              <a:t>COA Development</a:t>
            </a:r>
            <a:br>
              <a:rPr lang="en-US" sz="1800" dirty="0">
                <a:ea typeface="+mj-lt"/>
                <a:cs typeface="+mj-lt"/>
              </a:rPr>
            </a:br>
            <a:r>
              <a:rPr lang="en-US" sz="1800" dirty="0">
                <a:ea typeface="+mj-lt"/>
                <a:cs typeface="+mj-lt"/>
              </a:rPr>
              <a:t>DCO-E and mission partner capabilities</a:t>
            </a:r>
            <a:endParaRPr lang="en-US"/>
          </a:p>
        </p:txBody>
      </p:sp>
      <p:sp>
        <p:nvSpPr>
          <p:cNvPr id="19461" name="Rectangle 3"/>
          <p:cNvSpPr>
            <a:spLocks noGrp="1" noChangeArrowheads="1"/>
          </p:cNvSpPr>
          <p:nvPr>
            <p:ph type="body" idx="1"/>
          </p:nvPr>
        </p:nvSpPr>
        <p:spPr/>
        <p:txBody>
          <a:bodyPr/>
          <a:lstStyle/>
          <a:p>
            <a:pPr marL="0" indent="0">
              <a:buNone/>
            </a:pPr>
            <a:endParaRPr lang="en-US" sz="1800" dirty="0">
              <a:cs typeface="Arial"/>
            </a:endParaRPr>
          </a:p>
          <a:p>
            <a:pPr marL="0" indent="0">
              <a:buNone/>
            </a:pPr>
            <a:endParaRPr lang="en-US" sz="1800" dirty="0">
              <a:cs typeface="Arial"/>
            </a:endParaRPr>
          </a:p>
          <a:p>
            <a:pPr marL="285750" indent="-285750">
              <a:buFont typeface="Arial"/>
              <a:buChar char="•"/>
            </a:pPr>
            <a:r>
              <a:rPr lang="en-US" sz="1600" dirty="0">
                <a:solidFill>
                  <a:srgbClr val="FF0000"/>
                </a:solidFill>
                <a:cs typeface="Arial"/>
              </a:rPr>
              <a:t>DCO-E METL</a:t>
            </a:r>
          </a:p>
          <a:p>
            <a:pPr marL="285750" indent="-285750">
              <a:buFont typeface="Arial"/>
              <a:buChar char="•"/>
            </a:pPr>
            <a:r>
              <a:rPr lang="en-US" sz="1600" dirty="0">
                <a:solidFill>
                  <a:srgbClr val="FF0000"/>
                </a:solidFill>
                <a:cs typeface="Arial"/>
              </a:rPr>
              <a:t>Certifications</a:t>
            </a:r>
          </a:p>
          <a:p>
            <a:pPr marL="285750" indent="-285750">
              <a:buFont typeface="Arial"/>
              <a:buChar char="•"/>
            </a:pPr>
            <a:r>
              <a:rPr lang="en-US" sz="1600" dirty="0">
                <a:solidFill>
                  <a:srgbClr val="FF0000"/>
                </a:solidFill>
                <a:cs typeface="Arial"/>
              </a:rPr>
              <a:t>Known weaknesses</a:t>
            </a:r>
          </a:p>
          <a:p>
            <a:pPr marL="0" indent="0">
              <a:buNone/>
            </a:pPr>
            <a:endParaRPr lang="en-US" sz="1800" dirty="0">
              <a:solidFill>
                <a:srgbClr val="FF0000"/>
              </a:solidFill>
              <a:cs typeface="Arial"/>
            </a:endParaRPr>
          </a:p>
        </p:txBody>
      </p:sp>
    </p:spTree>
    <p:extLst>
      <p:ext uri="{BB962C8B-B14F-4D97-AF65-F5344CB8AC3E}">
        <p14:creationId xmlns:p14="http://schemas.microsoft.com/office/powerpoint/2010/main" val="35226106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ea typeface="+mj-lt"/>
                <a:cs typeface="+mj-lt"/>
              </a:rPr>
              <a:t>Options</a:t>
            </a:r>
            <a:endParaRPr lang="en-US" sz="1800" dirty="0" err="1">
              <a:ea typeface="+mj-lt"/>
              <a:cs typeface="+mj-lt"/>
            </a:endParaRP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We can organize 1 reinforced ME into two shifts. Once we are given clearance to begin we will conduct operations using IR TTP’s to hunt, contain, and assess threat actors in DoDIN-NG AR cyber space. Two (2) six (6) hour shifts, 0800-1400 and 1300-1900. </a:t>
            </a:r>
            <a:endParaRPr lang="en-US" dirty="0">
              <a:cs typeface="Arial"/>
            </a:endParaRPr>
          </a:p>
          <a:p>
            <a:pPr marL="290830" indent="-290830">
              <a:buNone/>
            </a:pPr>
            <a:endParaRPr lang="en-US" sz="1800" dirty="0">
              <a:ea typeface="+mn-lt"/>
              <a:cs typeface="+mn-lt"/>
            </a:endParaRPr>
          </a:p>
          <a:p>
            <a:pPr marL="290830" indent="-290830">
              <a:buFont typeface="Arial"/>
              <a:buChar char="•"/>
            </a:pPr>
            <a:r>
              <a:rPr lang="en-US" sz="1800" dirty="0">
                <a:ea typeface="+mn-lt"/>
                <a:cs typeface="+mn-lt"/>
              </a:rPr>
              <a:t>We can conduct operations using IR TTP’s to hunt, contain, and assess threat actors in DoDIN-NG AR cyber space using Mission Element 1 and 2 split into three (3) eight (8) hour shifts with remote capabilities to home station for Mission Element 3 to conduct further analysis as needed. </a:t>
            </a:r>
            <a:endParaRPr lang="en-US" dirty="0">
              <a:cs typeface="Arial"/>
            </a:endParaRPr>
          </a:p>
          <a:p>
            <a:pPr marL="290830" indent="-290830">
              <a:buNone/>
            </a:pPr>
            <a:endParaRPr lang="en-US" sz="1800" dirty="0">
              <a:ea typeface="+mn-lt"/>
              <a:cs typeface="+mn-lt"/>
            </a:endParaRPr>
          </a:p>
          <a:p>
            <a:pPr marL="285750" indent="-285750">
              <a:buFont typeface="Arial"/>
              <a:buChar char="•"/>
            </a:pPr>
            <a:r>
              <a:rPr lang="en-US" sz="1800" dirty="0">
                <a:ea typeface="+mn-lt"/>
                <a:cs typeface="+mn-lt"/>
              </a:rPr>
              <a:t>We can disconnect AR JFHQ from DoDIN-NG and begin rebuilding all systems. Mission Element 1 will supervise completion of RMF process for each KT-C. </a:t>
            </a:r>
            <a:endParaRPr lang="en-US"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27191645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ea typeface="+mj-lt"/>
                <a:cs typeface="+mj-lt"/>
              </a:rPr>
              <a:t>Teams</a:t>
            </a:r>
            <a:endParaRPr lang="en-US" sz="1800" dirty="0" err="1"/>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cs typeface="Arial"/>
              </a:rPr>
              <a:t>SE and ME1 will be deployed to PEC Little Rock AR</a:t>
            </a:r>
            <a:endParaRPr lang="en-US" dirty="0"/>
          </a:p>
          <a:p>
            <a:pPr marL="290830" indent="-290830">
              <a:buFont typeface="Arial"/>
              <a:buChar char="•"/>
            </a:pPr>
            <a:endParaRPr lang="en-US" sz="1800" dirty="0">
              <a:cs typeface="Arial"/>
            </a:endParaRPr>
          </a:p>
          <a:p>
            <a:pPr marL="290830" indent="-290830">
              <a:buFont typeface="Arial"/>
              <a:buChar char="•"/>
            </a:pPr>
            <a:r>
              <a:rPr lang="en-US" sz="1800" dirty="0">
                <a:cs typeface="Arial"/>
              </a:rPr>
              <a:t>ME2 and ME3 will remain at home stations in reserve for future response and surge capabilities</a:t>
            </a:r>
            <a:endParaRPr lang="en-US" dirty="0"/>
          </a:p>
        </p:txBody>
      </p:sp>
    </p:spTree>
    <p:extLst>
      <p:ext uri="{BB962C8B-B14F-4D97-AF65-F5344CB8AC3E}">
        <p14:creationId xmlns:p14="http://schemas.microsoft.com/office/powerpoint/2010/main" val="15841789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3" name="Group 71682">
            <a:extLst>
              <a:ext uri="{FF2B5EF4-FFF2-40B4-BE49-F238E27FC236}">
                <a16:creationId xmlns:a16="http://schemas.microsoft.com/office/drawing/2014/main" id="{A71F0EDB-1144-661F-2B55-24D154A7ECEF}"/>
              </a:ext>
            </a:extLst>
          </p:cNvPr>
          <p:cNvGrpSpPr/>
          <p:nvPr/>
        </p:nvGrpSpPr>
        <p:grpSpPr>
          <a:xfrm>
            <a:off x="4095751" y="3590924"/>
            <a:ext cx="2676525" cy="2819400"/>
            <a:chOff x="1981201" y="3581399"/>
            <a:chExt cx="2676525" cy="2819400"/>
          </a:xfrm>
        </p:grpSpPr>
        <p:sp>
          <p:nvSpPr>
            <p:cNvPr id="71681" name="Rectangle 71680">
              <a:extLst>
                <a:ext uri="{FF2B5EF4-FFF2-40B4-BE49-F238E27FC236}">
                  <a16:creationId xmlns:a16="http://schemas.microsoft.com/office/drawing/2014/main" id="{B9B4FE6C-D44B-AE3D-BBB3-8FE42E9444B6}"/>
                </a:ext>
              </a:extLst>
            </p:cNvPr>
            <p:cNvSpPr/>
            <p:nvPr/>
          </p:nvSpPr>
          <p:spPr>
            <a:xfrm>
              <a:off x="1981201" y="3581399"/>
              <a:ext cx="2676525" cy="2819400"/>
            </a:xfrm>
            <a:prstGeom prst="rect">
              <a:avLst/>
            </a:prstGeom>
            <a:solidFill>
              <a:schemeClr val="bg1">
                <a:lumMod val="9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CF3B8D30-96D7-F461-798A-695BEE793415}"/>
                </a:ext>
              </a:extLst>
            </p:cNvPr>
            <p:cNvSpPr/>
            <p:nvPr/>
          </p:nvSpPr>
          <p:spPr>
            <a:xfrm>
              <a:off x="2716035" y="3681854"/>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Mission Element Lead</a:t>
              </a:r>
              <a:endParaRPr lang="en-US" sz="1100" dirty="0"/>
            </a:p>
          </p:txBody>
        </p:sp>
        <p:sp>
          <p:nvSpPr>
            <p:cNvPr id="59" name="Rectangle 58">
              <a:extLst>
                <a:ext uri="{FF2B5EF4-FFF2-40B4-BE49-F238E27FC236}">
                  <a16:creationId xmlns:a16="http://schemas.microsoft.com/office/drawing/2014/main" id="{01426304-B607-61CA-164C-35C645128B06}"/>
                </a:ext>
              </a:extLst>
            </p:cNvPr>
            <p:cNvSpPr/>
            <p:nvPr/>
          </p:nvSpPr>
          <p:spPr>
            <a:xfrm>
              <a:off x="2082689" y="4207970"/>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60" name="Rectangle 59">
              <a:extLst>
                <a:ext uri="{FF2B5EF4-FFF2-40B4-BE49-F238E27FC236}">
                  <a16:creationId xmlns:a16="http://schemas.microsoft.com/office/drawing/2014/main" id="{EE86C1F6-AE70-73F0-28D7-39FB2DC7AE90}"/>
                </a:ext>
              </a:extLst>
            </p:cNvPr>
            <p:cNvSpPr/>
            <p:nvPr/>
          </p:nvSpPr>
          <p:spPr>
            <a:xfrm>
              <a:off x="2082689" y="4747291"/>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61" name="Rectangle 60">
              <a:extLst>
                <a:ext uri="{FF2B5EF4-FFF2-40B4-BE49-F238E27FC236}">
                  <a16:creationId xmlns:a16="http://schemas.microsoft.com/office/drawing/2014/main" id="{25AB8457-965C-BA2C-D325-9A296BBEED58}"/>
                </a:ext>
              </a:extLst>
            </p:cNvPr>
            <p:cNvSpPr/>
            <p:nvPr/>
          </p:nvSpPr>
          <p:spPr>
            <a:xfrm>
              <a:off x="2082689" y="5267562"/>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62" name="Rectangle 61">
              <a:extLst>
                <a:ext uri="{FF2B5EF4-FFF2-40B4-BE49-F238E27FC236}">
                  <a16:creationId xmlns:a16="http://schemas.microsoft.com/office/drawing/2014/main" id="{4F40ADC4-DE23-AC2C-DF38-D833D24BD64B}"/>
                </a:ext>
              </a:extLst>
            </p:cNvPr>
            <p:cNvSpPr/>
            <p:nvPr/>
          </p:nvSpPr>
          <p:spPr>
            <a:xfrm>
              <a:off x="2082689" y="5787833"/>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63" name="Rectangle 62">
              <a:extLst>
                <a:ext uri="{FF2B5EF4-FFF2-40B4-BE49-F238E27FC236}">
                  <a16:creationId xmlns:a16="http://schemas.microsoft.com/office/drawing/2014/main" id="{F065AF6D-A466-D1C0-7E3C-E1FA1B317683}"/>
                </a:ext>
              </a:extLst>
            </p:cNvPr>
            <p:cNvSpPr/>
            <p:nvPr/>
          </p:nvSpPr>
          <p:spPr>
            <a:xfrm>
              <a:off x="3339856" y="4207970"/>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64" name="Rectangle 63">
              <a:extLst>
                <a:ext uri="{FF2B5EF4-FFF2-40B4-BE49-F238E27FC236}">
                  <a16:creationId xmlns:a16="http://schemas.microsoft.com/office/drawing/2014/main" id="{9BC75A92-0FB1-477F-1F37-76B9B5EC2445}"/>
                </a:ext>
              </a:extLst>
            </p:cNvPr>
            <p:cNvSpPr/>
            <p:nvPr/>
          </p:nvSpPr>
          <p:spPr>
            <a:xfrm>
              <a:off x="3339856" y="4747291"/>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65" name="Rectangle 64">
              <a:extLst>
                <a:ext uri="{FF2B5EF4-FFF2-40B4-BE49-F238E27FC236}">
                  <a16:creationId xmlns:a16="http://schemas.microsoft.com/office/drawing/2014/main" id="{CF0B5328-8371-C7B0-9A61-3FB19007BC0F}"/>
                </a:ext>
              </a:extLst>
            </p:cNvPr>
            <p:cNvSpPr/>
            <p:nvPr/>
          </p:nvSpPr>
          <p:spPr>
            <a:xfrm>
              <a:off x="3339856" y="5267562"/>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66" name="Rectangle 65">
              <a:extLst>
                <a:ext uri="{FF2B5EF4-FFF2-40B4-BE49-F238E27FC236}">
                  <a16:creationId xmlns:a16="http://schemas.microsoft.com/office/drawing/2014/main" id="{69E535E3-FF27-95E9-56EB-F17304A943D0}"/>
                </a:ext>
              </a:extLst>
            </p:cNvPr>
            <p:cNvSpPr/>
            <p:nvPr/>
          </p:nvSpPr>
          <p:spPr>
            <a:xfrm>
              <a:off x="3339856" y="5787833"/>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67" name="TextBox 66">
              <a:extLst>
                <a:ext uri="{FF2B5EF4-FFF2-40B4-BE49-F238E27FC236}">
                  <a16:creationId xmlns:a16="http://schemas.microsoft.com/office/drawing/2014/main" id="{5873950C-657B-E474-4A29-7A97975BD82E}"/>
                </a:ext>
              </a:extLst>
            </p:cNvPr>
            <p:cNvSpPr txBox="1"/>
            <p:nvPr/>
          </p:nvSpPr>
          <p:spPr>
            <a:xfrm>
              <a:off x="3985832" y="3815209"/>
              <a:ext cx="563188" cy="261610"/>
            </a:xfrm>
            <a:prstGeom prst="rect">
              <a:avLst/>
            </a:prstGeom>
            <a:solidFill>
              <a:schemeClr val="bg1">
                <a:lumMod val="65000"/>
              </a:schemeClr>
            </a:solidFill>
            <a:ln>
              <a:solidFill>
                <a:schemeClr val="bg1">
                  <a:lumMod val="75000"/>
                </a:schemeClr>
              </a:solidFill>
              <a:prstDash val="sysDot"/>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ME3</a:t>
              </a:r>
            </a:p>
          </p:txBody>
        </p:sp>
      </p:grpSp>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ea typeface="+mj-lt"/>
                <a:cs typeface="+mj-lt"/>
              </a:rPr>
              <a:t>Teams</a:t>
            </a:r>
            <a:endParaRPr lang="en-US" sz="1800" dirty="0" err="1"/>
          </a:p>
        </p:txBody>
      </p:sp>
      <p:grpSp>
        <p:nvGrpSpPr>
          <p:cNvPr id="71680" name="Group 71679">
            <a:extLst>
              <a:ext uri="{FF2B5EF4-FFF2-40B4-BE49-F238E27FC236}">
                <a16:creationId xmlns:a16="http://schemas.microsoft.com/office/drawing/2014/main" id="{39F9800A-EE6E-DA97-18B6-C52A0E9F1F64}"/>
              </a:ext>
            </a:extLst>
          </p:cNvPr>
          <p:cNvGrpSpPr/>
          <p:nvPr/>
        </p:nvGrpSpPr>
        <p:grpSpPr>
          <a:xfrm>
            <a:off x="695326" y="3257549"/>
            <a:ext cx="2676525" cy="2819400"/>
            <a:chOff x="66676" y="3600449"/>
            <a:chExt cx="2676525" cy="2819400"/>
          </a:xfrm>
        </p:grpSpPr>
        <p:sp>
          <p:nvSpPr>
            <p:cNvPr id="69" name="Rectangle 68">
              <a:extLst>
                <a:ext uri="{FF2B5EF4-FFF2-40B4-BE49-F238E27FC236}">
                  <a16:creationId xmlns:a16="http://schemas.microsoft.com/office/drawing/2014/main" id="{EDC0ACAC-C687-FA1A-4669-75633F076D47}"/>
                </a:ext>
              </a:extLst>
            </p:cNvPr>
            <p:cNvSpPr/>
            <p:nvPr/>
          </p:nvSpPr>
          <p:spPr>
            <a:xfrm>
              <a:off x="66676" y="3600449"/>
              <a:ext cx="2676525" cy="281940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FEB71D2-62AA-9082-E42A-2F9F43A15E24}"/>
                </a:ext>
              </a:extLst>
            </p:cNvPr>
            <p:cNvSpPr/>
            <p:nvPr/>
          </p:nvSpPr>
          <p:spPr>
            <a:xfrm>
              <a:off x="779521" y="3709365"/>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Mission Element Lead</a:t>
              </a:r>
              <a:endParaRPr lang="en-US" sz="1100" dirty="0"/>
            </a:p>
          </p:txBody>
        </p:sp>
        <p:sp>
          <p:nvSpPr>
            <p:cNvPr id="6" name="Rectangle 5">
              <a:extLst>
                <a:ext uri="{FF2B5EF4-FFF2-40B4-BE49-F238E27FC236}">
                  <a16:creationId xmlns:a16="http://schemas.microsoft.com/office/drawing/2014/main" id="{18BF0A32-63AC-0D3A-CFB1-B6A66C9530F2}"/>
                </a:ext>
              </a:extLst>
            </p:cNvPr>
            <p:cNvSpPr/>
            <p:nvPr/>
          </p:nvSpPr>
          <p:spPr>
            <a:xfrm>
              <a:off x="155700" y="4235481"/>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7" name="Rectangle 6">
              <a:extLst>
                <a:ext uri="{FF2B5EF4-FFF2-40B4-BE49-F238E27FC236}">
                  <a16:creationId xmlns:a16="http://schemas.microsoft.com/office/drawing/2014/main" id="{BD68CC29-E506-99CA-9A6D-84B86E9F6997}"/>
                </a:ext>
              </a:extLst>
            </p:cNvPr>
            <p:cNvSpPr/>
            <p:nvPr/>
          </p:nvSpPr>
          <p:spPr>
            <a:xfrm>
              <a:off x="155700" y="4765277"/>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15" name="Rectangle 14">
              <a:extLst>
                <a:ext uri="{FF2B5EF4-FFF2-40B4-BE49-F238E27FC236}">
                  <a16:creationId xmlns:a16="http://schemas.microsoft.com/office/drawing/2014/main" id="{A68A49CF-AB3B-9611-CF0F-1C9A48ECE37E}"/>
                </a:ext>
              </a:extLst>
            </p:cNvPr>
            <p:cNvSpPr/>
            <p:nvPr/>
          </p:nvSpPr>
          <p:spPr>
            <a:xfrm>
              <a:off x="155700" y="5285548"/>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16" name="Rectangle 15">
              <a:extLst>
                <a:ext uri="{FF2B5EF4-FFF2-40B4-BE49-F238E27FC236}">
                  <a16:creationId xmlns:a16="http://schemas.microsoft.com/office/drawing/2014/main" id="{96025490-A64F-0CE9-A886-C09F79583911}"/>
                </a:ext>
              </a:extLst>
            </p:cNvPr>
            <p:cNvSpPr/>
            <p:nvPr/>
          </p:nvSpPr>
          <p:spPr>
            <a:xfrm>
              <a:off x="155700" y="5824869"/>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17" name="Rectangle 16">
              <a:extLst>
                <a:ext uri="{FF2B5EF4-FFF2-40B4-BE49-F238E27FC236}">
                  <a16:creationId xmlns:a16="http://schemas.microsoft.com/office/drawing/2014/main" id="{E8B5D372-AF08-6550-E6C5-1B649420685B}"/>
                </a:ext>
              </a:extLst>
            </p:cNvPr>
            <p:cNvSpPr/>
            <p:nvPr/>
          </p:nvSpPr>
          <p:spPr>
            <a:xfrm>
              <a:off x="1403342" y="4235481"/>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18" name="Rectangle 17">
              <a:extLst>
                <a:ext uri="{FF2B5EF4-FFF2-40B4-BE49-F238E27FC236}">
                  <a16:creationId xmlns:a16="http://schemas.microsoft.com/office/drawing/2014/main" id="{23F09860-CBFE-6A9E-2459-519DF0A5CCB4}"/>
                </a:ext>
              </a:extLst>
            </p:cNvPr>
            <p:cNvSpPr/>
            <p:nvPr/>
          </p:nvSpPr>
          <p:spPr>
            <a:xfrm>
              <a:off x="1403342" y="4765277"/>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19" name="Rectangle 18">
              <a:extLst>
                <a:ext uri="{FF2B5EF4-FFF2-40B4-BE49-F238E27FC236}">
                  <a16:creationId xmlns:a16="http://schemas.microsoft.com/office/drawing/2014/main" id="{3C0FBF8C-8BB7-9F4B-0876-B97EAE4F6DE3}"/>
                </a:ext>
              </a:extLst>
            </p:cNvPr>
            <p:cNvSpPr/>
            <p:nvPr/>
          </p:nvSpPr>
          <p:spPr>
            <a:xfrm>
              <a:off x="1403342" y="5285548"/>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20" name="Rectangle 19">
              <a:extLst>
                <a:ext uri="{FF2B5EF4-FFF2-40B4-BE49-F238E27FC236}">
                  <a16:creationId xmlns:a16="http://schemas.microsoft.com/office/drawing/2014/main" id="{8F0A96D0-A486-A5F7-AE50-B17CB09C35EA}"/>
                </a:ext>
              </a:extLst>
            </p:cNvPr>
            <p:cNvSpPr/>
            <p:nvPr/>
          </p:nvSpPr>
          <p:spPr>
            <a:xfrm>
              <a:off x="1403342" y="5824869"/>
              <a:ext cx="1212661" cy="48519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21" name="TextBox 20">
              <a:extLst>
                <a:ext uri="{FF2B5EF4-FFF2-40B4-BE49-F238E27FC236}">
                  <a16:creationId xmlns:a16="http://schemas.microsoft.com/office/drawing/2014/main" id="{986292B7-E0B8-D39A-60D5-7B8A98FA05CE}"/>
                </a:ext>
              </a:extLst>
            </p:cNvPr>
            <p:cNvSpPr txBox="1"/>
            <p:nvPr/>
          </p:nvSpPr>
          <p:spPr>
            <a:xfrm>
              <a:off x="2058843" y="3814145"/>
              <a:ext cx="563188" cy="261610"/>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ME1</a:t>
              </a:r>
            </a:p>
          </p:txBody>
        </p:sp>
      </p:grpSp>
      <p:grpSp>
        <p:nvGrpSpPr>
          <p:cNvPr id="71685" name="Group 71684">
            <a:extLst>
              <a:ext uri="{FF2B5EF4-FFF2-40B4-BE49-F238E27FC236}">
                <a16:creationId xmlns:a16="http://schemas.microsoft.com/office/drawing/2014/main" id="{3BD6B56A-64C7-B8F9-6A80-5AEDBD0CAA60}"/>
              </a:ext>
            </a:extLst>
          </p:cNvPr>
          <p:cNvGrpSpPr/>
          <p:nvPr/>
        </p:nvGrpSpPr>
        <p:grpSpPr>
          <a:xfrm>
            <a:off x="695326" y="1924049"/>
            <a:ext cx="3886200" cy="1143000"/>
            <a:chOff x="85726" y="1828799"/>
            <a:chExt cx="3886200" cy="1143000"/>
          </a:xfrm>
        </p:grpSpPr>
        <p:sp>
          <p:nvSpPr>
            <p:cNvPr id="71684" name="Rectangle 71683">
              <a:extLst>
                <a:ext uri="{FF2B5EF4-FFF2-40B4-BE49-F238E27FC236}">
                  <a16:creationId xmlns:a16="http://schemas.microsoft.com/office/drawing/2014/main" id="{B4F38484-2EA3-9879-A714-40D4A2F1E9B3}"/>
                </a:ext>
              </a:extLst>
            </p:cNvPr>
            <p:cNvSpPr/>
            <p:nvPr/>
          </p:nvSpPr>
          <p:spPr>
            <a:xfrm>
              <a:off x="85726" y="1828799"/>
              <a:ext cx="3886200" cy="114300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E20D14E2-130F-DF14-A236-6C440ADFA31C}"/>
                </a:ext>
              </a:extLst>
            </p:cNvPr>
            <p:cNvGrpSpPr/>
            <p:nvPr/>
          </p:nvGrpSpPr>
          <p:grpSpPr>
            <a:xfrm>
              <a:off x="165728" y="1892023"/>
              <a:ext cx="3706520" cy="999848"/>
              <a:chOff x="-2254017" y="478836"/>
              <a:chExt cx="5992520" cy="1618074"/>
            </a:xfrm>
          </p:grpSpPr>
          <p:sp>
            <p:nvSpPr>
              <p:cNvPr id="8" name="Rectangle 7">
                <a:extLst>
                  <a:ext uri="{FF2B5EF4-FFF2-40B4-BE49-F238E27FC236}">
                    <a16:creationId xmlns:a16="http://schemas.microsoft.com/office/drawing/2014/main" id="{5E5E57EC-6C4A-FAF1-13C1-4F5B2D4BECAE}"/>
                  </a:ext>
                </a:extLst>
              </p:cNvPr>
              <p:cNvSpPr/>
              <p:nvPr/>
            </p:nvSpPr>
            <p:spPr>
              <a:xfrm>
                <a:off x="-240831" y="478836"/>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cs typeface="Arial"/>
                  </a:rPr>
                  <a:t>Team Lead</a:t>
                </a:r>
                <a:endParaRPr lang="en-US" sz="1100" dirty="0"/>
              </a:p>
            </p:txBody>
          </p:sp>
          <p:sp>
            <p:nvSpPr>
              <p:cNvPr id="9" name="Rectangle 8">
                <a:extLst>
                  <a:ext uri="{FF2B5EF4-FFF2-40B4-BE49-F238E27FC236}">
                    <a16:creationId xmlns:a16="http://schemas.microsoft.com/office/drawing/2014/main" id="{DD21B12B-2CBC-66B9-F5B2-47F600F8C042}"/>
                  </a:ext>
                </a:extLst>
              </p:cNvPr>
              <p:cNvSpPr/>
              <p:nvPr/>
            </p:nvSpPr>
            <p:spPr>
              <a:xfrm>
                <a:off x="-2254017" y="1316095"/>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Cyber Ops Planner</a:t>
                </a:r>
              </a:p>
            </p:txBody>
          </p:sp>
          <p:sp>
            <p:nvSpPr>
              <p:cNvPr id="10" name="Rectangle 9">
                <a:extLst>
                  <a:ext uri="{FF2B5EF4-FFF2-40B4-BE49-F238E27FC236}">
                    <a16:creationId xmlns:a16="http://schemas.microsoft.com/office/drawing/2014/main" id="{BC759752-6B37-E85A-BF34-D000371EFE14}"/>
                  </a:ext>
                </a:extLst>
              </p:cNvPr>
              <p:cNvSpPr/>
              <p:nvPr/>
            </p:nvSpPr>
            <p:spPr>
              <a:xfrm>
                <a:off x="-240831" y="1316095"/>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Operations Officer</a:t>
                </a:r>
                <a:endParaRPr lang="en-US" sz="1100" dirty="0"/>
              </a:p>
            </p:txBody>
          </p:sp>
          <p:sp>
            <p:nvSpPr>
              <p:cNvPr id="11" name="Rectangle 10">
                <a:extLst>
                  <a:ext uri="{FF2B5EF4-FFF2-40B4-BE49-F238E27FC236}">
                    <a16:creationId xmlns:a16="http://schemas.microsoft.com/office/drawing/2014/main" id="{181E0B5B-70BE-B1FF-3299-FB30B371C3BD}"/>
                  </a:ext>
                </a:extLst>
              </p:cNvPr>
              <p:cNvSpPr/>
              <p:nvPr/>
            </p:nvSpPr>
            <p:spPr>
              <a:xfrm>
                <a:off x="1781763" y="1316095"/>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NCOIC</a:t>
                </a:r>
                <a:endParaRPr lang="en-US" sz="1100" dirty="0"/>
              </a:p>
            </p:txBody>
          </p:sp>
          <p:sp>
            <p:nvSpPr>
              <p:cNvPr id="24" name="TextBox 23">
                <a:extLst>
                  <a:ext uri="{FF2B5EF4-FFF2-40B4-BE49-F238E27FC236}">
                    <a16:creationId xmlns:a16="http://schemas.microsoft.com/office/drawing/2014/main" id="{D9E96080-C92B-C889-0D5D-D2F49E41DBB3}"/>
                  </a:ext>
                </a:extLst>
              </p:cNvPr>
              <p:cNvSpPr txBox="1"/>
              <p:nvPr/>
            </p:nvSpPr>
            <p:spPr>
              <a:xfrm>
                <a:off x="1779884" y="652192"/>
                <a:ext cx="1952977" cy="423369"/>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LEADERSHIP</a:t>
                </a:r>
              </a:p>
            </p:txBody>
          </p:sp>
        </p:grpSp>
      </p:grpSp>
      <p:grpSp>
        <p:nvGrpSpPr>
          <p:cNvPr id="71689" name="Group 71688">
            <a:extLst>
              <a:ext uri="{FF2B5EF4-FFF2-40B4-BE49-F238E27FC236}">
                <a16:creationId xmlns:a16="http://schemas.microsoft.com/office/drawing/2014/main" id="{8BFB7FC2-258D-6AF4-FBA7-385188690312}"/>
              </a:ext>
            </a:extLst>
          </p:cNvPr>
          <p:cNvGrpSpPr/>
          <p:nvPr/>
        </p:nvGrpSpPr>
        <p:grpSpPr>
          <a:xfrm>
            <a:off x="7134226" y="3305174"/>
            <a:ext cx="1314450" cy="3105150"/>
            <a:chOff x="7524751" y="3371849"/>
            <a:chExt cx="1314450" cy="3105150"/>
          </a:xfrm>
        </p:grpSpPr>
        <p:sp>
          <p:nvSpPr>
            <p:cNvPr id="71687" name="Rectangle 71686">
              <a:extLst>
                <a:ext uri="{FF2B5EF4-FFF2-40B4-BE49-F238E27FC236}">
                  <a16:creationId xmlns:a16="http://schemas.microsoft.com/office/drawing/2014/main" id="{54076469-4758-A7D8-BC4D-1896C45BC7AE}"/>
                </a:ext>
              </a:extLst>
            </p:cNvPr>
            <p:cNvSpPr/>
            <p:nvPr/>
          </p:nvSpPr>
          <p:spPr>
            <a:xfrm>
              <a:off x="7524751" y="3371849"/>
              <a:ext cx="1314450" cy="310515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DFDE1DB6-F7F9-4B39-A427-2EAD839A4351}"/>
                </a:ext>
              </a:extLst>
            </p:cNvPr>
            <p:cNvGrpSpPr/>
            <p:nvPr/>
          </p:nvGrpSpPr>
          <p:grpSpPr>
            <a:xfrm>
              <a:off x="7577813" y="3421771"/>
              <a:ext cx="1210998" cy="3010392"/>
              <a:chOff x="-15051" y="2108734"/>
              <a:chExt cx="1958620" cy="4869094"/>
            </a:xfrm>
          </p:grpSpPr>
          <p:sp>
            <p:nvSpPr>
              <p:cNvPr id="25" name="Rectangle 24">
                <a:extLst>
                  <a:ext uri="{FF2B5EF4-FFF2-40B4-BE49-F238E27FC236}">
                    <a16:creationId xmlns:a16="http://schemas.microsoft.com/office/drawing/2014/main" id="{1B88C45D-071C-1A3A-5758-C762632CA1B6}"/>
                  </a:ext>
                </a:extLst>
              </p:cNvPr>
              <p:cNvSpPr/>
              <p:nvPr/>
            </p:nvSpPr>
            <p:spPr>
              <a:xfrm>
                <a:off x="-13172" y="2807756"/>
                <a:ext cx="1956741"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p>
            </p:txBody>
          </p:sp>
          <p:sp>
            <p:nvSpPr>
              <p:cNvPr id="26" name="Rectangle 25">
                <a:extLst>
                  <a:ext uri="{FF2B5EF4-FFF2-40B4-BE49-F238E27FC236}">
                    <a16:creationId xmlns:a16="http://schemas.microsoft.com/office/drawing/2014/main" id="{37AD0BFA-EB07-755E-9FFA-D23E01CE225B}"/>
                  </a:ext>
                </a:extLst>
              </p:cNvPr>
              <p:cNvSpPr/>
              <p:nvPr/>
            </p:nvSpPr>
            <p:spPr>
              <a:xfrm>
                <a:off x="-13172" y="3645016"/>
                <a:ext cx="1956741"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Analytic Support Officer</a:t>
                </a:r>
                <a:endParaRPr lang="en-US" sz="1100" dirty="0"/>
              </a:p>
            </p:txBody>
          </p:sp>
          <p:sp>
            <p:nvSpPr>
              <p:cNvPr id="28" name="Rectangle 27">
                <a:extLst>
                  <a:ext uri="{FF2B5EF4-FFF2-40B4-BE49-F238E27FC236}">
                    <a16:creationId xmlns:a16="http://schemas.microsoft.com/office/drawing/2014/main" id="{FEF42206-BB15-FC13-53E0-C538D2D8F5EA}"/>
                  </a:ext>
                </a:extLst>
              </p:cNvPr>
              <p:cNvSpPr/>
              <p:nvPr/>
            </p:nvSpPr>
            <p:spPr>
              <a:xfrm>
                <a:off x="-13171" y="4497681"/>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Data Engineer</a:t>
                </a:r>
                <a:endParaRPr lang="en-US" sz="1100" dirty="0"/>
              </a:p>
            </p:txBody>
          </p:sp>
          <p:sp>
            <p:nvSpPr>
              <p:cNvPr id="30" name="Rectangle 29">
                <a:extLst>
                  <a:ext uri="{FF2B5EF4-FFF2-40B4-BE49-F238E27FC236}">
                    <a16:creationId xmlns:a16="http://schemas.microsoft.com/office/drawing/2014/main" id="{FE2F71A0-4FDE-056E-B32F-B03A9FED72BB}"/>
                  </a:ext>
                </a:extLst>
              </p:cNvPr>
              <p:cNvSpPr/>
              <p:nvPr/>
            </p:nvSpPr>
            <p:spPr>
              <a:xfrm>
                <a:off x="-13172" y="5350346"/>
                <a:ext cx="1956741"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Eng</a:t>
                </a:r>
                <a:endParaRPr lang="en-US" sz="1100" dirty="0"/>
              </a:p>
            </p:txBody>
          </p:sp>
          <p:sp>
            <p:nvSpPr>
              <p:cNvPr id="32" name="TextBox 31">
                <a:extLst>
                  <a:ext uri="{FF2B5EF4-FFF2-40B4-BE49-F238E27FC236}">
                    <a16:creationId xmlns:a16="http://schemas.microsoft.com/office/drawing/2014/main" id="{DC99DC03-03F8-4EDF-DF96-DA37921030E3}"/>
                  </a:ext>
                </a:extLst>
              </p:cNvPr>
              <p:cNvSpPr txBox="1"/>
              <p:nvPr/>
            </p:nvSpPr>
            <p:spPr>
              <a:xfrm>
                <a:off x="-15051" y="2108734"/>
                <a:ext cx="1952977" cy="696929"/>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Operations Support</a:t>
                </a:r>
              </a:p>
            </p:txBody>
          </p:sp>
          <p:sp>
            <p:nvSpPr>
              <p:cNvPr id="37" name="Rectangle 36">
                <a:extLst>
                  <a:ext uri="{FF2B5EF4-FFF2-40B4-BE49-F238E27FC236}">
                    <a16:creationId xmlns:a16="http://schemas.microsoft.com/office/drawing/2014/main" id="{12B79BD3-E248-997B-E5D3-0551600D3921}"/>
                  </a:ext>
                </a:extLst>
              </p:cNvPr>
              <p:cNvSpPr/>
              <p:nvPr/>
            </p:nvSpPr>
            <p:spPr>
              <a:xfrm>
                <a:off x="-13172" y="6197013"/>
                <a:ext cx="1956741"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endParaRPr lang="en-US" sz="1100" dirty="0"/>
              </a:p>
            </p:txBody>
          </p:sp>
        </p:grpSp>
      </p:grpSp>
      <p:grpSp>
        <p:nvGrpSpPr>
          <p:cNvPr id="71688" name="Group 71687">
            <a:extLst>
              <a:ext uri="{FF2B5EF4-FFF2-40B4-BE49-F238E27FC236}">
                <a16:creationId xmlns:a16="http://schemas.microsoft.com/office/drawing/2014/main" id="{141265E4-6A2C-B61B-1A90-D0E6A520B9F0}"/>
              </a:ext>
            </a:extLst>
          </p:cNvPr>
          <p:cNvGrpSpPr/>
          <p:nvPr/>
        </p:nvGrpSpPr>
        <p:grpSpPr>
          <a:xfrm>
            <a:off x="4724401" y="1924049"/>
            <a:ext cx="1524000" cy="1181100"/>
            <a:chOff x="7658101" y="2095499"/>
            <a:chExt cx="1524000" cy="1181100"/>
          </a:xfrm>
        </p:grpSpPr>
        <p:sp>
          <p:nvSpPr>
            <p:cNvPr id="71686" name="Rectangle 71685">
              <a:extLst>
                <a:ext uri="{FF2B5EF4-FFF2-40B4-BE49-F238E27FC236}">
                  <a16:creationId xmlns:a16="http://schemas.microsoft.com/office/drawing/2014/main" id="{2A428679-FB20-FB1B-4812-1B4CDEC7194E}"/>
                </a:ext>
              </a:extLst>
            </p:cNvPr>
            <p:cNvSpPr/>
            <p:nvPr/>
          </p:nvSpPr>
          <p:spPr>
            <a:xfrm>
              <a:off x="7658101" y="2095499"/>
              <a:ext cx="1524000" cy="118110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73DCAF35-EEC9-E575-C22E-97954F64C39F}"/>
                </a:ext>
              </a:extLst>
            </p:cNvPr>
            <p:cNvGrpSpPr/>
            <p:nvPr/>
          </p:nvGrpSpPr>
          <p:grpSpPr>
            <a:xfrm>
              <a:off x="7724333" y="2121395"/>
              <a:ext cx="1391410" cy="1073979"/>
              <a:chOff x="8274755" y="2515587"/>
              <a:chExt cx="2238962" cy="1728093"/>
            </a:xfrm>
          </p:grpSpPr>
          <p:sp>
            <p:nvSpPr>
              <p:cNvPr id="41" name="TextBox 40">
                <a:extLst>
                  <a:ext uri="{FF2B5EF4-FFF2-40B4-BE49-F238E27FC236}">
                    <a16:creationId xmlns:a16="http://schemas.microsoft.com/office/drawing/2014/main" id="{688FAE99-6F2C-CDE0-9BA6-67DD5EFE0B53}"/>
                  </a:ext>
                </a:extLst>
              </p:cNvPr>
              <p:cNvSpPr txBox="1"/>
              <p:nvPr/>
            </p:nvSpPr>
            <p:spPr>
              <a:xfrm>
                <a:off x="8426145" y="2515587"/>
                <a:ext cx="1952976" cy="69332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Intelligence Support</a:t>
                </a:r>
              </a:p>
            </p:txBody>
          </p:sp>
          <p:sp>
            <p:nvSpPr>
              <p:cNvPr id="44" name="Rectangle 43">
                <a:extLst>
                  <a:ext uri="{FF2B5EF4-FFF2-40B4-BE49-F238E27FC236}">
                    <a16:creationId xmlns:a16="http://schemas.microsoft.com/office/drawing/2014/main" id="{9E91EFCD-92BA-255E-66E7-D68CC700D4D6}"/>
                  </a:ext>
                </a:extLst>
              </p:cNvPr>
              <p:cNvSpPr/>
              <p:nvPr/>
            </p:nvSpPr>
            <p:spPr>
              <a:xfrm>
                <a:off x="8556977" y="3462865"/>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All-Source Analyst</a:t>
                </a:r>
              </a:p>
            </p:txBody>
          </p:sp>
          <p:sp>
            <p:nvSpPr>
              <p:cNvPr id="43" name="Rectangle 42">
                <a:extLst>
                  <a:ext uri="{FF2B5EF4-FFF2-40B4-BE49-F238E27FC236}">
                    <a16:creationId xmlns:a16="http://schemas.microsoft.com/office/drawing/2014/main" id="{B571B86F-69CA-423F-5F2E-AFA93670F101}"/>
                  </a:ext>
                </a:extLst>
              </p:cNvPr>
              <p:cNvSpPr/>
              <p:nvPr/>
            </p:nvSpPr>
            <p:spPr>
              <a:xfrm>
                <a:off x="8415866" y="3321754"/>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All-Source Analyst</a:t>
                </a:r>
              </a:p>
            </p:txBody>
          </p:sp>
          <p:sp>
            <p:nvSpPr>
              <p:cNvPr id="38" name="Rectangle 37">
                <a:extLst>
                  <a:ext uri="{FF2B5EF4-FFF2-40B4-BE49-F238E27FC236}">
                    <a16:creationId xmlns:a16="http://schemas.microsoft.com/office/drawing/2014/main" id="{50E315CF-2391-DF6F-DFDB-44153838C66B}"/>
                  </a:ext>
                </a:extLst>
              </p:cNvPr>
              <p:cNvSpPr/>
              <p:nvPr/>
            </p:nvSpPr>
            <p:spPr>
              <a:xfrm>
                <a:off x="8274755" y="3180643"/>
                <a:ext cx="1956740" cy="780815"/>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All-Source Analyst</a:t>
                </a:r>
              </a:p>
            </p:txBody>
          </p:sp>
        </p:grpSp>
      </p:grpSp>
      <p:grpSp>
        <p:nvGrpSpPr>
          <p:cNvPr id="45" name="Group 44">
            <a:extLst>
              <a:ext uri="{FF2B5EF4-FFF2-40B4-BE49-F238E27FC236}">
                <a16:creationId xmlns:a16="http://schemas.microsoft.com/office/drawing/2014/main" id="{C4A3B3BD-A743-E325-2C9E-93FCAB9B7073}"/>
              </a:ext>
            </a:extLst>
          </p:cNvPr>
          <p:cNvGrpSpPr/>
          <p:nvPr/>
        </p:nvGrpSpPr>
        <p:grpSpPr>
          <a:xfrm>
            <a:off x="3467100" y="3257550"/>
            <a:ext cx="2676525" cy="2819400"/>
            <a:chOff x="-3409950" y="2895600"/>
            <a:chExt cx="2676525" cy="2819400"/>
          </a:xfrm>
        </p:grpSpPr>
        <p:sp>
          <p:nvSpPr>
            <p:cNvPr id="42" name="Rectangle 41">
              <a:extLst>
                <a:ext uri="{FF2B5EF4-FFF2-40B4-BE49-F238E27FC236}">
                  <a16:creationId xmlns:a16="http://schemas.microsoft.com/office/drawing/2014/main" id="{A127AD3A-8080-0900-C64E-037802722359}"/>
                </a:ext>
              </a:extLst>
            </p:cNvPr>
            <p:cNvSpPr/>
            <p:nvPr/>
          </p:nvSpPr>
          <p:spPr>
            <a:xfrm>
              <a:off x="-3409950" y="2895600"/>
              <a:ext cx="2676525" cy="2819400"/>
            </a:xfrm>
            <a:prstGeom prst="rect">
              <a:avLst/>
            </a:prstGeom>
            <a:solidFill>
              <a:schemeClr val="bg1">
                <a:lumMod val="9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11AA07E-77F3-0049-7C63-AC93E9FEFA3A}"/>
                </a:ext>
              </a:extLst>
            </p:cNvPr>
            <p:cNvSpPr/>
            <p:nvPr/>
          </p:nvSpPr>
          <p:spPr>
            <a:xfrm>
              <a:off x="-2678501" y="3012624"/>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Mission Element Lead</a:t>
              </a:r>
              <a:endParaRPr lang="en-US" sz="1100" dirty="0"/>
            </a:p>
          </p:txBody>
        </p:sp>
        <p:sp>
          <p:nvSpPr>
            <p:cNvPr id="48" name="Rectangle 47">
              <a:extLst>
                <a:ext uri="{FF2B5EF4-FFF2-40B4-BE49-F238E27FC236}">
                  <a16:creationId xmlns:a16="http://schemas.microsoft.com/office/drawing/2014/main" id="{DD2AB0CE-48CD-66C9-2748-F8F51F57695F}"/>
                </a:ext>
              </a:extLst>
            </p:cNvPr>
            <p:cNvSpPr/>
            <p:nvPr/>
          </p:nvSpPr>
          <p:spPr>
            <a:xfrm>
              <a:off x="-3302322" y="3538740"/>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49" name="Rectangle 48">
              <a:extLst>
                <a:ext uri="{FF2B5EF4-FFF2-40B4-BE49-F238E27FC236}">
                  <a16:creationId xmlns:a16="http://schemas.microsoft.com/office/drawing/2014/main" id="{02C32590-29E2-AB98-0BCA-602C61233515}"/>
                </a:ext>
              </a:extLst>
            </p:cNvPr>
            <p:cNvSpPr/>
            <p:nvPr/>
          </p:nvSpPr>
          <p:spPr>
            <a:xfrm>
              <a:off x="-3302322" y="4059011"/>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50" name="Rectangle 49">
              <a:extLst>
                <a:ext uri="{FF2B5EF4-FFF2-40B4-BE49-F238E27FC236}">
                  <a16:creationId xmlns:a16="http://schemas.microsoft.com/office/drawing/2014/main" id="{974C9057-B743-D93F-499A-CDA55F7F27AA}"/>
                </a:ext>
              </a:extLst>
            </p:cNvPr>
            <p:cNvSpPr/>
            <p:nvPr/>
          </p:nvSpPr>
          <p:spPr>
            <a:xfrm>
              <a:off x="-3302322" y="4579282"/>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51" name="Rectangle 50">
              <a:extLst>
                <a:ext uri="{FF2B5EF4-FFF2-40B4-BE49-F238E27FC236}">
                  <a16:creationId xmlns:a16="http://schemas.microsoft.com/office/drawing/2014/main" id="{E292D7A8-38D6-A8F4-B7BB-A7F9A93B9D82}"/>
                </a:ext>
              </a:extLst>
            </p:cNvPr>
            <p:cNvSpPr/>
            <p:nvPr/>
          </p:nvSpPr>
          <p:spPr>
            <a:xfrm>
              <a:off x="-3302322" y="5109078"/>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52" name="Rectangle 51">
              <a:extLst>
                <a:ext uri="{FF2B5EF4-FFF2-40B4-BE49-F238E27FC236}">
                  <a16:creationId xmlns:a16="http://schemas.microsoft.com/office/drawing/2014/main" id="{11D3AB15-AC93-B423-D199-8C7DF8B8A4EC}"/>
                </a:ext>
              </a:extLst>
            </p:cNvPr>
            <p:cNvSpPr/>
            <p:nvPr/>
          </p:nvSpPr>
          <p:spPr>
            <a:xfrm>
              <a:off x="-2054680" y="3538740"/>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Crew Lead</a:t>
              </a:r>
            </a:p>
          </p:txBody>
        </p:sp>
        <p:sp>
          <p:nvSpPr>
            <p:cNvPr id="53" name="Rectangle 52">
              <a:extLst>
                <a:ext uri="{FF2B5EF4-FFF2-40B4-BE49-F238E27FC236}">
                  <a16:creationId xmlns:a16="http://schemas.microsoft.com/office/drawing/2014/main" id="{D2CC71DA-6B9E-2425-DC78-26FEF136269D}"/>
                </a:ext>
              </a:extLst>
            </p:cNvPr>
            <p:cNvSpPr/>
            <p:nvPr/>
          </p:nvSpPr>
          <p:spPr>
            <a:xfrm>
              <a:off x="-2054680" y="4059011"/>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Analyst</a:t>
              </a:r>
              <a:endParaRPr lang="en-US" sz="1100" dirty="0"/>
            </a:p>
          </p:txBody>
        </p:sp>
        <p:sp>
          <p:nvSpPr>
            <p:cNvPr id="54" name="Rectangle 53">
              <a:extLst>
                <a:ext uri="{FF2B5EF4-FFF2-40B4-BE49-F238E27FC236}">
                  <a16:creationId xmlns:a16="http://schemas.microsoft.com/office/drawing/2014/main" id="{64C6F85E-9D2A-5B3D-59ED-011529B2C0AE}"/>
                </a:ext>
              </a:extLst>
            </p:cNvPr>
            <p:cNvSpPr/>
            <p:nvPr/>
          </p:nvSpPr>
          <p:spPr>
            <a:xfrm>
              <a:off x="-2054680" y="4579282"/>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Network Analyst</a:t>
              </a:r>
            </a:p>
          </p:txBody>
        </p:sp>
        <p:sp>
          <p:nvSpPr>
            <p:cNvPr id="55" name="Rectangle 54">
              <a:extLst>
                <a:ext uri="{FF2B5EF4-FFF2-40B4-BE49-F238E27FC236}">
                  <a16:creationId xmlns:a16="http://schemas.microsoft.com/office/drawing/2014/main" id="{6C8B0F22-A977-EE85-B260-9295FDAC4CB0}"/>
                </a:ext>
              </a:extLst>
            </p:cNvPr>
            <p:cNvSpPr/>
            <p:nvPr/>
          </p:nvSpPr>
          <p:spPr>
            <a:xfrm>
              <a:off x="-2054680" y="5109078"/>
              <a:ext cx="1212661" cy="485197"/>
            </a:xfrm>
            <a:prstGeom prst="rect">
              <a:avLst/>
            </a:prstGeom>
            <a:solidFill>
              <a:schemeClr val="bg1">
                <a:lumMod val="6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dirty="0">
                  <a:cs typeface="Arial"/>
                </a:rPr>
                <a:t>Host / Network Analyst</a:t>
              </a:r>
              <a:endParaRPr lang="en-US" sz="1100" dirty="0"/>
            </a:p>
          </p:txBody>
        </p:sp>
        <p:sp>
          <p:nvSpPr>
            <p:cNvPr id="56" name="TextBox 55">
              <a:extLst>
                <a:ext uri="{FF2B5EF4-FFF2-40B4-BE49-F238E27FC236}">
                  <a16:creationId xmlns:a16="http://schemas.microsoft.com/office/drawing/2014/main" id="{79142025-9CD3-1772-F9FB-1909F236441C}"/>
                </a:ext>
              </a:extLst>
            </p:cNvPr>
            <p:cNvSpPr txBox="1"/>
            <p:nvPr/>
          </p:nvSpPr>
          <p:spPr>
            <a:xfrm>
              <a:off x="-1408704" y="3126928"/>
              <a:ext cx="563188" cy="261610"/>
            </a:xfrm>
            <a:prstGeom prst="rect">
              <a:avLst/>
            </a:prstGeom>
            <a:solidFill>
              <a:schemeClr val="bg1">
                <a:lumMod val="65000"/>
              </a:schemeClr>
            </a:solidFill>
            <a:ln>
              <a:solidFill>
                <a:schemeClr val="bg1">
                  <a:lumMod val="75000"/>
                </a:schemeClr>
              </a:solidFill>
              <a:prstDash val="sysDot"/>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100" dirty="0"/>
                <a:t>ME 2</a:t>
              </a:r>
            </a:p>
          </p:txBody>
        </p:sp>
      </p:grpSp>
    </p:spTree>
    <p:extLst>
      <p:ext uri="{BB962C8B-B14F-4D97-AF65-F5344CB8AC3E}">
        <p14:creationId xmlns:p14="http://schemas.microsoft.com/office/powerpoint/2010/main" val="12081150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endParaRPr lang="en-US" dirty="0" err="1"/>
          </a:p>
        </p:txBody>
      </p:sp>
      <p:sp>
        <p:nvSpPr>
          <p:cNvPr id="19461" name="Rectangle 3"/>
          <p:cNvSpPr>
            <a:spLocks noGrp="1" noChangeArrowheads="1"/>
          </p:cNvSpPr>
          <p:nvPr>
            <p:ph type="body" idx="1"/>
          </p:nvPr>
        </p:nvSpPr>
        <p:spPr/>
        <p:txBody>
          <a:bodyPr/>
          <a:lstStyle/>
          <a:p>
            <a:pPr marL="0" indent="0">
              <a:buNone/>
            </a:pPr>
            <a:r>
              <a:rPr lang="en-US" sz="1800" dirty="0">
                <a:ea typeface="+mn-lt"/>
                <a:cs typeface="+mn-lt"/>
              </a:rPr>
              <a:t>Develop broad concept</a:t>
            </a:r>
            <a:endParaRPr lang="en-US" dirty="0">
              <a:cs typeface="Arial"/>
            </a:endParaRPr>
          </a:p>
          <a:p>
            <a:pPr marL="290830" indent="-290830">
              <a:buFont typeface="Arial"/>
              <a:buChar char="•"/>
            </a:pPr>
            <a:r>
              <a:rPr lang="en-US" sz="1600" dirty="0">
                <a:solidFill>
                  <a:srgbClr val="FF0000"/>
                </a:solidFill>
                <a:ea typeface="+mn-lt"/>
                <a:cs typeface="+mn-lt"/>
              </a:rPr>
              <a:t>Purpose of the operation</a:t>
            </a:r>
            <a:endParaRPr lang="en-US" sz="1600" dirty="0">
              <a:solidFill>
                <a:srgbClr val="FF0000"/>
              </a:solidFill>
              <a:cs typeface="Arial"/>
            </a:endParaRPr>
          </a:p>
          <a:p>
            <a:pPr marL="290830" indent="-290830">
              <a:buFont typeface="Arial"/>
              <a:buChar char="•"/>
            </a:pPr>
            <a:r>
              <a:rPr lang="en-US" sz="1600" dirty="0">
                <a:solidFill>
                  <a:srgbClr val="FF0000"/>
                </a:solidFill>
                <a:ea typeface="+mn-lt"/>
                <a:cs typeface="+mn-lt"/>
              </a:rPr>
              <a:t>Designation of all forces participating</a:t>
            </a:r>
            <a:endParaRPr lang="en-US" dirty="0">
              <a:solidFill>
                <a:srgbClr val="FF0000"/>
              </a:solidFill>
              <a:cs typeface="Arial"/>
            </a:endParaRPr>
          </a:p>
          <a:p>
            <a:pPr marL="290830" indent="-290830">
              <a:buFont typeface="Arial"/>
              <a:buChar char="•"/>
            </a:pPr>
            <a:r>
              <a:rPr lang="en-US" sz="1600" dirty="0">
                <a:solidFill>
                  <a:srgbClr val="FF0000"/>
                </a:solidFill>
                <a:ea typeface="+mn-lt"/>
                <a:cs typeface="+mn-lt"/>
              </a:rPr>
              <a:t>Assignment of Areas of Operations</a:t>
            </a:r>
            <a:endParaRPr lang="en-US" dirty="0">
              <a:solidFill>
                <a:srgbClr val="FF0000"/>
              </a:solidFill>
              <a:cs typeface="Arial"/>
            </a:endParaRPr>
          </a:p>
          <a:p>
            <a:pPr marL="290830" indent="-290830">
              <a:buFont typeface="Arial"/>
              <a:buChar char="•"/>
            </a:pPr>
            <a:r>
              <a:rPr lang="en-US" sz="1600" dirty="0">
                <a:solidFill>
                  <a:srgbClr val="FF0000"/>
                </a:solidFill>
                <a:ea typeface="+mn-lt"/>
                <a:cs typeface="+mn-lt"/>
              </a:rPr>
              <a:t>Designation of Decisive Operation (DO) with Task and Purpose</a:t>
            </a:r>
            <a:endParaRPr lang="en-US" dirty="0">
              <a:solidFill>
                <a:srgbClr val="FF0000"/>
              </a:solidFill>
              <a:cs typeface="Arial"/>
            </a:endParaRPr>
          </a:p>
          <a:p>
            <a:pPr marL="290830" indent="-290830">
              <a:buFont typeface="Arial"/>
              <a:buChar char="•"/>
            </a:pPr>
            <a:r>
              <a:rPr lang="en-US" sz="1600" dirty="0">
                <a:solidFill>
                  <a:srgbClr val="FF0000"/>
                </a:solidFill>
                <a:ea typeface="+mn-lt"/>
                <a:cs typeface="+mn-lt"/>
              </a:rPr>
              <a:t>Designation of Shaping Operations (SO) with Task and Purpose</a:t>
            </a:r>
            <a:endParaRPr lang="en-US" dirty="0">
              <a:solidFill>
                <a:srgbClr val="FF0000"/>
              </a:solidFill>
              <a:cs typeface="Arial"/>
            </a:endParaRPr>
          </a:p>
          <a:p>
            <a:pPr marL="290830" indent="-290830">
              <a:buFont typeface="Arial"/>
              <a:buChar char="•"/>
            </a:pPr>
            <a:r>
              <a:rPr lang="en-US" sz="1600" dirty="0">
                <a:solidFill>
                  <a:srgbClr val="FF0000"/>
                </a:solidFill>
                <a:ea typeface="+mn-lt"/>
                <a:cs typeface="+mn-lt"/>
              </a:rPr>
              <a:t>Control Measures</a:t>
            </a:r>
            <a:endParaRPr lang="en-US" dirty="0">
              <a:solidFill>
                <a:srgbClr val="FF0000"/>
              </a:solidFill>
              <a:cs typeface="Arial"/>
            </a:endParaRPr>
          </a:p>
          <a:p>
            <a:pPr marL="290830" indent="-290830">
              <a:buFont typeface="Arial"/>
              <a:buChar char="•"/>
            </a:pPr>
            <a:r>
              <a:rPr lang="en-US" sz="1600" dirty="0">
                <a:solidFill>
                  <a:srgbClr val="FF0000"/>
                </a:solidFill>
                <a:ea typeface="+mn-lt"/>
                <a:cs typeface="+mn-lt"/>
              </a:rPr>
              <a:t>ID’s critical events and transitions</a:t>
            </a:r>
            <a:endParaRPr lang="en-US" dirty="0">
              <a:solidFill>
                <a:srgbClr val="FF0000"/>
              </a:solidFill>
              <a:cs typeface="Arial"/>
            </a:endParaRPr>
          </a:p>
          <a:p>
            <a:pPr marL="633095" lvl="1" indent="-290830">
              <a:buFont typeface="Arial"/>
              <a:buChar char="•"/>
            </a:pPr>
            <a:r>
              <a:rPr lang="en-US" sz="1300" dirty="0">
                <a:solidFill>
                  <a:srgbClr val="FF0000"/>
                </a:solidFill>
                <a:ea typeface="+mn-lt"/>
                <a:cs typeface="+mn-lt"/>
              </a:rPr>
              <a:t>Phases or LOEs</a:t>
            </a:r>
            <a:endParaRPr lang="en-US" sz="1300">
              <a:solidFill>
                <a:srgbClr val="FF0000"/>
              </a:solidFill>
              <a:cs typeface="Arial"/>
            </a:endParaRPr>
          </a:p>
          <a:p>
            <a:pPr marL="290830" indent="-290830">
              <a:buFont typeface="Arial"/>
              <a:buChar char="•"/>
            </a:pPr>
            <a:r>
              <a:rPr lang="en-US" sz="1600" dirty="0">
                <a:solidFill>
                  <a:srgbClr val="FF0000"/>
                </a:solidFill>
                <a:ea typeface="+mn-lt"/>
                <a:cs typeface="+mn-lt"/>
              </a:rPr>
              <a:t>Information collection activities</a:t>
            </a:r>
            <a:endParaRPr lang="en-US" dirty="0">
              <a:solidFill>
                <a:srgbClr val="FF0000"/>
              </a:solidFill>
            </a:endParaRPr>
          </a:p>
          <a:p>
            <a:pPr marL="285750" indent="-285750">
              <a:buFont typeface="Arial"/>
              <a:buChar char="•"/>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32969009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cs typeface="Arial"/>
              </a:rPr>
              <a:t>Concept of Operations</a:t>
            </a: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Purpose: Hunt Clear and Defend</a:t>
            </a:r>
            <a:endParaRPr lang="en-US" sz="1800">
              <a:cs typeface="Arial"/>
            </a:endParaRPr>
          </a:p>
          <a:p>
            <a:pPr marL="290830" indent="-290830">
              <a:buFont typeface="Arial"/>
              <a:buChar char="•"/>
            </a:pPr>
            <a:endParaRPr lang="en-US" sz="1600" dirty="0">
              <a:ea typeface="+mn-lt"/>
              <a:cs typeface="+mn-lt"/>
            </a:endParaRPr>
          </a:p>
          <a:p>
            <a:pPr marL="290830" indent="-290830">
              <a:buFont typeface="Arial"/>
              <a:buChar char="•"/>
            </a:pPr>
            <a:r>
              <a:rPr lang="en-US" sz="1800" dirty="0">
                <a:ea typeface="+mn-lt"/>
                <a:cs typeface="+mn-lt"/>
              </a:rPr>
              <a:t>Forces Participating: CPT 173 supports AR ARNG CIO/G-6</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ea typeface="+mn-lt"/>
                <a:cs typeface="+mn-lt"/>
              </a:rPr>
              <a:t>Areas of Operations: DoDIN-NG AR at PEC</a:t>
            </a:r>
            <a:endParaRPr lang="en-US" sz="1800">
              <a:ea typeface="+mn-lt"/>
              <a:cs typeface="+mn-lt"/>
            </a:endParaRPr>
          </a:p>
          <a:p>
            <a:pPr marL="290830" indent="-290830">
              <a:buFont typeface="Arial"/>
              <a:buChar char="•"/>
            </a:pPr>
            <a:endParaRPr lang="en-US" sz="1600" dirty="0">
              <a:cs typeface="Arial"/>
            </a:endParaRPr>
          </a:p>
          <a:p>
            <a:pPr marL="290830" indent="-290830">
              <a:buFont typeface="Arial"/>
              <a:buChar char="•"/>
            </a:pPr>
            <a:r>
              <a:rPr lang="en-US" sz="1800" dirty="0">
                <a:ea typeface="+mn-lt"/>
                <a:cs typeface="+mn-lt"/>
              </a:rPr>
              <a:t>Decisive Operation (DO): Mission Element 1</a:t>
            </a:r>
            <a:endParaRPr lang="en-US" sz="1800">
              <a:cs typeface="Arial"/>
            </a:endParaRPr>
          </a:p>
          <a:p>
            <a:pPr marL="633095" lvl="1" indent="0">
              <a:buFont typeface="Arial"/>
              <a:buChar char="•"/>
            </a:pPr>
            <a:r>
              <a:rPr lang="en-US" sz="1300" dirty="0">
                <a:ea typeface="+mn-lt"/>
                <a:cs typeface="+mn-lt"/>
              </a:rPr>
              <a:t>Task 1 Hunt for MCA in AO</a:t>
            </a:r>
          </a:p>
          <a:p>
            <a:pPr marL="973455" lvl="2" indent="-194945">
              <a:buFont typeface="Arial"/>
              <a:buChar char="•"/>
            </a:pPr>
            <a:r>
              <a:rPr lang="en-US" sz="1000" dirty="0">
                <a:ea typeface="+mn-lt"/>
                <a:cs typeface="+mn-lt"/>
              </a:rPr>
              <a:t>Purpose: Identify and Assess MCA presence and capabilities</a:t>
            </a:r>
          </a:p>
          <a:p>
            <a:pPr marL="633095" lvl="1" indent="0">
              <a:buFont typeface="Arial"/>
              <a:buChar char="•"/>
            </a:pPr>
            <a:r>
              <a:rPr lang="en-US" sz="1300" dirty="0">
                <a:ea typeface="+mn-lt"/>
                <a:cs typeface="+mn-lt"/>
              </a:rPr>
              <a:t>Task 2 Clear MCA in AO</a:t>
            </a:r>
          </a:p>
          <a:p>
            <a:pPr marL="973455" lvl="2" indent="-194945">
              <a:buFont typeface="Arial"/>
              <a:buChar char="•"/>
            </a:pPr>
            <a:r>
              <a:rPr lang="en-US" sz="1000" dirty="0">
                <a:ea typeface="+mn-lt"/>
                <a:cs typeface="+mn-lt"/>
              </a:rPr>
              <a:t>Purpose: Ensure no presence of MCA in AO IOT begin recovery</a:t>
            </a:r>
          </a:p>
          <a:p>
            <a:pPr marL="633095" lvl="1" indent="0">
              <a:buFont typeface="Arial"/>
              <a:buChar char="•"/>
            </a:pPr>
            <a:r>
              <a:rPr lang="en-US" sz="1300" dirty="0">
                <a:ea typeface="+mn-lt"/>
                <a:cs typeface="+mn-lt"/>
              </a:rPr>
              <a:t>Task 3 Defend AO from MCA</a:t>
            </a:r>
          </a:p>
          <a:p>
            <a:pPr marL="973455" lvl="2" indent="-194945">
              <a:buFont typeface="Arial"/>
              <a:buChar char="•"/>
            </a:pPr>
            <a:r>
              <a:rPr lang="en-US" sz="1000" dirty="0">
                <a:ea typeface="+mn-lt"/>
                <a:cs typeface="+mn-lt"/>
              </a:rPr>
              <a:t>Purpose: Prevent further attacks in AO</a:t>
            </a:r>
          </a:p>
          <a:p>
            <a:pPr marL="290830" indent="-290830">
              <a:buFont typeface="Arial"/>
              <a:buChar char="•"/>
            </a:pPr>
            <a:endParaRPr lang="en-US" sz="1600" dirty="0">
              <a:ea typeface="+mn-lt"/>
              <a:cs typeface="+mn-lt"/>
            </a:endParaRPr>
          </a:p>
          <a:p>
            <a:pPr marL="290830" indent="-290830">
              <a:buFont typeface="Arial"/>
              <a:buChar char="•"/>
            </a:pPr>
            <a:r>
              <a:rPr lang="en-US" sz="1800" dirty="0">
                <a:ea typeface="+mn-lt"/>
                <a:cs typeface="+mn-lt"/>
              </a:rPr>
              <a:t>Shaping Operations (SO): Support Element</a:t>
            </a:r>
          </a:p>
          <a:p>
            <a:pPr marL="633095" lvl="1" indent="-243840">
              <a:buFont typeface="Arial"/>
              <a:buChar char="•"/>
            </a:pPr>
            <a:r>
              <a:rPr lang="en-US" sz="1300" dirty="0">
                <a:cs typeface="Arial"/>
              </a:rPr>
              <a:t>Task 1 Conduct Assessment of AO</a:t>
            </a:r>
          </a:p>
          <a:p>
            <a:pPr marL="973455" lvl="2" indent="-194945">
              <a:buFont typeface="Arial"/>
              <a:buChar char="•"/>
            </a:pPr>
            <a:r>
              <a:rPr lang="en-US" sz="1000" dirty="0">
                <a:ea typeface="+mn-lt"/>
                <a:cs typeface="+mn-lt"/>
              </a:rPr>
              <a:t>Purpose: Assess if AO is compromised</a:t>
            </a:r>
          </a:p>
          <a:p>
            <a:pPr marL="633095" lvl="1" indent="-243840">
              <a:buFont typeface="Arial"/>
              <a:buChar char="•"/>
            </a:pPr>
            <a:r>
              <a:rPr lang="en-US" sz="1300" dirty="0">
                <a:ea typeface="+mn-lt"/>
                <a:cs typeface="+mn-lt"/>
              </a:rPr>
              <a:t>Task 2 Conduct IR and analysis</a:t>
            </a:r>
          </a:p>
          <a:p>
            <a:pPr marL="973455" lvl="2" indent="-194945">
              <a:buFont typeface="Arial"/>
              <a:buChar char="•"/>
            </a:pPr>
            <a:r>
              <a:rPr lang="en-US" sz="1000" dirty="0">
                <a:ea typeface="+mn-lt"/>
                <a:cs typeface="+mn-lt"/>
              </a:rPr>
              <a:t>Purpose: Provide IOC's and actionable intelligence to further Decisive Operations</a:t>
            </a:r>
          </a:p>
          <a:p>
            <a:pPr marL="285750" indent="-285750">
              <a:buFont typeface="Arial"/>
              <a:buChar char="•"/>
            </a:pPr>
            <a:endParaRPr lang="en-US" sz="1600" dirty="0">
              <a:solidFill>
                <a:srgbClr val="000000"/>
              </a:solidFill>
              <a:cs typeface="Arial"/>
            </a:endParaRPr>
          </a:p>
          <a:p>
            <a:pPr marL="0" indent="0">
              <a:buNone/>
            </a:pPr>
            <a:endParaRPr lang="en-US" sz="1800" dirty="0">
              <a:cs typeface="Arial"/>
            </a:endParaRPr>
          </a:p>
        </p:txBody>
      </p:sp>
    </p:spTree>
    <p:extLst>
      <p:ext uri="{BB962C8B-B14F-4D97-AF65-F5344CB8AC3E}">
        <p14:creationId xmlns:p14="http://schemas.microsoft.com/office/powerpoint/2010/main" val="18869762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cs typeface="Arial"/>
              </a:rPr>
              <a:t>Concept of Operations</a:t>
            </a: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Purpose: Hunt Clear and Defend</a:t>
            </a:r>
            <a:endParaRPr lang="en-US" sz="1800">
              <a:cs typeface="Arial"/>
            </a:endParaRPr>
          </a:p>
          <a:p>
            <a:pPr marL="290830" indent="-290830">
              <a:buFont typeface="Arial"/>
              <a:buChar char="•"/>
            </a:pPr>
            <a:endParaRPr lang="en-US" sz="1600" dirty="0">
              <a:ea typeface="+mn-lt"/>
              <a:cs typeface="+mn-lt"/>
            </a:endParaRPr>
          </a:p>
          <a:p>
            <a:pPr marL="290830" indent="-290830">
              <a:buFont typeface="Arial"/>
              <a:buChar char="•"/>
            </a:pPr>
            <a:r>
              <a:rPr lang="en-US" sz="1800" dirty="0">
                <a:ea typeface="+mn-lt"/>
                <a:cs typeface="+mn-lt"/>
              </a:rPr>
              <a:t>Decisive Operation (DO): Mission Element 1</a:t>
            </a:r>
            <a:endParaRPr lang="en-US" sz="1800">
              <a:cs typeface="Arial"/>
            </a:endParaRPr>
          </a:p>
          <a:p>
            <a:pPr marL="633095" lvl="1" indent="0">
              <a:buFont typeface="Arial"/>
              <a:buChar char="•"/>
            </a:pPr>
            <a:r>
              <a:rPr lang="en-US" sz="1600" dirty="0">
                <a:ea typeface="+mn-lt"/>
                <a:cs typeface="+mn-lt"/>
              </a:rPr>
              <a:t>Task 1 Hunt for MCA in AO</a:t>
            </a:r>
          </a:p>
          <a:p>
            <a:pPr marL="973455" lvl="2" indent="-194945">
              <a:buFont typeface="Arial"/>
              <a:buChar char="•"/>
            </a:pPr>
            <a:r>
              <a:rPr lang="en-US" sz="1600" dirty="0">
                <a:ea typeface="+mn-lt"/>
                <a:cs typeface="+mn-lt"/>
              </a:rPr>
              <a:t>Purpose: Identify and Assess MCA presence and capabilities</a:t>
            </a:r>
          </a:p>
          <a:p>
            <a:pPr marL="633095" lvl="1" indent="0">
              <a:buFont typeface="Arial"/>
              <a:buChar char="•"/>
            </a:pPr>
            <a:r>
              <a:rPr lang="en-US" sz="1600" dirty="0">
                <a:ea typeface="+mn-lt"/>
                <a:cs typeface="+mn-lt"/>
              </a:rPr>
              <a:t>Task 2 Clear MCA in AO</a:t>
            </a:r>
          </a:p>
          <a:p>
            <a:pPr marL="973455" lvl="2" indent="-194945">
              <a:buFont typeface="Arial"/>
              <a:buChar char="•"/>
            </a:pPr>
            <a:r>
              <a:rPr lang="en-US" sz="1600" dirty="0">
                <a:ea typeface="+mn-lt"/>
                <a:cs typeface="+mn-lt"/>
              </a:rPr>
              <a:t>Purpose: Ensure no presence of MCA in AO IOT begin recovery</a:t>
            </a:r>
          </a:p>
          <a:p>
            <a:pPr marL="633095" lvl="1" indent="0">
              <a:buFont typeface="Arial"/>
              <a:buChar char="•"/>
            </a:pPr>
            <a:r>
              <a:rPr lang="en-US" sz="1600" dirty="0">
                <a:ea typeface="+mn-lt"/>
                <a:cs typeface="+mn-lt"/>
              </a:rPr>
              <a:t>Task 3 Defend AO from MCA</a:t>
            </a:r>
          </a:p>
          <a:p>
            <a:pPr marL="973455" lvl="2" indent="-194945">
              <a:buFont typeface="Arial"/>
              <a:buChar char="•"/>
            </a:pPr>
            <a:r>
              <a:rPr lang="en-US" sz="1600" dirty="0">
                <a:ea typeface="+mn-lt"/>
                <a:cs typeface="+mn-lt"/>
              </a:rPr>
              <a:t>Purpose: Prevent further attacks in AO</a:t>
            </a:r>
          </a:p>
          <a:p>
            <a:pPr marL="290830" indent="-290830">
              <a:buFont typeface="Arial"/>
              <a:buChar char="•"/>
            </a:pPr>
            <a:endParaRPr lang="en-US" sz="1600" dirty="0">
              <a:ea typeface="+mn-lt"/>
              <a:cs typeface="+mn-lt"/>
            </a:endParaRPr>
          </a:p>
          <a:p>
            <a:pPr marL="290830" indent="-290830">
              <a:buFont typeface="Arial"/>
              <a:buChar char="•"/>
            </a:pPr>
            <a:r>
              <a:rPr lang="en-US" sz="1800" dirty="0">
                <a:ea typeface="+mn-lt"/>
                <a:cs typeface="+mn-lt"/>
              </a:rPr>
              <a:t>Shaping Operations (SO): Support Element</a:t>
            </a:r>
          </a:p>
          <a:p>
            <a:pPr marL="633095" lvl="1" indent="-243840">
              <a:buFont typeface="Arial"/>
              <a:buChar char="•"/>
            </a:pPr>
            <a:r>
              <a:rPr lang="en-US" sz="1600" dirty="0">
                <a:cs typeface="Arial"/>
              </a:rPr>
              <a:t>Task 1 Conduct Assessment of AO</a:t>
            </a:r>
          </a:p>
          <a:p>
            <a:pPr marL="973455" lvl="2" indent="-194945">
              <a:buFont typeface="Arial"/>
              <a:buChar char="•"/>
            </a:pPr>
            <a:r>
              <a:rPr lang="en-US" sz="1600" dirty="0">
                <a:ea typeface="+mn-lt"/>
                <a:cs typeface="+mn-lt"/>
              </a:rPr>
              <a:t>Purpose: Assess if AO is compromised</a:t>
            </a:r>
          </a:p>
          <a:p>
            <a:pPr marL="633095" lvl="1" indent="-243840">
              <a:buFont typeface="Arial"/>
              <a:buChar char="•"/>
            </a:pPr>
            <a:r>
              <a:rPr lang="en-US" sz="1600" dirty="0">
                <a:ea typeface="+mn-lt"/>
                <a:cs typeface="+mn-lt"/>
              </a:rPr>
              <a:t>Task 2 Conduct IR and analysis</a:t>
            </a:r>
          </a:p>
          <a:p>
            <a:pPr marL="973455" lvl="2" indent="-194945">
              <a:buFont typeface="Arial"/>
              <a:buChar char="•"/>
            </a:pPr>
            <a:r>
              <a:rPr lang="en-US" sz="1600" dirty="0">
                <a:ea typeface="+mn-lt"/>
                <a:cs typeface="+mn-lt"/>
              </a:rPr>
              <a:t>Purpose: Provide IOC's and actionable intelligence to further Decisive Operations</a:t>
            </a:r>
          </a:p>
          <a:p>
            <a:pPr marL="285750" indent="-285750">
              <a:buFont typeface="Arial"/>
              <a:buChar char="•"/>
            </a:pPr>
            <a:endParaRPr lang="en-US" sz="1600" dirty="0">
              <a:solidFill>
                <a:srgbClr val="000000"/>
              </a:solidFill>
              <a:cs typeface="Arial"/>
            </a:endParaRPr>
          </a:p>
          <a:p>
            <a:pPr marL="0" indent="0">
              <a:buNone/>
            </a:pPr>
            <a:endParaRPr lang="en-US" sz="1800" dirty="0">
              <a:cs typeface="Arial"/>
            </a:endParaRPr>
          </a:p>
        </p:txBody>
      </p:sp>
    </p:spTree>
    <p:extLst>
      <p:ext uri="{BB962C8B-B14F-4D97-AF65-F5344CB8AC3E}">
        <p14:creationId xmlns:p14="http://schemas.microsoft.com/office/powerpoint/2010/main" val="17838475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cs typeface="Arial"/>
              </a:rPr>
              <a:t>Concept of Operations</a:t>
            </a: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Purpose: Hunt Clear and Defend</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solidFill>
                  <a:srgbClr val="FF0000"/>
                </a:solidFill>
                <a:ea typeface="+mn-lt"/>
                <a:cs typeface="+mn-lt"/>
              </a:rPr>
              <a:t>Control Measures:</a:t>
            </a:r>
            <a:endParaRPr lang="en-US" sz="1800" dirty="0">
              <a:solidFill>
                <a:srgbClr val="FF0000"/>
              </a:solidFill>
              <a:cs typeface="Arial"/>
            </a:endParaRPr>
          </a:p>
          <a:p>
            <a:pPr marL="633095" lvl="1" indent="-243840">
              <a:buFont typeface="Arial,Sans-Serif"/>
              <a:buChar char="•"/>
            </a:pPr>
            <a:r>
              <a:rPr lang="en-US" sz="1600" dirty="0">
                <a:solidFill>
                  <a:srgbClr val="FF0000"/>
                </a:solidFill>
                <a:ea typeface="+mn-lt"/>
                <a:cs typeface="+mn-lt"/>
              </a:rPr>
              <a:t>Receive MOU</a:t>
            </a:r>
          </a:p>
          <a:p>
            <a:pPr marL="633095" lvl="1" indent="-243840">
              <a:buFont typeface="Arial,Sans-Serif"/>
              <a:buChar char="•"/>
            </a:pPr>
            <a:r>
              <a:rPr lang="en-US" sz="1600" dirty="0">
                <a:solidFill>
                  <a:srgbClr val="FF0000"/>
                </a:solidFill>
                <a:ea typeface="+mn-lt"/>
                <a:cs typeface="+mn-lt"/>
              </a:rPr>
              <a:t>Network Enumeration Complete</a:t>
            </a:r>
          </a:p>
          <a:p>
            <a:pPr marL="633095" lvl="1" indent="-243840">
              <a:buFont typeface="Arial,Sans-Serif"/>
              <a:buChar char="•"/>
            </a:pPr>
            <a:r>
              <a:rPr lang="en-US" sz="1600" dirty="0">
                <a:solidFill>
                  <a:srgbClr val="FF0000"/>
                </a:solidFill>
                <a:ea typeface="+mn-lt"/>
                <a:cs typeface="+mn-lt"/>
              </a:rPr>
              <a:t>Vulnerability Scans Complete</a:t>
            </a:r>
          </a:p>
          <a:p>
            <a:pPr marL="633095" lvl="1" indent="-243840">
              <a:buFont typeface="Arial,Sans-Serif"/>
              <a:buChar char="•"/>
            </a:pPr>
            <a:r>
              <a:rPr lang="en-US" sz="1600" dirty="0">
                <a:solidFill>
                  <a:srgbClr val="FF0000"/>
                </a:solidFill>
                <a:ea typeface="+mn-lt"/>
                <a:cs typeface="+mn-lt"/>
              </a:rPr>
              <a:t>Sensor Emplacement</a:t>
            </a:r>
          </a:p>
          <a:p>
            <a:pPr marL="633095" lvl="1" indent="-243840">
              <a:buFont typeface="Arial,Sans-Serif"/>
              <a:buChar char="•"/>
            </a:pPr>
            <a:r>
              <a:rPr lang="en-US" sz="1600" dirty="0">
                <a:solidFill>
                  <a:srgbClr val="FF0000"/>
                </a:solidFill>
                <a:ea typeface="+mn-lt"/>
                <a:cs typeface="+mn-lt"/>
              </a:rPr>
              <a:t>ID Type, Source, Location of Attack</a:t>
            </a:r>
          </a:p>
          <a:p>
            <a:pPr marL="290830" indent="-290830">
              <a:buFont typeface="Arial"/>
              <a:buChar char="•"/>
            </a:pPr>
            <a:endParaRPr lang="en-US" sz="1800" dirty="0">
              <a:solidFill>
                <a:srgbClr val="FF0000"/>
              </a:solidFill>
              <a:ea typeface="+mn-lt"/>
              <a:cs typeface="+mn-lt"/>
            </a:endParaRPr>
          </a:p>
          <a:p>
            <a:pPr marL="290830" indent="-290830">
              <a:buFont typeface="Arial"/>
              <a:buChar char="•"/>
            </a:pPr>
            <a:r>
              <a:rPr lang="en-US" sz="1800" dirty="0">
                <a:ea typeface="+mn-lt"/>
                <a:cs typeface="+mn-lt"/>
              </a:rPr>
              <a:t>Five-phase operation: </a:t>
            </a:r>
            <a:endParaRPr lang="en-US" sz="1800" dirty="0">
              <a:solidFill>
                <a:srgbClr val="FF0000"/>
              </a:solidFill>
              <a:ea typeface="+mn-lt"/>
              <a:cs typeface="+mn-lt"/>
            </a:endParaRPr>
          </a:p>
          <a:p>
            <a:pPr marL="633095" lvl="1" indent="-243840">
              <a:buFont typeface="Arial"/>
              <a:buChar char="•"/>
            </a:pPr>
            <a:r>
              <a:rPr lang="en-US" sz="1600" dirty="0">
                <a:ea typeface="+mn-lt"/>
                <a:cs typeface="+mn-lt"/>
              </a:rPr>
              <a:t>Phase I (Planning)</a:t>
            </a:r>
            <a:endParaRPr lang="en-US" sz="1600">
              <a:solidFill>
                <a:srgbClr val="FF0000"/>
              </a:solidFill>
              <a:ea typeface="+mn-lt"/>
              <a:cs typeface="+mn-lt"/>
            </a:endParaRPr>
          </a:p>
          <a:p>
            <a:pPr marL="633095" lvl="1" indent="-243840">
              <a:buFont typeface="Arial"/>
              <a:buChar char="•"/>
            </a:pPr>
            <a:r>
              <a:rPr lang="en-US" sz="1600" dirty="0">
                <a:ea typeface="+mn-lt"/>
                <a:cs typeface="+mn-lt"/>
              </a:rPr>
              <a:t>Phase II (Hunt)</a:t>
            </a:r>
            <a:endParaRPr lang="en-US" sz="1600">
              <a:solidFill>
                <a:srgbClr val="FF0000"/>
              </a:solidFill>
              <a:ea typeface="+mn-lt"/>
              <a:cs typeface="+mn-lt"/>
            </a:endParaRPr>
          </a:p>
          <a:p>
            <a:pPr marL="633095" lvl="1" indent="-243840">
              <a:buFont typeface="Arial"/>
              <a:buChar char="•"/>
            </a:pPr>
            <a:r>
              <a:rPr lang="en-US" sz="1600" dirty="0">
                <a:ea typeface="+mn-lt"/>
                <a:cs typeface="+mn-lt"/>
              </a:rPr>
              <a:t>Phase III (Clear)</a:t>
            </a:r>
            <a:endParaRPr lang="en-US" sz="1600">
              <a:solidFill>
                <a:srgbClr val="FF0000"/>
              </a:solidFill>
              <a:ea typeface="+mn-lt"/>
              <a:cs typeface="+mn-lt"/>
            </a:endParaRPr>
          </a:p>
          <a:p>
            <a:pPr marL="633095" lvl="1" indent="-243840">
              <a:buFont typeface="Arial"/>
              <a:buChar char="•"/>
            </a:pPr>
            <a:r>
              <a:rPr lang="en-US" sz="1600" dirty="0">
                <a:ea typeface="+mn-lt"/>
                <a:cs typeface="+mn-lt"/>
              </a:rPr>
              <a:t>Phase IV (Enable-hardening)</a:t>
            </a:r>
            <a:endParaRPr lang="en-US" sz="1600">
              <a:solidFill>
                <a:srgbClr val="FF0000"/>
              </a:solidFill>
              <a:ea typeface="+mn-lt"/>
              <a:cs typeface="+mn-lt"/>
            </a:endParaRPr>
          </a:p>
          <a:p>
            <a:pPr marL="633095" lvl="1" indent="-243840">
              <a:buFont typeface="Arial"/>
              <a:buChar char="•"/>
            </a:pPr>
            <a:r>
              <a:rPr lang="en-US" sz="1600" dirty="0">
                <a:ea typeface="+mn-lt"/>
                <a:cs typeface="+mn-lt"/>
              </a:rPr>
              <a:t>Phase V (Assess)</a:t>
            </a:r>
            <a:endParaRPr lang="en-US" sz="1600" dirty="0">
              <a:solidFill>
                <a:srgbClr val="FF0000"/>
              </a:solidFill>
              <a:cs typeface="Arial"/>
            </a:endParaRPr>
          </a:p>
          <a:p>
            <a:pPr marL="290830" indent="-290830">
              <a:buFont typeface="Arial"/>
              <a:buChar char="•"/>
            </a:pPr>
            <a:endParaRPr lang="en-US" sz="1600" dirty="0">
              <a:solidFill>
                <a:srgbClr val="000000"/>
              </a:solidFill>
              <a:ea typeface="+mn-lt"/>
              <a:cs typeface="+mn-lt"/>
            </a:endParaRPr>
          </a:p>
          <a:p>
            <a:pPr marL="0" indent="0">
              <a:buNone/>
            </a:pPr>
            <a:endParaRPr lang="en-US" sz="1800" dirty="0">
              <a:cs typeface="Arial"/>
            </a:endParaRPr>
          </a:p>
        </p:txBody>
      </p:sp>
    </p:spTree>
    <p:extLst>
      <p:ext uri="{BB962C8B-B14F-4D97-AF65-F5344CB8AC3E}">
        <p14:creationId xmlns:p14="http://schemas.microsoft.com/office/powerpoint/2010/main" val="10993475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cs typeface="Arial"/>
              </a:rPr>
              <a:t>Concept of Operations</a:t>
            </a:r>
          </a:p>
        </p:txBody>
      </p:sp>
      <p:sp>
        <p:nvSpPr>
          <p:cNvPr id="19461" name="Rectangle 3"/>
          <p:cNvSpPr>
            <a:spLocks noGrp="1" noChangeArrowheads="1"/>
          </p:cNvSpPr>
          <p:nvPr>
            <p:ph type="body" idx="1"/>
          </p:nvPr>
        </p:nvSpPr>
        <p:spPr/>
        <p:txBody>
          <a:bodyPr/>
          <a:lstStyle/>
          <a:p>
            <a:pPr marL="290830" indent="-290830">
              <a:buFont typeface="Arial"/>
              <a:buChar char="•"/>
            </a:pPr>
            <a:r>
              <a:rPr lang="en-US" sz="1800" dirty="0">
                <a:ea typeface="+mn-lt"/>
                <a:cs typeface="+mn-lt"/>
              </a:rPr>
              <a:t>Purpose: Hunt Clear and Defend</a:t>
            </a:r>
            <a:endParaRPr lang="en-US" sz="1800">
              <a:cs typeface="Arial"/>
            </a:endParaRPr>
          </a:p>
          <a:p>
            <a:pPr marL="290830" indent="-290830">
              <a:buFont typeface="Arial"/>
              <a:buChar char="•"/>
            </a:pPr>
            <a:endParaRPr lang="en-US" sz="1800" dirty="0">
              <a:ea typeface="+mn-lt"/>
              <a:cs typeface="+mn-lt"/>
            </a:endParaRPr>
          </a:p>
          <a:p>
            <a:pPr marL="290830" indent="-290830">
              <a:buFont typeface="Arial"/>
              <a:buChar char="•"/>
            </a:pPr>
            <a:r>
              <a:rPr lang="en-US" sz="1800" dirty="0">
                <a:solidFill>
                  <a:schemeClr val="tx2"/>
                </a:solidFill>
                <a:ea typeface="+mn-lt"/>
                <a:cs typeface="+mn-lt"/>
              </a:rPr>
              <a:t>Information collection activities:</a:t>
            </a:r>
            <a:endParaRPr lang="en-US" sz="1800">
              <a:solidFill>
                <a:schemeClr val="tx2"/>
              </a:solidFill>
              <a:cs typeface="Arial"/>
            </a:endParaRPr>
          </a:p>
          <a:p>
            <a:pPr marL="633095" lvl="1" indent="-243840">
              <a:buFont typeface="Arial"/>
              <a:buChar char="•"/>
            </a:pPr>
            <a:r>
              <a:rPr lang="en-US" sz="1500" dirty="0">
                <a:solidFill>
                  <a:schemeClr val="tx2"/>
                </a:solidFill>
                <a:cs typeface="Arial"/>
              </a:rPr>
              <a:t>Network Enumeration</a:t>
            </a:r>
          </a:p>
          <a:p>
            <a:pPr marL="633095" lvl="1" indent="-243840">
              <a:buFont typeface="Arial"/>
              <a:buChar char="•"/>
            </a:pPr>
            <a:r>
              <a:rPr lang="en-US" sz="1500" dirty="0">
                <a:solidFill>
                  <a:schemeClr val="tx2"/>
                </a:solidFill>
                <a:cs typeface="Arial"/>
              </a:rPr>
              <a:t>Account Verification</a:t>
            </a:r>
          </a:p>
          <a:p>
            <a:pPr marL="633095" lvl="1" indent="-243840">
              <a:buFont typeface="Arial"/>
              <a:buChar char="•"/>
            </a:pPr>
            <a:r>
              <a:rPr lang="en-US" sz="1500" dirty="0">
                <a:solidFill>
                  <a:schemeClr val="tx2"/>
                </a:solidFill>
                <a:cs typeface="Arial"/>
              </a:rPr>
              <a:t>Inventory Validation</a:t>
            </a:r>
          </a:p>
          <a:p>
            <a:pPr marL="633095" lvl="1" indent="-243840">
              <a:buFont typeface="Arial"/>
              <a:buChar char="•"/>
            </a:pPr>
            <a:r>
              <a:rPr lang="en-US" sz="1500" dirty="0">
                <a:solidFill>
                  <a:schemeClr val="tx2"/>
                </a:solidFill>
                <a:cs typeface="Arial"/>
              </a:rPr>
              <a:t>RMF Review</a:t>
            </a:r>
          </a:p>
          <a:p>
            <a:pPr marL="633095" lvl="1" indent="-243840">
              <a:buFont typeface="Arial"/>
              <a:buChar char="•"/>
            </a:pPr>
            <a:r>
              <a:rPr lang="en-US" sz="1500" dirty="0">
                <a:solidFill>
                  <a:schemeClr val="tx2"/>
                </a:solidFill>
                <a:cs typeface="Arial"/>
              </a:rPr>
              <a:t>KT-C Audit System Software Services</a:t>
            </a:r>
          </a:p>
          <a:p>
            <a:pPr marL="633095" lvl="1" indent="-243840">
              <a:buFont typeface="Arial"/>
              <a:buChar char="•"/>
            </a:pPr>
            <a:r>
              <a:rPr lang="en-US" sz="1500" dirty="0">
                <a:solidFill>
                  <a:schemeClr val="tx2"/>
                </a:solidFill>
                <a:cs typeface="Arial"/>
              </a:rPr>
              <a:t>Vulnerability Scan</a:t>
            </a:r>
          </a:p>
          <a:p>
            <a:pPr marL="633095" lvl="1" indent="-243840">
              <a:buFont typeface="Arial"/>
              <a:buChar char="•"/>
            </a:pPr>
            <a:r>
              <a:rPr lang="en-US" sz="1500" dirty="0">
                <a:solidFill>
                  <a:schemeClr val="tx2"/>
                </a:solidFill>
                <a:cs typeface="Arial"/>
              </a:rPr>
              <a:t>Fusion Center</a:t>
            </a:r>
          </a:p>
          <a:p>
            <a:pPr marL="633095" lvl="1" indent="-243840">
              <a:buFont typeface="Arial"/>
              <a:buChar char="•"/>
            </a:pPr>
            <a:r>
              <a:rPr lang="en-US" sz="1500" dirty="0">
                <a:solidFill>
                  <a:schemeClr val="tx2"/>
                </a:solidFill>
                <a:cs typeface="Arial"/>
              </a:rPr>
              <a:t>Social Media</a:t>
            </a:r>
          </a:p>
          <a:p>
            <a:pPr marL="633095" lvl="1" indent="-243840">
              <a:buFont typeface="Arial"/>
              <a:buChar char="•"/>
            </a:pPr>
            <a:r>
              <a:rPr lang="en-US" sz="1500" dirty="0">
                <a:solidFill>
                  <a:schemeClr val="tx2"/>
                </a:solidFill>
                <a:cs typeface="Arial"/>
              </a:rPr>
              <a:t>Big Data Platforms</a:t>
            </a:r>
          </a:p>
          <a:p>
            <a:pPr marL="633095" lvl="1" indent="-243840">
              <a:buFont typeface="Arial"/>
              <a:buChar char="•"/>
            </a:pPr>
            <a:endParaRPr lang="en-US" sz="1500" dirty="0">
              <a:solidFill>
                <a:srgbClr val="FF0000"/>
              </a:solidFill>
              <a:cs typeface="Arial"/>
            </a:endParaRPr>
          </a:p>
          <a:p>
            <a:pPr marL="285750" indent="-285750">
              <a:buFont typeface="Arial"/>
              <a:buChar char="•"/>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7264182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sz="1800" dirty="0">
                <a:ea typeface="+mj-lt"/>
                <a:cs typeface="+mj-lt"/>
              </a:rPr>
            </a:br>
            <a:r>
              <a:rPr lang="en-US" sz="1800" dirty="0">
                <a:cs typeface="Arial"/>
              </a:rPr>
              <a:t>Proposed Mission Statement</a:t>
            </a:r>
            <a:endParaRPr lang="en-US" sz="1800" dirty="0" err="1"/>
          </a:p>
        </p:txBody>
      </p:sp>
      <p:sp>
        <p:nvSpPr>
          <p:cNvPr id="19461" name="Rectangle 3"/>
          <p:cNvSpPr>
            <a:spLocks noGrp="1" noChangeArrowheads="1"/>
          </p:cNvSpPr>
          <p:nvPr>
            <p:ph type="body" idx="1"/>
          </p:nvPr>
        </p:nvSpPr>
        <p:spPr/>
        <p:txBody>
          <a:bodyPr/>
          <a:lstStyle/>
          <a:p>
            <a:pPr marL="290830" indent="-290830">
              <a:buFont typeface="Arial"/>
              <a:buChar char="•"/>
            </a:pPr>
            <a:r>
              <a:rPr lang="en-US" sz="1600" dirty="0">
                <a:ea typeface="+mn-lt"/>
                <a:cs typeface="+mn-lt"/>
              </a:rPr>
              <a:t>Mission Statement</a:t>
            </a:r>
            <a:endParaRPr lang="en-US" sz="1600" dirty="0">
              <a:cs typeface="Arial"/>
            </a:endParaRPr>
          </a:p>
          <a:p>
            <a:pPr marL="633095" lvl="1" indent="-243840">
              <a:buFont typeface="Arial"/>
              <a:buChar char="•"/>
            </a:pPr>
            <a:r>
              <a:rPr lang="en-US" sz="1300" dirty="0">
                <a:cs typeface="Arial"/>
              </a:rPr>
              <a:t>CPT 173 elements (HQ and ME1) deploys NLT 081700RJUN22 to conduct Defensive Cyberspace Operations-Internal Defensive Measures (DCO-IDM) to identify malicious cyber activity. </a:t>
            </a:r>
            <a:endParaRPr lang="en-US" sz="1300" dirty="0">
              <a:ea typeface="+mn-lt"/>
              <a:cs typeface="+mn-lt"/>
            </a:endParaRPr>
          </a:p>
          <a:p>
            <a:pPr marL="633095" lvl="1" indent="-243840">
              <a:buFont typeface="Arial"/>
              <a:buChar char="•"/>
            </a:pPr>
            <a:endParaRPr lang="en-US" sz="1300" dirty="0">
              <a:ea typeface="+mn-lt"/>
              <a:cs typeface="+mn-lt"/>
            </a:endParaRPr>
          </a:p>
          <a:p>
            <a:pPr marL="633095" lvl="1" indent="-243840">
              <a:buFont typeface="Arial"/>
              <a:buChar char="•"/>
            </a:pPr>
            <a:r>
              <a:rPr lang="en-US" sz="1300" dirty="0">
                <a:cs typeface="Arial"/>
              </a:rPr>
              <a:t>On detection CPT 173 ME1 assists local defender to harden KT-C. </a:t>
            </a:r>
            <a:endParaRPr lang="en-US" sz="1300" dirty="0">
              <a:ea typeface="+mn-lt"/>
              <a:cs typeface="+mn-lt"/>
            </a:endParaRPr>
          </a:p>
          <a:p>
            <a:pPr marL="633095" lvl="1" indent="-243840">
              <a:buFont typeface="Arial"/>
              <a:buChar char="•"/>
            </a:pPr>
            <a:endParaRPr lang="en-US" sz="1300" dirty="0">
              <a:ea typeface="+mn-lt"/>
              <a:cs typeface="+mn-lt"/>
            </a:endParaRPr>
          </a:p>
          <a:p>
            <a:pPr marL="633095" lvl="1" indent="-243840">
              <a:buFont typeface="Arial"/>
              <a:buChar char="•"/>
            </a:pPr>
            <a:r>
              <a:rPr lang="en-US" sz="1300" dirty="0">
                <a:cs typeface="Arial"/>
              </a:rPr>
              <a:t>CPT 173 ME1 emulates cyber threat on KT-C once local defenders have hardened assets to ensure defenses are in place. </a:t>
            </a:r>
            <a:endParaRPr lang="en-US" sz="1300" dirty="0">
              <a:ea typeface="+mn-lt"/>
              <a:cs typeface="+mn-lt"/>
            </a:endParaRPr>
          </a:p>
          <a:p>
            <a:pPr marL="633095" lvl="1" indent="-243840">
              <a:buFont typeface="Arial"/>
              <a:buChar char="•"/>
            </a:pPr>
            <a:endParaRPr lang="en-US" sz="1300" dirty="0">
              <a:ea typeface="+mn-lt"/>
              <a:cs typeface="+mn-lt"/>
            </a:endParaRPr>
          </a:p>
          <a:p>
            <a:pPr marL="633095" lvl="1" indent="-243840">
              <a:buFont typeface="Arial"/>
              <a:buChar char="•"/>
            </a:pPr>
            <a:r>
              <a:rPr lang="en-US" sz="1300" dirty="0">
                <a:cs typeface="Arial"/>
              </a:rPr>
              <a:t>CPT 173 ME1 assesses remediation actions once threat emulation concludes to ensure no further actions are taking place against KT-C. </a:t>
            </a:r>
            <a:endParaRPr lang="en-US" sz="1300" dirty="0">
              <a:ea typeface="+mn-lt"/>
              <a:cs typeface="+mn-lt"/>
            </a:endParaRPr>
          </a:p>
          <a:p>
            <a:pPr marL="290830" indent="-290830">
              <a:buFont typeface="Arial"/>
              <a:buChar char="•"/>
            </a:pPr>
            <a:endParaRPr lang="en-US" sz="1600" dirty="0">
              <a:cs typeface="Arial"/>
            </a:endParaRPr>
          </a:p>
          <a:p>
            <a:pPr marL="290830" indent="-290830">
              <a:buFont typeface="Arial"/>
              <a:buChar char="•"/>
            </a:pPr>
            <a:r>
              <a:rPr lang="en-US" sz="1600" dirty="0">
                <a:cs typeface="Arial"/>
              </a:rPr>
              <a:t>Essential Tasks</a:t>
            </a:r>
            <a:endParaRPr lang="en-US" dirty="0"/>
          </a:p>
          <a:p>
            <a:pPr marL="633095" lvl="1" indent="-243840">
              <a:buFont typeface="Arial"/>
              <a:buChar char="•"/>
            </a:pPr>
            <a:r>
              <a:rPr lang="en-US" sz="1400" b="1" dirty="0">
                <a:cs typeface="Arial"/>
              </a:rPr>
              <a:t>Signed MOU</a:t>
            </a:r>
            <a:endParaRPr lang="en-US" sz="1400">
              <a:ea typeface="+mn-lt"/>
              <a:cs typeface="+mn-lt"/>
            </a:endParaRPr>
          </a:p>
          <a:p>
            <a:pPr marL="633095" lvl="1" indent="-243840">
              <a:buFont typeface="Arial"/>
              <a:buChar char="•"/>
            </a:pPr>
            <a:r>
              <a:rPr lang="en-US" sz="1400" dirty="0">
                <a:cs typeface="Arial"/>
              </a:rPr>
              <a:t>Identify and assess Malicious Cyber Activity in DoDIN-NG ARARNG Enclave</a:t>
            </a:r>
            <a:endParaRPr lang="en-US" sz="1400">
              <a:ea typeface="+mn-lt"/>
              <a:cs typeface="+mn-lt"/>
            </a:endParaRPr>
          </a:p>
          <a:p>
            <a:pPr marL="633095" lvl="1" indent="-243840">
              <a:buFont typeface="Arial"/>
              <a:buChar char="•"/>
            </a:pPr>
            <a:r>
              <a:rPr lang="en-US" sz="1400" dirty="0">
                <a:cs typeface="Arial"/>
              </a:rPr>
              <a:t>Defend DoDIN-NG ARARNG Enclave from Malicious Activity</a:t>
            </a:r>
            <a:endParaRPr lang="en-US" sz="1400">
              <a:ea typeface="+mn-lt"/>
              <a:cs typeface="+mn-lt"/>
            </a:endParaRPr>
          </a:p>
          <a:p>
            <a:pPr marL="633095" lvl="1" indent="-243840">
              <a:buFont typeface="Arial"/>
              <a:buChar char="•"/>
            </a:pPr>
            <a:r>
              <a:rPr lang="en-US" sz="1400" dirty="0">
                <a:cs typeface="Arial"/>
              </a:rPr>
              <a:t>Deter future Malicious Cyber Activity in DoDIN-NG ARARNG Enclave</a:t>
            </a:r>
          </a:p>
          <a:p>
            <a:pPr marL="0" indent="0">
              <a:buNone/>
            </a:pPr>
            <a:endParaRPr lang="en-US" sz="1600" dirty="0">
              <a:ea typeface="+mn-lt"/>
              <a:cs typeface="+mn-lt"/>
            </a:endParaRPr>
          </a:p>
          <a:p>
            <a:pPr marL="0" indent="0">
              <a:buNone/>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25123642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br>
              <a:rPr lang="en-US" dirty="0">
                <a:ea typeface="+mj-lt"/>
                <a:cs typeface="+mj-lt"/>
              </a:rPr>
            </a:br>
            <a:r>
              <a:rPr lang="en-US" sz="1800" dirty="0">
                <a:ea typeface="+mj-lt"/>
                <a:cs typeface="+mj-lt"/>
              </a:rPr>
              <a:t>COA Statements</a:t>
            </a:r>
            <a:endParaRPr lang="en-US" sz="1800" dirty="0" err="1"/>
          </a:p>
        </p:txBody>
      </p:sp>
      <p:sp>
        <p:nvSpPr>
          <p:cNvPr id="19461" name="Rectangle 3"/>
          <p:cNvSpPr>
            <a:spLocks noGrp="1" noChangeArrowheads="1"/>
          </p:cNvSpPr>
          <p:nvPr>
            <p:ph type="body" idx="1"/>
          </p:nvPr>
        </p:nvSpPr>
        <p:spPr/>
        <p:txBody>
          <a:bodyPr/>
          <a:lstStyle/>
          <a:p>
            <a:pPr marL="290830" indent="-290830">
              <a:buNone/>
            </a:pPr>
            <a:r>
              <a:rPr lang="en-US" sz="1600" dirty="0">
                <a:cs typeface="Arial"/>
              </a:rPr>
              <a:t>COA 1: Trap Spider </a:t>
            </a:r>
            <a:endParaRPr lang="en-US" sz="1600" dirty="0">
              <a:ea typeface="+mn-lt"/>
              <a:cs typeface="+mn-lt"/>
            </a:endParaRPr>
          </a:p>
          <a:p>
            <a:pPr marL="290830" indent="-290830">
              <a:buFont typeface="Arial"/>
              <a:buChar char="•"/>
            </a:pPr>
            <a:r>
              <a:rPr lang="en-US" sz="1400" dirty="0">
                <a:cs typeface="Arial"/>
              </a:rPr>
              <a:t>Conduct operations using IR TTP’s to hunt, contain, and assess threat actors in DoDIN-NG AR cyber space using Mission Element 1 reinforced by Mission Element 2 split into two (2) six (6) hour shifts, 0800-1400 and 1300-1900 .</a:t>
            </a:r>
            <a:endParaRPr lang="en-US" sz="1400" dirty="0">
              <a:ea typeface="+mn-lt"/>
              <a:cs typeface="+mn-lt"/>
            </a:endParaRPr>
          </a:p>
          <a:p>
            <a:pPr marL="290830" indent="-290830">
              <a:buNone/>
            </a:pPr>
            <a:endParaRPr lang="en-US" sz="1600" dirty="0">
              <a:cs typeface="Arial"/>
            </a:endParaRPr>
          </a:p>
          <a:p>
            <a:pPr marL="290830" indent="-290830">
              <a:buNone/>
            </a:pPr>
            <a:r>
              <a:rPr lang="en-US" sz="1600" dirty="0">
                <a:cs typeface="Arial"/>
              </a:rPr>
              <a:t>COA 2: Spastic Owl </a:t>
            </a:r>
            <a:endParaRPr lang="en-US" sz="1600" dirty="0">
              <a:ea typeface="+mn-lt"/>
              <a:cs typeface="+mn-lt"/>
            </a:endParaRPr>
          </a:p>
          <a:p>
            <a:pPr marL="290830" indent="-290830">
              <a:buFont typeface="Arial,Sans-Serif"/>
              <a:buChar char="•"/>
            </a:pPr>
            <a:r>
              <a:rPr lang="en-US" sz="1400" dirty="0">
                <a:cs typeface="Arial"/>
              </a:rPr>
              <a:t>Conduct operations using IR TTP’s to hunt, contain, and assess threat actors in DoDIN-NG AR cyber space using Mission Element 1 and 2 split into three (3) eight (8) hour shifts with remote capabilities to home station for Mission Element 3 to conduct further analysis as needed. </a:t>
            </a:r>
            <a:endParaRPr lang="en-US" sz="1400" dirty="0">
              <a:ea typeface="+mn-lt"/>
              <a:cs typeface="+mn-lt"/>
            </a:endParaRPr>
          </a:p>
          <a:p>
            <a:pPr marL="290830" indent="-290830">
              <a:buNone/>
            </a:pPr>
            <a:endParaRPr lang="en-US" sz="1600" dirty="0">
              <a:cs typeface="Arial"/>
            </a:endParaRPr>
          </a:p>
          <a:p>
            <a:pPr marL="290830" indent="-290830">
              <a:buNone/>
            </a:pPr>
            <a:r>
              <a:rPr lang="en-US" sz="1600" dirty="0">
                <a:cs typeface="Arial"/>
              </a:rPr>
              <a:t>COA 3: Silent Reboot </a:t>
            </a:r>
            <a:endParaRPr lang="en-US" sz="1600">
              <a:ea typeface="+mn-lt"/>
              <a:cs typeface="+mn-lt"/>
            </a:endParaRPr>
          </a:p>
          <a:p>
            <a:pPr marL="285750" indent="-285750">
              <a:buFont typeface="Arial,Sans-Serif"/>
              <a:buChar char="•"/>
            </a:pPr>
            <a:r>
              <a:rPr lang="en-US" sz="1400" dirty="0">
                <a:cs typeface="Arial"/>
              </a:rPr>
              <a:t>Disconnect AR JFHQ from DoDIN-NG and begin rebuilding all systems. Mission Element 1 will supervise completion of RMF process for each KT-C.</a:t>
            </a:r>
            <a:r>
              <a:rPr lang="en-US" sz="1600" dirty="0">
                <a:cs typeface="Arial"/>
              </a:rPr>
              <a:t> </a:t>
            </a:r>
            <a:endParaRPr lang="en-US" sz="1600" dirty="0">
              <a:ea typeface="+mn-lt"/>
              <a:cs typeface="+mn-lt"/>
            </a:endParaRPr>
          </a:p>
          <a:p>
            <a:pPr marL="0" indent="0">
              <a:buNone/>
            </a:pPr>
            <a:endParaRPr lang="en-US" sz="1600" dirty="0">
              <a:ea typeface="+mn-lt"/>
              <a:cs typeface="+mn-lt"/>
            </a:endParaRPr>
          </a:p>
          <a:p>
            <a:pPr marL="0" indent="0">
              <a:buNone/>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36582749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defRPr/>
            </a:pPr>
            <a:r>
              <a:rPr lang="en-US" dirty="0">
                <a:ea typeface="+mj-lt"/>
                <a:cs typeface="+mj-lt"/>
              </a:rPr>
              <a:t>COA Development</a:t>
            </a:r>
            <a:endParaRPr lang="en-US" dirty="0" err="1"/>
          </a:p>
        </p:txBody>
      </p:sp>
      <p:sp>
        <p:nvSpPr>
          <p:cNvPr id="19461" name="Rectangle 3"/>
          <p:cNvSpPr>
            <a:spLocks noGrp="1" noChangeArrowheads="1"/>
          </p:cNvSpPr>
          <p:nvPr>
            <p:ph type="body" idx="1"/>
          </p:nvPr>
        </p:nvSpPr>
        <p:spPr/>
        <p:txBody>
          <a:bodyPr/>
          <a:lstStyle/>
          <a:p>
            <a:pPr marL="0" indent="0">
              <a:buNone/>
            </a:pPr>
            <a:r>
              <a:rPr lang="en-US" sz="1800" dirty="0">
                <a:ea typeface="+mn-lt"/>
                <a:cs typeface="+mn-lt"/>
              </a:rPr>
              <a:t>END MOU COA BRIEF</a:t>
            </a:r>
            <a:endParaRPr lang="en-US" dirty="0"/>
          </a:p>
          <a:p>
            <a:pPr marL="0" indent="0">
              <a:buNone/>
            </a:pPr>
            <a:endParaRPr lang="en-US" sz="1600" dirty="0">
              <a:ea typeface="+mn-lt"/>
              <a:cs typeface="+mn-lt"/>
            </a:endParaRPr>
          </a:p>
          <a:p>
            <a:pPr marL="0" indent="0">
              <a:buNone/>
            </a:pPr>
            <a:endParaRPr lang="en-US" sz="1600" dirty="0">
              <a:cs typeface="Arial"/>
            </a:endParaRPr>
          </a:p>
          <a:p>
            <a:pPr marL="0" indent="0">
              <a:buNone/>
            </a:pPr>
            <a:endParaRPr lang="en-US" sz="1800" dirty="0">
              <a:cs typeface="Arial"/>
            </a:endParaRPr>
          </a:p>
        </p:txBody>
      </p:sp>
    </p:spTree>
    <p:extLst>
      <p:ext uri="{BB962C8B-B14F-4D97-AF65-F5344CB8AC3E}">
        <p14:creationId xmlns:p14="http://schemas.microsoft.com/office/powerpoint/2010/main" val="33317806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defRPr/>
            </a:pPr>
            <a:r>
              <a:rPr lang="en-US" dirty="0"/>
              <a:t>Higher HQ Mission</a:t>
            </a:r>
            <a:endParaRPr lang="en-US" sz="1500" i="1" dirty="0"/>
          </a:p>
        </p:txBody>
      </p:sp>
      <p:sp>
        <p:nvSpPr>
          <p:cNvPr id="8197" name="Rectangle 3"/>
          <p:cNvSpPr>
            <a:spLocks noGrp="1" noChangeArrowheads="1"/>
          </p:cNvSpPr>
          <p:nvPr>
            <p:ph type="body" idx="1"/>
          </p:nvPr>
        </p:nvSpPr>
        <p:spPr/>
        <p:txBody>
          <a:bodyPr/>
          <a:lstStyle/>
          <a:p>
            <a:pPr marL="0" indent="0">
              <a:buNone/>
            </a:pPr>
            <a:r>
              <a:rPr lang="en-US" sz="1800" dirty="0">
                <a:ea typeface="+mn-lt"/>
                <a:cs typeface="+mn-lt"/>
              </a:rPr>
              <a:t>The 126th Cyber Protection Battalion deploys cybersecurity elements (Cyber Protection Teams and Security Company) NLT 081700RJUN22 in order to conduct Defensive Cyberspace Operations (DCO) Malicious Cyber Activity (MCA).</a:t>
            </a:r>
            <a:endParaRPr lang="en-US" sz="1800" dirty="0">
              <a:cs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defRPr/>
            </a:pPr>
            <a:r>
              <a:rPr lang="en-US" dirty="0"/>
              <a:t>Pertinent Facts</a:t>
            </a:r>
          </a:p>
        </p:txBody>
      </p:sp>
      <p:sp>
        <p:nvSpPr>
          <p:cNvPr id="22533"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85939" y="2778920"/>
            <a:ext cx="5448401" cy="1938992"/>
          </a:xfrm>
          <a:prstGeom prst="rect">
            <a:avLst/>
          </a:prstGeom>
          <a:solidFill>
            <a:srgbClr val="FFFF00"/>
          </a:solidFill>
        </p:spPr>
        <p:txBody>
          <a:bodyPr wrap="square" rtlCol="0">
            <a:spAutoFit/>
          </a:bodyPr>
          <a:lstStyle/>
          <a:p>
            <a:r>
              <a:rPr lang="en-US" sz="1500" b="1" dirty="0">
                <a:solidFill>
                  <a:srgbClr val="FF0000"/>
                </a:solidFill>
              </a:rPr>
              <a:t>Collect from all WfF estimates.</a:t>
            </a:r>
          </a:p>
          <a:p>
            <a:endParaRPr lang="en-US" sz="1500" b="1" dirty="0">
              <a:solidFill>
                <a:srgbClr val="FF0000"/>
              </a:solidFill>
            </a:endParaRPr>
          </a:p>
          <a:p>
            <a:r>
              <a:rPr lang="en-US" sz="1500" dirty="0"/>
              <a:t>“A </a:t>
            </a:r>
            <a:r>
              <a:rPr lang="en-US" sz="1500" b="1" i="1" dirty="0"/>
              <a:t>fact</a:t>
            </a:r>
            <a:r>
              <a:rPr lang="en-US" sz="1500" dirty="0"/>
              <a:t> is a statement of truth or a statement thought to be true at the</a:t>
            </a:r>
          </a:p>
          <a:p>
            <a:r>
              <a:rPr lang="en-US" sz="1500" dirty="0"/>
              <a:t>time. Facts concerning the operational and mission variables serve as the basis for developing situational understanding, for continued planning, and when assessing progress during preparation and execution.” FM 6-0, p 9-9</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defRPr/>
            </a:pPr>
            <a:r>
              <a:rPr lang="en-US" dirty="0"/>
              <a:t>Pertinent Assumptions</a:t>
            </a:r>
          </a:p>
        </p:txBody>
      </p:sp>
      <p:sp>
        <p:nvSpPr>
          <p:cNvPr id="23557"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85939" y="2778920"/>
            <a:ext cx="5448401" cy="1938992"/>
          </a:xfrm>
          <a:prstGeom prst="rect">
            <a:avLst/>
          </a:prstGeom>
          <a:solidFill>
            <a:srgbClr val="FFFF00"/>
          </a:solidFill>
        </p:spPr>
        <p:txBody>
          <a:bodyPr wrap="square" rtlCol="0">
            <a:spAutoFit/>
          </a:bodyPr>
          <a:lstStyle/>
          <a:p>
            <a:r>
              <a:rPr lang="en-US" sz="1500" b="1" dirty="0">
                <a:solidFill>
                  <a:srgbClr val="FF0000"/>
                </a:solidFill>
              </a:rPr>
              <a:t>Collect from all WfF estimates.</a:t>
            </a:r>
          </a:p>
          <a:p>
            <a:endParaRPr lang="en-US" sz="1500" b="1" dirty="0">
              <a:solidFill>
                <a:srgbClr val="FF0000"/>
              </a:solidFill>
            </a:endParaRPr>
          </a:p>
          <a:p>
            <a:r>
              <a:rPr lang="en-US" sz="1500" dirty="0"/>
              <a:t>“An </a:t>
            </a:r>
            <a:r>
              <a:rPr lang="en-US" sz="1500" b="1" i="1" dirty="0"/>
              <a:t>assumption</a:t>
            </a:r>
            <a:r>
              <a:rPr lang="en-US" sz="1500" i="1" dirty="0"/>
              <a:t> </a:t>
            </a:r>
            <a:r>
              <a:rPr lang="en-US" sz="1500" dirty="0"/>
              <a:t>is a supposition on the current situation or a presupposition on the future course of events, either or both assumed to be true in the absence of positive proof, necessary to enable the commander in the process of planning to complete an estimate of the situation and make a decision on the course of action.” FM 6-0, p 9-9</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defRPr/>
            </a:pPr>
            <a:r>
              <a:rPr lang="en-US" dirty="0"/>
              <a:t>Constraints</a:t>
            </a:r>
          </a:p>
        </p:txBody>
      </p:sp>
      <p:sp>
        <p:nvSpPr>
          <p:cNvPr id="21509" name="Rectangle 3"/>
          <p:cNvSpPr>
            <a:spLocks noGrp="1" noChangeArrowheads="1"/>
          </p:cNvSpPr>
          <p:nvPr>
            <p:ph type="body" idx="1"/>
          </p:nvPr>
        </p:nvSpPr>
        <p:spPr/>
        <p:txBody>
          <a:bodyPr/>
          <a:lstStyle/>
          <a:p>
            <a:pPr eaLnBrk="1" hangingPunct="1"/>
            <a:endParaRPr lang="en-US" dirty="0"/>
          </a:p>
        </p:txBody>
      </p:sp>
      <p:sp>
        <p:nvSpPr>
          <p:cNvPr id="6" name="TextBox 5"/>
          <p:cNvSpPr txBox="1"/>
          <p:nvPr/>
        </p:nvSpPr>
        <p:spPr>
          <a:xfrm>
            <a:off x="1785939" y="2778920"/>
            <a:ext cx="5448401" cy="1938992"/>
          </a:xfrm>
          <a:prstGeom prst="rect">
            <a:avLst/>
          </a:prstGeom>
          <a:solidFill>
            <a:srgbClr val="FFFF00"/>
          </a:solidFill>
        </p:spPr>
        <p:txBody>
          <a:bodyPr wrap="square" rtlCol="0">
            <a:spAutoFit/>
          </a:bodyPr>
          <a:lstStyle/>
          <a:p>
            <a:r>
              <a:rPr lang="en-US" sz="1500" b="1" dirty="0">
                <a:solidFill>
                  <a:srgbClr val="FF0000"/>
                </a:solidFill>
              </a:rPr>
              <a:t>Collect from all WfF estimates.</a:t>
            </a:r>
          </a:p>
          <a:p>
            <a:endParaRPr lang="en-US" sz="1500" b="1" dirty="0">
              <a:solidFill>
                <a:srgbClr val="FF0000"/>
              </a:solidFill>
            </a:endParaRPr>
          </a:p>
          <a:p>
            <a:r>
              <a:rPr lang="en-US" sz="1500" dirty="0"/>
              <a:t>“A </a:t>
            </a:r>
            <a:r>
              <a:rPr lang="en-US" sz="1500" b="1" i="1" dirty="0"/>
              <a:t>constraint </a:t>
            </a:r>
            <a:r>
              <a:rPr lang="en-US" sz="1500" dirty="0"/>
              <a:t>is a restriction placed on the command by a higher command. A constraint dictates an action or inaction, thus restricting the freedom of action of a subordinate commander. Constraints are found in paragraph 3 of the OPLAN or OPORD. Annexes to the order may also include constraints.” FM 6-0, p 9-9</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C407-A52D-1DEC-D83C-7035C85D3246}"/>
              </a:ext>
            </a:extLst>
          </p:cNvPr>
          <p:cNvSpPr>
            <a:spLocks noGrp="1"/>
          </p:cNvSpPr>
          <p:nvPr>
            <p:ph type="title"/>
          </p:nvPr>
        </p:nvSpPr>
        <p:spPr/>
        <p:txBody>
          <a:bodyPr/>
          <a:lstStyle/>
          <a:p>
            <a:r>
              <a:rPr lang="en-US" dirty="0"/>
              <a:t>Forces Available</a:t>
            </a:r>
          </a:p>
        </p:txBody>
      </p:sp>
      <p:graphicFrame>
        <p:nvGraphicFramePr>
          <p:cNvPr id="7" name="Table 7">
            <a:extLst>
              <a:ext uri="{FF2B5EF4-FFF2-40B4-BE49-F238E27FC236}">
                <a16:creationId xmlns:a16="http://schemas.microsoft.com/office/drawing/2014/main" id="{865636D5-76D5-5B52-4C46-91F11CE9F505}"/>
              </a:ext>
            </a:extLst>
          </p:cNvPr>
          <p:cNvGraphicFramePr>
            <a:graphicFrameLocks noGrp="1"/>
          </p:cNvGraphicFramePr>
          <p:nvPr>
            <p:ph idx="1"/>
          </p:nvPr>
        </p:nvGraphicFramePr>
        <p:xfrm>
          <a:off x="457200" y="1543050"/>
          <a:ext cx="8229600" cy="4505957"/>
        </p:xfrm>
        <a:graphic>
          <a:graphicData uri="http://schemas.openxmlformats.org/drawingml/2006/table">
            <a:tbl>
              <a:tblPr firstRow="1" bandRow="1">
                <a:tableStyleId>{073A0DAA-6AF3-43AB-8588-CEC1D06C72B9}</a:tableStyleId>
              </a:tblPr>
              <a:tblGrid>
                <a:gridCol w="2057400">
                  <a:extLst>
                    <a:ext uri="{9D8B030D-6E8A-4147-A177-3AD203B41FA5}">
                      <a16:colId xmlns:a16="http://schemas.microsoft.com/office/drawing/2014/main" val="2093194927"/>
                    </a:ext>
                  </a:extLst>
                </a:gridCol>
                <a:gridCol w="2057400">
                  <a:extLst>
                    <a:ext uri="{9D8B030D-6E8A-4147-A177-3AD203B41FA5}">
                      <a16:colId xmlns:a16="http://schemas.microsoft.com/office/drawing/2014/main" val="3953143173"/>
                    </a:ext>
                  </a:extLst>
                </a:gridCol>
                <a:gridCol w="2057400">
                  <a:extLst>
                    <a:ext uri="{9D8B030D-6E8A-4147-A177-3AD203B41FA5}">
                      <a16:colId xmlns:a16="http://schemas.microsoft.com/office/drawing/2014/main" val="4278839843"/>
                    </a:ext>
                  </a:extLst>
                </a:gridCol>
                <a:gridCol w="2057400">
                  <a:extLst>
                    <a:ext uri="{9D8B030D-6E8A-4147-A177-3AD203B41FA5}">
                      <a16:colId xmlns:a16="http://schemas.microsoft.com/office/drawing/2014/main" val="1964015805"/>
                    </a:ext>
                  </a:extLst>
                </a:gridCol>
              </a:tblGrid>
              <a:tr h="370840">
                <a:tc>
                  <a:txBody>
                    <a:bodyPr/>
                    <a:lstStyle/>
                    <a:p>
                      <a:r>
                        <a:rPr lang="en-US" dirty="0"/>
                        <a:t>HQ</a:t>
                      </a:r>
                    </a:p>
                  </a:txBody>
                  <a:tcPr/>
                </a:tc>
                <a:tc>
                  <a:txBody>
                    <a:bodyPr/>
                    <a:lstStyle/>
                    <a:p>
                      <a:pPr lvl="0">
                        <a:buNone/>
                      </a:pPr>
                      <a:r>
                        <a:rPr lang="en-US" dirty="0"/>
                        <a:t>ME 1</a:t>
                      </a:r>
                    </a:p>
                  </a:txBody>
                  <a:tcPr/>
                </a:tc>
                <a:tc>
                  <a:txBody>
                    <a:bodyPr/>
                    <a:lstStyle/>
                    <a:p>
                      <a:r>
                        <a:rPr lang="en-US" dirty="0"/>
                        <a:t>ME 2</a:t>
                      </a:r>
                    </a:p>
                  </a:txBody>
                  <a:tcPr/>
                </a:tc>
                <a:tc>
                  <a:txBody>
                    <a:bodyPr/>
                    <a:lstStyle/>
                    <a:p>
                      <a:pPr lvl="0">
                        <a:buNone/>
                      </a:pPr>
                      <a:r>
                        <a:rPr lang="en-US" dirty="0"/>
                        <a:t>SE</a:t>
                      </a:r>
                    </a:p>
                  </a:txBody>
                  <a:tcPr/>
                </a:tc>
                <a:extLst>
                  <a:ext uri="{0D108BD9-81ED-4DB2-BD59-A6C34878D82A}">
                    <a16:rowId xmlns:a16="http://schemas.microsoft.com/office/drawing/2014/main" val="3766304310"/>
                  </a:ext>
                </a:extLst>
              </a:tr>
              <a:tr h="370840">
                <a:tc>
                  <a:txBody>
                    <a:bodyPr/>
                    <a:lstStyle/>
                    <a:p>
                      <a:r>
                        <a:rPr lang="en-US" sz="1100" b="1" dirty="0"/>
                        <a:t>MAJ Richard Meehan</a:t>
                      </a:r>
                    </a:p>
                  </a:txBody>
                  <a:tcPr/>
                </a:tc>
                <a:tc>
                  <a:txBody>
                    <a:bodyPr/>
                    <a:lstStyle/>
                    <a:p>
                      <a:r>
                        <a:rPr lang="en-US" sz="1100" b="1" dirty="0"/>
                        <a:t>1LT Jack Molloy</a:t>
                      </a:r>
                    </a:p>
                  </a:txBody>
                  <a:tcPr/>
                </a:tc>
                <a:tc>
                  <a:txBody>
                    <a:bodyPr/>
                    <a:lstStyle/>
                    <a:p>
                      <a:pPr lvl="0">
                        <a:buNone/>
                      </a:pPr>
                      <a:r>
                        <a:rPr lang="en-US" sz="1100" b="1" i="0" u="none" strike="noStrike" noProof="0" dirty="0">
                          <a:latin typeface="Arial"/>
                        </a:rPr>
                        <a:t>1LT Brian Gifford</a:t>
                      </a:r>
                      <a:endParaRPr lang="en-US" sz="1100" b="1"/>
                    </a:p>
                  </a:txBody>
                  <a:tcPr/>
                </a:tc>
                <a:tc>
                  <a:txBody>
                    <a:bodyPr/>
                    <a:lstStyle/>
                    <a:p>
                      <a:pPr lvl="0">
                        <a:buNone/>
                      </a:pPr>
                      <a:r>
                        <a:rPr lang="en-US" sz="1100" b="1" dirty="0"/>
                        <a:t>CPT James </a:t>
                      </a:r>
                      <a:r>
                        <a:rPr lang="en-US" sz="1100" b="1" dirty="0" err="1"/>
                        <a:t>Pistell</a:t>
                      </a:r>
                    </a:p>
                  </a:txBody>
                  <a:tcPr/>
                </a:tc>
                <a:extLst>
                  <a:ext uri="{0D108BD9-81ED-4DB2-BD59-A6C34878D82A}">
                    <a16:rowId xmlns:a16="http://schemas.microsoft.com/office/drawing/2014/main" val="4276682309"/>
                  </a:ext>
                </a:extLst>
              </a:tr>
              <a:tr h="370840">
                <a:tc>
                  <a:txBody>
                    <a:bodyPr/>
                    <a:lstStyle/>
                    <a:p>
                      <a:r>
                        <a:rPr lang="en-US" sz="1100" dirty="0"/>
                        <a:t>CPT William Mackey</a:t>
                      </a:r>
                    </a:p>
                  </a:txBody>
                  <a:tcPr/>
                </a:tc>
                <a:tc>
                  <a:txBody>
                    <a:bodyPr/>
                    <a:lstStyle/>
                    <a:p>
                      <a:pPr lvl="0">
                        <a:buNone/>
                      </a:pPr>
                      <a:r>
                        <a:rPr lang="en-US" sz="1100" b="0" i="0" u="none" strike="noStrike" noProof="0" dirty="0">
                          <a:latin typeface="Arial"/>
                        </a:rPr>
                        <a:t>CW3 Daniel Smith</a:t>
                      </a:r>
                      <a:endParaRPr lang="en-US" sz="1100" dirty="0"/>
                    </a:p>
                  </a:txBody>
                  <a:tcPr/>
                </a:tc>
                <a:tc>
                  <a:txBody>
                    <a:bodyPr/>
                    <a:lstStyle/>
                    <a:p>
                      <a:pPr lvl="0" algn="l">
                        <a:lnSpc>
                          <a:spcPct val="100000"/>
                        </a:lnSpc>
                        <a:spcBef>
                          <a:spcPts val="0"/>
                        </a:spcBef>
                        <a:spcAft>
                          <a:spcPts val="0"/>
                        </a:spcAft>
                        <a:buNone/>
                      </a:pPr>
                      <a:r>
                        <a:rPr lang="en-US" sz="1100" b="0" i="0" u="none" strike="noStrike" noProof="0" dirty="0"/>
                        <a:t>CW3 Pedro Dominguez</a:t>
                      </a:r>
                      <a:endParaRPr lang="en-US"/>
                    </a:p>
                  </a:txBody>
                  <a:tcPr/>
                </a:tc>
                <a:tc>
                  <a:txBody>
                    <a:bodyPr/>
                    <a:lstStyle/>
                    <a:p>
                      <a:pPr lvl="0">
                        <a:buNone/>
                      </a:pPr>
                      <a:r>
                        <a:rPr lang="en-US" sz="1100" dirty="0"/>
                        <a:t>CW3 Wade Gettle</a:t>
                      </a:r>
                    </a:p>
                  </a:txBody>
                  <a:tcPr/>
                </a:tc>
                <a:extLst>
                  <a:ext uri="{0D108BD9-81ED-4DB2-BD59-A6C34878D82A}">
                    <a16:rowId xmlns:a16="http://schemas.microsoft.com/office/drawing/2014/main" val="933546506"/>
                  </a:ext>
                </a:extLst>
              </a:tr>
              <a:tr h="370840">
                <a:tc>
                  <a:txBody>
                    <a:bodyPr/>
                    <a:lstStyle/>
                    <a:p>
                      <a:pPr lvl="0">
                        <a:buNone/>
                      </a:pPr>
                      <a:r>
                        <a:rPr lang="en-US" sz="1100" b="0" i="0" u="none" strike="noStrike" noProof="0" dirty="0">
                          <a:latin typeface="Arial"/>
                        </a:rPr>
                        <a:t>1LT Bryan Cunningham</a:t>
                      </a:r>
                      <a:endParaRPr lang="en-US" b="0" dirty="0"/>
                    </a:p>
                  </a:txBody>
                  <a:tcPr/>
                </a:tc>
                <a:tc>
                  <a:txBody>
                    <a:bodyPr/>
                    <a:lstStyle/>
                    <a:p>
                      <a:pPr lvl="0" algn="l">
                        <a:lnSpc>
                          <a:spcPct val="100000"/>
                        </a:lnSpc>
                        <a:spcBef>
                          <a:spcPts val="0"/>
                        </a:spcBef>
                        <a:spcAft>
                          <a:spcPts val="0"/>
                        </a:spcAft>
                        <a:buNone/>
                      </a:pPr>
                      <a:r>
                        <a:rPr lang="en-US" sz="1100" b="0" i="0" u="none" strike="noStrike" noProof="0" dirty="0"/>
                        <a:t>CW2 Neff Stokes</a:t>
                      </a:r>
                    </a:p>
                  </a:txBody>
                  <a:tcPr/>
                </a:tc>
                <a:tc>
                  <a:txBody>
                    <a:bodyPr/>
                    <a:lstStyle/>
                    <a:p>
                      <a:pPr lvl="0" algn="l">
                        <a:lnSpc>
                          <a:spcPct val="100000"/>
                        </a:lnSpc>
                        <a:spcBef>
                          <a:spcPts val="0"/>
                        </a:spcBef>
                        <a:spcAft>
                          <a:spcPts val="0"/>
                        </a:spcAft>
                        <a:buNone/>
                      </a:pPr>
                      <a:r>
                        <a:rPr lang="en-US" sz="1100" b="0" i="0" u="none" strike="noStrike" noProof="0" dirty="0"/>
                        <a:t>CW2 Bryan </a:t>
                      </a:r>
                      <a:r>
                        <a:rPr lang="en-US" sz="1100" b="0" i="0" u="none" strike="noStrike" noProof="0" dirty="0" err="1"/>
                        <a:t>Wagonseller</a:t>
                      </a:r>
                      <a:endParaRPr lang="en-US"/>
                    </a:p>
                  </a:txBody>
                  <a:tcPr/>
                </a:tc>
                <a:tc>
                  <a:txBody>
                    <a:bodyPr/>
                    <a:lstStyle/>
                    <a:p>
                      <a:pPr lvl="0" algn="l">
                        <a:lnSpc>
                          <a:spcPct val="100000"/>
                        </a:lnSpc>
                        <a:spcBef>
                          <a:spcPts val="0"/>
                        </a:spcBef>
                        <a:spcAft>
                          <a:spcPts val="0"/>
                        </a:spcAft>
                        <a:buNone/>
                      </a:pPr>
                      <a:r>
                        <a:rPr lang="en-US" sz="1100" b="0" i="0" u="none" strike="noStrike" noProof="0" dirty="0"/>
                        <a:t>CW2 Antonio Prada</a:t>
                      </a:r>
                    </a:p>
                    <a:p>
                      <a:pPr lvl="0">
                        <a:buNone/>
                      </a:pPr>
                      <a:endParaRPr lang="en-US" sz="1100" b="0" i="0" u="none" strike="noStrike" noProof="0" dirty="0">
                        <a:latin typeface="Arial"/>
                      </a:endParaRPr>
                    </a:p>
                  </a:txBody>
                  <a:tcPr/>
                </a:tc>
                <a:extLst>
                  <a:ext uri="{0D108BD9-81ED-4DB2-BD59-A6C34878D82A}">
                    <a16:rowId xmlns:a16="http://schemas.microsoft.com/office/drawing/2014/main" val="2725211658"/>
                  </a:ext>
                </a:extLst>
              </a:tr>
              <a:tr h="370840">
                <a:tc>
                  <a:txBody>
                    <a:bodyPr/>
                    <a:lstStyle/>
                    <a:p>
                      <a:pPr lvl="0">
                        <a:buNone/>
                      </a:pPr>
                      <a:r>
                        <a:rPr lang="en-US" sz="1100" dirty="0"/>
                        <a:t>CW3 Robert </a:t>
                      </a:r>
                      <a:r>
                        <a:rPr lang="en-US" sz="1100" dirty="0" err="1"/>
                        <a:t>Brudnock</a:t>
                      </a:r>
                      <a:endParaRPr lang="en-US"/>
                    </a:p>
                  </a:txBody>
                  <a:tcPr/>
                </a:tc>
                <a:tc>
                  <a:txBody>
                    <a:bodyPr/>
                    <a:lstStyle/>
                    <a:p>
                      <a:pPr lvl="0">
                        <a:buNone/>
                      </a:pPr>
                      <a:r>
                        <a:rPr lang="en-US" sz="1100" b="0" i="0" u="none" strike="noStrike" noProof="0" dirty="0">
                          <a:latin typeface="Arial"/>
                        </a:rPr>
                        <a:t>SSG Waylon Gomme</a:t>
                      </a:r>
                      <a:endParaRPr lang="en-US" dirty="0"/>
                    </a:p>
                  </a:txBody>
                  <a:tcPr/>
                </a:tc>
                <a:tc>
                  <a:txBody>
                    <a:bodyPr/>
                    <a:lstStyle/>
                    <a:p>
                      <a:pPr lvl="0" algn="l">
                        <a:lnSpc>
                          <a:spcPct val="100000"/>
                        </a:lnSpc>
                        <a:spcBef>
                          <a:spcPts val="0"/>
                        </a:spcBef>
                        <a:spcAft>
                          <a:spcPts val="0"/>
                        </a:spcAft>
                        <a:buNone/>
                      </a:pPr>
                      <a:r>
                        <a:rPr lang="en-US" sz="1100" b="0" i="0" u="none" strike="noStrike" noProof="0" dirty="0"/>
                        <a:t>SFC Carlos Johnson</a:t>
                      </a:r>
                      <a:endParaRPr lang="en-US" dirty="0"/>
                    </a:p>
                  </a:txBody>
                  <a:tcPr/>
                </a:tc>
                <a:tc>
                  <a:txBody>
                    <a:bodyPr/>
                    <a:lstStyle/>
                    <a:p>
                      <a:pPr lvl="0">
                        <a:buNone/>
                      </a:pPr>
                      <a:r>
                        <a:rPr lang="en-US" sz="1100" b="0" i="0" u="none" strike="noStrike" noProof="0" dirty="0">
                          <a:latin typeface="Arial"/>
                        </a:rPr>
                        <a:t>SSG Corina Encarnacion</a:t>
                      </a:r>
                      <a:endParaRPr lang="en-US" dirty="0"/>
                    </a:p>
                  </a:txBody>
                  <a:tcPr/>
                </a:tc>
                <a:extLst>
                  <a:ext uri="{0D108BD9-81ED-4DB2-BD59-A6C34878D82A}">
                    <a16:rowId xmlns:a16="http://schemas.microsoft.com/office/drawing/2014/main" val="2484267152"/>
                  </a:ext>
                </a:extLst>
              </a:tr>
              <a:tr h="370840">
                <a:tc>
                  <a:txBody>
                    <a:bodyPr/>
                    <a:lstStyle/>
                    <a:p>
                      <a:pPr lvl="0">
                        <a:buNone/>
                      </a:pPr>
                      <a:r>
                        <a:rPr lang="en-US" sz="1100" dirty="0"/>
                        <a:t>MSG Jody </a:t>
                      </a:r>
                      <a:r>
                        <a:rPr lang="en-US" sz="1100" dirty="0" err="1"/>
                        <a:t>Dorhety</a:t>
                      </a:r>
                      <a:endParaRPr lang="en-US"/>
                    </a:p>
                  </a:txBody>
                  <a:tcPr/>
                </a:tc>
                <a:tc>
                  <a:txBody>
                    <a:bodyPr/>
                    <a:lstStyle/>
                    <a:p>
                      <a:pPr lvl="0">
                        <a:buNone/>
                      </a:pPr>
                      <a:r>
                        <a:rPr lang="en-US" sz="1100" b="0" i="0" u="none" strike="noStrike" noProof="0" dirty="0">
                          <a:latin typeface="Arial"/>
                        </a:rPr>
                        <a:t>SSG Jeffrey Lam</a:t>
                      </a:r>
                      <a:endParaRPr lang="en-US" dirty="0"/>
                    </a:p>
                  </a:txBody>
                  <a:tcPr/>
                </a:tc>
                <a:tc>
                  <a:txBody>
                    <a:bodyPr/>
                    <a:lstStyle/>
                    <a:p>
                      <a:pPr lvl="0" algn="l">
                        <a:lnSpc>
                          <a:spcPct val="100000"/>
                        </a:lnSpc>
                        <a:spcBef>
                          <a:spcPts val="0"/>
                        </a:spcBef>
                        <a:spcAft>
                          <a:spcPts val="0"/>
                        </a:spcAft>
                        <a:buNone/>
                      </a:pPr>
                      <a:r>
                        <a:rPr lang="en-US" sz="1100" b="0" i="0" u="none" strike="noStrike" noProof="0" dirty="0">
                          <a:latin typeface="Arial"/>
                        </a:rPr>
                        <a:t>SGT Matthew Ryan</a:t>
                      </a:r>
                      <a:endParaRPr lang="en-US" dirty="0"/>
                    </a:p>
                  </a:txBody>
                  <a:tcPr/>
                </a:tc>
                <a:tc>
                  <a:txBody>
                    <a:bodyPr/>
                    <a:lstStyle/>
                    <a:p>
                      <a:pPr lvl="0">
                        <a:buNone/>
                      </a:pPr>
                      <a:r>
                        <a:rPr lang="en-US" sz="1100" b="0" i="0" u="none" strike="noStrike" noProof="0" dirty="0">
                          <a:latin typeface="Arial"/>
                        </a:rPr>
                        <a:t>SGT Erik Holst</a:t>
                      </a:r>
                      <a:endParaRPr lang="en-US" dirty="0"/>
                    </a:p>
                  </a:txBody>
                  <a:tcPr/>
                </a:tc>
                <a:extLst>
                  <a:ext uri="{0D108BD9-81ED-4DB2-BD59-A6C34878D82A}">
                    <a16:rowId xmlns:a16="http://schemas.microsoft.com/office/drawing/2014/main" val="2728294082"/>
                  </a:ext>
                </a:extLst>
              </a:tr>
              <a:tr h="370840">
                <a:tc>
                  <a:txBody>
                    <a:bodyPr/>
                    <a:lstStyle/>
                    <a:p>
                      <a:endParaRPr lang="en-US" sz="1100" dirty="0"/>
                    </a:p>
                  </a:txBody>
                  <a:tcPr/>
                </a:tc>
                <a:tc>
                  <a:txBody>
                    <a:bodyPr/>
                    <a:lstStyle/>
                    <a:p>
                      <a:pPr lvl="0">
                        <a:buNone/>
                      </a:pPr>
                      <a:r>
                        <a:rPr lang="en-US" sz="1100" b="0" i="0" u="none" strike="noStrike" noProof="0" dirty="0"/>
                        <a:t>CW3 Brian McLeod</a:t>
                      </a:r>
                      <a:endParaRPr lang="en-US"/>
                    </a:p>
                  </a:txBody>
                  <a:tcPr/>
                </a:tc>
                <a:tc>
                  <a:txBody>
                    <a:bodyPr/>
                    <a:lstStyle/>
                    <a:p>
                      <a:pPr lvl="0" algn="l">
                        <a:lnSpc>
                          <a:spcPct val="100000"/>
                        </a:lnSpc>
                        <a:spcBef>
                          <a:spcPts val="0"/>
                        </a:spcBef>
                        <a:spcAft>
                          <a:spcPts val="0"/>
                        </a:spcAft>
                        <a:buNone/>
                      </a:pPr>
                      <a:endParaRPr lang="en-US" sz="1100" b="0" i="0" u="none" strike="noStrike" noProof="0" dirty="0">
                        <a:latin typeface="Arial"/>
                      </a:endParaRPr>
                    </a:p>
                  </a:txBody>
                  <a:tcPr/>
                </a:tc>
                <a:tc>
                  <a:txBody>
                    <a:bodyPr/>
                    <a:lstStyle/>
                    <a:p>
                      <a:pPr lvl="0">
                        <a:buNone/>
                      </a:pPr>
                      <a:r>
                        <a:rPr lang="en-US" sz="1100" b="0" i="0" u="none" strike="noStrike" noProof="0" dirty="0">
                          <a:latin typeface="Arial"/>
                        </a:rPr>
                        <a:t>SGT Naquan Walton</a:t>
                      </a:r>
                      <a:endParaRPr lang="en-US" dirty="0"/>
                    </a:p>
                  </a:txBody>
                  <a:tcPr/>
                </a:tc>
                <a:extLst>
                  <a:ext uri="{0D108BD9-81ED-4DB2-BD59-A6C34878D82A}">
                    <a16:rowId xmlns:a16="http://schemas.microsoft.com/office/drawing/2014/main" val="418886535"/>
                  </a:ext>
                </a:extLst>
              </a:tr>
              <a:tr h="370840">
                <a:tc>
                  <a:txBody>
                    <a:bodyPr/>
                    <a:lstStyle/>
                    <a:p>
                      <a:endParaRPr lang="en-US" sz="1100" dirty="0"/>
                    </a:p>
                  </a:txBody>
                  <a:tcPr/>
                </a:tc>
                <a:tc>
                  <a:txBody>
                    <a:bodyPr/>
                    <a:lstStyle/>
                    <a:p>
                      <a:pPr lvl="0">
                        <a:buNone/>
                      </a:pPr>
                      <a:r>
                        <a:rPr lang="en-US" sz="1100" b="0" i="0" u="none" strike="noStrike" noProof="0" dirty="0">
                          <a:latin typeface="Arial"/>
                        </a:rPr>
                        <a:t>CW3 Nicholas Benedetti</a:t>
                      </a:r>
                      <a:endParaRPr lang="en-US"/>
                    </a:p>
                  </a:txBody>
                  <a:tcPr/>
                </a:tc>
                <a:tc>
                  <a:txBody>
                    <a:bodyPr/>
                    <a:lstStyle/>
                    <a:p>
                      <a:pPr lvl="0">
                        <a:buNone/>
                      </a:pPr>
                      <a:endParaRPr lang="en-US" sz="1100" b="0" i="0" u="none" strike="noStrike" noProof="0" dirty="0">
                        <a:latin typeface="Arial"/>
                      </a:endParaRPr>
                    </a:p>
                  </a:txBody>
                  <a:tcPr/>
                </a:tc>
                <a:tc>
                  <a:txBody>
                    <a:bodyPr/>
                    <a:lstStyle/>
                    <a:p>
                      <a:pPr lvl="0">
                        <a:buNone/>
                      </a:pPr>
                      <a:endParaRPr lang="en-US" sz="1100" dirty="0"/>
                    </a:p>
                  </a:txBody>
                  <a:tcPr/>
                </a:tc>
                <a:extLst>
                  <a:ext uri="{0D108BD9-81ED-4DB2-BD59-A6C34878D82A}">
                    <a16:rowId xmlns:a16="http://schemas.microsoft.com/office/drawing/2014/main" val="1914711543"/>
                  </a:ext>
                </a:extLst>
              </a:tr>
              <a:tr h="370840">
                <a:tc>
                  <a:txBody>
                    <a:bodyPr/>
                    <a:lstStyle/>
                    <a:p>
                      <a:endParaRPr lang="en-US" sz="1100" dirty="0"/>
                    </a:p>
                  </a:txBody>
                  <a:tcPr/>
                </a:tc>
                <a:tc>
                  <a:txBody>
                    <a:bodyPr/>
                    <a:lstStyle/>
                    <a:p>
                      <a:pPr lvl="0">
                        <a:buNone/>
                      </a:pPr>
                      <a:r>
                        <a:rPr lang="en-US" sz="1100" b="0" i="0" u="none" strike="noStrike" noProof="0" dirty="0">
                          <a:latin typeface="Arial"/>
                        </a:rPr>
                        <a:t>SGT Randy Sweet</a:t>
                      </a:r>
                      <a:endParaRPr lang="en-US"/>
                    </a:p>
                  </a:txBody>
                  <a:tcPr/>
                </a:tc>
                <a:tc>
                  <a:txBody>
                    <a:bodyPr/>
                    <a:lstStyle/>
                    <a:p>
                      <a:pPr lvl="0">
                        <a:buNone/>
                      </a:pPr>
                      <a:endParaRPr lang="en-US" sz="1100" b="0" i="0" u="none" strike="noStrike" noProof="0" dirty="0">
                        <a:latin typeface="Arial"/>
                      </a:endParaRPr>
                    </a:p>
                  </a:txBody>
                  <a:tcPr/>
                </a:tc>
                <a:tc>
                  <a:txBody>
                    <a:bodyPr/>
                    <a:lstStyle/>
                    <a:p>
                      <a:pPr lvl="0">
                        <a:buNone/>
                      </a:pPr>
                      <a:endParaRPr lang="en-US" sz="1100" dirty="0"/>
                    </a:p>
                  </a:txBody>
                  <a:tcPr/>
                </a:tc>
                <a:extLst>
                  <a:ext uri="{0D108BD9-81ED-4DB2-BD59-A6C34878D82A}">
                    <a16:rowId xmlns:a16="http://schemas.microsoft.com/office/drawing/2014/main" val="183891301"/>
                  </a:ext>
                </a:extLst>
              </a:tr>
              <a:tr h="370840">
                <a:tc>
                  <a:txBody>
                    <a:bodyPr/>
                    <a:lstStyle/>
                    <a:p>
                      <a:endParaRPr lang="en-US" sz="1100" dirty="0"/>
                    </a:p>
                  </a:txBody>
                  <a:tcPr/>
                </a:tc>
                <a:tc>
                  <a:txBody>
                    <a:bodyPr/>
                    <a:lstStyle/>
                    <a:p>
                      <a:pPr lvl="0">
                        <a:buNone/>
                      </a:pPr>
                      <a:r>
                        <a:rPr lang="en-US" sz="1100" b="0" i="0" u="none" strike="noStrike" noProof="0" dirty="0">
                          <a:latin typeface="Arial"/>
                        </a:rPr>
                        <a:t>SSG Kevin Piwowarczyk</a:t>
                      </a:r>
                      <a:endParaRPr lang="en-US"/>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1681145766"/>
                  </a:ext>
                </a:extLst>
              </a:tr>
              <a:tr h="370839">
                <a:tc>
                  <a:txBody>
                    <a:bodyPr/>
                    <a:lstStyle/>
                    <a:p>
                      <a:pPr lvl="0">
                        <a:buNone/>
                      </a:pPr>
                      <a:endParaRPr lang="en-US" sz="1100" dirty="0"/>
                    </a:p>
                  </a:txBody>
                  <a:tcPr/>
                </a:tc>
                <a:tc>
                  <a:txBody>
                    <a:bodyPr/>
                    <a:lstStyle/>
                    <a:p>
                      <a:pPr lvl="0">
                        <a:buNone/>
                      </a:pPr>
                      <a:r>
                        <a:rPr lang="en-US" sz="1100" b="0" i="0" u="none" strike="noStrike" noProof="0" dirty="0">
                          <a:latin typeface="Arial"/>
                        </a:rPr>
                        <a:t>SPC Miles Gaitan</a:t>
                      </a:r>
                      <a:endParaRPr lang="en-US" sz="1100" b="0" i="0" u="none" strike="noStrike" noProof="0" dirty="0"/>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3936638918"/>
                  </a:ext>
                </a:extLst>
              </a:tr>
              <a:tr h="370838">
                <a:tc>
                  <a:txBody>
                    <a:bodyPr/>
                    <a:lstStyle/>
                    <a:p>
                      <a:pPr lvl="0">
                        <a:buNone/>
                      </a:pPr>
                      <a:endParaRPr lang="en-US" sz="1100" dirty="0"/>
                    </a:p>
                  </a:txBody>
                  <a:tcPr/>
                </a:tc>
                <a:tc>
                  <a:txBody>
                    <a:bodyPr/>
                    <a:lstStyle/>
                    <a:p>
                      <a:pPr lvl="0">
                        <a:buNone/>
                      </a:pPr>
                      <a:endParaRPr lang="en-US" sz="1100" b="0" i="0" u="none" strike="noStrike" noProof="0" dirty="0">
                        <a:latin typeface="Arial"/>
                      </a:endParaRPr>
                    </a:p>
                  </a:txBody>
                  <a:tcPr/>
                </a:tc>
                <a:tc>
                  <a:txBody>
                    <a:bodyPr/>
                    <a:lstStyle/>
                    <a:p>
                      <a:pPr lvl="0">
                        <a:buNone/>
                      </a:pPr>
                      <a:endParaRPr lang="en-US" sz="1100" dirty="0"/>
                    </a:p>
                  </a:txBody>
                  <a:tcPr/>
                </a:tc>
                <a:tc>
                  <a:txBody>
                    <a:bodyPr/>
                    <a:lstStyle/>
                    <a:p>
                      <a:pPr lvl="0">
                        <a:buNone/>
                      </a:pPr>
                      <a:endParaRPr lang="en-US" sz="1100" dirty="0"/>
                    </a:p>
                  </a:txBody>
                  <a:tcPr/>
                </a:tc>
                <a:extLst>
                  <a:ext uri="{0D108BD9-81ED-4DB2-BD59-A6C34878D82A}">
                    <a16:rowId xmlns:a16="http://schemas.microsoft.com/office/drawing/2014/main" val="2394995951"/>
                  </a:ext>
                </a:extLst>
              </a:tr>
            </a:tbl>
          </a:graphicData>
        </a:graphic>
      </p:graphicFrame>
    </p:spTree>
    <p:extLst>
      <p:ext uri="{BB962C8B-B14F-4D97-AF65-F5344CB8AC3E}">
        <p14:creationId xmlns:p14="http://schemas.microsoft.com/office/powerpoint/2010/main" val="37064572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defRPr/>
            </a:pPr>
            <a:r>
              <a:rPr lang="en-US" dirty="0"/>
              <a:t>Initial Risk Assessment</a:t>
            </a:r>
          </a:p>
        </p:txBody>
      </p:sp>
      <p:sp>
        <p:nvSpPr>
          <p:cNvPr id="26629" name="Rectangle 3"/>
          <p:cNvSpPr>
            <a:spLocks noGrp="1" noChangeArrowheads="1"/>
          </p:cNvSpPr>
          <p:nvPr>
            <p:ph type="body" idx="1"/>
          </p:nvPr>
        </p:nvSpPr>
        <p:spPr/>
        <p:txBody>
          <a:bodyPr/>
          <a:lstStyle/>
          <a:p>
            <a:pPr eaLnBrk="1" hangingPunct="1"/>
            <a:endParaRPr lang="en-US" dirty="0"/>
          </a:p>
          <a:p>
            <a:pPr eaLnBrk="1" hangingPunct="1"/>
            <a:endParaRPr lang="en-US" dirty="0"/>
          </a:p>
          <a:p>
            <a:pPr eaLnBrk="1" hangingPunct="1"/>
            <a:endParaRPr lang="en-US" dirty="0"/>
          </a:p>
          <a:p>
            <a:pPr eaLnBrk="1" hangingPunct="1"/>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defRPr/>
            </a:pPr>
            <a:r>
              <a:rPr lang="en-US" dirty="0"/>
              <a:t>Proposed CCIRs</a:t>
            </a:r>
          </a:p>
        </p:txBody>
      </p:sp>
      <p:sp>
        <p:nvSpPr>
          <p:cNvPr id="27653" name="Rectangle 3"/>
          <p:cNvSpPr>
            <a:spLocks noGrp="1" noChangeArrowheads="1"/>
          </p:cNvSpPr>
          <p:nvPr>
            <p:ph type="body" idx="1"/>
          </p:nvPr>
        </p:nvSpPr>
        <p:spPr/>
        <p:txBody>
          <a:bodyPr/>
          <a:lstStyle/>
          <a:p>
            <a:pPr eaLnBrk="1" hangingPunct="1"/>
            <a:r>
              <a:rPr lang="en-US" dirty="0"/>
              <a:t>PIR</a:t>
            </a:r>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r>
              <a:rPr lang="en-US" dirty="0"/>
              <a:t>FFIR</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defRPr/>
            </a:pPr>
            <a:r>
              <a:rPr lang="en-US" dirty="0"/>
              <a:t>Proposed EEFIs</a:t>
            </a:r>
          </a:p>
        </p:txBody>
      </p:sp>
      <p:sp>
        <p:nvSpPr>
          <p:cNvPr id="27653" name="Rectangle 3"/>
          <p:cNvSpPr>
            <a:spLocks noGrp="1" noChangeArrowheads="1"/>
          </p:cNvSpPr>
          <p:nvPr>
            <p:ph type="body" idx="1"/>
          </p:nvPr>
        </p:nvSpPr>
        <p:spPr/>
        <p:txBody>
          <a:bodyPr/>
          <a:lstStyle/>
          <a:p>
            <a:pPr eaLnBrk="1" hangingPunct="1"/>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defRPr/>
            </a:pPr>
            <a:r>
              <a:rPr lang="en-US" sz="3200" dirty="0"/>
              <a:t>Initial Information Collection Plan</a:t>
            </a:r>
            <a:endParaRPr lang="en-US" sz="3200">
              <a:cs typeface="Arial"/>
            </a:endParaRPr>
          </a:p>
        </p:txBody>
      </p:sp>
      <p:sp>
        <p:nvSpPr>
          <p:cNvPr id="29701" name="Rectangle 3"/>
          <p:cNvSpPr>
            <a:spLocks noGrp="1" noChangeArrowheads="1"/>
          </p:cNvSpPr>
          <p:nvPr>
            <p:ph type="body" idx="1"/>
          </p:nvPr>
        </p:nvSpPr>
        <p:spPr/>
        <p:txBody>
          <a:bodyPr/>
          <a:lstStyle/>
          <a:p>
            <a:pPr marL="290830" indent="-290830" eaLnBrk="1" hangingPunct="1"/>
            <a:r>
              <a:rPr lang="en-US" sz="1800" dirty="0">
                <a:cs typeface="Arial"/>
              </a:rPr>
              <a:t>What is this?????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342900" y="217675"/>
            <a:ext cx="8230054" cy="1143000"/>
          </a:xfrm>
        </p:spPr>
        <p:txBody>
          <a:bodyPr/>
          <a:lstStyle/>
          <a:p>
            <a:pPr eaLnBrk="1" hangingPunct="1">
              <a:defRPr/>
            </a:pPr>
            <a:r>
              <a:rPr lang="en-US" sz="3600" dirty="0"/>
              <a:t>Proposed Commander’s Intent</a:t>
            </a:r>
          </a:p>
        </p:txBody>
      </p:sp>
      <p:sp>
        <p:nvSpPr>
          <p:cNvPr id="31749" name="Rectangle 3"/>
          <p:cNvSpPr>
            <a:spLocks noGrp="1" noChangeArrowheads="1"/>
          </p:cNvSpPr>
          <p:nvPr>
            <p:ph type="body" idx="1"/>
          </p:nvPr>
        </p:nvSpPr>
        <p:spPr/>
        <p:txBody>
          <a:bodyPr/>
          <a:lstStyle/>
          <a:p>
            <a:pPr eaLnBrk="1" hangingPunct="1"/>
            <a:r>
              <a:rPr lang="en-US" sz="1800" dirty="0"/>
              <a:t>Purpose:</a:t>
            </a:r>
          </a:p>
          <a:p>
            <a:pPr eaLnBrk="1" hangingPunct="1"/>
            <a:endParaRPr lang="en-US" sz="1800" dirty="0"/>
          </a:p>
          <a:p>
            <a:pPr eaLnBrk="1" hangingPunct="1"/>
            <a:r>
              <a:rPr lang="en-US" sz="1800" dirty="0"/>
              <a:t>Key Tasks:</a:t>
            </a:r>
          </a:p>
          <a:p>
            <a:pPr eaLnBrk="1" hangingPunct="1"/>
            <a:endParaRPr lang="en-US" sz="1800" dirty="0"/>
          </a:p>
          <a:p>
            <a:pPr eaLnBrk="1" hangingPunct="1"/>
            <a:r>
              <a:rPr lang="en-US" sz="1800" dirty="0"/>
              <a:t>End State:</a:t>
            </a:r>
          </a:p>
          <a:p>
            <a:pPr lvl="1" eaLnBrk="1" hangingPunct="1"/>
            <a:r>
              <a:rPr lang="en-US" sz="1500" dirty="0"/>
              <a:t>Friendly Forces</a:t>
            </a:r>
          </a:p>
          <a:p>
            <a:pPr lvl="1" eaLnBrk="1" hangingPunct="1"/>
            <a:r>
              <a:rPr lang="en-US" sz="1500" dirty="0"/>
              <a:t>Enemy Forces</a:t>
            </a:r>
          </a:p>
          <a:p>
            <a:pPr lvl="1" eaLnBrk="1" hangingPunct="1"/>
            <a:r>
              <a:rPr lang="en-US" sz="1500" dirty="0"/>
              <a:t>Civilian Population</a:t>
            </a:r>
          </a:p>
          <a:p>
            <a:pPr lvl="1" eaLnBrk="1" hangingPunct="1"/>
            <a:r>
              <a:rPr lang="en-US" sz="1500" dirty="0"/>
              <a:t>Terrain</a:t>
            </a:r>
          </a:p>
        </p:txBody>
      </p:sp>
    </p:spTree>
  </p:cSld>
  <p:clrMapOvr>
    <a:masterClrMapping/>
  </p:clrMapOvr>
</p:sld>
</file>

<file path=ppt/theme/theme1.xml><?xml version="1.0" encoding="utf-8"?>
<a:theme xmlns:a="http://schemas.openxmlformats.org/drawingml/2006/main" name="Default Design">
  <a:themeElements>
    <a:clrScheme name="Custom 2">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C0C0C"/>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4DDA97709D05344805E34443243448B" ma:contentTypeVersion="20" ma:contentTypeDescription="Create a new document." ma:contentTypeScope="" ma:versionID="f3cd9781f063ec2fbcdec08a6b045671">
  <xsd:schema xmlns:xsd="http://www.w3.org/2001/XMLSchema" xmlns:xs="http://www.w3.org/2001/XMLSchema" xmlns:p="http://schemas.microsoft.com/office/2006/metadata/properties" xmlns:ns1="http://schemas.microsoft.com/sharepoint/v3" xmlns:ns2="4233fc49-3339-4531-8895-cee7bd229291" xmlns:ns3="c93905bf-b08c-430b-8630-76f4d352397a" targetNamespace="http://schemas.microsoft.com/office/2006/metadata/properties" ma:root="true" ma:fieldsID="06b22dd93cbda5460bbb73725a94cda2" ns1:_="" ns2:_="" ns3:_="">
    <xsd:import namespace="http://schemas.microsoft.com/sharepoint/v3"/>
    <xsd:import namespace="4233fc49-3339-4531-8895-cee7bd229291"/>
    <xsd:import namespace="c93905bf-b08c-430b-8630-76f4d352397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Location" minOccurs="0"/>
                <xsd:element ref="ns2:LOCATION"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33fc49-3339-4531-8895-cee7bd2292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c874fec-6985-468d-9a86-0194f6fd86dc" ma:termSetId="09814cd3-568e-fe90-9814-8d621ff8fb84" ma:anchorId="fba54fb3-c3e1-fe81-a776-ca4b69148c4d" ma:open="true" ma:isKeyword="false">
      <xsd:complexType>
        <xsd:sequence>
          <xsd:element ref="pc:Terms" minOccurs="0" maxOccurs="1"/>
        </xsd:sequence>
      </xsd:complexType>
    </xsd:element>
    <xsd:element name="MediaServiceLocation" ma:index="21" nillable="true" ma:displayName="Location" ma:internalName="MediaServiceLocation" ma:readOnly="true">
      <xsd:simpleType>
        <xsd:restriction base="dms:Text"/>
      </xsd:simpleType>
    </xsd:element>
    <xsd:element name="LOCATION" ma:index="22" nillable="true" ma:displayName="LOCATION" ma:format="Dropdown" ma:list="4233fc49-3339-4531-8895-cee7bd229291" ma:internalName="LOCATION" ma:showField="MediaServiceLocation">
      <xsd:simpleType>
        <xsd:restriction base="dms:Lookup"/>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3905bf-b08c-430b-8630-76f4d352397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c0c2f629-a5d3-4ee6-9d81-269edd5463ca}" ma:internalName="TaxCatchAll" ma:showField="CatchAllData" ma:web="c93905bf-b08c-430b-8630-76f4d352397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233fc49-3339-4531-8895-cee7bd229291">
      <Terms xmlns="http://schemas.microsoft.com/office/infopath/2007/PartnerControls"/>
    </lcf76f155ced4ddcb4097134ff3c332f>
    <_ip_UnifiedCompliancePolicyUIAction xmlns="http://schemas.microsoft.com/sharepoint/v3" xsi:nil="true"/>
    <LOCATION xmlns="4233fc49-3339-4531-8895-cee7bd229291" xsi:nil="true"/>
    <_ip_UnifiedCompliancePolicyProperties xmlns="http://schemas.microsoft.com/sharepoint/v3" xsi:nil="true"/>
    <TaxCatchAll xmlns="c93905bf-b08c-430b-8630-76f4d352397a" xsi:nil="true"/>
  </documentManagement>
</p:properties>
</file>

<file path=customXml/itemProps1.xml><?xml version="1.0" encoding="utf-8"?>
<ds:datastoreItem xmlns:ds="http://schemas.openxmlformats.org/officeDocument/2006/customXml" ds:itemID="{D4826E6C-B861-4060-B148-204439580C0E}">
  <ds:schemaRefs>
    <ds:schemaRef ds:uri="http://schemas.microsoft.com/sharepoint/v3/contenttype/forms"/>
  </ds:schemaRefs>
</ds:datastoreItem>
</file>

<file path=customXml/itemProps2.xml><?xml version="1.0" encoding="utf-8"?>
<ds:datastoreItem xmlns:ds="http://schemas.openxmlformats.org/officeDocument/2006/customXml" ds:itemID="{E644C58E-85CC-4BD2-A3A2-984E4D9787E2}"/>
</file>

<file path=customXml/itemProps3.xml><?xml version="1.0" encoding="utf-8"?>
<ds:datastoreItem xmlns:ds="http://schemas.openxmlformats.org/officeDocument/2006/customXml" ds:itemID="{27201773-DD5E-4DFB-B643-9B800B415EC0}">
  <ds:schemaRefs>
    <ds:schemaRef ds:uri="http://schemas.microsoft.com/office/2006/metadata/properties"/>
    <ds:schemaRef ds:uri="http://schemas.microsoft.com/office/infopath/2007/PartnerControls"/>
    <ds:schemaRef ds:uri="4233fc49-3339-4531-8895-cee7bd229291"/>
    <ds:schemaRef ds:uri="c93905bf-b08c-430b-8630-76f4d352397a"/>
    <ds:schemaRef ds:uri="http://schemas.microsoft.com/sharepoint/v3"/>
  </ds:schemaRefs>
</ds:datastoreItem>
</file>

<file path=docMetadata/LabelInfo.xml><?xml version="1.0" encoding="utf-8"?>
<clbl:labelList xmlns:clbl="http://schemas.microsoft.com/office/2020/mipLabelMetadata">
  <clbl:label id="{554eecc5-e26c-4620-b240-5a8bb326c33d}" enabled="1" method="Privileged" siteId="{fae6d70f-954b-4811-92b6-0530d6f84c43}" contentBits="0" removed="0"/>
</clbl:labelList>
</file>

<file path=docProps/app.xml><?xml version="1.0" encoding="utf-8"?>
<Properties xmlns="http://schemas.openxmlformats.org/officeDocument/2006/extended-properties" xmlns:vt="http://schemas.openxmlformats.org/officeDocument/2006/docPropsVTypes">
  <TotalTime>0</TotalTime>
  <Words>2317</Words>
  <Application>Microsoft Office PowerPoint</Application>
  <PresentationFormat>On-screen Show (4:3)</PresentationFormat>
  <Paragraphs>241</Paragraphs>
  <Slides>84</Slides>
  <Notes>11</Notes>
  <HiddenSlides>16</HiddenSlides>
  <MMClips>0</MMClips>
  <ScaleCrop>false</ScaleCrop>
  <HeadingPairs>
    <vt:vector size="4" baseType="variant">
      <vt:variant>
        <vt:lpstr>Theme</vt:lpstr>
      </vt:variant>
      <vt:variant>
        <vt:i4>1</vt:i4>
      </vt:variant>
      <vt:variant>
        <vt:lpstr>Slide Titles</vt:lpstr>
      </vt:variant>
      <vt:variant>
        <vt:i4>84</vt:i4>
      </vt:variant>
    </vt:vector>
  </HeadingPairs>
  <TitlesOfParts>
    <vt:vector size="85" baseType="lpstr">
      <vt:lpstr>Default Design</vt:lpstr>
      <vt:lpstr>CPT 173 Mission Briefing Template</vt:lpstr>
      <vt:lpstr>Core Tasks</vt:lpstr>
      <vt:lpstr>Planning and Analysis Checklist (fix and fill ALL of them)</vt:lpstr>
      <vt:lpstr>Planning and Analysis Checklist (fix and fill ALL of them)</vt:lpstr>
      <vt:lpstr>Mission Analysis Information</vt:lpstr>
      <vt:lpstr>RFI Tracker</vt:lpstr>
      <vt:lpstr>Mission Analysis Tasks</vt:lpstr>
      <vt:lpstr>Mission Planning Stakeholder Inbrief</vt:lpstr>
      <vt:lpstr>173 CPT Task Organization</vt:lpstr>
      <vt:lpstr>173 CPT Task Organization</vt:lpstr>
      <vt:lpstr>173 CPT Task Organization</vt:lpstr>
      <vt:lpstr>173 CPT Task Organization</vt:lpstr>
      <vt:lpstr>Execution Checklist</vt:lpstr>
      <vt:lpstr>Execution Checklist</vt:lpstr>
      <vt:lpstr>Execution Checklist</vt:lpstr>
      <vt:lpstr>ME Status Report</vt:lpstr>
      <vt:lpstr>Mission Support Required</vt:lpstr>
      <vt:lpstr>Finding x – Details TEMPLATE</vt:lpstr>
      <vt:lpstr>MITRE ATT&amp;CK pt. 1</vt:lpstr>
      <vt:lpstr>MITRE ATT&amp;CK pt. 2</vt:lpstr>
      <vt:lpstr>MITRE ATT&amp;CK pt. 3</vt:lpstr>
      <vt:lpstr>ATT&amp;CK Storyboard &amp; Timeline</vt:lpstr>
      <vt:lpstr>ATT&amp;CK Storyboard &amp; Timeline TEMPLATE</vt:lpstr>
      <vt:lpstr>ATT&amp;CK Storyboard &amp; Timeline</vt:lpstr>
      <vt:lpstr>Response Actions</vt:lpstr>
      <vt:lpstr>Stakeholder Outbrief </vt:lpstr>
      <vt:lpstr>Additional slide templates</vt:lpstr>
      <vt:lpstr>JPP</vt:lpstr>
      <vt:lpstr>Planning Initiation</vt:lpstr>
      <vt:lpstr>Planning Initiation Order Received</vt:lpstr>
      <vt:lpstr>Planning Initiation CDR Intent</vt:lpstr>
      <vt:lpstr>Planning Initiation Task Org and Equipment</vt:lpstr>
      <vt:lpstr>Planning Initiation Key Documents and Equipment</vt:lpstr>
      <vt:lpstr>Planning Initiation Legal Support</vt:lpstr>
      <vt:lpstr>Planning Initiation Issue WARNO to team</vt:lpstr>
      <vt:lpstr>Planning Initiation Partner Engagements</vt:lpstr>
      <vt:lpstr>Mission Analysis Planning Mission Analysis</vt:lpstr>
      <vt:lpstr>Mission Analysis Planning Working Group</vt:lpstr>
      <vt:lpstr>Mission Analysis Frame Problem and Conduct Operational Design</vt:lpstr>
      <vt:lpstr>Mission Analysis Operational Environment</vt:lpstr>
      <vt:lpstr>Mission Analysis Operational Environment</vt:lpstr>
      <vt:lpstr>Mission Analysis Operational Environment</vt:lpstr>
      <vt:lpstr>Mission Analysis Optimal End State</vt:lpstr>
      <vt:lpstr>Mission Analysis Obstacles to End State</vt:lpstr>
      <vt:lpstr>Mission Analysis Obstacles to End State</vt:lpstr>
      <vt:lpstr>Mission Analysis Proposed Mission Statement</vt:lpstr>
      <vt:lpstr>Mission Analysis Cyber IPB</vt:lpstr>
      <vt:lpstr>Mission Analysis IBP – Technical OE/KT-C</vt:lpstr>
      <vt:lpstr>Mission Analysis IBP – Technical OE/KT-C</vt:lpstr>
      <vt:lpstr>Mission Analysis IBP – Technical OE/KT-C</vt:lpstr>
      <vt:lpstr>Mission Analysis IBP – Technical OE/KT-C</vt:lpstr>
      <vt:lpstr>Mission Analysis IBP – Technical OE/KT-C</vt:lpstr>
      <vt:lpstr>Mission Analysis IBP – Technical OE/KT-C</vt:lpstr>
      <vt:lpstr>Mission Analysis IBP – Technical OE/KT-C</vt:lpstr>
      <vt:lpstr>Mission Analysis IBP – Technical OE/KT-C</vt:lpstr>
      <vt:lpstr>Mission Analysis IBP – Technical OE/KT-C</vt:lpstr>
      <vt:lpstr>Mission Analysis</vt:lpstr>
      <vt:lpstr>Mission Analysis Critical Events</vt:lpstr>
      <vt:lpstr>Mission Analysis Decision Points</vt:lpstr>
      <vt:lpstr>Mission Analysis CCIR</vt:lpstr>
      <vt:lpstr>Mission Analysis CCIR</vt:lpstr>
      <vt:lpstr>COA Development</vt:lpstr>
      <vt:lpstr>COA Development DCO-E and mission partner capabilities</vt:lpstr>
      <vt:lpstr>COA Development Options</vt:lpstr>
      <vt:lpstr>COA Development Teams</vt:lpstr>
      <vt:lpstr>COA Development Teams</vt:lpstr>
      <vt:lpstr>COA Development</vt:lpstr>
      <vt:lpstr>COA Development Concept of Operations</vt:lpstr>
      <vt:lpstr>COA Development Concept of Operations</vt:lpstr>
      <vt:lpstr>COA Development Concept of Operations</vt:lpstr>
      <vt:lpstr>COA Development Concept of Operations</vt:lpstr>
      <vt:lpstr>COA Development Proposed Mission Statement</vt:lpstr>
      <vt:lpstr>COA Development COA Statements</vt:lpstr>
      <vt:lpstr>COA Development</vt:lpstr>
      <vt:lpstr>Higher HQ Mission</vt:lpstr>
      <vt:lpstr>Pertinent Facts</vt:lpstr>
      <vt:lpstr>Pertinent Assumptions</vt:lpstr>
      <vt:lpstr>Constraints</vt:lpstr>
      <vt:lpstr>Forces Available</vt:lpstr>
      <vt:lpstr>Initial Risk Assessment</vt:lpstr>
      <vt:lpstr>Proposed CCIRs</vt:lpstr>
      <vt:lpstr>Proposed EEFIs</vt:lpstr>
      <vt:lpstr>Initial Information Collection Plan</vt:lpstr>
      <vt:lpstr>Proposed Commander’s Intent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2405</cp:revision>
  <dcterms:created xsi:type="dcterms:W3CDTF">2022-04-04T17:11:29Z</dcterms:created>
  <dcterms:modified xsi:type="dcterms:W3CDTF">2026-02-24T16:49:08Z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0x010100E4DDA97709D05344805E34443243448B</vt:lpwstr>
  </property>
  <property fmtid="{D5CDD505-2E9C-101B-9397-08002B2CF9AE}" pid="3" name="MediaServiceImageTags">
    <vt:lpwstr/>
  </property>
</Properties>
</file>