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422_F6AA2B23.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 id="2147483674" r:id="rId5"/>
  </p:sldMasterIdLst>
  <p:notesMasterIdLst>
    <p:notesMasterId r:id="rId47"/>
  </p:notesMasterIdLst>
  <p:handoutMasterIdLst>
    <p:handoutMasterId r:id="rId48"/>
  </p:handoutMasterIdLst>
  <p:sldIdLst>
    <p:sldId id="1037" r:id="rId6"/>
    <p:sldId id="1051" r:id="rId7"/>
    <p:sldId id="1049" r:id="rId8"/>
    <p:sldId id="1054" r:id="rId9"/>
    <p:sldId id="1040" r:id="rId10"/>
    <p:sldId id="1055" r:id="rId11"/>
    <p:sldId id="1042" r:id="rId12"/>
    <p:sldId id="1038" r:id="rId13"/>
    <p:sldId id="1058" r:id="rId14"/>
    <p:sldId id="1050" r:id="rId15"/>
    <p:sldId id="1052" r:id="rId16"/>
    <p:sldId id="1053" r:id="rId17"/>
    <p:sldId id="1043" r:id="rId18"/>
    <p:sldId id="1045" r:id="rId19"/>
    <p:sldId id="1044" r:id="rId20"/>
    <p:sldId id="1061" r:id="rId21"/>
    <p:sldId id="1062" r:id="rId22"/>
    <p:sldId id="1063" r:id="rId23"/>
    <p:sldId id="1046" r:id="rId24"/>
    <p:sldId id="1059" r:id="rId25"/>
    <p:sldId id="1060" r:id="rId26"/>
    <p:sldId id="1047" r:id="rId27"/>
    <p:sldId id="1057" r:id="rId28"/>
    <p:sldId id="1039" r:id="rId29"/>
    <p:sldId id="268" r:id="rId30"/>
    <p:sldId id="271" r:id="rId31"/>
    <p:sldId id="273" r:id="rId32"/>
    <p:sldId id="317" r:id="rId33"/>
    <p:sldId id="316" r:id="rId34"/>
    <p:sldId id="288" r:id="rId35"/>
    <p:sldId id="289" r:id="rId36"/>
    <p:sldId id="290" r:id="rId37"/>
    <p:sldId id="292" r:id="rId38"/>
    <p:sldId id="293" r:id="rId39"/>
    <p:sldId id="291" r:id="rId40"/>
    <p:sldId id="294" r:id="rId41"/>
    <p:sldId id="295" r:id="rId42"/>
    <p:sldId id="296" r:id="rId43"/>
    <p:sldId id="320" r:id="rId44"/>
    <p:sldId id="310" r:id="rId45"/>
    <p:sldId id="299" r:id="rId46"/>
  </p:sldIdLst>
  <p:sldSz cx="9144000" cy="6858000" type="screen4x3"/>
  <p:notesSz cx="6934200" cy="9220200"/>
  <p:defaultTextStyle>
    <a:defPPr>
      <a:defRPr lang="en-US"/>
    </a:defPPr>
    <a:lvl1pPr marL="0" algn="l" defTabSz="914298" rtl="0" eaLnBrk="1" latinLnBrk="0" hangingPunct="1">
      <a:defRPr sz="1800" kern="1200">
        <a:solidFill>
          <a:schemeClr val="tx1"/>
        </a:solidFill>
        <a:latin typeface="+mn-lt"/>
        <a:ea typeface="+mn-ea"/>
        <a:cs typeface="+mn-cs"/>
      </a:defRPr>
    </a:lvl1pPr>
    <a:lvl2pPr marL="457149" algn="l" defTabSz="914298" rtl="0" eaLnBrk="1" latinLnBrk="0" hangingPunct="1">
      <a:defRPr sz="1800" kern="1200">
        <a:solidFill>
          <a:schemeClr val="tx1"/>
        </a:solidFill>
        <a:latin typeface="+mn-lt"/>
        <a:ea typeface="+mn-ea"/>
        <a:cs typeface="+mn-cs"/>
      </a:defRPr>
    </a:lvl2pPr>
    <a:lvl3pPr marL="914298" algn="l" defTabSz="914298" rtl="0" eaLnBrk="1" latinLnBrk="0" hangingPunct="1">
      <a:defRPr sz="1800" kern="1200">
        <a:solidFill>
          <a:schemeClr val="tx1"/>
        </a:solidFill>
        <a:latin typeface="+mn-lt"/>
        <a:ea typeface="+mn-ea"/>
        <a:cs typeface="+mn-cs"/>
      </a:defRPr>
    </a:lvl3pPr>
    <a:lvl4pPr marL="1371448" algn="l" defTabSz="914298" rtl="0" eaLnBrk="1" latinLnBrk="0" hangingPunct="1">
      <a:defRPr sz="1800" kern="1200">
        <a:solidFill>
          <a:schemeClr val="tx1"/>
        </a:solidFill>
        <a:latin typeface="+mn-lt"/>
        <a:ea typeface="+mn-ea"/>
        <a:cs typeface="+mn-cs"/>
      </a:defRPr>
    </a:lvl4pPr>
    <a:lvl5pPr marL="1828597" algn="l" defTabSz="914298" rtl="0" eaLnBrk="1" latinLnBrk="0" hangingPunct="1">
      <a:defRPr sz="1800" kern="1200">
        <a:solidFill>
          <a:schemeClr val="tx1"/>
        </a:solidFill>
        <a:latin typeface="+mn-lt"/>
        <a:ea typeface="+mn-ea"/>
        <a:cs typeface="+mn-cs"/>
      </a:defRPr>
    </a:lvl5pPr>
    <a:lvl6pPr marL="2285746" algn="l" defTabSz="914298" rtl="0" eaLnBrk="1" latinLnBrk="0" hangingPunct="1">
      <a:defRPr sz="1800" kern="1200">
        <a:solidFill>
          <a:schemeClr val="tx1"/>
        </a:solidFill>
        <a:latin typeface="+mn-lt"/>
        <a:ea typeface="+mn-ea"/>
        <a:cs typeface="+mn-cs"/>
      </a:defRPr>
    </a:lvl6pPr>
    <a:lvl7pPr marL="2742895" algn="l" defTabSz="914298" rtl="0" eaLnBrk="1" latinLnBrk="0" hangingPunct="1">
      <a:defRPr sz="1800" kern="1200">
        <a:solidFill>
          <a:schemeClr val="tx1"/>
        </a:solidFill>
        <a:latin typeface="+mn-lt"/>
        <a:ea typeface="+mn-ea"/>
        <a:cs typeface="+mn-cs"/>
      </a:defRPr>
    </a:lvl7pPr>
    <a:lvl8pPr marL="3200044" algn="l" defTabSz="914298" rtl="0" eaLnBrk="1" latinLnBrk="0" hangingPunct="1">
      <a:defRPr sz="1800" kern="1200">
        <a:solidFill>
          <a:schemeClr val="tx1"/>
        </a:solidFill>
        <a:latin typeface="+mn-lt"/>
        <a:ea typeface="+mn-ea"/>
        <a:cs typeface="+mn-cs"/>
      </a:defRPr>
    </a:lvl8pPr>
    <a:lvl9pPr marL="3657193" algn="l" defTabSz="91429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260" userDrawn="1">
          <p15:clr>
            <a:srgbClr val="A4A3A4"/>
          </p15:clr>
        </p15:guide>
        <p15:guide id="4" orient="horz" pos="23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AECE4641-A1A1-38A9-E8D1-45D147F0D443}" name="Cunningham, Bryan C 1LT USARMY NG NYARNG (USA)" initials="C(" userId="S::bryan.c.cunningham5.mil@army.mil::5c6673e2-e97c-4090-8c46-76bdd889319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00"/>
    <a:srgbClr val="FF0066"/>
    <a:srgbClr val="B0C836"/>
    <a:srgbClr val="D4EB4B"/>
    <a:srgbClr val="FFE699"/>
    <a:srgbClr val="99CC00"/>
    <a:srgbClr val="FF5050"/>
    <a:srgbClr val="C0504D"/>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75C0C5-D5C0-4E98-AF41-8491456556CE}" v="458" dt="2022-05-17T13:47:24.871"/>
    <p1510:client id="{248F8F63-5521-4172-8225-5D4F2D54EFC0}" v="4" dt="2022-05-17T12:00:53.437"/>
    <p1510:client id="{735548A5-5843-4C78-96E0-523FDD914974}" v="1416" dt="2022-05-16T19:28:57.137"/>
    <p1510:client id="{95FF387E-F935-4F41-93DC-A05DC1BE0BF1}" v="785" dt="2022-05-18T19:49:40.155"/>
    <p1510:client id="{9E1C7EE1-DEC0-4B3A-89BA-7CB624EC1947}" v="297" dt="2022-05-16T16:27:13.486"/>
    <p1510:client id="{AD189C47-15F7-410E-9002-A3AEEC11B54F}" v="617" dt="2022-05-20T17:57:30.629"/>
    <p1510:client id="{E70F87E3-6788-4C38-8E6B-3E86618D2BF0}" v="200" dt="2022-05-16T18:14:44.813"/>
    <p1510:client id="{F28F17D8-0284-4F6E-93D3-8EBA2114ABB6}" v="390" dt="2022-05-20T23:55:30.454"/>
    <p1510:client id="{FF5C553D-D03B-4082-8278-566D5EB5A01F}" v="173" dt="2022-05-16T18:54:57.5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9" autoAdjust="0"/>
    <p:restoredTop sz="90774" autoAdjust="0"/>
  </p:normalViewPr>
  <p:slideViewPr>
    <p:cSldViewPr>
      <p:cViewPr varScale="1">
        <p:scale>
          <a:sx n="100" d="100"/>
          <a:sy n="100" d="100"/>
        </p:scale>
        <p:origin x="312" y="84"/>
      </p:cViewPr>
      <p:guideLst>
        <p:guide orient="horz" pos="2160"/>
        <p:guide pos="2880"/>
        <p:guide orient="horz" pos="2260"/>
        <p:guide orient="horz" pos="2360"/>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 d="1"/>
        <a:sy n="1" d="1"/>
      </p:scale>
      <p:origin x="0" y="0"/>
    </p:cViewPr>
  </p:sorterViewPr>
  <p:notesViewPr>
    <p:cSldViewPr>
      <p:cViewPr varScale="1">
        <p:scale>
          <a:sx n="68" d="100"/>
          <a:sy n="68" d="100"/>
        </p:scale>
        <p:origin x="2418" y="78"/>
      </p:cViewPr>
      <p:guideLst/>
    </p:cSldViewPr>
  </p:notesViewPr>
  <p:gridSpacing cx="57150" cy="5715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microsoft.com/office/2015/10/relationships/revisionInfo" Target="revisionInfo.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presProps" Target="presProps.xml"/></Relationships>
</file>

<file path=ppt/comments/modernComment_422_F6AA2B23.xml><?xml version="1.0" encoding="utf-8"?>
<p188:cmLst xmlns:a="http://schemas.openxmlformats.org/drawingml/2006/main" xmlns:r="http://schemas.openxmlformats.org/officeDocument/2006/relationships" xmlns:p188="http://schemas.microsoft.com/office/powerpoint/2018/8/main">
  <p188:cm id="{AF5709D8-0C09-4F1E-8AB8-EBC5B44C323E}" authorId="{AECE4641-A1A1-38A9-E8D1-45D147F0D443}" created="2022-05-18T18:25:09.521">
    <pc:sldMkLst xmlns:pc="http://schemas.microsoft.com/office/powerpoint/2013/main/command">
      <pc:docMk/>
      <pc:sldMk cId="4138347299" sldId="1058"/>
    </pc:sldMkLst>
    <p188:txBody>
      <a:bodyPr/>
      <a:lstStyle/>
      <a:p>
        <a:r>
          <a:rPr lang="en-US"/>
          <a:t>This needs to be built out and expanded per unit roster</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05448" cy="461325"/>
          </a:xfrm>
          <a:prstGeom prst="rect">
            <a:avLst/>
          </a:prstGeom>
        </p:spPr>
        <p:txBody>
          <a:bodyPr vert="horz" lIns="90580" tIns="45290" rIns="90580" bIns="45290" rtlCol="0"/>
          <a:lstStyle>
            <a:lvl1pPr algn="l">
              <a:defRPr sz="1200"/>
            </a:lvl1pPr>
          </a:lstStyle>
          <a:p>
            <a:endParaRPr lang="en-US" dirty="0"/>
          </a:p>
        </p:txBody>
      </p:sp>
      <p:sp>
        <p:nvSpPr>
          <p:cNvPr id="3" name="Date Placeholder 2"/>
          <p:cNvSpPr>
            <a:spLocks noGrp="1"/>
          </p:cNvSpPr>
          <p:nvPr>
            <p:ph type="dt" sz="quarter" idx="1"/>
          </p:nvPr>
        </p:nvSpPr>
        <p:spPr>
          <a:xfrm>
            <a:off x="3927183" y="0"/>
            <a:ext cx="3005448" cy="461325"/>
          </a:xfrm>
          <a:prstGeom prst="rect">
            <a:avLst/>
          </a:prstGeom>
        </p:spPr>
        <p:txBody>
          <a:bodyPr vert="horz" lIns="90580" tIns="45290" rIns="90580" bIns="45290" rtlCol="0"/>
          <a:lstStyle>
            <a:lvl1pPr algn="r">
              <a:defRPr sz="1200"/>
            </a:lvl1pPr>
          </a:lstStyle>
          <a:p>
            <a:fld id="{523BA767-2236-4B71-A489-EDB47DEB768B}" type="datetimeFigureOut">
              <a:rPr lang="en-US" smtClean="0"/>
              <a:pPr/>
              <a:t>5/20/2022</a:t>
            </a:fld>
            <a:endParaRPr lang="en-US" dirty="0"/>
          </a:p>
        </p:txBody>
      </p:sp>
      <p:sp>
        <p:nvSpPr>
          <p:cNvPr id="4" name="Footer Placeholder 3"/>
          <p:cNvSpPr>
            <a:spLocks noGrp="1"/>
          </p:cNvSpPr>
          <p:nvPr>
            <p:ph type="ftr" sz="quarter" idx="2"/>
          </p:nvPr>
        </p:nvSpPr>
        <p:spPr>
          <a:xfrm>
            <a:off x="1" y="8757301"/>
            <a:ext cx="3005448" cy="461325"/>
          </a:xfrm>
          <a:prstGeom prst="rect">
            <a:avLst/>
          </a:prstGeom>
        </p:spPr>
        <p:txBody>
          <a:bodyPr vert="horz" lIns="90580" tIns="45290" rIns="90580" bIns="45290" rtlCol="0" anchor="b"/>
          <a:lstStyle>
            <a:lvl1pPr algn="l">
              <a:defRPr sz="1200"/>
            </a:lvl1pPr>
          </a:lstStyle>
          <a:p>
            <a:r>
              <a:rPr lang="en-US"/>
              <a:t>UNCLASSIFIED/FOUO</a:t>
            </a:r>
            <a:endParaRPr lang="en-US" dirty="0"/>
          </a:p>
        </p:txBody>
      </p:sp>
      <p:sp>
        <p:nvSpPr>
          <p:cNvPr id="5" name="Slide Number Placeholder 4"/>
          <p:cNvSpPr>
            <a:spLocks noGrp="1"/>
          </p:cNvSpPr>
          <p:nvPr>
            <p:ph type="sldNum" sz="quarter" idx="3"/>
          </p:nvPr>
        </p:nvSpPr>
        <p:spPr>
          <a:xfrm>
            <a:off x="3927183" y="8757301"/>
            <a:ext cx="3005448" cy="461325"/>
          </a:xfrm>
          <a:prstGeom prst="rect">
            <a:avLst/>
          </a:prstGeom>
        </p:spPr>
        <p:txBody>
          <a:bodyPr vert="horz" lIns="90580" tIns="45290" rIns="90580" bIns="45290" rtlCol="0" anchor="b"/>
          <a:lstStyle>
            <a:lvl1pPr algn="r">
              <a:defRPr sz="1200"/>
            </a:lvl1pPr>
          </a:lstStyle>
          <a:p>
            <a:fld id="{4673971F-8A42-4086-A174-E4EA72A897DF}" type="slidenum">
              <a:rPr lang="en-US" smtClean="0"/>
              <a:pPr/>
              <a:t>‹#›</a:t>
            </a:fld>
            <a:endParaRPr lang="en-US" dirty="0"/>
          </a:p>
        </p:txBody>
      </p:sp>
    </p:spTree>
    <p:extLst>
      <p:ext uri="{BB962C8B-B14F-4D97-AF65-F5344CB8AC3E}">
        <p14:creationId xmlns:p14="http://schemas.microsoft.com/office/powerpoint/2010/main" val="114734390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301" tIns="46151" rIns="92301" bIns="46151" rtlCol="0"/>
          <a:lstStyle>
            <a:lvl1pPr algn="l">
              <a:defRPr sz="1200"/>
            </a:lvl1pPr>
          </a:lstStyle>
          <a:p>
            <a:endParaRPr lang="en-US" dirty="0"/>
          </a:p>
        </p:txBody>
      </p:sp>
      <p:sp>
        <p:nvSpPr>
          <p:cNvPr id="3" name="Date Placeholder 2"/>
          <p:cNvSpPr>
            <a:spLocks noGrp="1"/>
          </p:cNvSpPr>
          <p:nvPr>
            <p:ph type="dt" idx="1"/>
          </p:nvPr>
        </p:nvSpPr>
        <p:spPr>
          <a:xfrm>
            <a:off x="3927776" y="0"/>
            <a:ext cx="3004820" cy="461010"/>
          </a:xfrm>
          <a:prstGeom prst="rect">
            <a:avLst/>
          </a:prstGeom>
        </p:spPr>
        <p:txBody>
          <a:bodyPr vert="horz" lIns="92301" tIns="46151" rIns="92301" bIns="46151" rtlCol="0"/>
          <a:lstStyle>
            <a:lvl1pPr algn="r">
              <a:defRPr sz="1200"/>
            </a:lvl1pPr>
          </a:lstStyle>
          <a:p>
            <a:fld id="{5151B731-0CDB-4D5E-9FEF-F19394AE5BA3}" type="datetimeFigureOut">
              <a:rPr lang="en-US" smtClean="0"/>
              <a:pPr/>
              <a:t>5/20/2022</a:t>
            </a:fld>
            <a:endParaRPr lang="en-US" dirty="0"/>
          </a:p>
        </p:txBody>
      </p:sp>
      <p:sp>
        <p:nvSpPr>
          <p:cNvPr id="4" name="Slide Image Placeholder 3"/>
          <p:cNvSpPr>
            <a:spLocks noGrp="1" noRot="1" noChangeAspect="1"/>
          </p:cNvSpPr>
          <p:nvPr>
            <p:ph type="sldImg" idx="2"/>
          </p:nvPr>
        </p:nvSpPr>
        <p:spPr>
          <a:xfrm>
            <a:off x="1162050" y="690563"/>
            <a:ext cx="4610100" cy="3457575"/>
          </a:xfrm>
          <a:prstGeom prst="rect">
            <a:avLst/>
          </a:prstGeom>
          <a:noFill/>
          <a:ln w="12700">
            <a:solidFill>
              <a:prstClr val="black"/>
            </a:solidFill>
          </a:ln>
        </p:spPr>
        <p:txBody>
          <a:bodyPr vert="horz" lIns="92301" tIns="46151" rIns="92301" bIns="46151" rtlCol="0" anchor="ctr"/>
          <a:lstStyle/>
          <a:p>
            <a:endParaRPr lang="en-US" dirty="0"/>
          </a:p>
        </p:txBody>
      </p:sp>
      <p:sp>
        <p:nvSpPr>
          <p:cNvPr id="5" name="Notes Placeholder 4"/>
          <p:cNvSpPr>
            <a:spLocks noGrp="1"/>
          </p:cNvSpPr>
          <p:nvPr>
            <p:ph type="body" sz="quarter" idx="3"/>
          </p:nvPr>
        </p:nvSpPr>
        <p:spPr>
          <a:xfrm>
            <a:off x="693420" y="4379595"/>
            <a:ext cx="5547360" cy="4149090"/>
          </a:xfrm>
          <a:prstGeom prst="rect">
            <a:avLst/>
          </a:prstGeom>
        </p:spPr>
        <p:txBody>
          <a:bodyPr vert="horz" lIns="92301" tIns="46151" rIns="92301" bIns="4615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57590"/>
            <a:ext cx="3004820" cy="461010"/>
          </a:xfrm>
          <a:prstGeom prst="rect">
            <a:avLst/>
          </a:prstGeom>
        </p:spPr>
        <p:txBody>
          <a:bodyPr vert="horz" lIns="92301" tIns="46151" rIns="92301" bIns="46151" rtlCol="0" anchor="b"/>
          <a:lstStyle>
            <a:lvl1pPr algn="l">
              <a:defRPr sz="1200"/>
            </a:lvl1pPr>
          </a:lstStyle>
          <a:p>
            <a:r>
              <a:rPr lang="en-US"/>
              <a:t>UNCLASSIFIED/FOUO</a:t>
            </a:r>
            <a:endParaRPr lang="en-US" dirty="0"/>
          </a:p>
        </p:txBody>
      </p:sp>
      <p:sp>
        <p:nvSpPr>
          <p:cNvPr id="7" name="Slide Number Placeholder 6"/>
          <p:cNvSpPr>
            <a:spLocks noGrp="1"/>
          </p:cNvSpPr>
          <p:nvPr>
            <p:ph type="sldNum" sz="quarter" idx="5"/>
          </p:nvPr>
        </p:nvSpPr>
        <p:spPr>
          <a:xfrm>
            <a:off x="3927776" y="8757590"/>
            <a:ext cx="3004820" cy="461010"/>
          </a:xfrm>
          <a:prstGeom prst="rect">
            <a:avLst/>
          </a:prstGeom>
        </p:spPr>
        <p:txBody>
          <a:bodyPr vert="horz" lIns="92301" tIns="46151" rIns="92301" bIns="46151" rtlCol="0" anchor="b"/>
          <a:lstStyle>
            <a:lvl1pPr algn="r">
              <a:defRPr sz="1200"/>
            </a:lvl1pPr>
          </a:lstStyle>
          <a:p>
            <a:fld id="{3AD82FBF-9B18-4BBE-BE2A-61CA61AD6E25}" type="slidenum">
              <a:rPr lang="en-US" smtClean="0"/>
              <a:pPr/>
              <a:t>‹#›</a:t>
            </a:fld>
            <a:endParaRPr lang="en-US" dirty="0"/>
          </a:p>
        </p:txBody>
      </p:sp>
    </p:spTree>
    <p:extLst>
      <p:ext uri="{BB962C8B-B14F-4D97-AF65-F5344CB8AC3E}">
        <p14:creationId xmlns:p14="http://schemas.microsoft.com/office/powerpoint/2010/main" val="3455849648"/>
      </p:ext>
    </p:extLst>
  </p:cSld>
  <p:clrMap bg1="lt1" tx1="dk1" bg2="lt2" tx2="dk2" accent1="accent1" accent2="accent2" accent3="accent3" accent4="accent4" accent5="accent5" accent6="accent6" hlink="hlink" folHlink="folHlink"/>
  <p:hf hdr="0" dt="0"/>
  <p:notesStyle>
    <a:lvl1pPr marL="0" algn="l" defTabSz="914298" rtl="0" eaLnBrk="1" latinLnBrk="0" hangingPunct="1">
      <a:defRPr sz="1200" kern="1200">
        <a:solidFill>
          <a:schemeClr val="tx1"/>
        </a:solidFill>
        <a:latin typeface="+mn-lt"/>
        <a:ea typeface="+mn-ea"/>
        <a:cs typeface="+mn-cs"/>
      </a:defRPr>
    </a:lvl1pPr>
    <a:lvl2pPr marL="457149" algn="l" defTabSz="914298" rtl="0" eaLnBrk="1" latinLnBrk="0" hangingPunct="1">
      <a:defRPr sz="1200" kern="1200">
        <a:solidFill>
          <a:schemeClr val="tx1"/>
        </a:solidFill>
        <a:latin typeface="+mn-lt"/>
        <a:ea typeface="+mn-ea"/>
        <a:cs typeface="+mn-cs"/>
      </a:defRPr>
    </a:lvl2pPr>
    <a:lvl3pPr marL="914298" algn="l" defTabSz="914298" rtl="0" eaLnBrk="1" latinLnBrk="0" hangingPunct="1">
      <a:defRPr sz="1200" kern="1200">
        <a:solidFill>
          <a:schemeClr val="tx1"/>
        </a:solidFill>
        <a:latin typeface="+mn-lt"/>
        <a:ea typeface="+mn-ea"/>
        <a:cs typeface="+mn-cs"/>
      </a:defRPr>
    </a:lvl3pPr>
    <a:lvl4pPr marL="1371448" algn="l" defTabSz="914298" rtl="0" eaLnBrk="1" latinLnBrk="0" hangingPunct="1">
      <a:defRPr sz="1200" kern="1200">
        <a:solidFill>
          <a:schemeClr val="tx1"/>
        </a:solidFill>
        <a:latin typeface="+mn-lt"/>
        <a:ea typeface="+mn-ea"/>
        <a:cs typeface="+mn-cs"/>
      </a:defRPr>
    </a:lvl4pPr>
    <a:lvl5pPr marL="1828597" algn="l" defTabSz="914298" rtl="0" eaLnBrk="1" latinLnBrk="0" hangingPunct="1">
      <a:defRPr sz="1200" kern="1200">
        <a:solidFill>
          <a:schemeClr val="tx1"/>
        </a:solidFill>
        <a:latin typeface="+mn-lt"/>
        <a:ea typeface="+mn-ea"/>
        <a:cs typeface="+mn-cs"/>
      </a:defRPr>
    </a:lvl5pPr>
    <a:lvl6pPr marL="2285746" algn="l" defTabSz="914298" rtl="0" eaLnBrk="1" latinLnBrk="0" hangingPunct="1">
      <a:defRPr sz="1200" kern="1200">
        <a:solidFill>
          <a:schemeClr val="tx1"/>
        </a:solidFill>
        <a:latin typeface="+mn-lt"/>
        <a:ea typeface="+mn-ea"/>
        <a:cs typeface="+mn-cs"/>
      </a:defRPr>
    </a:lvl6pPr>
    <a:lvl7pPr marL="2742895" algn="l" defTabSz="914298" rtl="0" eaLnBrk="1" latinLnBrk="0" hangingPunct="1">
      <a:defRPr sz="1200" kern="1200">
        <a:solidFill>
          <a:schemeClr val="tx1"/>
        </a:solidFill>
        <a:latin typeface="+mn-lt"/>
        <a:ea typeface="+mn-ea"/>
        <a:cs typeface="+mn-cs"/>
      </a:defRPr>
    </a:lvl7pPr>
    <a:lvl8pPr marL="3200044" algn="l" defTabSz="914298" rtl="0" eaLnBrk="1" latinLnBrk="0" hangingPunct="1">
      <a:defRPr sz="1200" kern="1200">
        <a:solidFill>
          <a:schemeClr val="tx1"/>
        </a:solidFill>
        <a:latin typeface="+mn-lt"/>
        <a:ea typeface="+mn-ea"/>
        <a:cs typeface="+mn-cs"/>
      </a:defRPr>
    </a:lvl8pPr>
    <a:lvl9pPr marL="3657193" algn="l" defTabSz="91429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These are derived from T&amp;EO 3.2</a:t>
            </a: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2</a:t>
            </a:fld>
            <a:endParaRPr lang="en-US" dirty="0"/>
          </a:p>
        </p:txBody>
      </p:sp>
    </p:spTree>
    <p:extLst>
      <p:ext uri="{BB962C8B-B14F-4D97-AF65-F5344CB8AC3E}">
        <p14:creationId xmlns:p14="http://schemas.microsoft.com/office/powerpoint/2010/main" val="2301375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Supposed to be hidden</a:t>
            </a: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3</a:t>
            </a:fld>
            <a:endParaRPr lang="en-US" dirty="0"/>
          </a:p>
        </p:txBody>
      </p:sp>
    </p:spTree>
    <p:extLst>
      <p:ext uri="{BB962C8B-B14F-4D97-AF65-F5344CB8AC3E}">
        <p14:creationId xmlns:p14="http://schemas.microsoft.com/office/powerpoint/2010/main" val="847810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Supposed to be hidden</a:t>
            </a:r>
          </a:p>
          <a:p>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4</a:t>
            </a:fld>
            <a:endParaRPr lang="en-US" dirty="0"/>
          </a:p>
        </p:txBody>
      </p:sp>
    </p:spTree>
    <p:extLst>
      <p:ext uri="{BB962C8B-B14F-4D97-AF65-F5344CB8AC3E}">
        <p14:creationId xmlns:p14="http://schemas.microsoft.com/office/powerpoint/2010/main" val="3178344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7945" marR="0">
              <a:lnSpc>
                <a:spcPts val="1235"/>
              </a:lnSpc>
              <a:spcBef>
                <a:spcPts val="10"/>
              </a:spcBef>
              <a:spcAft>
                <a:spcPts val="0"/>
              </a:spcAft>
            </a:pPr>
            <a:r>
              <a:rPr lang="en-US" sz="1200" b="1" dirty="0" err="1">
                <a:effectLst/>
                <a:latin typeface="Times New Roman"/>
                <a:ea typeface="Times New Roman" panose="02020603050405020304" pitchFamily="18" charset="0"/>
                <a:cs typeface="Times New Roman"/>
              </a:rPr>
              <a:t>Outbrief</a:t>
            </a:r>
            <a:r>
              <a:rPr lang="en-US" sz="1200" b="1" dirty="0">
                <a:effectLst/>
                <a:latin typeface="Times New Roman"/>
                <a:ea typeface="Times New Roman" panose="02020603050405020304" pitchFamily="18" charset="0"/>
                <a:cs typeface="Times New Roman"/>
              </a:rPr>
              <a:t> slide</a:t>
            </a:r>
          </a:p>
          <a:p>
            <a:pPr marL="71755">
              <a:lnSpc>
                <a:spcPts val="1235"/>
              </a:lnSpc>
              <a:spcBef>
                <a:spcPts val="10"/>
              </a:spcBef>
            </a:pPr>
            <a:r>
              <a:rPr lang="en-US" b="1" dirty="0">
                <a:latin typeface="Times New Roman"/>
                <a:cs typeface="Times New Roman"/>
              </a:rPr>
              <a:t>Mission:</a:t>
            </a:r>
          </a:p>
          <a:p>
            <a:pPr marL="71755">
              <a:lnSpc>
                <a:spcPts val="1235"/>
              </a:lnSpc>
              <a:spcBef>
                <a:spcPts val="10"/>
              </a:spcBef>
            </a:pPr>
            <a:endParaRPr lang="en-US" b="1" dirty="0">
              <a:latin typeface="Times New Roman"/>
              <a:cs typeface="Times New Roman"/>
            </a:endParaRPr>
          </a:p>
          <a:p>
            <a:pPr marL="71755">
              <a:lnSpc>
                <a:spcPts val="1235"/>
              </a:lnSpc>
              <a:spcBef>
                <a:spcPts val="10"/>
              </a:spcBef>
            </a:pPr>
            <a:r>
              <a:rPr lang="en-US" b="1" dirty="0">
                <a:latin typeface="Times New Roman"/>
                <a:cs typeface="Times New Roman"/>
              </a:rPr>
              <a:t>Intel:</a:t>
            </a:r>
          </a:p>
          <a:p>
            <a:pPr marL="290830" indent="-290830">
              <a:spcBef>
                <a:spcPct val="20000"/>
              </a:spcBef>
              <a:spcAft>
                <a:spcPct val="0"/>
              </a:spcAft>
              <a:buFont typeface="Arial"/>
              <a:buChar char="•"/>
            </a:pPr>
            <a:r>
              <a:rPr lang="en-US" b="1" dirty="0"/>
              <a:t>CT2;ST4: </a:t>
            </a:r>
            <a:r>
              <a:rPr lang="en-US" dirty="0"/>
              <a:t>Develop intelligence plans. [ASA]</a:t>
            </a:r>
            <a:endParaRPr lang="en-US" dirty="0">
              <a:ea typeface="Calibri"/>
              <a:cs typeface="Calibri"/>
            </a:endParaRPr>
          </a:p>
          <a:p>
            <a:pPr marL="290830" indent="-290830">
              <a:spcBef>
                <a:spcPct val="20000"/>
              </a:spcBef>
              <a:spcAft>
                <a:spcPct val="0"/>
              </a:spcAft>
              <a:buFont typeface="Arial"/>
              <a:buChar char="•"/>
            </a:pPr>
            <a:r>
              <a:rPr lang="en-US" b="1" dirty="0"/>
              <a:t>CT2;ST7: </a:t>
            </a:r>
            <a:r>
              <a:rPr lang="en-US" dirty="0"/>
              <a:t>Develop data analysis plan. [ASO or DE]</a:t>
            </a:r>
          </a:p>
          <a:p>
            <a:pPr marL="71755">
              <a:lnSpc>
                <a:spcPts val="1235"/>
              </a:lnSpc>
              <a:spcBef>
                <a:spcPts val="10"/>
              </a:spcBef>
            </a:pPr>
            <a:endParaRPr lang="en-US" b="1" dirty="0">
              <a:latin typeface="Times New Roman"/>
              <a:cs typeface="Times New Roman"/>
            </a:endParaRPr>
          </a:p>
          <a:p>
            <a:pPr marL="71755">
              <a:lnSpc>
                <a:spcPts val="1235"/>
              </a:lnSpc>
              <a:spcBef>
                <a:spcPts val="10"/>
              </a:spcBef>
            </a:pPr>
            <a:r>
              <a:rPr lang="en-US" b="1" dirty="0">
                <a:latin typeface="Times New Roman"/>
                <a:cs typeface="Times New Roman"/>
              </a:rPr>
              <a:t>Pre-Execution:</a:t>
            </a:r>
          </a:p>
          <a:p>
            <a:pPr marL="104140" indent="-290830">
              <a:lnSpc>
                <a:spcPts val="1280"/>
              </a:lnSpc>
              <a:buFont typeface="Arial"/>
              <a:buChar char="•"/>
            </a:pPr>
            <a:r>
              <a:rPr lang="en-US" b="1" dirty="0"/>
              <a:t>CT2;ST3: </a:t>
            </a:r>
            <a:r>
              <a:rPr lang="en-US" dirty="0"/>
              <a:t>Verify required authority to operate on the network.</a:t>
            </a:r>
            <a:endParaRPr lang="en-US" dirty="0">
              <a:cs typeface="Calibri"/>
            </a:endParaRPr>
          </a:p>
          <a:p>
            <a:pPr indent="-243840">
              <a:lnSpc>
                <a:spcPts val="1280"/>
              </a:lnSpc>
              <a:buFont typeface="Arial"/>
              <a:buChar char="•"/>
            </a:pPr>
            <a:r>
              <a:rPr lang="en-US" b="1" dirty="0"/>
              <a:t>CT2;ST5: </a:t>
            </a:r>
            <a:r>
              <a:rPr lang="en-US" dirty="0"/>
              <a:t>Obtain network and host baseline documentation.</a:t>
            </a:r>
          </a:p>
          <a:p>
            <a:pPr indent="-243840">
              <a:lnSpc>
                <a:spcPts val="1280"/>
              </a:lnSpc>
              <a:buFont typeface="Arial"/>
              <a:buChar char="•"/>
            </a:pPr>
            <a:r>
              <a:rPr lang="en-US" b="1" dirty="0"/>
              <a:t>CT2;ST6: </a:t>
            </a:r>
            <a:r>
              <a:rPr lang="en-US" dirty="0"/>
              <a:t>Develop prioritized specified terrain cyber.</a:t>
            </a:r>
          </a:p>
          <a:p>
            <a:pPr indent="-243840">
              <a:lnSpc>
                <a:spcPts val="1280"/>
              </a:lnSpc>
              <a:buFont typeface="Arial"/>
              <a:buChar char="•"/>
            </a:pPr>
            <a:r>
              <a:rPr lang="en-US" b="1" dirty="0"/>
              <a:t>CT5;ST1: </a:t>
            </a:r>
            <a:r>
              <a:rPr lang="en-US" dirty="0"/>
              <a:t>Coordinate with HHQ or designated external organizations to enable response actions.</a:t>
            </a:r>
            <a:endParaRPr lang="en-US" dirty="0">
              <a:ea typeface="Calibri"/>
              <a:cs typeface="Calibri"/>
            </a:endParaRPr>
          </a:p>
          <a:p>
            <a:pPr indent="-243840">
              <a:lnSpc>
                <a:spcPts val="1280"/>
              </a:lnSpc>
              <a:buFont typeface="Arial"/>
              <a:buChar char="•"/>
            </a:pPr>
            <a:r>
              <a:rPr lang="en-US" b="1" dirty="0"/>
              <a:t>CT7;ST1: </a:t>
            </a:r>
            <a:r>
              <a:rPr lang="en-US" dirty="0"/>
              <a:t>ln brief to key stakeholders (schedule in brief to stakeholders)</a:t>
            </a:r>
          </a:p>
          <a:p>
            <a:pPr indent="-243840">
              <a:lnSpc>
                <a:spcPts val="1280"/>
              </a:lnSpc>
              <a:buFont typeface="Arial"/>
              <a:buChar char="•"/>
            </a:pPr>
            <a:endParaRPr lang="en-US" dirty="0">
              <a:cs typeface="Calibri"/>
            </a:endParaRPr>
          </a:p>
          <a:p>
            <a:pPr>
              <a:lnSpc>
                <a:spcPts val="1280"/>
              </a:lnSpc>
            </a:pPr>
            <a:r>
              <a:rPr lang="en-US" b="1" dirty="0">
                <a:cs typeface="Calibri"/>
              </a:rPr>
              <a:t>Approach:</a:t>
            </a:r>
            <a:endParaRPr lang="en-US" b="1" dirty="0">
              <a:ea typeface="Calibri"/>
              <a:cs typeface="Calibri"/>
            </a:endParaRPr>
          </a:p>
          <a:p>
            <a:pPr>
              <a:lnSpc>
                <a:spcPts val="1280"/>
              </a:lnSpc>
            </a:pPr>
            <a:endParaRPr lang="en-US" b="1" dirty="0">
              <a:cs typeface="Calibri"/>
            </a:endParaRPr>
          </a:p>
          <a:p>
            <a:pPr>
              <a:lnSpc>
                <a:spcPts val="1280"/>
              </a:lnSpc>
            </a:pPr>
            <a:endParaRPr lang="en-US" b="1" dirty="0">
              <a:cs typeface="Calibri"/>
            </a:endParaRPr>
          </a:p>
          <a:p>
            <a:pPr marL="67945">
              <a:lnSpc>
                <a:spcPts val="1235"/>
              </a:lnSpc>
              <a:spcBef>
                <a:spcPts val="10"/>
              </a:spcBef>
            </a:pPr>
            <a:r>
              <a:rPr lang="en-US" b="1" dirty="0"/>
              <a:t>LEGEND</a:t>
            </a:r>
            <a:endParaRPr lang="en-US" dirty="0"/>
          </a:p>
          <a:p>
            <a:pPr marL="67945">
              <a:lnSpc>
                <a:spcPts val="1235"/>
              </a:lnSpc>
              <a:spcBef>
                <a:spcPts val="10"/>
              </a:spcBef>
            </a:pPr>
            <a:r>
              <a:rPr lang="en-US" b="1" dirty="0"/>
              <a:t>LE</a:t>
            </a:r>
            <a:r>
              <a:rPr lang="en-US" dirty="0"/>
              <a:t> = </a:t>
            </a:r>
            <a:r>
              <a:rPr lang="en-US" b="1" dirty="0"/>
              <a:t>Leadership Element</a:t>
            </a:r>
            <a:endParaRPr lang="en-US" dirty="0"/>
          </a:p>
          <a:p>
            <a:pPr marL="83185">
              <a:lnSpc>
                <a:spcPts val="1280"/>
              </a:lnSpc>
              <a:spcBef>
                <a:spcPts val="60"/>
              </a:spcBef>
            </a:pPr>
            <a:r>
              <a:rPr lang="en-US" b="1" dirty="0"/>
              <a:t>ME</a:t>
            </a:r>
            <a:r>
              <a:rPr lang="en-US" dirty="0"/>
              <a:t> = </a:t>
            </a:r>
            <a:r>
              <a:rPr lang="en-US" b="1" dirty="0"/>
              <a:t>Mission Element</a:t>
            </a:r>
            <a:endParaRPr lang="en-US" dirty="0"/>
          </a:p>
          <a:p>
            <a:pPr marL="69215">
              <a:lnSpc>
                <a:spcPts val="1235"/>
              </a:lnSpc>
              <a:spcBef>
                <a:spcPts val="10"/>
              </a:spcBef>
            </a:pPr>
            <a:r>
              <a:rPr lang="en-US" b="1" dirty="0"/>
              <a:t>SE</a:t>
            </a:r>
            <a:r>
              <a:rPr lang="en-US" dirty="0"/>
              <a:t> = </a:t>
            </a:r>
            <a:r>
              <a:rPr lang="en-US" b="1" dirty="0"/>
              <a:t>Support Element</a:t>
            </a:r>
            <a:endParaRPr lang="en-US" dirty="0"/>
          </a:p>
          <a:p>
            <a:pPr marL="66675">
              <a:lnSpc>
                <a:spcPts val="1280"/>
              </a:lnSpc>
              <a:spcBef>
                <a:spcPts val="60"/>
              </a:spcBef>
            </a:pPr>
            <a:r>
              <a:rPr lang="en-US" b="1" dirty="0"/>
              <a:t>TL</a:t>
            </a:r>
            <a:r>
              <a:rPr lang="en-US" dirty="0"/>
              <a:t> = </a:t>
            </a:r>
            <a:r>
              <a:rPr lang="en-US" b="1" dirty="0"/>
              <a:t>Team Lead</a:t>
            </a:r>
            <a:endParaRPr lang="en-US" dirty="0"/>
          </a:p>
          <a:p>
            <a:pPr marL="69850">
              <a:lnSpc>
                <a:spcPts val="1280"/>
              </a:lnSpc>
              <a:spcBef>
                <a:spcPts val="10"/>
              </a:spcBef>
            </a:pPr>
            <a:r>
              <a:rPr lang="en-US" b="1" dirty="0"/>
              <a:t>PLNR</a:t>
            </a:r>
            <a:r>
              <a:rPr lang="en-US" dirty="0"/>
              <a:t> = </a:t>
            </a:r>
            <a:r>
              <a:rPr lang="en-US" b="1" dirty="0"/>
              <a:t>Planner</a:t>
            </a:r>
            <a:endParaRPr lang="en-US" dirty="0"/>
          </a:p>
          <a:p>
            <a:pPr marL="76200">
              <a:lnSpc>
                <a:spcPts val="1235"/>
              </a:lnSpc>
              <a:spcBef>
                <a:spcPts val="10"/>
              </a:spcBef>
            </a:pPr>
            <a:r>
              <a:rPr lang="en-US" b="1" dirty="0"/>
              <a:t>OPSO</a:t>
            </a:r>
            <a:r>
              <a:rPr lang="en-US" dirty="0"/>
              <a:t> = </a:t>
            </a:r>
            <a:r>
              <a:rPr lang="en-US" b="1" dirty="0"/>
              <a:t>Operations Officer</a:t>
            </a:r>
            <a:endParaRPr lang="en-US" dirty="0"/>
          </a:p>
          <a:p>
            <a:pPr marL="76835">
              <a:lnSpc>
                <a:spcPts val="1280"/>
              </a:lnSpc>
              <a:spcBef>
                <a:spcPts val="10"/>
              </a:spcBef>
            </a:pPr>
            <a:r>
              <a:rPr lang="en-US" b="1" dirty="0"/>
              <a:t>ASA</a:t>
            </a:r>
            <a:r>
              <a:rPr lang="en-US" dirty="0"/>
              <a:t> = </a:t>
            </a:r>
            <a:r>
              <a:rPr lang="en-US" b="1" dirty="0"/>
              <a:t>All-Source Analyst</a:t>
            </a:r>
            <a:endParaRPr lang="en-US" dirty="0"/>
          </a:p>
          <a:p>
            <a:pPr marL="74295">
              <a:lnSpc>
                <a:spcPts val="1425"/>
              </a:lnSpc>
              <a:spcBef>
                <a:spcPts val="10"/>
              </a:spcBef>
            </a:pPr>
            <a:r>
              <a:rPr lang="en-US" b="1" dirty="0"/>
              <a:t>CTA</a:t>
            </a:r>
            <a:r>
              <a:rPr lang="en-US" dirty="0"/>
              <a:t> = </a:t>
            </a:r>
            <a:r>
              <a:rPr lang="en-US" b="1" dirty="0"/>
              <a:t>Cyber Threat Analyst</a:t>
            </a:r>
            <a:endParaRPr lang="en-US" dirty="0"/>
          </a:p>
          <a:p>
            <a:pPr marL="83185">
              <a:lnSpc>
                <a:spcPts val="1150"/>
              </a:lnSpc>
            </a:pPr>
            <a:r>
              <a:rPr lang="en-US" b="1" dirty="0"/>
              <a:t>ASO</a:t>
            </a:r>
            <a:r>
              <a:rPr lang="en-US" dirty="0"/>
              <a:t> = </a:t>
            </a:r>
            <a:r>
              <a:rPr lang="en-US" b="1" dirty="0"/>
              <a:t>Analytic Support Officer</a:t>
            </a:r>
            <a:endParaRPr lang="en-US" dirty="0"/>
          </a:p>
          <a:p>
            <a:pPr marL="71755">
              <a:lnSpc>
                <a:spcPts val="1235"/>
              </a:lnSpc>
              <a:spcBef>
                <a:spcPts val="10"/>
              </a:spcBef>
            </a:pPr>
            <a:r>
              <a:rPr lang="en-US" b="1" dirty="0"/>
              <a:t>DE</a:t>
            </a:r>
            <a:r>
              <a:rPr lang="en-US" dirty="0"/>
              <a:t> = </a:t>
            </a:r>
            <a:r>
              <a:rPr lang="en-US" b="1" dirty="0"/>
              <a:t>Data Engineer</a:t>
            </a:r>
            <a:endParaRPr lang="en-US" dirty="0"/>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8</a:t>
            </a:fld>
            <a:endParaRPr lang="en-US" dirty="0"/>
          </a:p>
        </p:txBody>
      </p:sp>
    </p:spTree>
    <p:extLst>
      <p:ext uri="{BB962C8B-B14F-4D97-AF65-F5344CB8AC3E}">
        <p14:creationId xmlns:p14="http://schemas.microsoft.com/office/powerpoint/2010/main" val="1241758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Supposed to be hidden</a:t>
            </a:r>
          </a:p>
          <a:p>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10</a:t>
            </a:fld>
            <a:endParaRPr lang="en-US" dirty="0"/>
          </a:p>
        </p:txBody>
      </p:sp>
    </p:spTree>
    <p:extLst>
      <p:ext uri="{BB962C8B-B14F-4D97-AF65-F5344CB8AC3E}">
        <p14:creationId xmlns:p14="http://schemas.microsoft.com/office/powerpoint/2010/main" val="1685776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Supposed to be hidden</a:t>
            </a:r>
          </a:p>
          <a:p>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11</a:t>
            </a:fld>
            <a:endParaRPr lang="en-US" dirty="0"/>
          </a:p>
        </p:txBody>
      </p:sp>
    </p:spTree>
    <p:extLst>
      <p:ext uri="{BB962C8B-B14F-4D97-AF65-F5344CB8AC3E}">
        <p14:creationId xmlns:p14="http://schemas.microsoft.com/office/powerpoint/2010/main" val="28609531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Supposed to be hidden</a:t>
            </a:r>
          </a:p>
          <a:p>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12</a:t>
            </a:fld>
            <a:endParaRPr lang="en-US" dirty="0"/>
          </a:p>
        </p:txBody>
      </p:sp>
    </p:spTree>
    <p:extLst>
      <p:ext uri="{BB962C8B-B14F-4D97-AF65-F5344CB8AC3E}">
        <p14:creationId xmlns:p14="http://schemas.microsoft.com/office/powerpoint/2010/main" val="2519362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298" rtl="0" eaLnBrk="1" fontAlgn="auto" latinLnBrk="0" hangingPunct="1">
              <a:lnSpc>
                <a:spcPct val="100000"/>
              </a:lnSpc>
              <a:spcBef>
                <a:spcPts val="0"/>
              </a:spcBef>
              <a:spcAft>
                <a:spcPts val="0"/>
              </a:spcAft>
              <a:buClrTx/>
              <a:buSzTx/>
              <a:buFontTx/>
              <a:buNone/>
              <a:tabLst/>
              <a:defRPr/>
            </a:pPr>
            <a:r>
              <a:rPr lang="en-US" dirty="0"/>
              <a:t>Fill out before and during mission by Mission Element Lead</a:t>
            </a:r>
          </a:p>
          <a:p>
            <a:pPr>
              <a:defRPr/>
            </a:pPr>
            <a:endParaRPr lang="en-US" dirty="0">
              <a:ea typeface="Calibri"/>
              <a:cs typeface="Calibri"/>
            </a:endParaRPr>
          </a:p>
          <a:p>
            <a:pPr>
              <a:defRPr/>
            </a:pPr>
            <a:r>
              <a:rPr lang="en-US" dirty="0">
                <a:ea typeface="Calibri"/>
                <a:cs typeface="Calibri"/>
              </a:rPr>
              <a:t>Maybe put Actions Completed and Findings in a separate slides if density will be too much to view on one slide</a:t>
            </a: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13</a:t>
            </a:fld>
            <a:endParaRPr lang="en-US" dirty="0"/>
          </a:p>
        </p:txBody>
      </p:sp>
    </p:spTree>
    <p:extLst>
      <p:ext uri="{BB962C8B-B14F-4D97-AF65-F5344CB8AC3E}">
        <p14:creationId xmlns:p14="http://schemas.microsoft.com/office/powerpoint/2010/main" val="973418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90830" indent="-290830">
              <a:spcBef>
                <a:spcPct val="20000"/>
              </a:spcBef>
              <a:spcAft>
                <a:spcPct val="0"/>
              </a:spcAft>
              <a:buFont typeface="Arial"/>
              <a:buChar char="•"/>
            </a:pPr>
            <a:r>
              <a:rPr lang="en-US" b="1" dirty="0"/>
              <a:t>CT5;ST1:</a:t>
            </a:r>
            <a:r>
              <a:rPr lang="en-US" dirty="0"/>
              <a:t> Coordinate with HHQ or designated external organizations to enable response actions. [TL; OPSO; ME Crew Lead; ME Lead]</a:t>
            </a:r>
          </a:p>
          <a:p>
            <a:pPr marL="290830" indent="-290830">
              <a:spcBef>
                <a:spcPct val="20000"/>
              </a:spcBef>
              <a:spcAft>
                <a:spcPct val="0"/>
              </a:spcAft>
              <a:buFont typeface="Arial"/>
              <a:buChar char="•"/>
            </a:pPr>
            <a:r>
              <a:rPr lang="en-US" dirty="0"/>
              <a:t>CT4;ST6: Identify scope of adversary access to determine extent of intrusion. [ME Host and Network Analysts]</a:t>
            </a:r>
            <a:endParaRPr lang="en-US" dirty="0">
              <a:cs typeface="Calibri"/>
            </a:endParaRPr>
          </a:p>
          <a:p>
            <a:pPr marL="290830" indent="-290830">
              <a:spcBef>
                <a:spcPct val="20000"/>
              </a:spcBef>
              <a:spcAft>
                <a:spcPct val="0"/>
              </a:spcAft>
              <a:buFont typeface="Arial"/>
              <a:buChar char="•"/>
            </a:pPr>
            <a:r>
              <a:rPr lang="en-US" dirty="0"/>
              <a:t>CT4;ST7: Coordinate with Support Element/Leadership for mission support as required. [ME Crew Lead; ME Lead]</a:t>
            </a:r>
            <a:endParaRPr lang="en-US" dirty="0">
              <a:cs typeface="Calibri"/>
            </a:endParaRPr>
          </a:p>
          <a:p>
            <a:pPr marL="290830" indent="-290830">
              <a:spcBef>
                <a:spcPct val="20000"/>
              </a:spcBef>
              <a:spcAft>
                <a:spcPct val="0"/>
              </a:spcAft>
              <a:buFont typeface="Arial"/>
              <a:buChar char="•"/>
            </a:pPr>
            <a:r>
              <a:rPr lang="en-US" dirty="0"/>
              <a:t>CT4;ST8: Conduct actions against adversary presence within the terrain. [ME Host and Network Analysts]</a:t>
            </a:r>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14</a:t>
            </a:fld>
            <a:endParaRPr lang="en-US" dirty="0"/>
          </a:p>
        </p:txBody>
      </p:sp>
    </p:spTree>
    <p:extLst>
      <p:ext uri="{BB962C8B-B14F-4D97-AF65-F5344CB8AC3E}">
        <p14:creationId xmlns:p14="http://schemas.microsoft.com/office/powerpoint/2010/main" val="374934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Review and polish</a:t>
            </a:r>
          </a:p>
          <a:p>
            <a:r>
              <a:rPr lang="en-US" dirty="0">
                <a:ea typeface="Calibri"/>
                <a:cs typeface="Calibri"/>
              </a:rPr>
              <a:t>Forensic retention – review and polish.</a:t>
            </a:r>
          </a:p>
          <a:p>
            <a:endParaRPr lang="en-US" dirty="0">
              <a:ea typeface="Calibri"/>
              <a:cs typeface="Calibri"/>
            </a:endParaRPr>
          </a:p>
          <a:p>
            <a:pPr marL="633095" lvl="1" indent="-243840">
              <a:spcBef>
                <a:spcPct val="20000"/>
              </a:spcBef>
              <a:spcAft>
                <a:spcPct val="0"/>
              </a:spcAft>
              <a:buFont typeface="Arial"/>
              <a:buChar char="•"/>
            </a:pPr>
            <a:r>
              <a:rPr lang="en-US" b="1" dirty="0"/>
              <a:t>CT6;ST1:</a:t>
            </a:r>
            <a:r>
              <a:rPr lang="en-US" dirty="0"/>
              <a:t> Emulate threats to determine if technical mitigations are effective. [CL; CTA]</a:t>
            </a:r>
          </a:p>
          <a:p>
            <a:pPr marL="633095" lvl="1" indent="-243840">
              <a:spcBef>
                <a:spcPct val="20000"/>
              </a:spcBef>
              <a:spcAft>
                <a:spcPct val="0"/>
              </a:spcAft>
              <a:buFont typeface="Arial"/>
              <a:buChar char="•"/>
            </a:pPr>
            <a:r>
              <a:rPr lang="en-US" b="1" dirty="0"/>
              <a:t>CT6;ST2:</a:t>
            </a:r>
            <a:r>
              <a:rPr lang="en-US" dirty="0"/>
              <a:t> Emulate threats to determine if procedural mitigations are effective. [CL; CTA]</a:t>
            </a:r>
          </a:p>
          <a:p>
            <a:pPr marL="633095" lvl="1" indent="-243840">
              <a:spcBef>
                <a:spcPct val="20000"/>
              </a:spcBef>
              <a:spcAft>
                <a:spcPct val="0"/>
              </a:spcAft>
              <a:buFont typeface="Arial"/>
              <a:buChar char="•"/>
            </a:pPr>
            <a:r>
              <a:rPr lang="en-US" b="1" dirty="0"/>
              <a:t>CT6;ST3: </a:t>
            </a:r>
            <a:r>
              <a:rPr lang="en-US" dirty="0"/>
              <a:t>Validate if technical mitigations are effective. [ME Host and Network Analysts]</a:t>
            </a:r>
          </a:p>
          <a:p>
            <a:pPr marL="633095" lvl="1" indent="-243840">
              <a:spcBef>
                <a:spcPct val="20000"/>
              </a:spcBef>
              <a:spcAft>
                <a:spcPct val="0"/>
              </a:spcAft>
              <a:buFont typeface="Arial"/>
              <a:buChar char="•"/>
            </a:pPr>
            <a:r>
              <a:rPr lang="en-US" b="1" dirty="0"/>
              <a:t>CT6;ST4: </a:t>
            </a:r>
            <a:r>
              <a:rPr lang="en-US" dirty="0"/>
              <a:t>Validate if procedural mitigations are effective. [ME Host and Network Analysts</a:t>
            </a:r>
            <a:r>
              <a:rPr lang="en-US" u="sng" dirty="0"/>
              <a:t>] </a:t>
            </a:r>
            <a:endParaRPr lang="en-US" dirty="0"/>
          </a:p>
          <a:p>
            <a:pPr marL="290830" indent="-290830">
              <a:spcBef>
                <a:spcPct val="20000"/>
              </a:spcBef>
              <a:spcAft>
                <a:spcPct val="0"/>
              </a:spcAft>
              <a:buFont typeface="Arial"/>
              <a:buChar char="•"/>
            </a:pPr>
            <a:endParaRPr lang="en-US" dirty="0"/>
          </a:p>
          <a:p>
            <a:endParaRPr lang="en-US" dirty="0">
              <a:ea typeface="Calibri"/>
              <a:cs typeface="Calibri"/>
            </a:endParaRPr>
          </a:p>
          <a:p>
            <a:pPr marL="633095" lvl="1" indent="-243840">
              <a:spcBef>
                <a:spcPct val="20000"/>
              </a:spcBef>
              <a:spcAft>
                <a:spcPct val="0"/>
              </a:spcAft>
              <a:buFont typeface="Arial"/>
              <a:buChar char="•"/>
            </a:pPr>
            <a:endParaRPr lang="en-US" dirty="0"/>
          </a:p>
          <a:p>
            <a:pPr marL="633095" lvl="1" indent="-243840">
              <a:spcBef>
                <a:spcPct val="20000"/>
              </a:spcBef>
              <a:spcAft>
                <a:spcPct val="0"/>
              </a:spcAft>
              <a:buFont typeface="Arial"/>
              <a:buChar char="•"/>
            </a:pPr>
            <a:r>
              <a:rPr lang="en-US" b="1" dirty="0"/>
              <a:t>CT4;ST4</a:t>
            </a:r>
            <a:r>
              <a:rPr lang="en-US" dirty="0"/>
              <a:t>:</a:t>
            </a:r>
            <a:r>
              <a:rPr lang="en-US" b="1" dirty="0"/>
              <a:t> </a:t>
            </a:r>
            <a:r>
              <a:rPr lang="en-US" dirty="0"/>
              <a:t>Identify scope of adversary access to determine extent of intrusion. [ME Host and Network Analysts]</a:t>
            </a:r>
          </a:p>
          <a:p>
            <a:pPr marL="633095" lvl="1" indent="-243840">
              <a:spcBef>
                <a:spcPct val="20000"/>
              </a:spcBef>
              <a:spcAft>
                <a:spcPct val="0"/>
              </a:spcAft>
              <a:buFont typeface="Arial"/>
              <a:buChar char="•"/>
            </a:pPr>
            <a:r>
              <a:rPr lang="en-US" b="1" dirty="0"/>
              <a:t>CT4;ST10</a:t>
            </a:r>
            <a:r>
              <a:rPr lang="en-US" dirty="0"/>
              <a:t>: Assess the effectiveness of your current operations. [ME Lead; CL; PLNR; CTA] </a:t>
            </a:r>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15</a:t>
            </a:fld>
            <a:endParaRPr lang="en-US" dirty="0"/>
          </a:p>
        </p:txBody>
      </p:sp>
    </p:spTree>
    <p:extLst>
      <p:ext uri="{BB962C8B-B14F-4D97-AF65-F5344CB8AC3E}">
        <p14:creationId xmlns:p14="http://schemas.microsoft.com/office/powerpoint/2010/main" val="3073198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Monitoring actions? </a:t>
            </a:r>
            <a:r>
              <a:rPr lang="en-US" b="1" dirty="0"/>
              <a:t>CT5;ST4: Eradicate detected malicious activity in order to remove adversarial presence. [ME Host and Network Analysts]</a:t>
            </a:r>
            <a:endParaRPr lang="en-US" b="1" dirty="0">
              <a:ea typeface="Calibri"/>
              <a:cs typeface="Calibri"/>
            </a:endParaRPr>
          </a:p>
          <a:p>
            <a:endParaRPr lang="en-US" b="1" dirty="0">
              <a:ea typeface="Calibri"/>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17</a:t>
            </a:fld>
            <a:endParaRPr lang="en-US" dirty="0"/>
          </a:p>
        </p:txBody>
      </p:sp>
    </p:spTree>
    <p:extLst>
      <p:ext uri="{BB962C8B-B14F-4D97-AF65-F5344CB8AC3E}">
        <p14:creationId xmlns:p14="http://schemas.microsoft.com/office/powerpoint/2010/main" val="1177484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6029" y="1879806"/>
            <a:ext cx="7771946" cy="1297081"/>
          </a:xfrm>
        </p:spPr>
        <p:txBody>
          <a:bodyPr/>
          <a:lstStyle/>
          <a:p>
            <a:r>
              <a:rPr lang="en-US" dirty="0"/>
              <a:t>Click to edit Master title style</a:t>
            </a:r>
          </a:p>
        </p:txBody>
      </p:sp>
      <p:sp>
        <p:nvSpPr>
          <p:cNvPr id="3" name="Subtitle 2"/>
          <p:cNvSpPr>
            <a:spLocks noGrp="1"/>
          </p:cNvSpPr>
          <p:nvPr>
            <p:ph type="subTitle" idx="1"/>
          </p:nvPr>
        </p:nvSpPr>
        <p:spPr>
          <a:xfrm>
            <a:off x="1372063" y="3429000"/>
            <a:ext cx="6399893" cy="1546412"/>
          </a:xfrm>
        </p:spPr>
        <p:txBody>
          <a:bodyPr/>
          <a:lstStyle>
            <a:lvl1pPr marL="0" indent="0" algn="ctr">
              <a:buNone/>
              <a:defRPr/>
            </a:lvl1pPr>
            <a:lvl2pPr marL="355525" indent="0" algn="ctr">
              <a:buNone/>
              <a:defRPr/>
            </a:lvl2pPr>
            <a:lvl3pPr marL="711050" indent="0" algn="ctr">
              <a:buNone/>
              <a:defRPr/>
            </a:lvl3pPr>
            <a:lvl4pPr marL="1066574" indent="0" algn="ctr">
              <a:buNone/>
              <a:defRPr/>
            </a:lvl4pPr>
            <a:lvl5pPr marL="1422100" indent="0" algn="ctr">
              <a:buNone/>
              <a:defRPr/>
            </a:lvl5pPr>
            <a:lvl6pPr marL="1777625" indent="0" algn="ctr">
              <a:buNone/>
              <a:defRPr/>
            </a:lvl6pPr>
            <a:lvl7pPr marL="2133150" indent="0" algn="ctr">
              <a:buNone/>
              <a:defRPr/>
            </a:lvl7pPr>
            <a:lvl8pPr marL="2488674" indent="0" algn="ctr">
              <a:buNone/>
              <a:defRPr/>
            </a:lvl8pPr>
            <a:lvl9pPr marL="2844200" indent="0" algn="ctr">
              <a:buNone/>
              <a:defRPr/>
            </a:lvl9pPr>
          </a:lstStyle>
          <a:p>
            <a:r>
              <a:rPr lang="en-US" dirty="0"/>
              <a:t>Click to edit Master subtitle style</a:t>
            </a: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94F190B1-05CC-447A-9B04-0B7973C28B95}"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543050"/>
            <a:ext cx="8230054" cy="45257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1"/>
          </p:nvPr>
        </p:nvSpPr>
        <p:spPr>
          <a:ln/>
        </p:spPr>
        <p:txBody>
          <a:bodyPr/>
          <a:lstStyle>
            <a:lvl1pPr>
              <a:defRPr sz="1800"/>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681D5C4D-6260-4AA5-8E20-C39A08D4AE25}"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3888461"/>
            <a:ext cx="7771946" cy="1201831"/>
          </a:xfrm>
        </p:spPr>
        <p:txBody>
          <a:bodyPr anchor="t"/>
          <a:lstStyle>
            <a:lvl1pPr algn="l">
              <a:defRPr sz="3100" b="1" cap="all"/>
            </a:lvl1pPr>
          </a:lstStyle>
          <a:p>
            <a:r>
              <a:rPr lang="en-US" dirty="0"/>
              <a:t>Click to edit Master title style</a:t>
            </a:r>
          </a:p>
        </p:txBody>
      </p:sp>
      <p:sp>
        <p:nvSpPr>
          <p:cNvPr id="3" name="Text Placeholder 2"/>
          <p:cNvSpPr>
            <a:spLocks noGrp="1"/>
          </p:cNvSpPr>
          <p:nvPr>
            <p:ph type="body" idx="1"/>
          </p:nvPr>
        </p:nvSpPr>
        <p:spPr>
          <a:xfrm>
            <a:off x="722314" y="2564747"/>
            <a:ext cx="7771946" cy="1323694"/>
          </a:xfrm>
        </p:spPr>
        <p:txBody>
          <a:bodyPr anchor="b"/>
          <a:lstStyle>
            <a:lvl1pPr marL="0" indent="0">
              <a:buNone/>
              <a:defRPr sz="1600"/>
            </a:lvl1pPr>
            <a:lvl2pPr marL="355525" indent="0">
              <a:buNone/>
              <a:defRPr sz="1400"/>
            </a:lvl2pPr>
            <a:lvl3pPr marL="711050" indent="0">
              <a:buNone/>
              <a:defRPr sz="1200"/>
            </a:lvl3pPr>
            <a:lvl4pPr marL="1066574" indent="0">
              <a:buNone/>
              <a:defRPr sz="1100"/>
            </a:lvl4pPr>
            <a:lvl5pPr marL="1422100" indent="0">
              <a:buNone/>
              <a:defRPr sz="1100"/>
            </a:lvl5pPr>
            <a:lvl6pPr marL="1777625" indent="0">
              <a:buNone/>
              <a:defRPr sz="1100"/>
            </a:lvl6pPr>
            <a:lvl7pPr marL="2133150" indent="0">
              <a:buNone/>
              <a:defRPr sz="1100"/>
            </a:lvl7pPr>
            <a:lvl8pPr marL="2488674" indent="0">
              <a:buNone/>
              <a:defRPr sz="1100"/>
            </a:lvl8pPr>
            <a:lvl9pPr marL="2844200" indent="0">
              <a:buNone/>
              <a:defRPr sz="1100"/>
            </a:lvl9pPr>
          </a:lstStyle>
          <a:p>
            <a:pPr lvl="0"/>
            <a:r>
              <a:rPr lang="en-US" dirty="0"/>
              <a:t>Click to edit Master text styles</a:t>
            </a: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7F3F5C04-7CA7-45CF-AD18-237EB4159B8D}"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6976" y="1411961"/>
            <a:ext cx="4060598" cy="3993497"/>
          </a:xfrm>
        </p:spPr>
        <p:txBody>
          <a:bodyPr/>
          <a:lstStyle>
            <a:lvl1pPr>
              <a:defRPr sz="2200"/>
            </a:lvl1pPr>
            <a:lvl2pPr>
              <a:defRPr sz="19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6431" y="1411961"/>
            <a:ext cx="4060599" cy="3993497"/>
          </a:xfrm>
        </p:spPr>
        <p:txBody>
          <a:bodyPr/>
          <a:lstStyle>
            <a:lvl1pPr>
              <a:defRPr sz="2200"/>
            </a:lvl1pPr>
            <a:lvl2pPr>
              <a:defRPr sz="19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7" name="Rectangle 6"/>
          <p:cNvSpPr>
            <a:spLocks noGrp="1" noChangeArrowheads="1"/>
          </p:cNvSpPr>
          <p:nvPr>
            <p:ph type="sldNum" sz="quarter" idx="12"/>
          </p:nvPr>
        </p:nvSpPr>
        <p:spPr>
          <a:ln/>
        </p:spPr>
        <p:txBody>
          <a:bodyPr/>
          <a:lstStyle>
            <a:lvl1pPr>
              <a:defRPr/>
            </a:lvl1pPr>
          </a:lstStyle>
          <a:p>
            <a:pPr>
              <a:defRPr/>
            </a:pPr>
            <a:fld id="{DDDA84BD-5D10-4C53-914E-DBDA0511A5C3}"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6974" y="1354511"/>
            <a:ext cx="4040187" cy="564496"/>
          </a:xfrm>
        </p:spPr>
        <p:txBody>
          <a:bodyPr anchor="b"/>
          <a:lstStyle>
            <a:lvl1pPr marL="0" indent="0">
              <a:buNone/>
              <a:defRPr sz="1900" b="1"/>
            </a:lvl1pPr>
            <a:lvl2pPr marL="355525" indent="0">
              <a:buNone/>
              <a:defRPr sz="1600" b="1"/>
            </a:lvl2pPr>
            <a:lvl3pPr marL="711050" indent="0">
              <a:buNone/>
              <a:defRPr sz="1400" b="1"/>
            </a:lvl3pPr>
            <a:lvl4pPr marL="1066574" indent="0">
              <a:buNone/>
              <a:defRPr sz="1200" b="1"/>
            </a:lvl4pPr>
            <a:lvl5pPr marL="1422100" indent="0">
              <a:buNone/>
              <a:defRPr sz="1200" b="1"/>
            </a:lvl5pPr>
            <a:lvl6pPr marL="1777625" indent="0">
              <a:buNone/>
              <a:defRPr sz="1200" b="1"/>
            </a:lvl6pPr>
            <a:lvl7pPr marL="2133150" indent="0">
              <a:buNone/>
              <a:defRPr sz="1200" b="1"/>
            </a:lvl7pPr>
            <a:lvl8pPr marL="2488674" indent="0">
              <a:buNone/>
              <a:defRPr sz="1200" b="1"/>
            </a:lvl8pPr>
            <a:lvl9pPr marL="2844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6974" y="1919011"/>
            <a:ext cx="4040187" cy="3486431"/>
          </a:xfrm>
        </p:spPr>
        <p:txBody>
          <a:bodyPr/>
          <a:lstStyle>
            <a:lvl1pPr>
              <a:defRPr sz="19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4573" y="1354511"/>
            <a:ext cx="4042456" cy="564496"/>
          </a:xfrm>
        </p:spPr>
        <p:txBody>
          <a:bodyPr anchor="b"/>
          <a:lstStyle>
            <a:lvl1pPr marL="0" indent="0">
              <a:buNone/>
              <a:defRPr sz="1900" b="1"/>
            </a:lvl1pPr>
            <a:lvl2pPr marL="355525" indent="0">
              <a:buNone/>
              <a:defRPr sz="1600" b="1"/>
            </a:lvl2pPr>
            <a:lvl3pPr marL="711050" indent="0">
              <a:buNone/>
              <a:defRPr sz="1400" b="1"/>
            </a:lvl3pPr>
            <a:lvl4pPr marL="1066574" indent="0">
              <a:buNone/>
              <a:defRPr sz="1200" b="1"/>
            </a:lvl4pPr>
            <a:lvl5pPr marL="1422100" indent="0">
              <a:buNone/>
              <a:defRPr sz="1200" b="1"/>
            </a:lvl5pPr>
            <a:lvl6pPr marL="1777625" indent="0">
              <a:buNone/>
              <a:defRPr sz="1200" b="1"/>
            </a:lvl6pPr>
            <a:lvl7pPr marL="2133150" indent="0">
              <a:buNone/>
              <a:defRPr sz="1200" b="1"/>
            </a:lvl7pPr>
            <a:lvl8pPr marL="2488674" indent="0">
              <a:buNone/>
              <a:defRPr sz="1200" b="1"/>
            </a:lvl8pPr>
            <a:lvl9pPr marL="2844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4573" y="1919011"/>
            <a:ext cx="4042456" cy="3486431"/>
          </a:xfrm>
        </p:spPr>
        <p:txBody>
          <a:bodyPr/>
          <a:lstStyle>
            <a:lvl1pPr>
              <a:defRPr sz="19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9" name="Rectangle 6"/>
          <p:cNvSpPr>
            <a:spLocks noGrp="1" noChangeArrowheads="1"/>
          </p:cNvSpPr>
          <p:nvPr>
            <p:ph type="sldNum" sz="quarter" idx="12"/>
          </p:nvPr>
        </p:nvSpPr>
        <p:spPr>
          <a:ln/>
        </p:spPr>
        <p:txBody>
          <a:bodyPr/>
          <a:lstStyle>
            <a:lvl1pPr>
              <a:defRPr/>
            </a:lvl1pPr>
          </a:lstStyle>
          <a:p>
            <a:pPr>
              <a:defRPr/>
            </a:pPr>
            <a:fld id="{6F93F9CD-3D94-42A3-8205-21ECB4D45414}"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4" name="Rectangle 6"/>
          <p:cNvSpPr>
            <a:spLocks noGrp="1" noChangeArrowheads="1"/>
          </p:cNvSpPr>
          <p:nvPr>
            <p:ph type="sldNum" sz="quarter" idx="12"/>
          </p:nvPr>
        </p:nvSpPr>
        <p:spPr>
          <a:ln/>
        </p:spPr>
        <p:txBody>
          <a:bodyPr/>
          <a:lstStyle>
            <a:lvl1pPr>
              <a:defRPr/>
            </a:lvl1pPr>
          </a:lstStyle>
          <a:p>
            <a:pPr>
              <a:defRPr/>
            </a:pPr>
            <a:fld id="{45718BCD-5C14-4954-9905-347ACBB94E91}"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6976" y="240927"/>
            <a:ext cx="3008312" cy="1025338"/>
          </a:xfrm>
        </p:spPr>
        <p:txBody>
          <a:bodyPr anchor="b"/>
          <a:lstStyle>
            <a:lvl1pPr algn="l">
              <a:defRPr sz="1600" b="1"/>
            </a:lvl1pPr>
          </a:lstStyle>
          <a:p>
            <a:r>
              <a:rPr lang="en-US"/>
              <a:t>Click to edit Master title style</a:t>
            </a:r>
          </a:p>
        </p:txBody>
      </p:sp>
      <p:sp>
        <p:nvSpPr>
          <p:cNvPr id="3" name="Content Placeholder 2"/>
          <p:cNvSpPr>
            <a:spLocks noGrp="1"/>
          </p:cNvSpPr>
          <p:nvPr>
            <p:ph idx="1"/>
          </p:nvPr>
        </p:nvSpPr>
        <p:spPr>
          <a:xfrm>
            <a:off x="3575278" y="240945"/>
            <a:ext cx="5111750" cy="5164511"/>
          </a:xfrm>
        </p:spPr>
        <p:txBody>
          <a:bodyPr/>
          <a:lstStyle>
            <a:lvl1pPr>
              <a:defRPr sz="2500"/>
            </a:lvl1pPr>
            <a:lvl2pPr>
              <a:defRPr sz="2200"/>
            </a:lvl2pPr>
            <a:lvl3pPr>
              <a:defRPr sz="19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6976" y="1266284"/>
            <a:ext cx="3008312" cy="4139173"/>
          </a:xfrm>
        </p:spPr>
        <p:txBody>
          <a:bodyPr/>
          <a:lstStyle>
            <a:lvl1pPr marL="0" indent="0">
              <a:buNone/>
              <a:defRPr sz="1100"/>
            </a:lvl1pPr>
            <a:lvl2pPr marL="355525" indent="0">
              <a:buNone/>
              <a:defRPr sz="900"/>
            </a:lvl2pPr>
            <a:lvl3pPr marL="711050" indent="0">
              <a:buNone/>
              <a:defRPr sz="800"/>
            </a:lvl3pPr>
            <a:lvl4pPr marL="1066574" indent="0">
              <a:buNone/>
              <a:defRPr sz="700"/>
            </a:lvl4pPr>
            <a:lvl5pPr marL="1422100" indent="0">
              <a:buNone/>
              <a:defRPr sz="700"/>
            </a:lvl5pPr>
            <a:lvl6pPr marL="1777625" indent="0">
              <a:buNone/>
              <a:defRPr sz="700"/>
            </a:lvl6pPr>
            <a:lvl7pPr marL="2133150" indent="0">
              <a:buNone/>
              <a:defRPr sz="700"/>
            </a:lvl7pPr>
            <a:lvl8pPr marL="2488674" indent="0">
              <a:buNone/>
              <a:defRPr sz="700"/>
            </a:lvl8pPr>
            <a:lvl9pPr marL="2844200" indent="0">
              <a:buNone/>
              <a:defRPr sz="700"/>
            </a:lvl9pPr>
          </a:lstStyle>
          <a:p>
            <a:pPr lvl="0"/>
            <a:r>
              <a:rPr lang="en-US"/>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7" name="Rectangle 6"/>
          <p:cNvSpPr>
            <a:spLocks noGrp="1" noChangeArrowheads="1"/>
          </p:cNvSpPr>
          <p:nvPr>
            <p:ph type="sldNum" sz="quarter" idx="12"/>
          </p:nvPr>
        </p:nvSpPr>
        <p:spPr>
          <a:ln/>
        </p:spPr>
        <p:txBody>
          <a:bodyPr/>
          <a:lstStyle>
            <a:lvl1pPr>
              <a:defRPr/>
            </a:lvl1pPr>
          </a:lstStyle>
          <a:p>
            <a:pPr>
              <a:defRPr/>
            </a:pPr>
            <a:fld id="{3641054D-9303-4D31-A1D8-C6F4004359A8}"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744" y="4235842"/>
            <a:ext cx="5485946" cy="500063"/>
          </a:xfrm>
        </p:spPr>
        <p:txBody>
          <a:bodyPr anchor="b"/>
          <a:lstStyle>
            <a:lvl1pPr algn="l">
              <a:defRPr sz="1600" b="1"/>
            </a:lvl1pPr>
          </a:lstStyle>
          <a:p>
            <a:r>
              <a:rPr lang="en-US"/>
              <a:t>Click to edit Master title style</a:t>
            </a:r>
          </a:p>
        </p:txBody>
      </p:sp>
      <p:sp>
        <p:nvSpPr>
          <p:cNvPr id="3" name="Picture Placeholder 2"/>
          <p:cNvSpPr>
            <a:spLocks noGrp="1"/>
          </p:cNvSpPr>
          <p:nvPr>
            <p:ph type="pic" idx="1"/>
          </p:nvPr>
        </p:nvSpPr>
        <p:spPr>
          <a:xfrm>
            <a:off x="1792744" y="540684"/>
            <a:ext cx="5485946" cy="3630706"/>
          </a:xfrm>
        </p:spPr>
        <p:txBody>
          <a:bodyPr lIns="71105" tIns="35552" rIns="71105" bIns="35552"/>
          <a:lstStyle>
            <a:lvl1pPr marL="0" indent="0">
              <a:buNone/>
              <a:defRPr sz="2500"/>
            </a:lvl1pPr>
            <a:lvl2pPr marL="355525" indent="0">
              <a:buNone/>
              <a:defRPr sz="2200"/>
            </a:lvl2pPr>
            <a:lvl3pPr marL="711050" indent="0">
              <a:buNone/>
              <a:defRPr sz="1900"/>
            </a:lvl3pPr>
            <a:lvl4pPr marL="1066574" indent="0">
              <a:buNone/>
              <a:defRPr sz="1600"/>
            </a:lvl4pPr>
            <a:lvl5pPr marL="1422100" indent="0">
              <a:buNone/>
              <a:defRPr sz="1600"/>
            </a:lvl5pPr>
            <a:lvl6pPr marL="1777625" indent="0">
              <a:buNone/>
              <a:defRPr sz="1600"/>
            </a:lvl6pPr>
            <a:lvl7pPr marL="2133150" indent="0">
              <a:buNone/>
              <a:defRPr sz="1600"/>
            </a:lvl7pPr>
            <a:lvl8pPr marL="2488674" indent="0">
              <a:buNone/>
              <a:defRPr sz="1600"/>
            </a:lvl8pPr>
            <a:lvl9pPr marL="2844200" indent="0">
              <a:buNone/>
              <a:defRPr sz="1600"/>
            </a:lvl9pPr>
          </a:lstStyle>
          <a:p>
            <a:pPr lvl="0"/>
            <a:endParaRPr lang="en-US" noProof="0" dirty="0"/>
          </a:p>
        </p:txBody>
      </p:sp>
      <p:sp>
        <p:nvSpPr>
          <p:cNvPr id="4" name="Text Placeholder 3"/>
          <p:cNvSpPr>
            <a:spLocks noGrp="1"/>
          </p:cNvSpPr>
          <p:nvPr>
            <p:ph type="body" sz="half" idx="2"/>
          </p:nvPr>
        </p:nvSpPr>
        <p:spPr>
          <a:xfrm>
            <a:off x="1792744" y="4735887"/>
            <a:ext cx="5485946" cy="710172"/>
          </a:xfrm>
        </p:spPr>
        <p:txBody>
          <a:bodyPr/>
          <a:lstStyle>
            <a:lvl1pPr marL="0" indent="0">
              <a:buNone/>
              <a:defRPr sz="1100"/>
            </a:lvl1pPr>
            <a:lvl2pPr marL="355525" indent="0">
              <a:buNone/>
              <a:defRPr sz="900"/>
            </a:lvl2pPr>
            <a:lvl3pPr marL="711050" indent="0">
              <a:buNone/>
              <a:defRPr sz="800"/>
            </a:lvl3pPr>
            <a:lvl4pPr marL="1066574" indent="0">
              <a:buNone/>
              <a:defRPr sz="700"/>
            </a:lvl4pPr>
            <a:lvl5pPr marL="1422100" indent="0">
              <a:buNone/>
              <a:defRPr sz="700"/>
            </a:lvl5pPr>
            <a:lvl6pPr marL="1777625" indent="0">
              <a:buNone/>
              <a:defRPr sz="700"/>
            </a:lvl6pPr>
            <a:lvl7pPr marL="2133150" indent="0">
              <a:buNone/>
              <a:defRPr sz="700"/>
            </a:lvl7pPr>
            <a:lvl8pPr marL="2488674" indent="0">
              <a:buNone/>
              <a:defRPr sz="700"/>
            </a:lvl8pPr>
            <a:lvl9pPr marL="2844200" indent="0">
              <a:buNone/>
              <a:defRPr sz="700"/>
            </a:lvl9pPr>
          </a:lstStyle>
          <a:p>
            <a:pPr lvl="0"/>
            <a:r>
              <a:rPr lang="en-US"/>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7" name="Rectangle 6"/>
          <p:cNvSpPr>
            <a:spLocks noGrp="1" noChangeArrowheads="1"/>
          </p:cNvSpPr>
          <p:nvPr>
            <p:ph type="sldNum" sz="quarter" idx="12"/>
          </p:nvPr>
        </p:nvSpPr>
        <p:spPr>
          <a:ln/>
        </p:spPr>
        <p:txBody>
          <a:bodyPr/>
          <a:lstStyle>
            <a:lvl1pPr>
              <a:defRPr/>
            </a:lvl1pPr>
          </a:lstStyle>
          <a:p>
            <a:pPr>
              <a:defRPr/>
            </a:pPr>
            <a:fld id="{C5F98600-7B0F-4E4C-8790-DF8E28D7AD4B}"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3A567909-14B6-4E2D-963E-5192164B3827}"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082" y="242328"/>
            <a:ext cx="2056946" cy="516311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6976" y="242328"/>
            <a:ext cx="6064250" cy="516311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887476F3-F3E4-41C3-ACDF-EE84262D69B7}"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6975" y="242347"/>
            <a:ext cx="8230054" cy="1008529"/>
          </a:xfrm>
        </p:spPr>
        <p:txBody>
          <a:bodyPr/>
          <a:lstStyle/>
          <a:p>
            <a:r>
              <a:rPr lang="en-US"/>
              <a:t>Click to edit Master title style</a:t>
            </a:r>
          </a:p>
        </p:txBody>
      </p:sp>
      <p:sp>
        <p:nvSpPr>
          <p:cNvPr id="3" name="SmartArt Placeholder 2"/>
          <p:cNvSpPr>
            <a:spLocks noGrp="1"/>
          </p:cNvSpPr>
          <p:nvPr>
            <p:ph type="dgm" idx="1"/>
          </p:nvPr>
        </p:nvSpPr>
        <p:spPr>
          <a:xfrm>
            <a:off x="456975" y="1411961"/>
            <a:ext cx="8230054" cy="3993497"/>
          </a:xfrm>
        </p:spPr>
        <p:txBody>
          <a:bodyPr lIns="71105" tIns="35552" rIns="71105" bIns="35552"/>
          <a:lstStyle/>
          <a:p>
            <a:pPr lvl="0"/>
            <a:endParaRPr lang="en-US" noProof="0" dirty="0"/>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BFF806ED-D761-4B05-80C5-C02FCBC1268F}"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6975" y="274545"/>
            <a:ext cx="8230054" cy="5852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5" name="Rectangle 6"/>
          <p:cNvSpPr>
            <a:spLocks noGrp="1" noChangeArrowheads="1"/>
          </p:cNvSpPr>
          <p:nvPr>
            <p:ph type="sldNum" sz="quarter" idx="12"/>
          </p:nvPr>
        </p:nvSpPr>
        <p:spPr>
          <a:ln/>
        </p:spPr>
        <p:txBody>
          <a:bodyPr/>
          <a:lstStyle>
            <a:lvl1pPr>
              <a:defRPr/>
            </a:lvl1pPr>
          </a:lstStyle>
          <a:p>
            <a:pPr>
              <a:defRPr/>
            </a:pPr>
            <a:fld id="{F5C61DD6-176E-4D3B-BAE5-9B79FCDFC724}"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57"/>
        <p:cNvGrpSpPr/>
        <p:nvPr/>
      </p:nvGrpSpPr>
      <p:grpSpPr>
        <a:xfrm>
          <a:off x="0" y="0"/>
          <a:ext cx="0" cy="0"/>
          <a:chOff x="0" y="0"/>
          <a:chExt cx="0" cy="0"/>
        </a:xfrm>
      </p:grpSpPr>
      <p:sp>
        <p:nvSpPr>
          <p:cNvPr id="58" name="Google Shape;58;p14"/>
          <p:cNvSpPr txBox="1">
            <a:spLocks noGrp="1"/>
          </p:cNvSpPr>
          <p:nvPr>
            <p:ph type="ctrTitle"/>
          </p:nvPr>
        </p:nvSpPr>
        <p:spPr>
          <a:xfrm>
            <a:off x="0" y="1371600"/>
            <a:ext cx="9144000" cy="3200400"/>
          </a:xfrm>
          <a:prstGeom prst="rect">
            <a:avLst/>
          </a:prstGeom>
          <a:noFill/>
          <a:ln>
            <a:noFill/>
          </a:ln>
        </p:spPr>
        <p:txBody>
          <a:bodyPr spcFirstLastPara="1" wrap="square" lIns="91425" tIns="45700" rIns="91425" bIns="45700" anchor="b" anchorCtr="0">
            <a:normAutofit/>
          </a:bodyPr>
          <a:lstStyle>
            <a:lvl1pPr lvl="0" algn="ctr" rtl="0">
              <a:lnSpc>
                <a:spcPct val="100000"/>
              </a:lnSpc>
              <a:spcBef>
                <a:spcPts val="0"/>
              </a:spcBef>
              <a:spcAft>
                <a:spcPts val="0"/>
              </a:spcAft>
              <a:buClr>
                <a:schemeClr val="dk1"/>
              </a:buClr>
              <a:buSzPts val="3600"/>
              <a:buFont typeface="Arial"/>
              <a:buNone/>
              <a:defRPr sz="36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9" name="Google Shape;59;p14"/>
          <p:cNvSpPr txBox="1">
            <a:spLocks noGrp="1"/>
          </p:cNvSpPr>
          <p:nvPr>
            <p:ph type="subTitle" idx="1"/>
          </p:nvPr>
        </p:nvSpPr>
        <p:spPr>
          <a:xfrm>
            <a:off x="0" y="4648200"/>
            <a:ext cx="9144000" cy="17528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rgbClr val="595959"/>
              </a:buClr>
              <a:buSzPts val="2700"/>
              <a:buNone/>
              <a:defRPr sz="2700">
                <a:solidFill>
                  <a:srgbClr val="595959"/>
                </a:solidFill>
              </a:defRPr>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Tree>
    <p:extLst>
      <p:ext uri="{BB962C8B-B14F-4D97-AF65-F5344CB8AC3E}">
        <p14:creationId xmlns:p14="http://schemas.microsoft.com/office/powerpoint/2010/main" val="21060784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0"/>
        <p:cNvGrpSpPr/>
        <p:nvPr/>
      </p:nvGrpSpPr>
      <p:grpSpPr>
        <a:xfrm>
          <a:off x="0" y="0"/>
          <a:ext cx="0" cy="0"/>
          <a:chOff x="0" y="0"/>
          <a:chExt cx="0" cy="0"/>
        </a:xfrm>
      </p:grpSpPr>
      <p:sp>
        <p:nvSpPr>
          <p:cNvPr id="61" name="Google Shape;61;p15"/>
          <p:cNvSpPr txBox="1">
            <a:spLocks noGrp="1"/>
          </p:cNvSpPr>
          <p:nvPr>
            <p:ph type="sldNum" idx="12"/>
          </p:nvPr>
        </p:nvSpPr>
        <p:spPr>
          <a:xfrm>
            <a:off x="8698732" y="6487681"/>
            <a:ext cx="445200" cy="365200"/>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9pPr>
          </a:lstStyle>
          <a:p>
            <a:fld id="{00000000-1234-1234-1234-123412341234}" type="slidenum">
              <a:rPr lang="en" smtClean="0"/>
              <a:pPr/>
              <a:t>‹#›</a:t>
            </a:fld>
            <a:endParaRPr lang="en"/>
          </a:p>
        </p:txBody>
      </p:sp>
      <p:sp>
        <p:nvSpPr>
          <p:cNvPr id="62" name="Google Shape;62;p15"/>
          <p:cNvSpPr txBox="1">
            <a:spLocks noGrp="1"/>
          </p:cNvSpPr>
          <p:nvPr>
            <p:ph type="body" idx="1"/>
          </p:nvPr>
        </p:nvSpPr>
        <p:spPr>
          <a:xfrm>
            <a:off x="234565" y="830140"/>
            <a:ext cx="8686800" cy="5669200"/>
          </a:xfrm>
          <a:prstGeom prst="rect">
            <a:avLst/>
          </a:prstGeom>
          <a:noFill/>
          <a:ln>
            <a:noFill/>
          </a:ln>
        </p:spPr>
        <p:txBody>
          <a:bodyPr spcFirstLastPara="1" wrap="square" lIns="91425" tIns="45700" rIns="91425" bIns="45700" anchor="t" anchorCtr="0">
            <a:normAutofit/>
          </a:bodyPr>
          <a:lstStyle>
            <a:lvl1pPr marL="457200" lvl="0" indent="-361950" algn="l" rtl="0">
              <a:lnSpc>
                <a:spcPct val="90000"/>
              </a:lnSpc>
              <a:spcBef>
                <a:spcPts val="750"/>
              </a:spcBef>
              <a:spcAft>
                <a:spcPts val="0"/>
              </a:spcAft>
              <a:buClr>
                <a:schemeClr val="dk1"/>
              </a:buClr>
              <a:buSzPts val="2100"/>
              <a:buChar char="•"/>
              <a:defRPr sz="2100">
                <a:latin typeface="Calibri"/>
                <a:ea typeface="Calibri"/>
                <a:cs typeface="Calibri"/>
                <a:sym typeface="Calibri"/>
              </a:defRPr>
            </a:lvl1pPr>
            <a:lvl2pPr marL="914400" lvl="1" indent="-342900" algn="l" rtl="0">
              <a:lnSpc>
                <a:spcPct val="90000"/>
              </a:lnSpc>
              <a:spcBef>
                <a:spcPts val="375"/>
              </a:spcBef>
              <a:spcAft>
                <a:spcPts val="0"/>
              </a:spcAft>
              <a:buClr>
                <a:schemeClr val="dk1"/>
              </a:buClr>
              <a:buSzPts val="1800"/>
              <a:buChar char="‒"/>
              <a:defRPr sz="1800">
                <a:latin typeface="Calibri"/>
                <a:ea typeface="Calibri"/>
                <a:cs typeface="Calibri"/>
                <a:sym typeface="Calibri"/>
              </a:defRPr>
            </a:lvl2pPr>
            <a:lvl3pPr marL="1371600" lvl="2" indent="-323850" algn="l" rtl="0">
              <a:lnSpc>
                <a:spcPct val="90000"/>
              </a:lnSpc>
              <a:spcBef>
                <a:spcPts val="375"/>
              </a:spcBef>
              <a:spcAft>
                <a:spcPts val="0"/>
              </a:spcAft>
              <a:buClr>
                <a:schemeClr val="dk1"/>
              </a:buClr>
              <a:buSzPts val="1500"/>
              <a:buChar char="•"/>
              <a:defRPr sz="1500">
                <a:latin typeface="Calibri"/>
                <a:ea typeface="Calibri"/>
                <a:cs typeface="Calibri"/>
                <a:sym typeface="Calibri"/>
              </a:defRPr>
            </a:lvl3pPr>
            <a:lvl4pPr marL="1828800" lvl="3" indent="-314325" algn="l" rtl="0">
              <a:lnSpc>
                <a:spcPct val="90000"/>
              </a:lnSpc>
              <a:spcBef>
                <a:spcPts val="375"/>
              </a:spcBef>
              <a:spcAft>
                <a:spcPts val="0"/>
              </a:spcAft>
              <a:buClr>
                <a:schemeClr val="dk1"/>
              </a:buClr>
              <a:buSzPts val="1350"/>
              <a:buChar char="‒"/>
              <a:defRPr sz="1350">
                <a:latin typeface="Calibri"/>
                <a:ea typeface="Calibri"/>
                <a:cs typeface="Calibri"/>
                <a:sym typeface="Calibri"/>
              </a:defRPr>
            </a:lvl4pPr>
            <a:lvl5pPr marL="2286000" lvl="4" indent="-314325" algn="l" rtl="0">
              <a:lnSpc>
                <a:spcPct val="90000"/>
              </a:lnSpc>
              <a:spcBef>
                <a:spcPts val="375"/>
              </a:spcBef>
              <a:spcAft>
                <a:spcPts val="0"/>
              </a:spcAft>
              <a:buClr>
                <a:schemeClr val="dk1"/>
              </a:buClr>
              <a:buSzPts val="1350"/>
              <a:buChar char="»"/>
              <a:defRPr sz="1350">
                <a:latin typeface="Calibri"/>
                <a:ea typeface="Calibri"/>
                <a:cs typeface="Calibri"/>
                <a:sym typeface="Calibri"/>
              </a:defRPr>
            </a:lvl5pPr>
            <a:lvl6pPr marL="2743200" lvl="5" indent="-314325" algn="l" rtl="0">
              <a:lnSpc>
                <a:spcPct val="90000"/>
              </a:lnSpc>
              <a:spcBef>
                <a:spcPts val="375"/>
              </a:spcBef>
              <a:spcAft>
                <a:spcPts val="0"/>
              </a:spcAft>
              <a:buClr>
                <a:schemeClr val="dk1"/>
              </a:buClr>
              <a:buSzPts val="1350"/>
              <a:buChar char="•"/>
              <a:defRPr sz="1350"/>
            </a:lvl6pPr>
            <a:lvl7pPr marL="3200400" lvl="6" indent="-314325" algn="l" rtl="0">
              <a:lnSpc>
                <a:spcPct val="90000"/>
              </a:lnSpc>
              <a:spcBef>
                <a:spcPts val="375"/>
              </a:spcBef>
              <a:spcAft>
                <a:spcPts val="0"/>
              </a:spcAft>
              <a:buClr>
                <a:schemeClr val="dk1"/>
              </a:buClr>
              <a:buSzPts val="1350"/>
              <a:buChar char="•"/>
              <a:defRPr sz="1350"/>
            </a:lvl7pPr>
            <a:lvl8pPr marL="3657600" lvl="7" indent="-314325" algn="l" rtl="0">
              <a:lnSpc>
                <a:spcPct val="90000"/>
              </a:lnSpc>
              <a:spcBef>
                <a:spcPts val="375"/>
              </a:spcBef>
              <a:spcAft>
                <a:spcPts val="0"/>
              </a:spcAft>
              <a:buClr>
                <a:schemeClr val="dk1"/>
              </a:buClr>
              <a:buSzPts val="1350"/>
              <a:buChar char="•"/>
              <a:defRPr sz="1350"/>
            </a:lvl8pPr>
            <a:lvl9pPr marL="4114800" lvl="8" indent="-314325" algn="l" rtl="0">
              <a:lnSpc>
                <a:spcPct val="90000"/>
              </a:lnSpc>
              <a:spcBef>
                <a:spcPts val="375"/>
              </a:spcBef>
              <a:spcAft>
                <a:spcPts val="0"/>
              </a:spcAft>
              <a:buClr>
                <a:schemeClr val="dk1"/>
              </a:buClr>
              <a:buSzPts val="1350"/>
              <a:buChar char="•"/>
              <a:defRPr sz="1350"/>
            </a:lvl9pPr>
          </a:lstStyle>
          <a:p>
            <a:endParaRPr/>
          </a:p>
        </p:txBody>
      </p:sp>
      <p:sp>
        <p:nvSpPr>
          <p:cNvPr id="63" name="Google Shape;63;p15"/>
          <p:cNvSpPr txBox="1">
            <a:spLocks noGrp="1"/>
          </p:cNvSpPr>
          <p:nvPr>
            <p:ph type="title"/>
          </p:nvPr>
        </p:nvSpPr>
        <p:spPr>
          <a:xfrm>
            <a:off x="0" y="0"/>
            <a:ext cx="9144000" cy="8300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7743097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457200" y="274637"/>
            <a:ext cx="8229600" cy="11432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6" name="Google Shape;66;p16"/>
          <p:cNvSpPr txBox="1">
            <a:spLocks noGrp="1"/>
          </p:cNvSpPr>
          <p:nvPr>
            <p:ph type="body" idx="1"/>
          </p:nvPr>
        </p:nvSpPr>
        <p:spPr>
          <a:xfrm>
            <a:off x="457200" y="1600200"/>
            <a:ext cx="8229600" cy="4526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67" name="Google Shape;67;p16"/>
          <p:cNvSpPr txBox="1">
            <a:spLocks noGrp="1"/>
          </p:cNvSpPr>
          <p:nvPr>
            <p:ph type="dt" idx="10"/>
          </p:nvPr>
        </p:nvSpPr>
        <p:spPr>
          <a:xfrm>
            <a:off x="457200" y="6356351"/>
            <a:ext cx="2133600" cy="365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8" name="Google Shape;68;p16"/>
          <p:cNvSpPr txBox="1">
            <a:spLocks noGrp="1"/>
          </p:cNvSpPr>
          <p:nvPr>
            <p:ph type="ftr" idx="11"/>
          </p:nvPr>
        </p:nvSpPr>
        <p:spPr>
          <a:xfrm>
            <a:off x="3124200" y="6356351"/>
            <a:ext cx="2895600" cy="365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9" name="Google Shape;69;p16"/>
          <p:cNvSpPr txBox="1">
            <a:spLocks noGrp="1"/>
          </p:cNvSpPr>
          <p:nvPr>
            <p:ph type="sldNum" idx="12"/>
          </p:nvPr>
        </p:nvSpPr>
        <p:spPr>
          <a:xfrm>
            <a:off x="6553200" y="6356351"/>
            <a:ext cx="21336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9371619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1447819" y="385951"/>
            <a:ext cx="7696200" cy="742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4695375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Google Shape;73;p18"/>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4" name="Google Shape;74;p18"/>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5" name="Google Shape;75;p18"/>
          <p:cNvSpPr txBox="1">
            <a:spLocks noGrp="1"/>
          </p:cNvSpPr>
          <p:nvPr>
            <p:ph type="sldNum" idx="12"/>
          </p:nvPr>
        </p:nvSpPr>
        <p:spPr>
          <a:xfrm>
            <a:off x="5638800" y="6637421"/>
            <a:ext cx="1600200" cy="224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825"/>
              <a:buFont typeface="Arial"/>
              <a:buNone/>
              <a:defRPr sz="825"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25"/>
              <a:buFont typeface="Arial"/>
              <a:buNone/>
              <a:defRPr sz="825"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25"/>
              <a:buFont typeface="Arial"/>
              <a:buNone/>
              <a:defRPr sz="825"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25"/>
              <a:buFont typeface="Arial"/>
              <a:buNone/>
              <a:defRPr sz="825"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25"/>
              <a:buFont typeface="Arial"/>
              <a:buNone/>
              <a:defRPr sz="825"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25"/>
              <a:buFont typeface="Arial"/>
              <a:buNone/>
              <a:defRPr sz="825"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25"/>
              <a:buFont typeface="Arial"/>
              <a:buNone/>
              <a:defRPr sz="825"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25"/>
              <a:buFont typeface="Arial"/>
              <a:buNone/>
              <a:defRPr sz="825"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25"/>
              <a:buFont typeface="Arial"/>
              <a:buNone/>
              <a:defRPr sz="825" b="1"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1770749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ext">
  <p:cSld name="Text">
    <p:spTree>
      <p:nvGrpSpPr>
        <p:cNvPr id="1" name="Shape 76"/>
        <p:cNvGrpSpPr/>
        <p:nvPr/>
      </p:nvGrpSpPr>
      <p:grpSpPr>
        <a:xfrm>
          <a:off x="0" y="0"/>
          <a:ext cx="0" cy="0"/>
          <a:chOff x="0" y="0"/>
          <a:chExt cx="0" cy="0"/>
        </a:xfrm>
      </p:grpSpPr>
      <p:sp>
        <p:nvSpPr>
          <p:cNvPr id="77" name="Google Shape;77;p19"/>
          <p:cNvSpPr txBox="1">
            <a:spLocks noGrp="1"/>
          </p:cNvSpPr>
          <p:nvPr>
            <p:ph type="sldNum" idx="12"/>
          </p:nvPr>
        </p:nvSpPr>
        <p:spPr>
          <a:xfrm>
            <a:off x="6248400" y="6633411"/>
            <a:ext cx="1600200" cy="224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125925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78"/>
        <p:cNvGrpSpPr/>
        <p:nvPr/>
      </p:nvGrpSpPr>
      <p:grpSpPr>
        <a:xfrm>
          <a:off x="0" y="0"/>
          <a:ext cx="0" cy="0"/>
          <a:chOff x="0" y="0"/>
          <a:chExt cx="0" cy="0"/>
        </a:xfrm>
      </p:grpSpPr>
      <p:sp>
        <p:nvSpPr>
          <p:cNvPr id="79" name="Google Shape;79;p20"/>
          <p:cNvSpPr txBox="1">
            <a:spLocks noGrp="1"/>
          </p:cNvSpPr>
          <p:nvPr>
            <p:ph type="sldNum" idx="12"/>
          </p:nvPr>
        </p:nvSpPr>
        <p:spPr>
          <a:xfrm>
            <a:off x="5638800" y="6637421"/>
            <a:ext cx="1600200" cy="2248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9pPr>
          </a:lstStyle>
          <a:p>
            <a:r>
              <a:rPr lang="en-US"/>
              <a:t>POC John C. Allred, John.C.Allred.CTR@mail.mil</a:t>
            </a:r>
          </a:p>
        </p:txBody>
      </p:sp>
    </p:spTree>
    <p:extLst>
      <p:ext uri="{BB962C8B-B14F-4D97-AF65-F5344CB8AC3E}">
        <p14:creationId xmlns:p14="http://schemas.microsoft.com/office/powerpoint/2010/main" val="13107945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80"/>
        <p:cNvGrpSpPr/>
        <p:nvPr/>
      </p:nvGrpSpPr>
      <p:grpSpPr>
        <a:xfrm>
          <a:off x="0" y="0"/>
          <a:ext cx="0" cy="0"/>
          <a:chOff x="0" y="0"/>
          <a:chExt cx="0" cy="0"/>
        </a:xfrm>
      </p:grpSpPr>
      <p:sp>
        <p:nvSpPr>
          <p:cNvPr id="81" name="Google Shape;81;p21"/>
          <p:cNvSpPr txBox="1">
            <a:spLocks noGrp="1"/>
          </p:cNvSpPr>
          <p:nvPr>
            <p:ph type="title"/>
          </p:nvPr>
        </p:nvSpPr>
        <p:spPr>
          <a:xfrm>
            <a:off x="1524000" y="317787"/>
            <a:ext cx="7618500" cy="8776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2" name="Google Shape;82;p21"/>
          <p:cNvSpPr txBox="1">
            <a:spLocks noGrp="1"/>
          </p:cNvSpPr>
          <p:nvPr>
            <p:ph type="sldNum" idx="12"/>
          </p:nvPr>
        </p:nvSpPr>
        <p:spPr>
          <a:xfrm>
            <a:off x="5638800" y="6637421"/>
            <a:ext cx="1600200" cy="224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9pPr>
          </a:lstStyle>
          <a:p>
            <a:r>
              <a:rPr lang="en-US"/>
              <a:t>POC: Mr. John  C. Allred, john.c.allred.ctr@mail.mil</a:t>
            </a:r>
          </a:p>
        </p:txBody>
      </p:sp>
    </p:spTree>
    <p:extLst>
      <p:ext uri="{BB962C8B-B14F-4D97-AF65-F5344CB8AC3E}">
        <p14:creationId xmlns:p14="http://schemas.microsoft.com/office/powerpoint/2010/main" val="37585314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3"/>
        <p:cNvGrpSpPr/>
        <p:nvPr/>
      </p:nvGrpSpPr>
      <p:grpSpPr>
        <a:xfrm>
          <a:off x="0" y="0"/>
          <a:ext cx="0" cy="0"/>
          <a:chOff x="0" y="0"/>
          <a:chExt cx="0" cy="0"/>
        </a:xfrm>
      </p:grpSpPr>
      <p:sp>
        <p:nvSpPr>
          <p:cNvPr id="84" name="Google Shape;84;p22"/>
          <p:cNvSpPr txBox="1">
            <a:spLocks noGrp="1"/>
          </p:cNvSpPr>
          <p:nvPr>
            <p:ph type="sldNum" idx="12"/>
          </p:nvPr>
        </p:nvSpPr>
        <p:spPr>
          <a:xfrm>
            <a:off x="7239000" y="6494463"/>
            <a:ext cx="1905000" cy="457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595920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85"/>
        <p:cNvGrpSpPr/>
        <p:nvPr/>
      </p:nvGrpSpPr>
      <p:grpSpPr>
        <a:xfrm>
          <a:off x="0" y="0"/>
          <a:ext cx="0" cy="0"/>
          <a:chOff x="0" y="0"/>
          <a:chExt cx="0" cy="0"/>
        </a:xfrm>
      </p:grpSpPr>
      <p:sp>
        <p:nvSpPr>
          <p:cNvPr id="86" name="Google Shape;86;p23"/>
          <p:cNvSpPr txBox="1">
            <a:spLocks noGrp="1"/>
          </p:cNvSpPr>
          <p:nvPr>
            <p:ph type="sldNum" idx="12"/>
          </p:nvPr>
        </p:nvSpPr>
        <p:spPr>
          <a:xfrm>
            <a:off x="7239000" y="6494463"/>
            <a:ext cx="1905000" cy="457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380055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3_Title Slide">
  <p:cSld name="3_Title Slide">
    <p:spTree>
      <p:nvGrpSpPr>
        <p:cNvPr id="1" name="Shape 87"/>
        <p:cNvGrpSpPr/>
        <p:nvPr/>
      </p:nvGrpSpPr>
      <p:grpSpPr>
        <a:xfrm>
          <a:off x="0" y="0"/>
          <a:ext cx="0" cy="0"/>
          <a:chOff x="0" y="0"/>
          <a:chExt cx="0" cy="0"/>
        </a:xfrm>
      </p:grpSpPr>
      <p:sp>
        <p:nvSpPr>
          <p:cNvPr id="88" name="Google Shape;88;p24"/>
          <p:cNvSpPr txBox="1">
            <a:spLocks noGrp="1"/>
          </p:cNvSpPr>
          <p:nvPr>
            <p:ph type="sldNum" idx="12"/>
          </p:nvPr>
        </p:nvSpPr>
        <p:spPr>
          <a:xfrm>
            <a:off x="7239000" y="6494463"/>
            <a:ext cx="1905000" cy="457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748266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920 Version 09-02">
  <p:cSld name="P920 Version 09-02">
    <p:spTree>
      <p:nvGrpSpPr>
        <p:cNvPr id="1" name="Shape 89"/>
        <p:cNvGrpSpPr/>
        <p:nvPr/>
      </p:nvGrpSpPr>
      <p:grpSpPr>
        <a:xfrm>
          <a:off x="0" y="0"/>
          <a:ext cx="0" cy="0"/>
          <a:chOff x="0" y="0"/>
          <a:chExt cx="0" cy="0"/>
        </a:xfrm>
      </p:grpSpPr>
      <p:sp>
        <p:nvSpPr>
          <p:cNvPr id="90" name="Google Shape;90;p25"/>
          <p:cNvSpPr txBox="1">
            <a:spLocks noGrp="1"/>
          </p:cNvSpPr>
          <p:nvPr>
            <p:ph type="title"/>
          </p:nvPr>
        </p:nvSpPr>
        <p:spPr>
          <a:xfrm>
            <a:off x="1524000" y="317787"/>
            <a:ext cx="7618500" cy="8776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1" name="Google Shape;91;p25"/>
          <p:cNvSpPr txBox="1">
            <a:spLocks noGrp="1"/>
          </p:cNvSpPr>
          <p:nvPr>
            <p:ph type="sldNum" idx="12"/>
          </p:nvPr>
        </p:nvSpPr>
        <p:spPr>
          <a:xfrm>
            <a:off x="8628063" y="6577013"/>
            <a:ext cx="558900" cy="2160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25"/>
              <a:buFont typeface="Arial"/>
              <a:buNone/>
              <a:defRPr sz="825" b="1" i="0" u="none" strike="noStrike" cap="none">
                <a:solidFill>
                  <a:srgbClr val="795339"/>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487981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8_Title and Content">
  <p:cSld name="18_Title and Content">
    <p:spTree>
      <p:nvGrpSpPr>
        <p:cNvPr id="1" name="Shape 92"/>
        <p:cNvGrpSpPr/>
        <p:nvPr/>
      </p:nvGrpSpPr>
      <p:grpSpPr>
        <a:xfrm>
          <a:off x="0" y="0"/>
          <a:ext cx="0" cy="0"/>
          <a:chOff x="0" y="0"/>
          <a:chExt cx="0" cy="0"/>
        </a:xfrm>
      </p:grpSpPr>
    </p:spTree>
    <p:extLst>
      <p:ext uri="{BB962C8B-B14F-4D97-AF65-F5344CB8AC3E}">
        <p14:creationId xmlns:p14="http://schemas.microsoft.com/office/powerpoint/2010/main" val="20135100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3"/>
        <p:cNvGrpSpPr/>
        <p:nvPr/>
      </p:nvGrpSpPr>
      <p:grpSpPr>
        <a:xfrm>
          <a:off x="0" y="0"/>
          <a:ext cx="0" cy="0"/>
          <a:chOff x="0" y="0"/>
          <a:chExt cx="0" cy="0"/>
        </a:xfrm>
      </p:grpSpPr>
      <p:sp>
        <p:nvSpPr>
          <p:cNvPr id="94" name="Google Shape;94;p27"/>
          <p:cNvSpPr txBox="1">
            <a:spLocks noGrp="1"/>
          </p:cNvSpPr>
          <p:nvPr>
            <p:ph type="title"/>
          </p:nvPr>
        </p:nvSpPr>
        <p:spPr>
          <a:xfrm>
            <a:off x="311700" y="2867800"/>
            <a:ext cx="8520600" cy="1122400"/>
          </a:xfrm>
          <a:prstGeom prst="rect">
            <a:avLst/>
          </a:prstGeom>
          <a:noFill/>
          <a:ln>
            <a:noFill/>
          </a:ln>
        </p:spPr>
        <p:txBody>
          <a:bodyPr spcFirstLastPara="1" wrap="square" lIns="91425" tIns="45700" rIns="91425" bIns="45700" anchor="ctr" anchorCtr="0">
            <a:normAutofit/>
          </a:bodyPr>
          <a:lstStyle>
            <a:lvl1pPr lvl="0" algn="ctr" rtl="0">
              <a:lnSpc>
                <a:spcPct val="90000"/>
              </a:lnSpc>
              <a:spcBef>
                <a:spcPts val="0"/>
              </a:spcBef>
              <a:spcAft>
                <a:spcPts val="0"/>
              </a:spcAft>
              <a:buSzPts val="3600"/>
              <a:buNone/>
              <a:defRPr sz="3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95" name="Google Shape;95;p27"/>
          <p:cNvSpPr txBox="1">
            <a:spLocks noGrp="1"/>
          </p:cNvSpPr>
          <p:nvPr>
            <p:ph type="sldNum" idx="12"/>
          </p:nvPr>
        </p:nvSpPr>
        <p:spPr>
          <a:xfrm>
            <a:off x="8472458" y="6217623"/>
            <a:ext cx="548700" cy="524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25"/>
              <a:buFont typeface="Arial"/>
              <a:buNone/>
              <a:defRPr sz="825" b="1" i="0" u="none" strike="noStrike" cap="none">
                <a:solidFill>
                  <a:srgbClr val="000000"/>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1951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1">
  <p:cSld name="Title Slide 1">
    <p:spTree>
      <p:nvGrpSpPr>
        <p:cNvPr id="1" name="Shape 96"/>
        <p:cNvGrpSpPr/>
        <p:nvPr/>
      </p:nvGrpSpPr>
      <p:grpSpPr>
        <a:xfrm>
          <a:off x="0" y="0"/>
          <a:ext cx="0" cy="0"/>
          <a:chOff x="0" y="0"/>
          <a:chExt cx="0" cy="0"/>
        </a:xfrm>
      </p:grpSpPr>
    </p:spTree>
    <p:extLst>
      <p:ext uri="{BB962C8B-B14F-4D97-AF65-F5344CB8AC3E}">
        <p14:creationId xmlns:p14="http://schemas.microsoft.com/office/powerpoint/2010/main" val="14654602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97"/>
        <p:cNvGrpSpPr/>
        <p:nvPr/>
      </p:nvGrpSpPr>
      <p:grpSpPr>
        <a:xfrm>
          <a:off x="0" y="0"/>
          <a:ext cx="0" cy="0"/>
          <a:chOff x="0" y="0"/>
          <a:chExt cx="0" cy="0"/>
        </a:xfrm>
      </p:grpSpPr>
      <p:sp>
        <p:nvSpPr>
          <p:cNvPr id="98" name="Google Shape;98;p29"/>
          <p:cNvSpPr txBox="1">
            <a:spLocks noGrp="1"/>
          </p:cNvSpPr>
          <p:nvPr>
            <p:ph type="title"/>
          </p:nvPr>
        </p:nvSpPr>
        <p:spPr>
          <a:xfrm>
            <a:off x="1558125" y="652067"/>
            <a:ext cx="6243900" cy="1205200"/>
          </a:xfrm>
          <a:prstGeom prst="rect">
            <a:avLst/>
          </a:prstGeom>
        </p:spPr>
        <p:txBody>
          <a:bodyPr spcFirstLastPara="1" wrap="square" lIns="91425" tIns="45700" rIns="91425" bIns="45700" anchor="ctr" anchorCtr="0">
            <a:normAutofit/>
          </a:bodyPr>
          <a:lstStyle>
            <a:lvl1pPr lvl="0" algn="ctr" rtl="0">
              <a:spcBef>
                <a:spcPts val="0"/>
              </a:spcBef>
              <a:spcAft>
                <a:spcPts val="0"/>
              </a:spcAft>
              <a:buSzPts val="3900"/>
              <a:buNone/>
              <a:defRPr sz="39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9" name="Google Shape;99;p29"/>
          <p:cNvSpPr txBox="1">
            <a:spLocks noGrp="1"/>
          </p:cNvSpPr>
          <p:nvPr>
            <p:ph type="body" idx="1"/>
          </p:nvPr>
        </p:nvSpPr>
        <p:spPr>
          <a:xfrm>
            <a:off x="311700" y="1961233"/>
            <a:ext cx="8520600" cy="4256400"/>
          </a:xfrm>
          <a:prstGeom prst="rect">
            <a:avLst/>
          </a:prstGeom>
        </p:spPr>
        <p:txBody>
          <a:bodyPr spcFirstLastPara="1" wrap="square" lIns="91425" tIns="45700" rIns="91425" bIns="45700" anchor="t" anchorCtr="0">
            <a:normAutofit/>
          </a:bodyPr>
          <a:lstStyle>
            <a:lvl1pPr marL="457200" lvl="0" indent="-406400" rtl="0">
              <a:spcBef>
                <a:spcPts val="750"/>
              </a:spcBef>
              <a:spcAft>
                <a:spcPts val="0"/>
              </a:spcAft>
              <a:buClr>
                <a:schemeClr val="dk1"/>
              </a:buClr>
              <a:buSzPts val="2800"/>
              <a:buChar char="•"/>
              <a:defRPr>
                <a:solidFill>
                  <a:schemeClr val="dk1"/>
                </a:solidFill>
              </a:defRPr>
            </a:lvl1pPr>
            <a:lvl2pPr marL="914400" lvl="1" indent="-381000" rtl="0">
              <a:spcBef>
                <a:spcPts val="375"/>
              </a:spcBef>
              <a:spcAft>
                <a:spcPts val="0"/>
              </a:spcAft>
              <a:buClr>
                <a:schemeClr val="dk1"/>
              </a:buClr>
              <a:buSzPts val="2400"/>
              <a:buChar char="‒"/>
              <a:defRPr>
                <a:solidFill>
                  <a:schemeClr val="dk1"/>
                </a:solidFill>
              </a:defRPr>
            </a:lvl2pPr>
            <a:lvl3pPr marL="1371600" lvl="2" indent="-355600" rtl="0">
              <a:spcBef>
                <a:spcPts val="375"/>
              </a:spcBef>
              <a:spcAft>
                <a:spcPts val="0"/>
              </a:spcAft>
              <a:buClr>
                <a:schemeClr val="dk1"/>
              </a:buClr>
              <a:buSzPts val="2000"/>
              <a:buChar char="•"/>
              <a:defRPr>
                <a:solidFill>
                  <a:schemeClr val="dk1"/>
                </a:solidFill>
              </a:defRPr>
            </a:lvl3pPr>
            <a:lvl4pPr marL="1828800" lvl="3" indent="-342900" rtl="0">
              <a:spcBef>
                <a:spcPts val="375"/>
              </a:spcBef>
              <a:spcAft>
                <a:spcPts val="0"/>
              </a:spcAft>
              <a:buClr>
                <a:schemeClr val="dk1"/>
              </a:buClr>
              <a:buSzPts val="1800"/>
              <a:buChar char="‒"/>
              <a:defRPr>
                <a:solidFill>
                  <a:schemeClr val="dk1"/>
                </a:solidFill>
              </a:defRPr>
            </a:lvl4pPr>
            <a:lvl5pPr marL="2286000" lvl="4" indent="-330200" rtl="0">
              <a:spcBef>
                <a:spcPts val="375"/>
              </a:spcBef>
              <a:spcAft>
                <a:spcPts val="0"/>
              </a:spcAft>
              <a:buClr>
                <a:schemeClr val="dk1"/>
              </a:buClr>
              <a:buSzPts val="1600"/>
              <a:buChar char="»"/>
              <a:defRPr>
                <a:solidFill>
                  <a:schemeClr val="dk1"/>
                </a:solidFill>
              </a:defRPr>
            </a:lvl5pPr>
            <a:lvl6pPr marL="2743200" lvl="5" indent="-314325" rtl="0">
              <a:spcBef>
                <a:spcPts val="375"/>
              </a:spcBef>
              <a:spcAft>
                <a:spcPts val="0"/>
              </a:spcAft>
              <a:buClr>
                <a:schemeClr val="dk1"/>
              </a:buClr>
              <a:buSzPts val="1350"/>
              <a:buChar char="•"/>
              <a:defRPr>
                <a:solidFill>
                  <a:schemeClr val="dk1"/>
                </a:solidFill>
              </a:defRPr>
            </a:lvl6pPr>
            <a:lvl7pPr marL="3200400" lvl="6" indent="-314325" rtl="0">
              <a:spcBef>
                <a:spcPts val="375"/>
              </a:spcBef>
              <a:spcAft>
                <a:spcPts val="0"/>
              </a:spcAft>
              <a:buClr>
                <a:schemeClr val="dk1"/>
              </a:buClr>
              <a:buSzPts val="1350"/>
              <a:buChar char="•"/>
              <a:defRPr>
                <a:solidFill>
                  <a:schemeClr val="dk1"/>
                </a:solidFill>
              </a:defRPr>
            </a:lvl7pPr>
            <a:lvl8pPr marL="3657600" lvl="7" indent="-314325" rtl="0">
              <a:spcBef>
                <a:spcPts val="375"/>
              </a:spcBef>
              <a:spcAft>
                <a:spcPts val="0"/>
              </a:spcAft>
              <a:buClr>
                <a:schemeClr val="dk1"/>
              </a:buClr>
              <a:buSzPts val="1350"/>
              <a:buChar char="•"/>
              <a:defRPr>
                <a:solidFill>
                  <a:schemeClr val="dk1"/>
                </a:solidFill>
              </a:defRPr>
            </a:lvl8pPr>
            <a:lvl9pPr marL="4114800" lvl="8" indent="-314325" rtl="0">
              <a:spcBef>
                <a:spcPts val="375"/>
              </a:spcBef>
              <a:spcAft>
                <a:spcPts val="0"/>
              </a:spcAft>
              <a:buClr>
                <a:schemeClr val="dk1"/>
              </a:buClr>
              <a:buSzPts val="1350"/>
              <a:buChar char="•"/>
              <a:defRPr>
                <a:solidFill>
                  <a:schemeClr val="dk1"/>
                </a:solidFill>
              </a:defRPr>
            </a:lvl9pPr>
          </a:lstStyle>
          <a:p>
            <a:endParaRPr/>
          </a:p>
        </p:txBody>
      </p:sp>
      <p:sp>
        <p:nvSpPr>
          <p:cNvPr id="100" name="Google Shape;100;p29"/>
          <p:cNvSpPr txBox="1">
            <a:spLocks noGrp="1"/>
          </p:cNvSpPr>
          <p:nvPr>
            <p:ph type="sldNum" idx="12"/>
          </p:nvPr>
        </p:nvSpPr>
        <p:spPr>
          <a:xfrm>
            <a:off x="8472458" y="6217623"/>
            <a:ext cx="5487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01" name="Google Shape;101;p29"/>
          <p:cNvSpPr txBox="1"/>
          <p:nvPr/>
        </p:nvSpPr>
        <p:spPr>
          <a:xfrm>
            <a:off x="3860225" y="6321601"/>
            <a:ext cx="1573800"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rgbClr val="38761D"/>
                </a:solidFill>
              </a:rPr>
              <a:t>UNCLASSIFIED</a:t>
            </a:r>
            <a:endParaRPr sz="1800" b="1">
              <a:solidFill>
                <a:srgbClr val="38761D"/>
              </a:solidFill>
            </a:endParaRPr>
          </a:p>
        </p:txBody>
      </p:sp>
      <p:sp>
        <p:nvSpPr>
          <p:cNvPr id="102" name="Google Shape;102;p29"/>
          <p:cNvSpPr txBox="1"/>
          <p:nvPr/>
        </p:nvSpPr>
        <p:spPr>
          <a:xfrm>
            <a:off x="3785100" y="1"/>
            <a:ext cx="1573800"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rgbClr val="38761D"/>
                </a:solidFill>
              </a:rPr>
              <a:t>UNCLASSIFIED</a:t>
            </a:r>
            <a:endParaRPr sz="1800" b="1">
              <a:solidFill>
                <a:srgbClr val="38761D"/>
              </a:solidFill>
            </a:endParaRPr>
          </a:p>
        </p:txBody>
      </p:sp>
    </p:spTree>
    <p:extLst>
      <p:ext uri="{BB962C8B-B14F-4D97-AF65-F5344CB8AC3E}">
        <p14:creationId xmlns:p14="http://schemas.microsoft.com/office/powerpoint/2010/main" val="187281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3.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7653661" y="274545"/>
            <a:ext cx="1033368" cy="971366"/>
          </a:xfrm>
          <a:prstGeom prst="rect">
            <a:avLst/>
          </a:prstGeom>
        </p:spPr>
      </p:pic>
      <p:sp>
        <p:nvSpPr>
          <p:cNvPr id="1026" name="Rectangle 2"/>
          <p:cNvSpPr>
            <a:spLocks noGrp="1" noChangeArrowheads="1"/>
          </p:cNvSpPr>
          <p:nvPr>
            <p:ph type="title"/>
          </p:nvPr>
        </p:nvSpPr>
        <p:spPr bwMode="auto">
          <a:xfrm>
            <a:off x="456975" y="274544"/>
            <a:ext cx="8230054" cy="1143000"/>
          </a:xfrm>
          <a:prstGeom prst="rect">
            <a:avLst/>
          </a:prstGeom>
          <a:noFill/>
          <a:ln w="9525">
            <a:noFill/>
            <a:miter lim="800000"/>
            <a:headEnd/>
            <a:tailEnd/>
          </a:ln>
        </p:spPr>
        <p:txBody>
          <a:bodyPr vert="horz" wrap="square" lIns="77905" tIns="38953" rIns="77905" bIns="38953"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6975" y="1601048"/>
            <a:ext cx="8230054" cy="4525775"/>
          </a:xfrm>
          <a:prstGeom prst="rect">
            <a:avLst/>
          </a:prstGeom>
          <a:noFill/>
          <a:ln w="9525">
            <a:noFill/>
            <a:miter lim="800000"/>
            <a:headEnd/>
            <a:tailEnd/>
          </a:ln>
        </p:spPr>
        <p:txBody>
          <a:bodyPr vert="horz" wrap="square" lIns="77905" tIns="38953" rIns="77905" bIns="38953"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3123975" y="6245879"/>
            <a:ext cx="2896054" cy="476250"/>
          </a:xfrm>
          <a:prstGeom prst="rect">
            <a:avLst/>
          </a:prstGeom>
          <a:noFill/>
          <a:ln w="9525">
            <a:noFill/>
            <a:miter lim="800000"/>
            <a:headEnd/>
            <a:tailEnd/>
          </a:ln>
        </p:spPr>
        <p:txBody>
          <a:bodyPr vert="horz" wrap="square" lIns="77905" tIns="38953" rIns="77905" bIns="38953" numCol="1" anchor="t" anchorCtr="0" compatLnSpc="1">
            <a:prstTxWarp prst="textNoShape">
              <a:avLst/>
            </a:prstTxWarp>
          </a:bodyPr>
          <a:lstStyle>
            <a:lvl1pPr algn="ctr">
              <a:defRPr sz="1600"/>
            </a:lvl1pPr>
          </a:lstStyle>
          <a:p>
            <a:pPr fontAlgn="base">
              <a:spcBef>
                <a:spcPct val="0"/>
              </a:spcBef>
              <a:spcAft>
                <a:spcPct val="0"/>
              </a:spcAft>
              <a:defRPr/>
            </a:pPr>
            <a:r>
              <a:rPr lang="en-US" dirty="0">
                <a:solidFill>
                  <a:srgbClr val="000000"/>
                </a:solidFill>
              </a:rPr>
              <a:t>UNCLASSIFIED/FOUO</a:t>
            </a:r>
          </a:p>
        </p:txBody>
      </p:sp>
      <p:sp>
        <p:nvSpPr>
          <p:cNvPr id="1030" name="Rectangle 6"/>
          <p:cNvSpPr>
            <a:spLocks noGrp="1" noChangeArrowheads="1"/>
          </p:cNvSpPr>
          <p:nvPr>
            <p:ph type="sldNum" sz="quarter" idx="4"/>
          </p:nvPr>
        </p:nvSpPr>
        <p:spPr bwMode="auto">
          <a:xfrm>
            <a:off x="6554109" y="6245879"/>
            <a:ext cx="2132920" cy="476250"/>
          </a:xfrm>
          <a:prstGeom prst="rect">
            <a:avLst/>
          </a:prstGeom>
          <a:noFill/>
          <a:ln w="9525">
            <a:noFill/>
            <a:miter lim="800000"/>
            <a:headEnd/>
            <a:tailEnd/>
          </a:ln>
        </p:spPr>
        <p:txBody>
          <a:bodyPr vert="horz" wrap="square" lIns="77905" tIns="38953" rIns="77905" bIns="38953" numCol="1" anchor="t" anchorCtr="0" compatLnSpc="1">
            <a:prstTxWarp prst="textNoShape">
              <a:avLst/>
            </a:prstTxWarp>
          </a:bodyPr>
          <a:lstStyle>
            <a:lvl1pPr algn="r">
              <a:defRPr sz="1200"/>
            </a:lvl1pPr>
          </a:lstStyle>
          <a:p>
            <a:pPr fontAlgn="base">
              <a:spcBef>
                <a:spcPct val="0"/>
              </a:spcBef>
              <a:spcAft>
                <a:spcPct val="0"/>
              </a:spcAft>
              <a:defRPr/>
            </a:pPr>
            <a:fld id="{4F9D4A0F-4FCF-4E13-A5AB-2BE87E8DE90C}" type="slidenum">
              <a:rPr lang="en-US">
                <a:solidFill>
                  <a:srgbClr val="000000"/>
                </a:solidFill>
              </a:rPr>
              <a:pPr fontAlgn="base">
                <a:spcBef>
                  <a:spcPct val="0"/>
                </a:spcBef>
                <a:spcAft>
                  <a:spcPct val="0"/>
                </a:spcAft>
                <a:defRPr/>
              </a:pPr>
              <a:t>‹#›</a:t>
            </a:fld>
            <a:endParaRPr lang="en-US" dirty="0">
              <a:solidFill>
                <a:srgbClr val="000000"/>
              </a:solidFill>
            </a:endParaRPr>
          </a:p>
        </p:txBody>
      </p:sp>
      <p:pic>
        <p:nvPicPr>
          <p:cNvPr id="4" name="Picture 3">
            <a:extLst>
              <a:ext uri="{FF2B5EF4-FFF2-40B4-BE49-F238E27FC236}">
                <a16:creationId xmlns:a16="http://schemas.microsoft.com/office/drawing/2014/main" id="{25C12817-7AB4-4099-84E8-9F31B7019D78}"/>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57201" y="285750"/>
            <a:ext cx="870966" cy="1028700"/>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ctr" defTabSz="778945" rtl="0" eaLnBrk="0" fontAlgn="base" hangingPunct="0">
        <a:spcBef>
          <a:spcPct val="0"/>
        </a:spcBef>
        <a:spcAft>
          <a:spcPct val="0"/>
        </a:spcAft>
        <a:defRPr sz="3700">
          <a:solidFill>
            <a:schemeClr val="tx2"/>
          </a:solidFill>
          <a:latin typeface="+mj-lt"/>
          <a:ea typeface="+mj-ea"/>
          <a:cs typeface="+mj-cs"/>
        </a:defRPr>
      </a:lvl1pPr>
      <a:lvl2pPr algn="ctr" defTabSz="778945" rtl="0" eaLnBrk="0" fontAlgn="base" hangingPunct="0">
        <a:spcBef>
          <a:spcPct val="0"/>
        </a:spcBef>
        <a:spcAft>
          <a:spcPct val="0"/>
        </a:spcAft>
        <a:defRPr sz="3700">
          <a:solidFill>
            <a:schemeClr val="tx2"/>
          </a:solidFill>
          <a:latin typeface="Arial" charset="0"/>
        </a:defRPr>
      </a:lvl2pPr>
      <a:lvl3pPr algn="ctr" defTabSz="778945" rtl="0" eaLnBrk="0" fontAlgn="base" hangingPunct="0">
        <a:spcBef>
          <a:spcPct val="0"/>
        </a:spcBef>
        <a:spcAft>
          <a:spcPct val="0"/>
        </a:spcAft>
        <a:defRPr sz="3700">
          <a:solidFill>
            <a:schemeClr val="tx2"/>
          </a:solidFill>
          <a:latin typeface="Arial" charset="0"/>
        </a:defRPr>
      </a:lvl3pPr>
      <a:lvl4pPr algn="ctr" defTabSz="778945" rtl="0" eaLnBrk="0" fontAlgn="base" hangingPunct="0">
        <a:spcBef>
          <a:spcPct val="0"/>
        </a:spcBef>
        <a:spcAft>
          <a:spcPct val="0"/>
        </a:spcAft>
        <a:defRPr sz="3700">
          <a:solidFill>
            <a:schemeClr val="tx2"/>
          </a:solidFill>
          <a:latin typeface="Arial" charset="0"/>
        </a:defRPr>
      </a:lvl4pPr>
      <a:lvl5pPr algn="ctr" defTabSz="778945" rtl="0" eaLnBrk="0" fontAlgn="base" hangingPunct="0">
        <a:spcBef>
          <a:spcPct val="0"/>
        </a:spcBef>
        <a:spcAft>
          <a:spcPct val="0"/>
        </a:spcAft>
        <a:defRPr sz="3700">
          <a:solidFill>
            <a:schemeClr val="tx2"/>
          </a:solidFill>
          <a:latin typeface="Arial" charset="0"/>
        </a:defRPr>
      </a:lvl5pPr>
      <a:lvl6pPr marL="355525" algn="ctr" rtl="0" fontAlgn="base">
        <a:spcBef>
          <a:spcPct val="0"/>
        </a:spcBef>
        <a:spcAft>
          <a:spcPct val="0"/>
        </a:spcAft>
        <a:defRPr sz="3400">
          <a:solidFill>
            <a:schemeClr val="tx2"/>
          </a:solidFill>
          <a:latin typeface="Arial" charset="0"/>
        </a:defRPr>
      </a:lvl6pPr>
      <a:lvl7pPr marL="711050" algn="ctr" rtl="0" fontAlgn="base">
        <a:spcBef>
          <a:spcPct val="0"/>
        </a:spcBef>
        <a:spcAft>
          <a:spcPct val="0"/>
        </a:spcAft>
        <a:defRPr sz="3400">
          <a:solidFill>
            <a:schemeClr val="tx2"/>
          </a:solidFill>
          <a:latin typeface="Arial" charset="0"/>
        </a:defRPr>
      </a:lvl7pPr>
      <a:lvl8pPr marL="1066574" algn="ctr" rtl="0" fontAlgn="base">
        <a:spcBef>
          <a:spcPct val="0"/>
        </a:spcBef>
        <a:spcAft>
          <a:spcPct val="0"/>
        </a:spcAft>
        <a:defRPr sz="3400">
          <a:solidFill>
            <a:schemeClr val="tx2"/>
          </a:solidFill>
          <a:latin typeface="Arial" charset="0"/>
        </a:defRPr>
      </a:lvl8pPr>
      <a:lvl9pPr marL="1422100" algn="ctr" rtl="0" fontAlgn="base">
        <a:spcBef>
          <a:spcPct val="0"/>
        </a:spcBef>
        <a:spcAft>
          <a:spcPct val="0"/>
        </a:spcAft>
        <a:defRPr sz="3400">
          <a:solidFill>
            <a:schemeClr val="tx2"/>
          </a:solidFill>
          <a:latin typeface="Arial" charset="0"/>
        </a:defRPr>
      </a:lvl9pPr>
    </p:titleStyle>
    <p:body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p:bodyStyle>
    <p:otherStyle>
      <a:defPPr>
        <a:defRPr lang="en-US"/>
      </a:defPPr>
      <a:lvl1pPr marL="0" algn="l" defTabSz="711050" rtl="0" eaLnBrk="1" latinLnBrk="0" hangingPunct="1">
        <a:defRPr sz="1400" kern="1200">
          <a:solidFill>
            <a:schemeClr val="tx1"/>
          </a:solidFill>
          <a:latin typeface="+mn-lt"/>
          <a:ea typeface="+mn-ea"/>
          <a:cs typeface="+mn-cs"/>
        </a:defRPr>
      </a:lvl1pPr>
      <a:lvl2pPr marL="355525" algn="l" defTabSz="711050" rtl="0" eaLnBrk="1" latinLnBrk="0" hangingPunct="1">
        <a:defRPr sz="1400" kern="1200">
          <a:solidFill>
            <a:schemeClr val="tx1"/>
          </a:solidFill>
          <a:latin typeface="+mn-lt"/>
          <a:ea typeface="+mn-ea"/>
          <a:cs typeface="+mn-cs"/>
        </a:defRPr>
      </a:lvl2pPr>
      <a:lvl3pPr marL="711050" algn="l" defTabSz="711050" rtl="0" eaLnBrk="1" latinLnBrk="0" hangingPunct="1">
        <a:defRPr sz="1400" kern="1200">
          <a:solidFill>
            <a:schemeClr val="tx1"/>
          </a:solidFill>
          <a:latin typeface="+mn-lt"/>
          <a:ea typeface="+mn-ea"/>
          <a:cs typeface="+mn-cs"/>
        </a:defRPr>
      </a:lvl3pPr>
      <a:lvl4pPr marL="1066574" algn="l" defTabSz="711050" rtl="0" eaLnBrk="1" latinLnBrk="0" hangingPunct="1">
        <a:defRPr sz="1400" kern="1200">
          <a:solidFill>
            <a:schemeClr val="tx1"/>
          </a:solidFill>
          <a:latin typeface="+mn-lt"/>
          <a:ea typeface="+mn-ea"/>
          <a:cs typeface="+mn-cs"/>
        </a:defRPr>
      </a:lvl4pPr>
      <a:lvl5pPr marL="1422100" algn="l" defTabSz="711050" rtl="0" eaLnBrk="1" latinLnBrk="0" hangingPunct="1">
        <a:defRPr sz="1400" kern="1200">
          <a:solidFill>
            <a:schemeClr val="tx1"/>
          </a:solidFill>
          <a:latin typeface="+mn-lt"/>
          <a:ea typeface="+mn-ea"/>
          <a:cs typeface="+mn-cs"/>
        </a:defRPr>
      </a:lvl5pPr>
      <a:lvl6pPr marL="1777625" algn="l" defTabSz="711050" rtl="0" eaLnBrk="1" latinLnBrk="0" hangingPunct="1">
        <a:defRPr sz="1400" kern="1200">
          <a:solidFill>
            <a:schemeClr val="tx1"/>
          </a:solidFill>
          <a:latin typeface="+mn-lt"/>
          <a:ea typeface="+mn-ea"/>
          <a:cs typeface="+mn-cs"/>
        </a:defRPr>
      </a:lvl6pPr>
      <a:lvl7pPr marL="2133150" algn="l" defTabSz="711050" rtl="0" eaLnBrk="1" latinLnBrk="0" hangingPunct="1">
        <a:defRPr sz="1400" kern="1200">
          <a:solidFill>
            <a:schemeClr val="tx1"/>
          </a:solidFill>
          <a:latin typeface="+mn-lt"/>
          <a:ea typeface="+mn-ea"/>
          <a:cs typeface="+mn-cs"/>
        </a:defRPr>
      </a:lvl7pPr>
      <a:lvl8pPr marL="2488674" algn="l" defTabSz="711050" rtl="0" eaLnBrk="1" latinLnBrk="0" hangingPunct="1">
        <a:defRPr sz="1400" kern="1200">
          <a:solidFill>
            <a:schemeClr val="tx1"/>
          </a:solidFill>
          <a:latin typeface="+mn-lt"/>
          <a:ea typeface="+mn-ea"/>
          <a:cs typeface="+mn-cs"/>
        </a:defRPr>
      </a:lvl8pPr>
      <a:lvl9pPr marL="2844200" algn="l" defTabSz="711050" rtl="0" eaLnBrk="1" latinLnBrk="0" hangingPunct="1">
        <a:defRPr sz="1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171450" y="1351651"/>
            <a:ext cx="8731800" cy="51176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75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375"/>
              </a:spcBef>
              <a:spcAft>
                <a:spcPts val="0"/>
              </a:spcAft>
              <a:buClr>
                <a:schemeClr val="dk1"/>
              </a:buClr>
              <a:buSzPts val="2400"/>
              <a:buFont typeface="Calibri"/>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375"/>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4pPr>
            <a:lvl5pPr marL="2286000" marR="0" lvl="4" indent="-330200" algn="l" rtl="0">
              <a:lnSpc>
                <a:spcPct val="90000"/>
              </a:lnSpc>
              <a:spcBef>
                <a:spcPts val="375"/>
              </a:spcBef>
              <a:spcAft>
                <a:spcPts val="0"/>
              </a:spcAft>
              <a:buClr>
                <a:schemeClr val="dk1"/>
              </a:buClr>
              <a:buSzPts val="1600"/>
              <a:buFont typeface="Calibri"/>
              <a:buChar char="»"/>
              <a:defRPr sz="16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52" name="Google Shape;52;p13"/>
          <p:cNvSpPr/>
          <p:nvPr/>
        </p:nvSpPr>
        <p:spPr>
          <a:xfrm>
            <a:off x="0" y="6641432"/>
            <a:ext cx="9144000" cy="216800"/>
          </a:xfrm>
          <a:prstGeom prst="rect">
            <a:avLst/>
          </a:prstGeom>
          <a:solidFill>
            <a:srgbClr val="BFBFBF"/>
          </a:solidFill>
          <a:ln>
            <a:noFill/>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F3F3F3"/>
              </a:solidFill>
              <a:latin typeface="Arial"/>
              <a:ea typeface="Arial"/>
              <a:cs typeface="Arial"/>
              <a:sym typeface="Arial"/>
            </a:endParaRPr>
          </a:p>
        </p:txBody>
      </p:sp>
      <p:sp>
        <p:nvSpPr>
          <p:cNvPr id="53" name="Google Shape;53;p13"/>
          <p:cNvSpPr/>
          <p:nvPr/>
        </p:nvSpPr>
        <p:spPr>
          <a:xfrm>
            <a:off x="0" y="2"/>
            <a:ext cx="9143980" cy="1219197"/>
          </a:xfrm>
          <a:custGeom>
            <a:avLst/>
            <a:gdLst/>
            <a:ahLst/>
            <a:cxnLst/>
            <a:rect l="l" t="t" r="r" b="b"/>
            <a:pathLst>
              <a:path w="9143980" h="1219198" extrusionOk="0">
                <a:moveTo>
                  <a:pt x="0" y="0"/>
                </a:moveTo>
                <a:lnTo>
                  <a:pt x="662163" y="0"/>
                </a:lnTo>
                <a:lnTo>
                  <a:pt x="1123498" y="0"/>
                </a:lnTo>
                <a:lnTo>
                  <a:pt x="9143980" y="1"/>
                </a:lnTo>
                <a:lnTo>
                  <a:pt x="9143980" y="320921"/>
                </a:lnTo>
                <a:lnTo>
                  <a:pt x="1485340" y="320921"/>
                </a:lnTo>
                <a:lnTo>
                  <a:pt x="1303550" y="1219197"/>
                </a:lnTo>
                <a:lnTo>
                  <a:pt x="895638" y="1219197"/>
                </a:lnTo>
                <a:lnTo>
                  <a:pt x="895638" y="1219198"/>
                </a:lnTo>
                <a:lnTo>
                  <a:pt x="0" y="1219198"/>
                </a:lnTo>
                <a:lnTo>
                  <a:pt x="0" y="320921"/>
                </a:lnTo>
                <a:close/>
              </a:path>
            </a:pathLst>
          </a:custGeom>
          <a:solidFill>
            <a:srgbClr val="7F7F7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50"/>
              <a:buFont typeface="Arial"/>
              <a:buNone/>
            </a:pPr>
            <a:r>
              <a:rPr lang="en" sz="1050" b="0" i="0" u="none" strike="noStrike" cap="none">
                <a:solidFill>
                  <a:srgbClr val="F3F3F3"/>
                </a:solidFill>
                <a:latin typeface="Arial"/>
                <a:ea typeface="Arial"/>
                <a:cs typeface="Arial"/>
                <a:sym typeface="Arial"/>
              </a:rPr>
              <a:t>   </a:t>
            </a:r>
            <a:r>
              <a:rPr lang="en" sz="1050" b="0" i="0" u="none" strike="noStrike" cap="none">
                <a:solidFill>
                  <a:srgbClr val="66FF33"/>
                </a:solidFill>
                <a:latin typeface="Arial"/>
                <a:ea typeface="Arial"/>
                <a:cs typeface="Arial"/>
                <a:sym typeface="Arial"/>
              </a:rPr>
              <a:t>UNCLASSIFIED</a:t>
            </a:r>
            <a:r>
              <a:rPr lang="en" sz="1050" b="0" i="0" u="none" strike="noStrike" cap="none">
                <a:solidFill>
                  <a:srgbClr val="F3F3F3"/>
                </a:solidFill>
                <a:latin typeface="Arial"/>
                <a:ea typeface="Arial"/>
                <a:cs typeface="Arial"/>
                <a:sym typeface="Arial"/>
              </a:rPr>
              <a:t> </a:t>
            </a:r>
            <a:r>
              <a:rPr lang="en" sz="1400" b="0" i="0" u="none" strike="noStrike" cap="none">
                <a:solidFill>
                  <a:srgbClr val="F3F3F3"/>
                </a:solidFill>
                <a:latin typeface="Arial"/>
                <a:ea typeface="Arial"/>
                <a:cs typeface="Arial"/>
                <a:sym typeface="Arial"/>
              </a:rPr>
              <a:t>				  </a:t>
            </a:r>
            <a:r>
              <a:rPr lang="en" sz="1200" b="0" i="0" u="none" strike="noStrike" cap="none">
                <a:solidFill>
                  <a:srgbClr val="F3F3F3"/>
                </a:solidFill>
                <a:latin typeface="Arial"/>
                <a:ea typeface="Arial"/>
                <a:cs typeface="Arial"/>
                <a:sym typeface="Arial"/>
              </a:rPr>
              <a:t>                  US Army Cyber School, Cyber Center of Excellence</a:t>
            </a:r>
            <a:endParaRPr sz="1400" b="0" i="0" u="none" strike="noStrike" cap="none">
              <a:solidFill>
                <a:srgbClr val="000000"/>
              </a:solidFill>
              <a:latin typeface="Arial"/>
              <a:ea typeface="Arial"/>
              <a:cs typeface="Arial"/>
              <a:sym typeface="Arial"/>
            </a:endParaRPr>
          </a:p>
        </p:txBody>
      </p:sp>
      <p:pic>
        <p:nvPicPr>
          <p:cNvPr id="54" name="Google Shape;54;p13"/>
          <p:cNvPicPr preferRelativeResize="0"/>
          <p:nvPr/>
        </p:nvPicPr>
        <p:blipFill rotWithShape="1">
          <a:blip r:embed="rId18">
            <a:alphaModFix/>
          </a:blip>
          <a:srcRect/>
          <a:stretch/>
        </p:blipFill>
        <p:spPr>
          <a:xfrm>
            <a:off x="2" y="290714"/>
            <a:ext cx="1382125" cy="888589"/>
          </a:xfrm>
          <a:prstGeom prst="rect">
            <a:avLst/>
          </a:prstGeom>
          <a:noFill/>
          <a:ln>
            <a:noFill/>
          </a:ln>
        </p:spPr>
      </p:pic>
      <p:sp>
        <p:nvSpPr>
          <p:cNvPr id="55" name="Google Shape;55;p13"/>
          <p:cNvSpPr/>
          <p:nvPr/>
        </p:nvSpPr>
        <p:spPr>
          <a:xfrm>
            <a:off x="8012875" y="6625547"/>
            <a:ext cx="1165800" cy="253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50"/>
              <a:buFont typeface="Arial"/>
              <a:buNone/>
            </a:pPr>
            <a:r>
              <a:rPr lang="en" sz="1050" b="0" i="0" u="none" strike="noStrike" cap="none">
                <a:solidFill>
                  <a:srgbClr val="66FF33"/>
                </a:solidFill>
                <a:latin typeface="Arial"/>
                <a:ea typeface="Arial"/>
                <a:cs typeface="Arial"/>
                <a:sym typeface="Arial"/>
              </a:rPr>
              <a:t>UNCLASSIFIED</a:t>
            </a:r>
            <a:endParaRPr sz="1800" b="0" i="0" u="none" strike="noStrike" cap="none">
              <a:solidFill>
                <a:srgbClr val="66FF33"/>
              </a:solidFill>
              <a:latin typeface="Calibri"/>
              <a:ea typeface="Calibri"/>
              <a:cs typeface="Calibri"/>
              <a:sym typeface="Calibri"/>
            </a:endParaRPr>
          </a:p>
        </p:txBody>
      </p:sp>
      <p:sp>
        <p:nvSpPr>
          <p:cNvPr id="56" name="Google Shape;56;p13"/>
          <p:cNvSpPr txBox="1">
            <a:spLocks noGrp="1"/>
          </p:cNvSpPr>
          <p:nvPr>
            <p:ph type="title"/>
          </p:nvPr>
        </p:nvSpPr>
        <p:spPr>
          <a:xfrm>
            <a:off x="1524000" y="317787"/>
            <a:ext cx="7618500" cy="8776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700827516"/>
      </p:ext>
    </p:extLst>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microsoft.com/office/2018/10/relationships/comments" Target="../comments/modernComment_422_F6AA2B2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2A720-E000-4CC8-9364-9D100A0F1E9D}"/>
              </a:ext>
            </a:extLst>
          </p:cNvPr>
          <p:cNvSpPr>
            <a:spLocks noGrp="1"/>
          </p:cNvSpPr>
          <p:nvPr>
            <p:ph type="title"/>
          </p:nvPr>
        </p:nvSpPr>
        <p:spPr/>
        <p:txBody>
          <a:bodyPr/>
          <a:lstStyle/>
          <a:p>
            <a:r>
              <a:rPr lang="en-US" sz="2800" dirty="0">
                <a:cs typeface="Arial"/>
              </a:rPr>
              <a:t>CPT 173 Mission Briefing Template</a:t>
            </a:r>
          </a:p>
        </p:txBody>
      </p:sp>
      <p:sp>
        <p:nvSpPr>
          <p:cNvPr id="3" name="Content Placeholder 2">
            <a:extLst>
              <a:ext uri="{FF2B5EF4-FFF2-40B4-BE49-F238E27FC236}">
                <a16:creationId xmlns:a16="http://schemas.microsoft.com/office/drawing/2014/main" id="{55F3F15A-04C1-4A2A-B5F9-63530F107FAA}"/>
              </a:ext>
            </a:extLst>
          </p:cNvPr>
          <p:cNvSpPr>
            <a:spLocks noGrp="1"/>
          </p:cNvSpPr>
          <p:nvPr>
            <p:ph idx="1"/>
          </p:nvPr>
        </p:nvSpPr>
        <p:spPr/>
        <p:txBody>
          <a:bodyPr/>
          <a:lstStyle/>
          <a:p>
            <a:pPr marL="290830" indent="-290830"/>
            <a:r>
              <a:rPr lang="en-US" dirty="0">
                <a:cs typeface="Arial"/>
              </a:rPr>
              <a:t>Insert mission specific graphics and information here</a:t>
            </a:r>
          </a:p>
        </p:txBody>
      </p:sp>
    </p:spTree>
    <p:extLst>
      <p:ext uri="{BB962C8B-B14F-4D97-AF65-F5344CB8AC3E}">
        <p14:creationId xmlns:p14="http://schemas.microsoft.com/office/powerpoint/2010/main" val="4018672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B9705-2415-893E-79A7-95DD4FA0D4FD}"/>
              </a:ext>
            </a:extLst>
          </p:cNvPr>
          <p:cNvSpPr>
            <a:spLocks noGrp="1"/>
          </p:cNvSpPr>
          <p:nvPr>
            <p:ph type="title"/>
          </p:nvPr>
        </p:nvSpPr>
        <p:spPr/>
        <p:txBody>
          <a:bodyPr/>
          <a:lstStyle/>
          <a:p>
            <a:r>
              <a:rPr lang="en-US" dirty="0"/>
              <a:t>Core Tasks</a:t>
            </a:r>
          </a:p>
        </p:txBody>
      </p:sp>
      <p:sp>
        <p:nvSpPr>
          <p:cNvPr id="3" name="Content Placeholder 2">
            <a:extLst>
              <a:ext uri="{FF2B5EF4-FFF2-40B4-BE49-F238E27FC236}">
                <a16:creationId xmlns:a16="http://schemas.microsoft.com/office/drawing/2014/main" id="{20E869A7-A65B-DA87-C838-B78090AD5B2C}"/>
              </a:ext>
            </a:extLst>
          </p:cNvPr>
          <p:cNvSpPr>
            <a:spLocks noGrp="1"/>
          </p:cNvSpPr>
          <p:nvPr>
            <p:ph idx="1"/>
          </p:nvPr>
        </p:nvSpPr>
        <p:spPr/>
        <p:txBody>
          <a:bodyPr/>
          <a:lstStyle/>
          <a:p>
            <a:pPr marL="342900" indent="-342900">
              <a:buFont typeface="+mj-lt"/>
              <a:buAutoNum type="arabicPeriod"/>
            </a:pPr>
            <a:r>
              <a:rPr lang="en-US" sz="1800" dirty="0">
                <a:effectLst/>
                <a:latin typeface="Arial"/>
                <a:ea typeface="Times New Roman" panose="02020603050405020304" pitchFamily="18" charset="0"/>
                <a:cs typeface="Times New Roman"/>
              </a:rPr>
              <a:t>Receive and process orders.</a:t>
            </a:r>
          </a:p>
          <a:p>
            <a:pPr marL="342900" indent="-342900">
              <a:buAutoNum type="arabicPeriod"/>
            </a:pPr>
            <a:r>
              <a:rPr lang="en-US" sz="1800" dirty="0">
                <a:ea typeface="+mn-lt"/>
                <a:cs typeface="+mn-lt"/>
              </a:rPr>
              <a:t>Conduct mission planning and analysis.</a:t>
            </a:r>
            <a:endParaRPr lang="en-US" sz="1800">
              <a:latin typeface="Arial"/>
              <a:cs typeface="Times New Roman"/>
            </a:endParaRPr>
          </a:p>
          <a:p>
            <a:pPr marL="342900" indent="-342900">
              <a:buFontTx/>
              <a:buAutoNum type="arabicPeriod"/>
            </a:pPr>
            <a:r>
              <a:rPr lang="en-US" sz="1800" dirty="0">
                <a:ea typeface="+mn-lt"/>
                <a:cs typeface="+mn-lt"/>
              </a:rPr>
              <a:t>Evaluate the security posture of the operational environment</a:t>
            </a:r>
            <a:endParaRPr lang="en-US" sz="1800">
              <a:cs typeface="Arial"/>
            </a:endParaRPr>
          </a:p>
          <a:p>
            <a:pPr marL="342900" indent="-342900">
              <a:buFontTx/>
              <a:buAutoNum type="arabicPeriod"/>
            </a:pPr>
            <a:r>
              <a:rPr lang="en-US" sz="1800" dirty="0">
                <a:ea typeface="+mn-lt"/>
                <a:cs typeface="+mn-lt"/>
              </a:rPr>
              <a:t>Execute the mission plan</a:t>
            </a:r>
            <a:endParaRPr lang="en-US" sz="1800" dirty="0">
              <a:cs typeface="Arial"/>
            </a:endParaRPr>
          </a:p>
          <a:p>
            <a:pPr marL="342900" indent="-342900">
              <a:buFontTx/>
              <a:buAutoNum type="arabicPeriod"/>
            </a:pPr>
            <a:r>
              <a:rPr lang="en-US" sz="1800" dirty="0">
                <a:ea typeface="+mn-lt"/>
                <a:cs typeface="+mn-lt"/>
              </a:rPr>
              <a:t>Conduct or coordinate threat response actions.</a:t>
            </a:r>
            <a:endParaRPr lang="en-US" sz="1800">
              <a:cs typeface="Arial"/>
            </a:endParaRPr>
          </a:p>
          <a:p>
            <a:pPr marL="342900" indent="-342900">
              <a:buFontTx/>
              <a:buAutoNum type="arabicPeriod"/>
            </a:pPr>
            <a:r>
              <a:rPr lang="en-US" sz="1800" dirty="0">
                <a:ea typeface="+mn-lt"/>
                <a:cs typeface="+mn-lt"/>
              </a:rPr>
              <a:t>Conduct assessment actions</a:t>
            </a:r>
            <a:endParaRPr lang="en-US" sz="1800">
              <a:cs typeface="Arial"/>
            </a:endParaRPr>
          </a:p>
          <a:p>
            <a:pPr marL="342900" indent="-342900">
              <a:buFontTx/>
              <a:buAutoNum type="arabicPeriod"/>
            </a:pPr>
            <a:r>
              <a:rPr lang="en-US" sz="1800" dirty="0">
                <a:ea typeface="+mn-lt"/>
                <a:cs typeface="+mn-lt"/>
              </a:rPr>
              <a:t>Conduct reporting</a:t>
            </a:r>
            <a:endParaRPr lang="en-US" sz="1800" dirty="0">
              <a:cs typeface="Arial"/>
            </a:endParaRPr>
          </a:p>
          <a:p>
            <a:pPr marL="342900" indent="-342900">
              <a:buFont typeface="+mj-lt"/>
              <a:buAutoNum type="arabicPeriod"/>
            </a:pPr>
            <a:endParaRPr lang="en-US" dirty="0">
              <a:cs typeface="Arial"/>
            </a:endParaRPr>
          </a:p>
        </p:txBody>
      </p:sp>
    </p:spTree>
    <p:extLst>
      <p:ext uri="{BB962C8B-B14F-4D97-AF65-F5344CB8AC3E}">
        <p14:creationId xmlns:p14="http://schemas.microsoft.com/office/powerpoint/2010/main" val="663216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CABF-20F0-68A2-95FA-E09541A33EEE}"/>
              </a:ext>
            </a:extLst>
          </p:cNvPr>
          <p:cNvSpPr>
            <a:spLocks noGrp="1"/>
          </p:cNvSpPr>
          <p:nvPr>
            <p:ph type="title"/>
          </p:nvPr>
        </p:nvSpPr>
        <p:spPr/>
        <p:txBody>
          <a:bodyPr/>
          <a:lstStyle/>
          <a:p>
            <a:r>
              <a:rPr lang="en-US" sz="3200" dirty="0"/>
              <a:t>Planning and Analysis Checklist</a:t>
            </a:r>
            <a:br>
              <a:rPr lang="en-US" sz="3200" dirty="0"/>
            </a:br>
            <a:r>
              <a:rPr lang="en-US" sz="3200" dirty="0"/>
              <a:t>(fix and fill ALL of them)</a:t>
            </a:r>
          </a:p>
        </p:txBody>
      </p:sp>
      <p:graphicFrame>
        <p:nvGraphicFramePr>
          <p:cNvPr id="5" name="Table 5">
            <a:extLst>
              <a:ext uri="{FF2B5EF4-FFF2-40B4-BE49-F238E27FC236}">
                <a16:creationId xmlns:a16="http://schemas.microsoft.com/office/drawing/2014/main" id="{18F5666E-5E87-5358-D3DF-A0FB5E1D4F15}"/>
              </a:ext>
            </a:extLst>
          </p:cNvPr>
          <p:cNvGraphicFramePr>
            <a:graphicFrameLocks noGrp="1"/>
          </p:cNvGraphicFramePr>
          <p:nvPr>
            <p:ph idx="1"/>
            <p:extLst>
              <p:ext uri="{D42A27DB-BD31-4B8C-83A1-F6EECF244321}">
                <p14:modId xmlns:p14="http://schemas.microsoft.com/office/powerpoint/2010/main" val="396361283"/>
              </p:ext>
            </p:extLst>
          </p:nvPr>
        </p:nvGraphicFramePr>
        <p:xfrm>
          <a:off x="457200" y="1330736"/>
          <a:ext cx="8229600" cy="5247640"/>
        </p:xfrm>
        <a:graphic>
          <a:graphicData uri="http://schemas.openxmlformats.org/drawingml/2006/table">
            <a:tbl>
              <a:tblPr firstRow="1" bandRow="1">
                <a:tableStyleId>{073A0DAA-6AF3-43AB-8588-CEC1D06C72B9}</a:tableStyleId>
              </a:tblPr>
              <a:tblGrid>
                <a:gridCol w="7486650">
                  <a:extLst>
                    <a:ext uri="{9D8B030D-6E8A-4147-A177-3AD203B41FA5}">
                      <a16:colId xmlns:a16="http://schemas.microsoft.com/office/drawing/2014/main" val="2981979427"/>
                    </a:ext>
                  </a:extLst>
                </a:gridCol>
                <a:gridCol w="742950">
                  <a:extLst>
                    <a:ext uri="{9D8B030D-6E8A-4147-A177-3AD203B41FA5}">
                      <a16:colId xmlns:a16="http://schemas.microsoft.com/office/drawing/2014/main" val="20590222"/>
                    </a:ext>
                  </a:extLst>
                </a:gridCol>
              </a:tblGrid>
              <a:tr h="370840">
                <a:tc>
                  <a:txBody>
                    <a:bodyPr/>
                    <a:lstStyle/>
                    <a:p>
                      <a:pPr algn="ctr"/>
                      <a:r>
                        <a:rPr lang="en-US" sz="1100" dirty="0">
                          <a:latin typeface="+mn-lt"/>
                        </a:rPr>
                        <a:t>Item</a:t>
                      </a:r>
                    </a:p>
                  </a:txBody>
                  <a:tcPr/>
                </a:tc>
                <a:tc>
                  <a:txBody>
                    <a:bodyPr/>
                    <a:lstStyle/>
                    <a:p>
                      <a:pPr algn="ctr"/>
                      <a:r>
                        <a:rPr lang="en-US" sz="1100" dirty="0">
                          <a:latin typeface="+mn-lt"/>
                        </a:rPr>
                        <a:t>Check</a:t>
                      </a:r>
                    </a:p>
                  </a:txBody>
                  <a:tcPr/>
                </a:tc>
                <a:extLst>
                  <a:ext uri="{0D108BD9-81ED-4DB2-BD59-A6C34878D82A}">
                    <a16:rowId xmlns:a16="http://schemas.microsoft.com/office/drawing/2014/main" val="3386563740"/>
                  </a:ext>
                </a:extLst>
              </a:tr>
              <a:tr h="370840">
                <a:tc>
                  <a:txBody>
                    <a:bodyPr/>
                    <a:lstStyle/>
                    <a:p>
                      <a:pPr marL="0" marR="0" lvl="0" indent="0" algn="ctr">
                        <a:lnSpc>
                          <a:spcPct val="100000"/>
                        </a:lnSpc>
                        <a:spcBef>
                          <a:spcPts val="0"/>
                        </a:spcBef>
                        <a:spcAft>
                          <a:spcPts val="0"/>
                        </a:spcAft>
                        <a:buNone/>
                      </a:pPr>
                      <a:r>
                        <a:rPr lang="en-US" sz="1100" b="1" i="0" u="none" strike="noStrike" kern="0" noProof="0" dirty="0">
                          <a:latin typeface="Arial"/>
                        </a:rPr>
                        <a:t>Core Task 2: </a:t>
                      </a:r>
                      <a:r>
                        <a:rPr lang="en-US" sz="1100" b="0" i="0" u="none" strike="noStrike" kern="0" noProof="0" dirty="0">
                          <a:latin typeface="Arial"/>
                        </a:rPr>
                        <a:t>Conduct mission planning and analysis </a:t>
                      </a:r>
                      <a:r>
                        <a:rPr lang="en-US" sz="1100" b="0" i="0" u="none" strike="noStrike" kern="0" noProof="0" dirty="0"/>
                        <a:t>[LE; SE; ME]</a:t>
                      </a:r>
                      <a:endParaRPr lang="en-US" b="0" dirty="0"/>
                    </a:p>
                  </a:txBody>
                  <a:tcPr/>
                </a:tc>
                <a:tc>
                  <a:txBody>
                    <a:bodyPr/>
                    <a:lstStyle/>
                    <a:p>
                      <a:endParaRPr lang="en-US" sz="1100" dirty="0">
                        <a:latin typeface="+mn-lt"/>
                      </a:endParaRPr>
                    </a:p>
                  </a:txBody>
                  <a:tcPr/>
                </a:tc>
                <a:extLst>
                  <a:ext uri="{0D108BD9-81ED-4DB2-BD59-A6C34878D82A}">
                    <a16:rowId xmlns:a16="http://schemas.microsoft.com/office/drawing/2014/main" val="3598356957"/>
                  </a:ext>
                </a:extLst>
              </a:tr>
              <a:tr h="370840">
                <a:tc>
                  <a:txBody>
                    <a:bodyPr/>
                    <a:lstStyle/>
                    <a:p>
                      <a:pPr marL="0" marR="0" lvl="0" indent="0" algn="l" rtl="0">
                        <a:lnSpc>
                          <a:spcPct val="100000"/>
                        </a:lnSpc>
                        <a:spcBef>
                          <a:spcPts val="0"/>
                        </a:spcBef>
                        <a:spcAft>
                          <a:spcPts val="0"/>
                        </a:spcAft>
                        <a:buClrTx/>
                        <a:buSzTx/>
                        <a:buFontTx/>
                        <a:buNone/>
                      </a:pPr>
                      <a:r>
                        <a:rPr lang="en-US" sz="1100" b="1" kern="0" dirty="0"/>
                        <a:t>CT2;ST1:</a:t>
                      </a:r>
                      <a:r>
                        <a:rPr lang="en-US" sz="1100" kern="0" dirty="0"/>
                        <a:t> Coordinate with customer and stakeholders to conduct mission planning [LE]</a:t>
                      </a:r>
                      <a:endParaRPr lang="en-US"/>
                    </a:p>
                  </a:txBody>
                  <a:tcPr/>
                </a:tc>
                <a:tc>
                  <a:txBody>
                    <a:bodyPr/>
                    <a:lstStyle/>
                    <a:p>
                      <a:endParaRPr lang="en-US" sz="1100">
                        <a:latin typeface="+mn-lt"/>
                      </a:endParaRPr>
                    </a:p>
                  </a:txBody>
                  <a:tcPr/>
                </a:tc>
                <a:extLst>
                  <a:ext uri="{0D108BD9-81ED-4DB2-BD59-A6C34878D82A}">
                    <a16:rowId xmlns:a16="http://schemas.microsoft.com/office/drawing/2014/main" val="78786023"/>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CT2;ST2: </a:t>
                      </a:r>
                      <a:r>
                        <a:rPr lang="en-US" sz="1100" dirty="0">
                          <a:effectLst/>
                          <a:latin typeface="+mn-lt"/>
                        </a:rPr>
                        <a:t>Integrate intelligence into mission planning. [ASA] </a:t>
                      </a:r>
                      <a:endParaRPr lang="en-US" sz="1100" b="1" dirty="0">
                        <a:effectLst/>
                        <a:latin typeface="+mn-lt"/>
                      </a:endParaRPr>
                    </a:p>
                  </a:txBody>
                  <a:tcPr/>
                </a:tc>
                <a:tc>
                  <a:txBody>
                    <a:bodyPr/>
                    <a:lstStyle/>
                    <a:p>
                      <a:endParaRPr lang="en-US" sz="1100">
                        <a:latin typeface="+mn-lt"/>
                      </a:endParaRPr>
                    </a:p>
                  </a:txBody>
                  <a:tcPr/>
                </a:tc>
                <a:extLst>
                  <a:ext uri="{0D108BD9-81ED-4DB2-BD59-A6C34878D82A}">
                    <a16:rowId xmlns:a16="http://schemas.microsoft.com/office/drawing/2014/main" val="1303818979"/>
                  </a:ext>
                </a:extLst>
              </a:tr>
              <a:tr h="370840">
                <a:tc>
                  <a:txBody>
                    <a:bodyPr/>
                    <a:lstStyle/>
                    <a:p>
                      <a:pPr marL="0" marR="0" lvl="0" indent="0" algn="l">
                        <a:lnSpc>
                          <a:spcPct val="100000"/>
                        </a:lnSpc>
                        <a:spcBef>
                          <a:spcPts val="0"/>
                        </a:spcBef>
                        <a:spcAft>
                          <a:spcPts val="0"/>
                        </a:spcAft>
                        <a:buNone/>
                      </a:pPr>
                      <a:r>
                        <a:rPr lang="en-US" sz="1100" b="1" i="0" u="none" strike="noStrike" noProof="0">
                          <a:effectLst/>
                          <a:latin typeface="Arial"/>
                        </a:rPr>
                        <a:t>CT2;ST3: </a:t>
                      </a:r>
                      <a:r>
                        <a:rPr lang="en-US" sz="1100" b="0" i="0" u="none" strike="noStrike" noProof="0">
                          <a:effectLst/>
                        </a:rPr>
                        <a:t>Verify required authority to operate on the network. [PLNR; OPSO]</a:t>
                      </a:r>
                      <a:endParaRPr lang="en-US"/>
                    </a:p>
                  </a:txBody>
                  <a:tcPr/>
                </a:tc>
                <a:tc>
                  <a:txBody>
                    <a:bodyPr/>
                    <a:lstStyle/>
                    <a:p>
                      <a:endParaRPr lang="en-US" sz="1100">
                        <a:latin typeface="+mn-lt"/>
                      </a:endParaRPr>
                    </a:p>
                  </a:txBody>
                  <a:tcPr/>
                </a:tc>
                <a:extLst>
                  <a:ext uri="{0D108BD9-81ED-4DB2-BD59-A6C34878D82A}">
                    <a16:rowId xmlns:a16="http://schemas.microsoft.com/office/drawing/2014/main" val="119189219"/>
                  </a:ext>
                </a:extLst>
              </a:tr>
              <a:tr h="370840">
                <a:tc>
                  <a:txBody>
                    <a:bodyPr/>
                    <a:lstStyle/>
                    <a:p>
                      <a:pPr marL="0" marR="0" lvl="0" indent="0" algn="l">
                        <a:lnSpc>
                          <a:spcPct val="100000"/>
                        </a:lnSpc>
                        <a:spcBef>
                          <a:spcPts val="0"/>
                        </a:spcBef>
                        <a:spcAft>
                          <a:spcPts val="0"/>
                        </a:spcAft>
                        <a:buNone/>
                      </a:pPr>
                      <a:r>
                        <a:rPr lang="en-US" sz="1100" b="1" i="0" u="none" strike="noStrike" noProof="0">
                          <a:effectLst/>
                          <a:latin typeface="Arial"/>
                        </a:rPr>
                        <a:t>CT2;ST4: </a:t>
                      </a:r>
                      <a:r>
                        <a:rPr lang="en-US" sz="1100" b="0" i="0" u="none" strike="noStrike" noProof="0">
                          <a:effectLst/>
                        </a:rPr>
                        <a:t>Develop intelligence plans. [ASA]</a:t>
                      </a:r>
                      <a:endParaRPr lang="en-US"/>
                    </a:p>
                  </a:txBody>
                  <a:tcPr/>
                </a:tc>
                <a:tc>
                  <a:txBody>
                    <a:bodyPr/>
                    <a:lstStyle/>
                    <a:p>
                      <a:endParaRPr lang="en-US" sz="1100">
                        <a:latin typeface="+mn-lt"/>
                      </a:endParaRPr>
                    </a:p>
                  </a:txBody>
                  <a:tcPr/>
                </a:tc>
                <a:extLst>
                  <a:ext uri="{0D108BD9-81ED-4DB2-BD59-A6C34878D82A}">
                    <a16:rowId xmlns:a16="http://schemas.microsoft.com/office/drawing/2014/main" val="1251428874"/>
                  </a:ext>
                </a:extLst>
              </a:tr>
              <a:tr h="370840">
                <a:tc>
                  <a:txBody>
                    <a:bodyPr/>
                    <a:lstStyle/>
                    <a:p>
                      <a:pPr marL="0" marR="0" lvl="0" indent="0" algn="l">
                        <a:lnSpc>
                          <a:spcPct val="100000"/>
                        </a:lnSpc>
                        <a:spcBef>
                          <a:spcPts val="0"/>
                        </a:spcBef>
                        <a:spcAft>
                          <a:spcPts val="0"/>
                        </a:spcAft>
                        <a:buNone/>
                      </a:pPr>
                      <a:r>
                        <a:rPr lang="en-US" sz="1100" b="1" i="0" u="none" strike="noStrike" noProof="0">
                          <a:effectLst/>
                          <a:latin typeface="Arial"/>
                        </a:rPr>
                        <a:t>CT2;ST5: </a:t>
                      </a:r>
                      <a:r>
                        <a:rPr lang="en-US" sz="1100" b="0" i="0" u="none" strike="noStrike" noProof="0">
                          <a:effectLst/>
                        </a:rPr>
                        <a:t>Obtain network and host baseline documentation. [PLNR; OPSO]</a:t>
                      </a:r>
                      <a:endParaRPr lang="en-US"/>
                    </a:p>
                  </a:txBody>
                  <a:tcPr/>
                </a:tc>
                <a:tc>
                  <a:txBody>
                    <a:bodyPr/>
                    <a:lstStyle/>
                    <a:p>
                      <a:endParaRPr lang="en-US" sz="1100">
                        <a:latin typeface="+mn-lt"/>
                      </a:endParaRPr>
                    </a:p>
                  </a:txBody>
                  <a:tcPr/>
                </a:tc>
                <a:extLst>
                  <a:ext uri="{0D108BD9-81ED-4DB2-BD59-A6C34878D82A}">
                    <a16:rowId xmlns:a16="http://schemas.microsoft.com/office/drawing/2014/main" val="1330486238"/>
                  </a:ext>
                </a:extLst>
              </a:tr>
              <a:tr h="370840">
                <a:tc>
                  <a:txBody>
                    <a:bodyPr/>
                    <a:lstStyle/>
                    <a:p>
                      <a:pPr marL="0" marR="0" lvl="0" indent="0" algn="l">
                        <a:lnSpc>
                          <a:spcPct val="100000"/>
                        </a:lnSpc>
                        <a:spcBef>
                          <a:spcPts val="0"/>
                        </a:spcBef>
                        <a:spcAft>
                          <a:spcPts val="0"/>
                        </a:spcAft>
                        <a:buNone/>
                      </a:pPr>
                      <a:r>
                        <a:rPr lang="en-US" sz="1100" b="1" i="0" u="none" strike="noStrike" noProof="0">
                          <a:effectLst/>
                          <a:latin typeface="Arial"/>
                        </a:rPr>
                        <a:t>CT2;ST6: </a:t>
                      </a:r>
                      <a:r>
                        <a:rPr lang="en-US" sz="1100" b="0" i="0" u="none" strike="noStrike" noProof="0">
                          <a:effectLst/>
                        </a:rPr>
                        <a:t>Develop prioritized specified terrain cyber. [TL; PLNR; ASA; ME]</a:t>
                      </a:r>
                      <a:endParaRPr lang="en-US"/>
                    </a:p>
                  </a:txBody>
                  <a:tcPr/>
                </a:tc>
                <a:tc>
                  <a:txBody>
                    <a:bodyPr/>
                    <a:lstStyle/>
                    <a:p>
                      <a:endParaRPr lang="en-US" sz="1100">
                        <a:latin typeface="+mn-lt"/>
                      </a:endParaRPr>
                    </a:p>
                  </a:txBody>
                  <a:tcPr/>
                </a:tc>
                <a:extLst>
                  <a:ext uri="{0D108BD9-81ED-4DB2-BD59-A6C34878D82A}">
                    <a16:rowId xmlns:a16="http://schemas.microsoft.com/office/drawing/2014/main" val="4125846812"/>
                  </a:ext>
                </a:extLst>
              </a:tr>
              <a:tr h="370840">
                <a:tc>
                  <a:txBody>
                    <a:bodyPr/>
                    <a:lstStyle/>
                    <a:p>
                      <a:pPr marL="0" marR="0" lvl="0" indent="0" algn="l">
                        <a:lnSpc>
                          <a:spcPct val="100000"/>
                        </a:lnSpc>
                        <a:spcBef>
                          <a:spcPts val="0"/>
                        </a:spcBef>
                        <a:spcAft>
                          <a:spcPts val="0"/>
                        </a:spcAft>
                        <a:buNone/>
                      </a:pPr>
                      <a:r>
                        <a:rPr lang="en-US" sz="1100" b="1" i="0" u="none" strike="noStrike" noProof="0">
                          <a:effectLst/>
                          <a:latin typeface="Arial"/>
                        </a:rPr>
                        <a:t>CT2;ST7: </a:t>
                      </a:r>
                      <a:r>
                        <a:rPr lang="en-US" sz="1100" b="0" i="0" u="none" strike="noStrike" noProof="0">
                          <a:effectLst/>
                        </a:rPr>
                        <a:t>Develop data analysis plan. [ASO or DE]</a:t>
                      </a:r>
                      <a:endParaRPr lang="en-US"/>
                    </a:p>
                  </a:txBody>
                  <a:tcPr/>
                </a:tc>
                <a:tc>
                  <a:txBody>
                    <a:bodyPr/>
                    <a:lstStyle/>
                    <a:p>
                      <a:endParaRPr lang="en-US" sz="1100">
                        <a:latin typeface="+mn-lt"/>
                      </a:endParaRPr>
                    </a:p>
                  </a:txBody>
                  <a:tcPr/>
                </a:tc>
                <a:extLst>
                  <a:ext uri="{0D108BD9-81ED-4DB2-BD59-A6C34878D82A}">
                    <a16:rowId xmlns:a16="http://schemas.microsoft.com/office/drawing/2014/main" val="245509303"/>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a:t>
                      </a:r>
                      <a:r>
                        <a:rPr lang="en-US" sz="1100" b="1" dirty="0">
                          <a:latin typeface="+mn-lt"/>
                        </a:rPr>
                        <a:t>;</a:t>
                      </a:r>
                      <a:r>
                        <a:rPr lang="en-US" sz="1100" b="1" dirty="0">
                          <a:effectLst/>
                          <a:latin typeface="+mn-lt"/>
                        </a:rPr>
                        <a:t>ST8: </a:t>
                      </a:r>
                      <a:r>
                        <a:rPr lang="en-US" sz="1100" dirty="0">
                          <a:effectLst/>
                          <a:latin typeface="+mn-lt"/>
                        </a:rPr>
                        <a:t>Conduct mission analysis. [PLNR; OPSO]</a:t>
                      </a:r>
                      <a:endParaRPr lang="en-US"/>
                    </a:p>
                  </a:txBody>
                  <a:tcPr/>
                </a:tc>
                <a:tc>
                  <a:txBody>
                    <a:bodyPr/>
                    <a:lstStyle/>
                    <a:p>
                      <a:endParaRPr lang="en-US" sz="1100">
                        <a:latin typeface="+mn-lt"/>
                      </a:endParaRPr>
                    </a:p>
                  </a:txBody>
                  <a:tcPr/>
                </a:tc>
                <a:extLst>
                  <a:ext uri="{0D108BD9-81ED-4DB2-BD59-A6C34878D82A}">
                    <a16:rowId xmlns:a16="http://schemas.microsoft.com/office/drawing/2014/main" val="3960374064"/>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a:t>
                      </a:r>
                      <a:r>
                        <a:rPr lang="en-US" sz="1100" b="1" dirty="0">
                          <a:latin typeface="+mn-lt"/>
                        </a:rPr>
                        <a:t>;</a:t>
                      </a:r>
                      <a:r>
                        <a:rPr lang="en-US" sz="1100" b="1" dirty="0">
                          <a:effectLst/>
                          <a:latin typeface="+mn-lt"/>
                        </a:rPr>
                        <a:t>ST9: </a:t>
                      </a:r>
                      <a:r>
                        <a:rPr lang="en-US" sz="1100" dirty="0">
                          <a:effectLst/>
                          <a:latin typeface="+mn-lt"/>
                        </a:rPr>
                        <a:t>Evaluate mission requirements for needed skill sets and capacity. [Master Host &amp; Network Analyst]</a:t>
                      </a:r>
                      <a:endParaRPr lang="en-US"/>
                    </a:p>
                  </a:txBody>
                  <a:tcPr/>
                </a:tc>
                <a:tc>
                  <a:txBody>
                    <a:bodyPr/>
                    <a:lstStyle/>
                    <a:p>
                      <a:endParaRPr lang="en-US" sz="1100">
                        <a:latin typeface="+mn-lt"/>
                      </a:endParaRPr>
                    </a:p>
                  </a:txBody>
                  <a:tcPr/>
                </a:tc>
                <a:extLst>
                  <a:ext uri="{0D108BD9-81ED-4DB2-BD59-A6C34878D82A}">
                    <a16:rowId xmlns:a16="http://schemas.microsoft.com/office/drawing/2014/main" val="746765609"/>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a:t>
                      </a:r>
                      <a:r>
                        <a:rPr lang="en-US" sz="1100" b="1" dirty="0">
                          <a:latin typeface="+mn-lt"/>
                        </a:rPr>
                        <a:t>;</a:t>
                      </a:r>
                      <a:r>
                        <a:rPr lang="en-US" sz="1100" b="1" dirty="0">
                          <a:effectLst/>
                          <a:latin typeface="+mn-lt"/>
                        </a:rPr>
                        <a:t>ST10: </a:t>
                      </a:r>
                      <a:r>
                        <a:rPr lang="en-US" sz="1100" dirty="0">
                          <a:effectLst/>
                          <a:latin typeface="+mn-lt"/>
                        </a:rPr>
                        <a:t>Align</a:t>
                      </a:r>
                      <a:r>
                        <a:rPr lang="en-US" sz="1100" spc="-125" dirty="0">
                          <a:effectLst/>
                          <a:latin typeface="+mn-lt"/>
                        </a:rPr>
                        <a:t> </a:t>
                      </a:r>
                      <a:r>
                        <a:rPr lang="en-US" sz="1100" dirty="0">
                          <a:effectLst/>
                          <a:latin typeface="+mn-lt"/>
                        </a:rPr>
                        <a:t>skillsets</a:t>
                      </a:r>
                      <a:r>
                        <a:rPr lang="en-US" sz="1100" spc="-80" dirty="0">
                          <a:effectLst/>
                          <a:latin typeface="+mn-lt"/>
                        </a:rPr>
                        <a:t> </a:t>
                      </a:r>
                      <a:r>
                        <a:rPr lang="en-US" sz="1100" dirty="0">
                          <a:effectLst/>
                          <a:latin typeface="+mn-lt"/>
                        </a:rPr>
                        <a:t>and</a:t>
                      </a:r>
                      <a:r>
                        <a:rPr lang="en-US" sz="1100" spc="-110" dirty="0">
                          <a:effectLst/>
                          <a:latin typeface="+mn-lt"/>
                        </a:rPr>
                        <a:t> </a:t>
                      </a:r>
                      <a:r>
                        <a:rPr lang="en-US" sz="1100" dirty="0">
                          <a:effectLst/>
                          <a:latin typeface="+mn-lt"/>
                        </a:rPr>
                        <a:t>capabilities</a:t>
                      </a:r>
                      <a:r>
                        <a:rPr lang="en-US" sz="1100" spc="-75" dirty="0">
                          <a:effectLst/>
                          <a:latin typeface="+mn-lt"/>
                        </a:rPr>
                        <a:t> </a:t>
                      </a:r>
                      <a:r>
                        <a:rPr lang="en-US" sz="1100" dirty="0">
                          <a:effectLst/>
                          <a:latin typeface="+mn-lt"/>
                        </a:rPr>
                        <a:t>to</a:t>
                      </a:r>
                      <a:r>
                        <a:rPr lang="en-US" sz="1100" spc="-90" dirty="0">
                          <a:effectLst/>
                          <a:latin typeface="+mn-lt"/>
                        </a:rPr>
                        <a:t> </a:t>
                      </a:r>
                      <a:r>
                        <a:rPr lang="en-US" sz="1100" dirty="0">
                          <a:effectLst/>
                          <a:latin typeface="+mn-lt"/>
                        </a:rPr>
                        <a:t>satisfy</a:t>
                      </a:r>
                      <a:r>
                        <a:rPr lang="en-US" sz="1100" spc="-120" dirty="0">
                          <a:effectLst/>
                          <a:latin typeface="+mn-lt"/>
                        </a:rPr>
                        <a:t> </a:t>
                      </a:r>
                      <a:r>
                        <a:rPr lang="en-US" sz="1100" dirty="0">
                          <a:effectLst/>
                          <a:latin typeface="+mn-lt"/>
                        </a:rPr>
                        <a:t>mission</a:t>
                      </a:r>
                      <a:r>
                        <a:rPr lang="en-US" sz="1100" spc="-65" dirty="0">
                          <a:effectLst/>
                          <a:latin typeface="+mn-lt"/>
                        </a:rPr>
                        <a:t> </a:t>
                      </a:r>
                      <a:r>
                        <a:rPr lang="en-US" sz="1100" dirty="0">
                          <a:effectLst/>
                          <a:latin typeface="+mn-lt"/>
                        </a:rPr>
                        <a:t>requirements. [TL;</a:t>
                      </a:r>
                      <a:r>
                        <a:rPr lang="en-US" sz="1100" spc="-40" dirty="0">
                          <a:effectLst/>
                          <a:latin typeface="+mn-lt"/>
                        </a:rPr>
                        <a:t> </a:t>
                      </a:r>
                      <a:r>
                        <a:rPr lang="en-US" sz="1100" dirty="0">
                          <a:effectLst/>
                          <a:latin typeface="+mn-lt"/>
                        </a:rPr>
                        <a:t>OPSO]</a:t>
                      </a:r>
                      <a:endParaRPr lang="en-US"/>
                    </a:p>
                  </a:txBody>
                  <a:tcPr/>
                </a:tc>
                <a:tc>
                  <a:txBody>
                    <a:bodyPr/>
                    <a:lstStyle/>
                    <a:p>
                      <a:endParaRPr lang="en-US" sz="1100">
                        <a:latin typeface="+mn-lt"/>
                      </a:endParaRPr>
                    </a:p>
                  </a:txBody>
                  <a:tcPr/>
                </a:tc>
                <a:extLst>
                  <a:ext uri="{0D108BD9-81ED-4DB2-BD59-A6C34878D82A}">
                    <a16:rowId xmlns:a16="http://schemas.microsoft.com/office/drawing/2014/main" val="859548469"/>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a:t>
                      </a:r>
                      <a:r>
                        <a:rPr lang="en-US" sz="1100" b="1" dirty="0">
                          <a:latin typeface="+mn-lt"/>
                        </a:rPr>
                        <a:t>;</a:t>
                      </a:r>
                      <a:r>
                        <a:rPr lang="en-US" sz="1100" b="1" dirty="0">
                          <a:effectLst/>
                          <a:latin typeface="+mn-lt"/>
                        </a:rPr>
                        <a:t>ST11:</a:t>
                      </a:r>
                      <a:r>
                        <a:rPr lang="en-US" sz="1100" b="1" spc="90" dirty="0">
                          <a:effectLst/>
                          <a:latin typeface="+mn-lt"/>
                        </a:rPr>
                        <a:t> </a:t>
                      </a:r>
                      <a:r>
                        <a:rPr lang="en-US" sz="1100" dirty="0">
                          <a:effectLst/>
                          <a:latin typeface="+mn-lt"/>
                        </a:rPr>
                        <a:t>Evaluate</a:t>
                      </a:r>
                      <a:r>
                        <a:rPr lang="en-US" sz="1100" spc="-90" dirty="0">
                          <a:effectLst/>
                          <a:latin typeface="+mn-lt"/>
                        </a:rPr>
                        <a:t> </a:t>
                      </a:r>
                      <a:r>
                        <a:rPr lang="en-US" sz="1100" dirty="0">
                          <a:effectLst/>
                          <a:latin typeface="+mn-lt"/>
                        </a:rPr>
                        <a:t>collective</a:t>
                      </a:r>
                      <a:r>
                        <a:rPr lang="en-US" sz="1100" spc="-65" dirty="0">
                          <a:effectLst/>
                          <a:latin typeface="+mn-lt"/>
                        </a:rPr>
                        <a:t> </a:t>
                      </a:r>
                      <a:r>
                        <a:rPr lang="en-US" sz="1100" dirty="0">
                          <a:effectLst/>
                          <a:latin typeface="+mn-lt"/>
                        </a:rPr>
                        <a:t>(i.e.</a:t>
                      </a:r>
                      <a:r>
                        <a:rPr lang="en-US" sz="1100" spc="-140" dirty="0">
                          <a:effectLst/>
                          <a:latin typeface="+mn-lt"/>
                        </a:rPr>
                        <a:t> </a:t>
                      </a:r>
                      <a:r>
                        <a:rPr lang="en-US" sz="1100" dirty="0">
                          <a:effectLst/>
                          <a:latin typeface="+mn-lt"/>
                        </a:rPr>
                        <a:t>crew,</a:t>
                      </a:r>
                      <a:r>
                        <a:rPr lang="en-US" sz="1100" spc="-85" dirty="0">
                          <a:effectLst/>
                          <a:latin typeface="+mn-lt"/>
                        </a:rPr>
                        <a:t> </a:t>
                      </a:r>
                      <a:r>
                        <a:rPr lang="en-US" sz="1100" dirty="0">
                          <a:effectLst/>
                          <a:latin typeface="+mn-lt"/>
                        </a:rPr>
                        <a:t>mission</a:t>
                      </a:r>
                      <a:r>
                        <a:rPr lang="en-US" sz="1100" spc="-85" dirty="0">
                          <a:effectLst/>
                          <a:latin typeface="+mn-lt"/>
                        </a:rPr>
                        <a:t> </a:t>
                      </a:r>
                      <a:r>
                        <a:rPr lang="en-US" sz="1100" dirty="0">
                          <a:effectLst/>
                          <a:latin typeface="+mn-lt"/>
                        </a:rPr>
                        <a:t>element,</a:t>
                      </a:r>
                      <a:r>
                        <a:rPr lang="en-US" sz="1100" spc="-95" dirty="0">
                          <a:effectLst/>
                          <a:latin typeface="+mn-lt"/>
                        </a:rPr>
                        <a:t> </a:t>
                      </a:r>
                      <a:r>
                        <a:rPr lang="en-US" sz="1100" dirty="0">
                          <a:effectLst/>
                          <a:latin typeface="+mn-lt"/>
                        </a:rPr>
                        <a:t>etc.)</a:t>
                      </a:r>
                      <a:r>
                        <a:rPr lang="en-US" sz="1100" spc="-100" dirty="0">
                          <a:effectLst/>
                          <a:latin typeface="+mn-lt"/>
                        </a:rPr>
                        <a:t> </a:t>
                      </a:r>
                      <a:r>
                        <a:rPr lang="en-US" sz="1100" dirty="0">
                          <a:effectLst/>
                          <a:latin typeface="+mn-lt"/>
                        </a:rPr>
                        <a:t>capabilities to meet mission requirements. </a:t>
                      </a:r>
                      <a:r>
                        <a:rPr lang="en-US" sz="1100" dirty="0">
                          <a:effectLst/>
                          <a:latin typeface="+mn-lt"/>
                          <a:cs typeface="Times New Roman"/>
                        </a:rPr>
                        <a:t>[ME </a:t>
                      </a:r>
                      <a:r>
                        <a:rPr lang="en-US" sz="1100" dirty="0">
                          <a:effectLst/>
                          <a:latin typeface="+mn-lt"/>
                        </a:rPr>
                        <a:t>Lead;</a:t>
                      </a:r>
                      <a:r>
                        <a:rPr lang="en-US" sz="1100" spc="-20" dirty="0">
                          <a:effectLst/>
                          <a:latin typeface="+mn-lt"/>
                        </a:rPr>
                        <a:t> </a:t>
                      </a:r>
                      <a:r>
                        <a:rPr lang="en-US" sz="1100" dirty="0">
                          <a:effectLst/>
                          <a:latin typeface="+mn-lt"/>
                        </a:rPr>
                        <a:t>OPSO]</a:t>
                      </a:r>
                      <a:endParaRPr lang="en-US"/>
                    </a:p>
                  </a:txBody>
                  <a:tcPr/>
                </a:tc>
                <a:tc>
                  <a:txBody>
                    <a:bodyPr/>
                    <a:lstStyle/>
                    <a:p>
                      <a:endParaRPr lang="en-US" sz="1100" dirty="0">
                        <a:latin typeface="+mn-lt"/>
                      </a:endParaRPr>
                    </a:p>
                  </a:txBody>
                  <a:tcPr/>
                </a:tc>
                <a:extLst>
                  <a:ext uri="{0D108BD9-81ED-4DB2-BD59-A6C34878D82A}">
                    <a16:rowId xmlns:a16="http://schemas.microsoft.com/office/drawing/2014/main" val="3947516828"/>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a:t>
                      </a:r>
                      <a:r>
                        <a:rPr lang="en-US" sz="1100" b="1" dirty="0">
                          <a:latin typeface="+mn-lt"/>
                        </a:rPr>
                        <a:t>;</a:t>
                      </a:r>
                      <a:r>
                        <a:rPr lang="en-US" sz="1100" b="1" dirty="0">
                          <a:effectLst/>
                          <a:latin typeface="+mn-lt"/>
                        </a:rPr>
                        <a:t>ST12: </a:t>
                      </a:r>
                      <a:r>
                        <a:rPr lang="en-US" sz="1100" dirty="0">
                          <a:effectLst/>
                          <a:latin typeface="+mn-lt"/>
                        </a:rPr>
                        <a:t>Align collective (i.e. crew, mission element, etc.) capabilities to meet mission requirements. [TL; OPSO]</a:t>
                      </a:r>
                      <a:endParaRPr lang="en-US"/>
                    </a:p>
                  </a:txBody>
                  <a:tcPr/>
                </a:tc>
                <a:tc>
                  <a:txBody>
                    <a:bodyPr/>
                    <a:lstStyle/>
                    <a:p>
                      <a:endParaRPr lang="en-US" sz="1100" dirty="0">
                        <a:latin typeface="+mn-lt"/>
                      </a:endParaRPr>
                    </a:p>
                  </a:txBody>
                  <a:tcPr/>
                </a:tc>
                <a:extLst>
                  <a:ext uri="{0D108BD9-81ED-4DB2-BD59-A6C34878D82A}">
                    <a16:rowId xmlns:a16="http://schemas.microsoft.com/office/drawing/2014/main" val="3799305643"/>
                  </a:ext>
                </a:extLst>
              </a:tr>
            </a:tbl>
          </a:graphicData>
        </a:graphic>
      </p:graphicFrame>
    </p:spTree>
    <p:extLst>
      <p:ext uri="{BB962C8B-B14F-4D97-AF65-F5344CB8AC3E}">
        <p14:creationId xmlns:p14="http://schemas.microsoft.com/office/powerpoint/2010/main" val="2031167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CABF-20F0-68A2-95FA-E09541A33EEE}"/>
              </a:ext>
            </a:extLst>
          </p:cNvPr>
          <p:cNvSpPr>
            <a:spLocks noGrp="1"/>
          </p:cNvSpPr>
          <p:nvPr>
            <p:ph type="title"/>
          </p:nvPr>
        </p:nvSpPr>
        <p:spPr/>
        <p:txBody>
          <a:bodyPr/>
          <a:lstStyle/>
          <a:p>
            <a:r>
              <a:rPr lang="en-US" sz="3200" dirty="0"/>
              <a:t>Planning and Analysis Checklist</a:t>
            </a:r>
            <a:br>
              <a:rPr lang="en-US" sz="3200" dirty="0"/>
            </a:br>
            <a:r>
              <a:rPr lang="en-US" sz="3200" dirty="0"/>
              <a:t>(fix and fill ALL of them)</a:t>
            </a:r>
          </a:p>
        </p:txBody>
      </p:sp>
      <p:graphicFrame>
        <p:nvGraphicFramePr>
          <p:cNvPr id="5" name="Table 5">
            <a:extLst>
              <a:ext uri="{FF2B5EF4-FFF2-40B4-BE49-F238E27FC236}">
                <a16:creationId xmlns:a16="http://schemas.microsoft.com/office/drawing/2014/main" id="{18F5666E-5E87-5358-D3DF-A0FB5E1D4F15}"/>
              </a:ext>
            </a:extLst>
          </p:cNvPr>
          <p:cNvGraphicFramePr>
            <a:graphicFrameLocks noGrp="1"/>
          </p:cNvGraphicFramePr>
          <p:nvPr>
            <p:ph idx="1"/>
            <p:extLst>
              <p:ext uri="{D42A27DB-BD31-4B8C-83A1-F6EECF244321}">
                <p14:modId xmlns:p14="http://schemas.microsoft.com/office/powerpoint/2010/main" val="655384152"/>
              </p:ext>
            </p:extLst>
          </p:nvPr>
        </p:nvGraphicFramePr>
        <p:xfrm>
          <a:off x="457200" y="1330736"/>
          <a:ext cx="8229600" cy="2707639"/>
        </p:xfrm>
        <a:graphic>
          <a:graphicData uri="http://schemas.openxmlformats.org/drawingml/2006/table">
            <a:tbl>
              <a:tblPr firstRow="1" bandRow="1">
                <a:tableStyleId>{073A0DAA-6AF3-43AB-8588-CEC1D06C72B9}</a:tableStyleId>
              </a:tblPr>
              <a:tblGrid>
                <a:gridCol w="7486650">
                  <a:extLst>
                    <a:ext uri="{9D8B030D-6E8A-4147-A177-3AD203B41FA5}">
                      <a16:colId xmlns:a16="http://schemas.microsoft.com/office/drawing/2014/main" val="2981979427"/>
                    </a:ext>
                  </a:extLst>
                </a:gridCol>
                <a:gridCol w="742950">
                  <a:extLst>
                    <a:ext uri="{9D8B030D-6E8A-4147-A177-3AD203B41FA5}">
                      <a16:colId xmlns:a16="http://schemas.microsoft.com/office/drawing/2014/main" val="20590222"/>
                    </a:ext>
                  </a:extLst>
                </a:gridCol>
              </a:tblGrid>
              <a:tr h="370840">
                <a:tc>
                  <a:txBody>
                    <a:bodyPr/>
                    <a:lstStyle/>
                    <a:p>
                      <a:pPr algn="ctr"/>
                      <a:r>
                        <a:rPr lang="en-US" sz="1100" dirty="0">
                          <a:latin typeface="+mn-lt"/>
                        </a:rPr>
                        <a:t>Item</a:t>
                      </a:r>
                    </a:p>
                  </a:txBody>
                  <a:tcPr/>
                </a:tc>
                <a:tc>
                  <a:txBody>
                    <a:bodyPr/>
                    <a:lstStyle/>
                    <a:p>
                      <a:pPr algn="ctr"/>
                      <a:r>
                        <a:rPr lang="en-US" sz="1100" dirty="0">
                          <a:latin typeface="+mn-lt"/>
                        </a:rPr>
                        <a:t>Check</a:t>
                      </a:r>
                    </a:p>
                  </a:txBody>
                  <a:tcPr/>
                </a:tc>
                <a:extLst>
                  <a:ext uri="{0D108BD9-81ED-4DB2-BD59-A6C34878D82A}">
                    <a16:rowId xmlns:a16="http://schemas.microsoft.com/office/drawing/2014/main" val="3386563740"/>
                  </a:ext>
                </a:extLst>
              </a:tr>
              <a:tr h="370839">
                <a:tc>
                  <a:txBody>
                    <a:bodyPr/>
                    <a:lstStyle/>
                    <a:p>
                      <a:pPr lvl="0" algn="l">
                        <a:lnSpc>
                          <a:spcPct val="100000"/>
                        </a:lnSpc>
                        <a:spcBef>
                          <a:spcPts val="0"/>
                        </a:spcBef>
                        <a:spcAft>
                          <a:spcPts val="0"/>
                        </a:spcAft>
                        <a:buNone/>
                      </a:pPr>
                      <a:r>
                        <a:rPr lang="en-US" sz="1100" b="1" i="0" u="none" strike="noStrike" noProof="0" dirty="0">
                          <a:effectLst/>
                          <a:latin typeface="Arial"/>
                        </a:rPr>
                        <a:t>CT2;ST13: </a:t>
                      </a:r>
                      <a:r>
                        <a:rPr lang="en-US" sz="1100" b="0" i="0" u="none" strike="noStrike" noProof="0" dirty="0">
                          <a:effectLst/>
                          <a:latin typeface="Arial"/>
                        </a:rPr>
                        <a:t>Conduct mission-specific pre-deployment training. [NCOIC]</a:t>
                      </a:r>
                      <a:endParaRPr lang="en-US" sz="1100" b="0" i="0" u="none" strike="noStrike" noProof="0" dirty="0">
                        <a:effectLst/>
                      </a:endParaRPr>
                    </a:p>
                  </a:txBody>
                  <a:tcPr/>
                </a:tc>
                <a:tc>
                  <a:txBody>
                    <a:bodyPr/>
                    <a:lstStyle/>
                    <a:p>
                      <a:pPr lvl="0">
                        <a:buNone/>
                      </a:pPr>
                      <a:endParaRPr lang="en-US" sz="1100" dirty="0">
                        <a:latin typeface="+mn-lt"/>
                      </a:endParaRPr>
                    </a:p>
                  </a:txBody>
                  <a:tcPr/>
                </a:tc>
                <a:extLst>
                  <a:ext uri="{0D108BD9-81ED-4DB2-BD59-A6C34878D82A}">
                    <a16:rowId xmlns:a16="http://schemas.microsoft.com/office/drawing/2014/main" val="145604835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CT2</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ST14: </a:t>
                      </a:r>
                      <a:r>
                        <a:rPr lang="en-US" sz="1100" dirty="0">
                          <a:effectLst/>
                          <a:latin typeface="+mn-lt"/>
                          <a:ea typeface="Times New Roman" panose="02020603050405020304" pitchFamily="18" charset="0"/>
                        </a:rPr>
                        <a:t>Prepare</a:t>
                      </a:r>
                      <a:r>
                        <a:rPr lang="en-US" sz="1100" spc="-70" dirty="0">
                          <a:effectLst/>
                          <a:latin typeface="+mn-lt"/>
                          <a:ea typeface="Times New Roman" panose="02020603050405020304" pitchFamily="18" charset="0"/>
                        </a:rPr>
                        <a:t> </a:t>
                      </a:r>
                      <a:r>
                        <a:rPr lang="en-US" sz="1100" dirty="0">
                          <a:effectLst/>
                          <a:latin typeface="+mn-lt"/>
                          <a:ea typeface="Times New Roman" panose="02020603050405020304" pitchFamily="18" charset="0"/>
                        </a:rPr>
                        <a:t>equipment</a:t>
                      </a:r>
                      <a:r>
                        <a:rPr lang="en-US" sz="1100" spc="-75" dirty="0">
                          <a:effectLst/>
                          <a:latin typeface="+mn-lt"/>
                          <a:ea typeface="Times New Roman" panose="02020603050405020304" pitchFamily="18" charset="0"/>
                        </a:rPr>
                        <a:t> </a:t>
                      </a:r>
                      <a:r>
                        <a:rPr lang="en-US" sz="1100" dirty="0">
                          <a:effectLst/>
                          <a:latin typeface="+mn-lt"/>
                          <a:ea typeface="Times New Roman" panose="02020603050405020304" pitchFamily="18" charset="0"/>
                        </a:rPr>
                        <a:t>for</a:t>
                      </a:r>
                      <a:r>
                        <a:rPr lang="en-US" sz="1100" spc="-115" dirty="0">
                          <a:effectLst/>
                          <a:latin typeface="+mn-lt"/>
                          <a:ea typeface="Times New Roman" panose="02020603050405020304" pitchFamily="18" charset="0"/>
                        </a:rPr>
                        <a:t> </a:t>
                      </a:r>
                      <a:r>
                        <a:rPr lang="en-US" sz="1100" dirty="0">
                          <a:effectLst/>
                          <a:latin typeface="+mn-lt"/>
                          <a:ea typeface="Times New Roman" panose="02020603050405020304" pitchFamily="18" charset="0"/>
                        </a:rPr>
                        <a:t>deployment.</a:t>
                      </a:r>
                      <a:r>
                        <a:rPr lang="en-US" sz="1100" spc="-40" dirty="0">
                          <a:effectLst/>
                          <a:latin typeface="+mn-lt"/>
                          <a:ea typeface="Times New Roman" panose="02020603050405020304" pitchFamily="18" charset="0"/>
                        </a:rPr>
                        <a:t> </a:t>
                      </a:r>
                      <a:r>
                        <a:rPr lang="en-US" sz="1100" dirty="0">
                          <a:effectLst/>
                          <a:latin typeface="+mn-lt"/>
                          <a:ea typeface="Times New Roman" panose="02020603050405020304" pitchFamily="18" charset="0"/>
                        </a:rPr>
                        <a:t>[PLNR;</a:t>
                      </a:r>
                      <a:r>
                        <a:rPr lang="en-US" sz="1100" spc="-85" dirty="0">
                          <a:effectLst/>
                          <a:latin typeface="+mn-lt"/>
                          <a:ea typeface="Times New Roman" panose="02020603050405020304" pitchFamily="18" charset="0"/>
                        </a:rPr>
                        <a:t> </a:t>
                      </a:r>
                      <a:r>
                        <a:rPr lang="en-US" sz="1100" dirty="0">
                          <a:effectLst/>
                          <a:latin typeface="+mn-lt"/>
                          <a:ea typeface="Times New Roman" panose="02020603050405020304" pitchFamily="18" charset="0"/>
                        </a:rPr>
                        <a:t>SE</a:t>
                      </a:r>
                      <a:r>
                        <a:rPr lang="en-US" sz="1100" spc="-90" dirty="0">
                          <a:effectLst/>
                          <a:latin typeface="+mn-lt"/>
                          <a:ea typeface="Times New Roman" panose="02020603050405020304" pitchFamily="18" charset="0"/>
                        </a:rPr>
                        <a:t> </a:t>
                      </a:r>
                      <a:r>
                        <a:rPr lang="en-US" sz="1100" dirty="0">
                          <a:effectLst/>
                          <a:latin typeface="+mn-lt"/>
                          <a:ea typeface="Times New Roman" panose="02020603050405020304" pitchFamily="18" charset="0"/>
                        </a:rPr>
                        <a:t>(Master</a:t>
                      </a:r>
                      <a:r>
                        <a:rPr lang="en-US" sz="1100" spc="-75" dirty="0">
                          <a:effectLst/>
                          <a:latin typeface="+mn-lt"/>
                          <a:ea typeface="Times New Roman" panose="02020603050405020304" pitchFamily="18" charset="0"/>
                        </a:rPr>
                        <a:t> </a:t>
                      </a:r>
                      <a:r>
                        <a:rPr lang="en-US" sz="1100" dirty="0">
                          <a:effectLst/>
                          <a:latin typeface="+mn-lt"/>
                          <a:ea typeface="Times New Roman" panose="02020603050405020304" pitchFamily="18" charset="0"/>
                        </a:rPr>
                        <a:t>Host and Network</a:t>
                      </a:r>
                      <a:r>
                        <a:rPr lang="en-US" sz="1100" spc="60" dirty="0">
                          <a:effectLst/>
                          <a:latin typeface="+mn-lt"/>
                          <a:ea typeface="Times New Roman" panose="02020603050405020304" pitchFamily="18" charset="0"/>
                        </a:rPr>
                        <a:t> </a:t>
                      </a:r>
                      <a:r>
                        <a:rPr lang="en-US" sz="1100" dirty="0">
                          <a:effectLst/>
                          <a:latin typeface="+mn-lt"/>
                          <a:ea typeface="Times New Roman" panose="02020603050405020304" pitchFamily="18" charset="0"/>
                        </a:rPr>
                        <a:t>Analysts)]</a:t>
                      </a:r>
                    </a:p>
                  </a:txBody>
                  <a:tcPr/>
                </a:tc>
                <a:tc>
                  <a:txBody>
                    <a:bodyPr/>
                    <a:lstStyle/>
                    <a:p>
                      <a:endParaRPr lang="en-US" sz="1100">
                        <a:latin typeface="+mn-lt"/>
                      </a:endParaRPr>
                    </a:p>
                  </a:txBody>
                  <a:tcPr/>
                </a:tc>
                <a:extLst>
                  <a:ext uri="{0D108BD9-81ED-4DB2-BD59-A6C34878D82A}">
                    <a16:rowId xmlns:a16="http://schemas.microsoft.com/office/drawing/2014/main" val="3960374064"/>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CT2</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ST15: </a:t>
                      </a:r>
                      <a:r>
                        <a:rPr lang="en-US" sz="1100" dirty="0">
                          <a:effectLst/>
                          <a:latin typeface="+mn-lt"/>
                          <a:ea typeface="Times New Roman" panose="02020603050405020304" pitchFamily="18" charset="0"/>
                        </a:rPr>
                        <a:t>Develop toolkit employment plan. [PLNR; SE (Master Host and Network Analyst)]</a:t>
                      </a:r>
                    </a:p>
                  </a:txBody>
                  <a:tcPr/>
                </a:tc>
                <a:tc>
                  <a:txBody>
                    <a:bodyPr/>
                    <a:lstStyle/>
                    <a:p>
                      <a:endParaRPr lang="en-US" sz="1100">
                        <a:latin typeface="+mn-lt"/>
                      </a:endParaRPr>
                    </a:p>
                  </a:txBody>
                  <a:tcPr/>
                </a:tc>
                <a:extLst>
                  <a:ext uri="{0D108BD9-81ED-4DB2-BD59-A6C34878D82A}">
                    <a16:rowId xmlns:a16="http://schemas.microsoft.com/office/drawing/2014/main" val="74676560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CT2</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ST16: </a:t>
                      </a:r>
                      <a:r>
                        <a:rPr lang="en-US" sz="1100" dirty="0">
                          <a:effectLst/>
                          <a:latin typeface="+mn-lt"/>
                          <a:ea typeface="Times New Roman" panose="02020603050405020304" pitchFamily="18" charset="0"/>
                        </a:rPr>
                        <a:t>Develop threat emulation plan. [PLNR; OPSO; ME; CTA;]</a:t>
                      </a:r>
                    </a:p>
                  </a:txBody>
                  <a:tcPr/>
                </a:tc>
                <a:tc>
                  <a:txBody>
                    <a:bodyPr/>
                    <a:lstStyle/>
                    <a:p>
                      <a:endParaRPr lang="en-US" sz="1100">
                        <a:latin typeface="+mn-lt"/>
                      </a:endParaRPr>
                    </a:p>
                  </a:txBody>
                  <a:tcPr/>
                </a:tc>
                <a:extLst>
                  <a:ext uri="{0D108BD9-81ED-4DB2-BD59-A6C34878D82A}">
                    <a16:rowId xmlns:a16="http://schemas.microsoft.com/office/drawing/2014/main" val="85954846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CT2</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ST17: </a:t>
                      </a:r>
                      <a:r>
                        <a:rPr lang="en-US" sz="1100" dirty="0">
                          <a:effectLst/>
                          <a:latin typeface="+mn-lt"/>
                          <a:ea typeface="Times New Roman" panose="02020603050405020304" pitchFamily="18" charset="0"/>
                        </a:rPr>
                        <a:t>Coordinate communications contracts, special instructions, and Pre-approved actions prior to mission execution. [PLNR; OPSO]</a:t>
                      </a:r>
                    </a:p>
                  </a:txBody>
                  <a:tcPr/>
                </a:tc>
                <a:tc>
                  <a:txBody>
                    <a:bodyPr/>
                    <a:lstStyle/>
                    <a:p>
                      <a:endParaRPr lang="en-US" sz="1100" dirty="0">
                        <a:latin typeface="+mn-lt"/>
                      </a:endParaRPr>
                    </a:p>
                  </a:txBody>
                  <a:tcPr/>
                </a:tc>
                <a:extLst>
                  <a:ext uri="{0D108BD9-81ED-4DB2-BD59-A6C34878D82A}">
                    <a16:rowId xmlns:a16="http://schemas.microsoft.com/office/drawing/2014/main" val="3947516828"/>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CT2</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ST18: </a:t>
                      </a:r>
                      <a:r>
                        <a:rPr lang="en-US" sz="1100" dirty="0">
                          <a:effectLst/>
                          <a:latin typeface="+mn-lt"/>
                          <a:ea typeface="Times New Roman" panose="02020603050405020304" pitchFamily="18" charset="0"/>
                        </a:rPr>
                        <a:t>Review and implement standard operating procedures, policies, TTPs, and guidance as they apply to mission execution. [Master Host and Network Analyst]</a:t>
                      </a:r>
                      <a:endParaRPr lang="en-US" sz="1100" kern="0" dirty="0">
                        <a:latin typeface="+mn-lt"/>
                      </a:endParaRPr>
                    </a:p>
                  </a:txBody>
                  <a:tcPr/>
                </a:tc>
                <a:tc>
                  <a:txBody>
                    <a:bodyPr/>
                    <a:lstStyle/>
                    <a:p>
                      <a:endParaRPr lang="en-US" sz="1100" dirty="0">
                        <a:latin typeface="+mn-lt"/>
                      </a:endParaRPr>
                    </a:p>
                  </a:txBody>
                  <a:tcPr/>
                </a:tc>
                <a:extLst>
                  <a:ext uri="{0D108BD9-81ED-4DB2-BD59-A6C34878D82A}">
                    <a16:rowId xmlns:a16="http://schemas.microsoft.com/office/drawing/2014/main" val="3799305643"/>
                  </a:ext>
                </a:extLst>
              </a:tr>
            </a:tbl>
          </a:graphicData>
        </a:graphic>
      </p:graphicFrame>
    </p:spTree>
    <p:extLst>
      <p:ext uri="{BB962C8B-B14F-4D97-AF65-F5344CB8AC3E}">
        <p14:creationId xmlns:p14="http://schemas.microsoft.com/office/powerpoint/2010/main" val="2172370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969276C5-7F2B-47DE-B4ED-9187B2575435}"/>
              </a:ext>
            </a:extLst>
          </p:cNvPr>
          <p:cNvSpPr>
            <a:spLocks noGrp="1"/>
          </p:cNvSpPr>
          <p:nvPr>
            <p:ph type="title"/>
          </p:nvPr>
        </p:nvSpPr>
        <p:spPr/>
        <p:txBody>
          <a:bodyPr/>
          <a:lstStyle/>
          <a:p>
            <a:r>
              <a:rPr lang="en-US" dirty="0"/>
              <a:t>Mission Analysis</a:t>
            </a:r>
            <a:br>
              <a:rPr lang="en-US" dirty="0"/>
            </a:br>
            <a:r>
              <a:rPr lang="en-US" sz="2800" dirty="0"/>
              <a:t>Information</a:t>
            </a:r>
            <a:endParaRPr lang="en-US" dirty="0"/>
          </a:p>
        </p:txBody>
      </p:sp>
      <p:sp>
        <p:nvSpPr>
          <p:cNvPr id="15" name="Rectangle 10">
            <a:extLst>
              <a:ext uri="{FF2B5EF4-FFF2-40B4-BE49-F238E27FC236}">
                <a16:creationId xmlns:a16="http://schemas.microsoft.com/office/drawing/2014/main" id="{1C884D6F-7F12-4370-A576-54617A71662E}"/>
              </a:ext>
            </a:extLst>
          </p:cNvPr>
          <p:cNvSpPr txBox="1">
            <a:spLocks noChangeArrowheads="1"/>
          </p:cNvSpPr>
          <p:nvPr/>
        </p:nvSpPr>
        <p:spPr>
          <a:xfrm>
            <a:off x="267131" y="1417544"/>
            <a:ext cx="4304865"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Facts</a:t>
            </a:r>
          </a:p>
          <a:p>
            <a:pPr marL="290830" indent="-290830" eaLnBrk="1" hangingPunct="1"/>
            <a:r>
              <a:rPr lang="en-US" sz="1100" kern="0" dirty="0">
                <a:cs typeface="Arial"/>
              </a:rPr>
              <a:t>We were alerted to the incident by the following indications:</a:t>
            </a:r>
          </a:p>
          <a:p>
            <a:pPr marL="633095" lvl="1" indent="-243840"/>
            <a:endParaRPr lang="en-US" sz="800" kern="0" dirty="0">
              <a:cs typeface="Arial"/>
            </a:endParaRPr>
          </a:p>
          <a:p>
            <a:pPr marL="290830" indent="-290830"/>
            <a:r>
              <a:rPr lang="en-US" sz="1100" kern="0" dirty="0">
                <a:cs typeface="Arial"/>
              </a:rPr>
              <a:t>The following things happened as a result:</a:t>
            </a:r>
          </a:p>
          <a:p>
            <a:pPr marL="290830" indent="-290830"/>
            <a:endParaRPr lang="en-US" sz="1100" kern="0" dirty="0">
              <a:cs typeface="Arial"/>
            </a:endParaRPr>
          </a:p>
          <a:p>
            <a:pPr marL="290830" indent="-290830"/>
            <a:r>
              <a:rPr lang="en-US" sz="1100" kern="0" dirty="0">
                <a:cs typeface="Arial"/>
              </a:rPr>
              <a:t>Sensor take showed that:</a:t>
            </a:r>
          </a:p>
          <a:p>
            <a:pPr marL="633095" lvl="1" indent="-243840"/>
            <a:endParaRPr lang="en-US" sz="800" kern="0" dirty="0">
              <a:cs typeface="Arial"/>
            </a:endParaRPr>
          </a:p>
          <a:p>
            <a:pPr marL="290830" indent="-290830"/>
            <a:r>
              <a:rPr lang="en-US" sz="1100" kern="0" dirty="0">
                <a:cs typeface="Arial"/>
              </a:rPr>
              <a:t>The timeline for events has been as follows:</a:t>
            </a:r>
          </a:p>
          <a:p>
            <a:pPr marL="633095" lvl="1" indent="-243840"/>
            <a:endParaRPr lang="en-US" sz="800" kern="0" dirty="0">
              <a:cs typeface="Arial"/>
            </a:endParaRPr>
          </a:p>
          <a:p>
            <a:pPr marL="0" indent="0" eaLnBrk="1" hangingPunct="1">
              <a:buNone/>
            </a:pPr>
            <a:endParaRPr lang="en-US" sz="1600" kern="0" dirty="0">
              <a:cs typeface="Arial"/>
            </a:endParaRPr>
          </a:p>
          <a:p>
            <a:pPr marL="290830" indent="-290830" eaLnBrk="1" hangingPunct="1"/>
            <a:endParaRPr lang="en-US" sz="1600" kern="0" dirty="0">
              <a:cs typeface="Arial"/>
            </a:endParaRPr>
          </a:p>
        </p:txBody>
      </p:sp>
      <p:sp>
        <p:nvSpPr>
          <p:cNvPr id="17" name="Line 15">
            <a:extLst>
              <a:ext uri="{FF2B5EF4-FFF2-40B4-BE49-F238E27FC236}">
                <a16:creationId xmlns:a16="http://schemas.microsoft.com/office/drawing/2014/main" id="{420E8522-D17E-44E1-8587-6BBD54A45B8E}"/>
              </a:ext>
            </a:extLst>
          </p:cNvPr>
          <p:cNvSpPr>
            <a:spLocks noChangeShapeType="1"/>
          </p:cNvSpPr>
          <p:nvPr/>
        </p:nvSpPr>
        <p:spPr bwMode="auto">
          <a:xfrm>
            <a:off x="267131" y="4000500"/>
            <a:ext cx="8591119" cy="0"/>
          </a:xfrm>
          <a:prstGeom prst="line">
            <a:avLst/>
          </a:prstGeom>
          <a:noFill/>
          <a:ln w="38100">
            <a:solidFill>
              <a:schemeClr val="tx1"/>
            </a:solidFill>
            <a:round/>
            <a:headEnd/>
            <a:tailEnd/>
          </a:ln>
        </p:spPr>
        <p:txBody>
          <a:bodyPr/>
          <a:lstStyle/>
          <a:p>
            <a:endParaRPr lang="en-US"/>
          </a:p>
        </p:txBody>
      </p:sp>
      <p:sp>
        <p:nvSpPr>
          <p:cNvPr id="18" name="Line 17">
            <a:extLst>
              <a:ext uri="{FF2B5EF4-FFF2-40B4-BE49-F238E27FC236}">
                <a16:creationId xmlns:a16="http://schemas.microsoft.com/office/drawing/2014/main" id="{703E17E3-F388-43B8-B339-4EF7ED251E2E}"/>
              </a:ext>
            </a:extLst>
          </p:cNvPr>
          <p:cNvSpPr>
            <a:spLocks noChangeShapeType="1"/>
          </p:cNvSpPr>
          <p:nvPr/>
        </p:nvSpPr>
        <p:spPr bwMode="auto">
          <a:xfrm flipH="1">
            <a:off x="4571996" y="1331912"/>
            <a:ext cx="4" cy="2668588"/>
          </a:xfrm>
          <a:prstGeom prst="line">
            <a:avLst/>
          </a:prstGeom>
          <a:noFill/>
          <a:ln w="38100">
            <a:solidFill>
              <a:schemeClr val="tx1"/>
            </a:solidFill>
            <a:round/>
            <a:headEnd/>
            <a:tailEnd/>
          </a:ln>
        </p:spPr>
        <p:txBody>
          <a:bodyPr/>
          <a:lstStyle/>
          <a:p>
            <a:endParaRPr lang="en-US"/>
          </a:p>
        </p:txBody>
      </p:sp>
      <p:sp>
        <p:nvSpPr>
          <p:cNvPr id="22" name="Rectangle 10">
            <a:extLst>
              <a:ext uri="{FF2B5EF4-FFF2-40B4-BE49-F238E27FC236}">
                <a16:creationId xmlns:a16="http://schemas.microsoft.com/office/drawing/2014/main" id="{DA1B2BB4-4278-402B-89A6-35D2BE0CBA59}"/>
              </a:ext>
            </a:extLst>
          </p:cNvPr>
          <p:cNvSpPr txBox="1">
            <a:spLocks noChangeArrowheads="1"/>
          </p:cNvSpPr>
          <p:nvPr/>
        </p:nvSpPr>
        <p:spPr>
          <a:xfrm>
            <a:off x="4663941" y="1417544"/>
            <a:ext cx="4194309"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Assumptions</a:t>
            </a:r>
          </a:p>
          <a:p>
            <a:pPr marL="290830" indent="-290830" eaLnBrk="1" hangingPunct="1"/>
            <a:r>
              <a:rPr lang="en-US" sz="1100" kern="0" dirty="0">
                <a:cs typeface="Arial"/>
              </a:rPr>
              <a:t>We believe this to be a &lt;attack type&gt; indication</a:t>
            </a:r>
          </a:p>
          <a:p>
            <a:pPr marL="290830" indent="-290830"/>
            <a:r>
              <a:rPr lang="en-US" sz="1100" kern="0" dirty="0">
                <a:cs typeface="Arial"/>
              </a:rPr>
              <a:t>It will further impact &lt;Customer Entity&gt;</a:t>
            </a:r>
          </a:p>
          <a:p>
            <a:pPr marL="290830" indent="-290830"/>
            <a:endParaRPr lang="en-US" sz="1100" kern="0" dirty="0">
              <a:cs typeface="Arial"/>
            </a:endParaRPr>
          </a:p>
        </p:txBody>
      </p:sp>
      <p:sp>
        <p:nvSpPr>
          <p:cNvPr id="23" name="Rectangle 10">
            <a:extLst>
              <a:ext uri="{FF2B5EF4-FFF2-40B4-BE49-F238E27FC236}">
                <a16:creationId xmlns:a16="http://schemas.microsoft.com/office/drawing/2014/main" id="{EC7B1F2D-A39F-41CA-A595-9096CDD083FC}"/>
              </a:ext>
            </a:extLst>
          </p:cNvPr>
          <p:cNvSpPr txBox="1">
            <a:spLocks noChangeArrowheads="1"/>
          </p:cNvSpPr>
          <p:nvPr/>
        </p:nvSpPr>
        <p:spPr>
          <a:xfrm>
            <a:off x="305017" y="3990975"/>
            <a:ext cx="8515345" cy="1798635"/>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Constraints</a:t>
            </a:r>
          </a:p>
          <a:p>
            <a:pPr marL="290830" indent="-290830" eaLnBrk="1" hangingPunct="1"/>
            <a:r>
              <a:rPr lang="en-US" sz="1100" kern="0" dirty="0">
                <a:cs typeface="Arial"/>
              </a:rPr>
              <a:t>As defined by MOA/MOU, UCMJ, NDA, International Laws, Federal Laws, State Laws</a:t>
            </a:r>
          </a:p>
          <a:p>
            <a:pPr marL="290830" indent="-290830"/>
            <a:endParaRPr lang="en-US" sz="1100" kern="0" dirty="0">
              <a:cs typeface="Arial"/>
            </a:endParaRPr>
          </a:p>
          <a:p>
            <a:pPr marL="290830" indent="-290830"/>
            <a:r>
              <a:rPr lang="en-US" sz="1100" kern="0" dirty="0">
                <a:cs typeface="Arial"/>
              </a:rPr>
              <a:t>Be specific to the mission and environment; break down MOU/MOA/etc. to most essential pieces and make them easy to parse for operators and leaders</a:t>
            </a:r>
          </a:p>
          <a:p>
            <a:pPr marL="290830" indent="-290830"/>
            <a:endParaRPr lang="en-US" sz="1100" kern="0" dirty="0">
              <a:cs typeface="Arial"/>
            </a:endParaRPr>
          </a:p>
          <a:p>
            <a:pPr marL="290830" indent="-290830"/>
            <a:r>
              <a:rPr lang="en-US" sz="1100" kern="0" dirty="0">
                <a:cs typeface="Arial"/>
              </a:rPr>
              <a:t>Must do/can't do list of actions; Left/right limits</a:t>
            </a:r>
          </a:p>
          <a:p>
            <a:pPr marL="0" indent="0" eaLnBrk="1" hangingPunct="1">
              <a:buNone/>
            </a:pPr>
            <a:endParaRPr lang="en-US" sz="1600" kern="0" dirty="0">
              <a:cs typeface="Arial"/>
            </a:endParaRPr>
          </a:p>
          <a:p>
            <a:pPr marL="290830" indent="-290830" eaLnBrk="1" hangingPunct="1"/>
            <a:endParaRPr lang="en-US" sz="1600" kern="0" dirty="0">
              <a:cs typeface="Arial"/>
            </a:endParaRPr>
          </a:p>
        </p:txBody>
      </p:sp>
    </p:spTree>
    <p:extLst>
      <p:ext uri="{BB962C8B-B14F-4D97-AF65-F5344CB8AC3E}">
        <p14:creationId xmlns:p14="http://schemas.microsoft.com/office/powerpoint/2010/main" val="2052151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t>RFI Tracker</a:t>
            </a:r>
          </a:p>
        </p:txBody>
      </p:sp>
      <p:sp>
        <p:nvSpPr>
          <p:cNvPr id="3" name="Content Placeholder 2">
            <a:extLst>
              <a:ext uri="{FF2B5EF4-FFF2-40B4-BE49-F238E27FC236}">
                <a16:creationId xmlns:a16="http://schemas.microsoft.com/office/drawing/2014/main" id="{741311A7-4D40-46FF-F7B4-8A7293EF4882}"/>
              </a:ext>
            </a:extLst>
          </p:cNvPr>
          <p:cNvSpPr>
            <a:spLocks noGrp="1"/>
          </p:cNvSpPr>
          <p:nvPr>
            <p:ph idx="1"/>
          </p:nvPr>
        </p:nvSpPr>
        <p:spPr/>
        <p:txBody>
          <a:bodyPr/>
          <a:lstStyle/>
          <a:p>
            <a:pPr marL="290830" indent="-290830"/>
            <a:r>
              <a:rPr lang="en-US" dirty="0">
                <a:cs typeface="Arial"/>
              </a:rPr>
              <a:t>Generated from assumptions</a:t>
            </a:r>
          </a:p>
        </p:txBody>
      </p:sp>
    </p:spTree>
    <p:extLst>
      <p:ext uri="{BB962C8B-B14F-4D97-AF65-F5344CB8AC3E}">
        <p14:creationId xmlns:p14="http://schemas.microsoft.com/office/powerpoint/2010/main" val="1069539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969276C5-7F2B-47DE-B4ED-9187B2575435}"/>
              </a:ext>
            </a:extLst>
          </p:cNvPr>
          <p:cNvSpPr>
            <a:spLocks noGrp="1"/>
          </p:cNvSpPr>
          <p:nvPr>
            <p:ph type="title"/>
          </p:nvPr>
        </p:nvSpPr>
        <p:spPr/>
        <p:txBody>
          <a:bodyPr/>
          <a:lstStyle/>
          <a:p>
            <a:r>
              <a:rPr lang="en-US" dirty="0"/>
              <a:t>Mission Analysis</a:t>
            </a:r>
            <a:br>
              <a:rPr lang="en-US" dirty="0"/>
            </a:br>
            <a:r>
              <a:rPr lang="en-US" sz="2800" dirty="0"/>
              <a:t>Tasks</a:t>
            </a:r>
            <a:endParaRPr lang="en-US" dirty="0"/>
          </a:p>
        </p:txBody>
      </p:sp>
      <p:sp>
        <p:nvSpPr>
          <p:cNvPr id="15" name="Rectangle 10">
            <a:extLst>
              <a:ext uri="{FF2B5EF4-FFF2-40B4-BE49-F238E27FC236}">
                <a16:creationId xmlns:a16="http://schemas.microsoft.com/office/drawing/2014/main" id="{1C884D6F-7F12-4370-A576-54617A71662E}"/>
              </a:ext>
            </a:extLst>
          </p:cNvPr>
          <p:cNvSpPr txBox="1">
            <a:spLocks noChangeArrowheads="1"/>
          </p:cNvSpPr>
          <p:nvPr/>
        </p:nvSpPr>
        <p:spPr>
          <a:xfrm>
            <a:off x="267131" y="1417544"/>
            <a:ext cx="4304865"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Specified Tasks</a:t>
            </a:r>
          </a:p>
          <a:p>
            <a:pPr marL="290830" indent="-290830" eaLnBrk="1" hangingPunct="1"/>
            <a:r>
              <a:rPr lang="en-US" sz="1600" kern="0" dirty="0">
                <a:cs typeface="Arial"/>
              </a:rPr>
              <a:t>Developed from</a:t>
            </a:r>
          </a:p>
          <a:p>
            <a:pPr marL="633095" lvl="1" indent="-243840"/>
            <a:r>
              <a:rPr lang="en-US" sz="1300" kern="0" dirty="0">
                <a:cs typeface="Arial"/>
              </a:rPr>
              <a:t>Response playbook(s)</a:t>
            </a:r>
          </a:p>
          <a:p>
            <a:pPr marL="633095" lvl="1" indent="-243840"/>
            <a:r>
              <a:rPr lang="en-US" sz="1300" kern="0" dirty="0">
                <a:cs typeface="Arial"/>
              </a:rPr>
              <a:t>T&amp;EOs</a:t>
            </a:r>
          </a:p>
          <a:p>
            <a:pPr marL="633095" lvl="1" indent="-243840"/>
            <a:r>
              <a:rPr lang="en-US" sz="1300" kern="0" dirty="0">
                <a:cs typeface="Arial"/>
              </a:rPr>
              <a:t>Customer direction</a:t>
            </a:r>
          </a:p>
          <a:p>
            <a:pPr marL="633095" lvl="1" indent="-243840"/>
            <a:r>
              <a:rPr lang="en-US" sz="1300" kern="0" dirty="0">
                <a:cs typeface="Arial"/>
              </a:rPr>
              <a:t>Leadership direction</a:t>
            </a:r>
          </a:p>
          <a:p>
            <a:pPr marL="633095" lvl="1" indent="-243840"/>
            <a:r>
              <a:rPr lang="en-US" sz="1300" kern="0" dirty="0">
                <a:cs typeface="Arial"/>
              </a:rPr>
              <a:t>Applicable laws/regulations</a:t>
            </a:r>
          </a:p>
          <a:p>
            <a:pPr marL="0" indent="0" eaLnBrk="1" hangingPunct="1">
              <a:buNone/>
            </a:pPr>
            <a:endParaRPr lang="en-US" sz="1600" kern="0" dirty="0">
              <a:cs typeface="Arial"/>
            </a:endParaRPr>
          </a:p>
          <a:p>
            <a:pPr marL="290830" indent="-290830" eaLnBrk="1" hangingPunct="1"/>
            <a:endParaRPr lang="en-US" sz="1600" kern="0" dirty="0">
              <a:cs typeface="Arial"/>
            </a:endParaRPr>
          </a:p>
        </p:txBody>
      </p:sp>
      <p:sp>
        <p:nvSpPr>
          <p:cNvPr id="17" name="Line 15">
            <a:extLst>
              <a:ext uri="{FF2B5EF4-FFF2-40B4-BE49-F238E27FC236}">
                <a16:creationId xmlns:a16="http://schemas.microsoft.com/office/drawing/2014/main" id="{420E8522-D17E-44E1-8587-6BBD54A45B8E}"/>
              </a:ext>
            </a:extLst>
          </p:cNvPr>
          <p:cNvSpPr>
            <a:spLocks noChangeShapeType="1"/>
          </p:cNvSpPr>
          <p:nvPr/>
        </p:nvSpPr>
        <p:spPr bwMode="auto">
          <a:xfrm>
            <a:off x="267131" y="4000500"/>
            <a:ext cx="8591119" cy="0"/>
          </a:xfrm>
          <a:prstGeom prst="line">
            <a:avLst/>
          </a:prstGeom>
          <a:noFill/>
          <a:ln w="38100">
            <a:solidFill>
              <a:schemeClr val="tx1"/>
            </a:solidFill>
            <a:round/>
            <a:headEnd/>
            <a:tailEnd/>
          </a:ln>
        </p:spPr>
        <p:txBody>
          <a:bodyPr/>
          <a:lstStyle/>
          <a:p>
            <a:endParaRPr lang="en-US"/>
          </a:p>
        </p:txBody>
      </p:sp>
      <p:sp>
        <p:nvSpPr>
          <p:cNvPr id="18" name="Line 17">
            <a:extLst>
              <a:ext uri="{FF2B5EF4-FFF2-40B4-BE49-F238E27FC236}">
                <a16:creationId xmlns:a16="http://schemas.microsoft.com/office/drawing/2014/main" id="{703E17E3-F388-43B8-B339-4EF7ED251E2E}"/>
              </a:ext>
            </a:extLst>
          </p:cNvPr>
          <p:cNvSpPr>
            <a:spLocks noChangeShapeType="1"/>
          </p:cNvSpPr>
          <p:nvPr/>
        </p:nvSpPr>
        <p:spPr bwMode="auto">
          <a:xfrm flipH="1">
            <a:off x="4571996" y="1331912"/>
            <a:ext cx="4" cy="2668588"/>
          </a:xfrm>
          <a:prstGeom prst="line">
            <a:avLst/>
          </a:prstGeom>
          <a:noFill/>
          <a:ln w="38100">
            <a:solidFill>
              <a:schemeClr val="tx1"/>
            </a:solidFill>
            <a:round/>
            <a:headEnd/>
            <a:tailEnd/>
          </a:ln>
        </p:spPr>
        <p:txBody>
          <a:bodyPr/>
          <a:lstStyle/>
          <a:p>
            <a:endParaRPr lang="en-US"/>
          </a:p>
        </p:txBody>
      </p:sp>
      <p:sp>
        <p:nvSpPr>
          <p:cNvPr id="22" name="Rectangle 10">
            <a:extLst>
              <a:ext uri="{FF2B5EF4-FFF2-40B4-BE49-F238E27FC236}">
                <a16:creationId xmlns:a16="http://schemas.microsoft.com/office/drawing/2014/main" id="{DA1B2BB4-4278-402B-89A6-35D2BE0CBA59}"/>
              </a:ext>
            </a:extLst>
          </p:cNvPr>
          <p:cNvSpPr txBox="1">
            <a:spLocks noChangeArrowheads="1"/>
          </p:cNvSpPr>
          <p:nvPr/>
        </p:nvSpPr>
        <p:spPr>
          <a:xfrm>
            <a:off x="4663941" y="1417544"/>
            <a:ext cx="4194309"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Implied Tasks</a:t>
            </a:r>
          </a:p>
          <a:p>
            <a:pPr marL="290830" indent="-290830" eaLnBrk="1" hangingPunct="1">
              <a:buFont typeface="Arial"/>
              <a:buChar char="•"/>
            </a:pPr>
            <a:r>
              <a:rPr lang="en-US" sz="1100" kern="0" dirty="0">
                <a:cs typeface="Arial"/>
              </a:rPr>
              <a:t>Maintain record of all actions taken</a:t>
            </a:r>
          </a:p>
          <a:p>
            <a:pPr marL="290830" indent="-290830">
              <a:buFont typeface="Arial"/>
              <a:buChar char="•"/>
            </a:pPr>
            <a:r>
              <a:rPr lang="en-US" sz="1100" kern="0" dirty="0">
                <a:cs typeface="Arial"/>
              </a:rPr>
              <a:t>Maintain incident timeline</a:t>
            </a:r>
          </a:p>
          <a:p>
            <a:pPr marL="290830" indent="-290830">
              <a:buFont typeface="Arial"/>
              <a:buChar char="•"/>
            </a:pPr>
            <a:r>
              <a:rPr lang="en-US" sz="1100" kern="0" dirty="0">
                <a:cs typeface="Arial"/>
              </a:rPr>
              <a:t>Record all </a:t>
            </a:r>
            <a:r>
              <a:rPr lang="en-US" sz="1100" kern="0" dirty="0" err="1">
                <a:cs typeface="Arial"/>
              </a:rPr>
              <a:t>IoCs</a:t>
            </a:r>
            <a:r>
              <a:rPr lang="en-US" sz="1100" kern="0" dirty="0">
                <a:cs typeface="Arial"/>
              </a:rPr>
              <a:t> found or associated with incident</a:t>
            </a:r>
          </a:p>
          <a:p>
            <a:pPr marL="290830" indent="-290830">
              <a:buFont typeface="Arial"/>
              <a:buChar char="•"/>
            </a:pPr>
            <a:r>
              <a:rPr lang="en-US" sz="1100" kern="0" dirty="0">
                <a:cs typeface="Arial"/>
              </a:rPr>
              <a:t>Report critical information to stakeholders as required by law/regulation</a:t>
            </a:r>
          </a:p>
          <a:p>
            <a:pPr marL="290830" indent="-290830">
              <a:buFont typeface="Arial"/>
              <a:buChar char="•"/>
            </a:pPr>
            <a:r>
              <a:rPr lang="en-US" sz="1100" kern="0" dirty="0">
                <a:cs typeface="Arial"/>
              </a:rPr>
              <a:t>Maintain reasonable expectations with customer; do not anticipate results</a:t>
            </a:r>
          </a:p>
          <a:p>
            <a:pPr marL="290830" indent="-290830">
              <a:buFont typeface="Arial"/>
              <a:buChar char="•"/>
            </a:pPr>
            <a:r>
              <a:rPr lang="en-US" sz="1100" kern="0" dirty="0">
                <a:cs typeface="Arial"/>
              </a:rPr>
              <a:t>In general, CPT will not be performing remediation/hardening actions; CPT makes recommendations and test impact </a:t>
            </a:r>
          </a:p>
          <a:p>
            <a:pPr marL="290830" indent="-290830">
              <a:buFont typeface="Arial"/>
              <a:buChar char="•"/>
            </a:pPr>
            <a:endParaRPr lang="en-US" sz="1100" kern="0" dirty="0">
              <a:cs typeface="Arial"/>
            </a:endParaRPr>
          </a:p>
        </p:txBody>
      </p:sp>
      <p:sp>
        <p:nvSpPr>
          <p:cNvPr id="23" name="Rectangle 10">
            <a:extLst>
              <a:ext uri="{FF2B5EF4-FFF2-40B4-BE49-F238E27FC236}">
                <a16:creationId xmlns:a16="http://schemas.microsoft.com/office/drawing/2014/main" id="{EC7B1F2D-A39F-41CA-A595-9096CDD083FC}"/>
              </a:ext>
            </a:extLst>
          </p:cNvPr>
          <p:cNvSpPr txBox="1">
            <a:spLocks noChangeArrowheads="1"/>
          </p:cNvSpPr>
          <p:nvPr/>
        </p:nvSpPr>
        <p:spPr>
          <a:xfrm>
            <a:off x="305017" y="3981450"/>
            <a:ext cx="8515345" cy="1798635"/>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Essential Tasks</a:t>
            </a:r>
          </a:p>
          <a:p>
            <a:pPr marL="290830" indent="-290830" eaLnBrk="1" hangingPunct="1"/>
            <a:r>
              <a:rPr lang="en-US" sz="1100" dirty="0">
                <a:ea typeface="Times New Roman" panose="02020603050405020304" pitchFamily="18" charset="0"/>
                <a:cs typeface="Arial"/>
              </a:rPr>
              <a:t>Adhere to all applicable laws and regulations</a:t>
            </a:r>
            <a:endParaRPr lang="en-US" sz="1100" dirty="0">
              <a:ea typeface="Times New Roman" panose="02020603050405020304" pitchFamily="18" charset="0"/>
            </a:endParaRPr>
          </a:p>
          <a:p>
            <a:pPr marL="290830" indent="-290830"/>
            <a:r>
              <a:rPr lang="en-US" sz="1100" dirty="0">
                <a:ea typeface="Times New Roman" panose="02020603050405020304" pitchFamily="18" charset="0"/>
              </a:rPr>
              <a:t>Obtain MOA/MOU and NDA</a:t>
            </a:r>
            <a:endParaRPr lang="en-US" sz="1100" dirty="0">
              <a:effectLst/>
              <a:ea typeface="Times New Roman" panose="02020603050405020304" pitchFamily="18" charset="0"/>
              <a:cs typeface="Arial"/>
            </a:endParaRPr>
          </a:p>
          <a:p>
            <a:pPr marL="290830" indent="-290830"/>
            <a:r>
              <a:rPr lang="en-US" sz="1100" dirty="0">
                <a:cs typeface="Arial"/>
              </a:rPr>
              <a:t>Obtain logs/documentation</a:t>
            </a:r>
          </a:p>
          <a:p>
            <a:pPr marL="290830" indent="-290830"/>
            <a:r>
              <a:rPr lang="en-US" sz="1100" dirty="0">
                <a:cs typeface="Arial"/>
              </a:rPr>
              <a:t>Ensure and maintain integrity of all harvested data</a:t>
            </a:r>
          </a:p>
          <a:p>
            <a:pPr marL="290830" indent="-290830"/>
            <a:endParaRPr lang="en-US" sz="1100" dirty="0">
              <a:cs typeface="Arial"/>
            </a:endParaRPr>
          </a:p>
          <a:p>
            <a:pPr marL="0" indent="0" algn="ctr" eaLnBrk="1" hangingPunct="1">
              <a:buNone/>
            </a:pPr>
            <a:endParaRPr lang="en-US" sz="1100" b="1" u="sng" kern="0" dirty="0">
              <a:cs typeface="Arial"/>
            </a:endParaRPr>
          </a:p>
          <a:p>
            <a:pPr marL="290830" indent="-290830" eaLnBrk="1" hangingPunct="1"/>
            <a:endParaRPr lang="en-US" sz="1600" kern="0" dirty="0">
              <a:cs typeface="Arial"/>
            </a:endParaRPr>
          </a:p>
          <a:p>
            <a:pPr marL="0" indent="0" eaLnBrk="1" hangingPunct="1">
              <a:buNone/>
            </a:pPr>
            <a:endParaRPr lang="en-US" sz="1600" kern="0" dirty="0">
              <a:cs typeface="Arial"/>
            </a:endParaRPr>
          </a:p>
          <a:p>
            <a:pPr marL="290830" indent="-290830" eaLnBrk="1" hangingPunct="1"/>
            <a:endParaRPr lang="en-US" sz="1600" kern="0" dirty="0">
              <a:cs typeface="Arial"/>
            </a:endParaRPr>
          </a:p>
        </p:txBody>
      </p:sp>
    </p:spTree>
    <p:extLst>
      <p:ext uri="{BB962C8B-B14F-4D97-AF65-F5344CB8AC3E}">
        <p14:creationId xmlns:p14="http://schemas.microsoft.com/office/powerpoint/2010/main" val="2662159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969276C5-7F2B-47DE-B4ED-9187B2575435}"/>
              </a:ext>
            </a:extLst>
          </p:cNvPr>
          <p:cNvSpPr>
            <a:spLocks noGrp="1"/>
          </p:cNvSpPr>
          <p:nvPr>
            <p:ph type="title"/>
          </p:nvPr>
        </p:nvSpPr>
        <p:spPr/>
        <p:txBody>
          <a:bodyPr/>
          <a:lstStyle/>
          <a:p>
            <a:r>
              <a:rPr lang="en-US" dirty="0"/>
              <a:t>Mission Planning</a:t>
            </a:r>
            <a:br>
              <a:rPr lang="en-US" dirty="0"/>
            </a:br>
            <a:r>
              <a:rPr lang="en-US" sz="2800" dirty="0"/>
              <a:t>Stakeholder Inbrief</a:t>
            </a:r>
          </a:p>
        </p:txBody>
      </p:sp>
      <p:sp>
        <p:nvSpPr>
          <p:cNvPr id="15" name="Rectangle 10">
            <a:extLst>
              <a:ext uri="{FF2B5EF4-FFF2-40B4-BE49-F238E27FC236}">
                <a16:creationId xmlns:a16="http://schemas.microsoft.com/office/drawing/2014/main" id="{1C884D6F-7F12-4370-A576-54617A71662E}"/>
              </a:ext>
            </a:extLst>
          </p:cNvPr>
          <p:cNvSpPr txBox="1">
            <a:spLocks noChangeArrowheads="1"/>
          </p:cNvSpPr>
          <p:nvPr/>
        </p:nvSpPr>
        <p:spPr>
          <a:xfrm>
            <a:off x="267131" y="1417544"/>
            <a:ext cx="4304865"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Mission</a:t>
            </a:r>
          </a:p>
          <a:p>
            <a:pPr marL="290830" indent="-290830" eaLnBrk="1" hangingPunct="1"/>
            <a:r>
              <a:rPr lang="en-US" sz="1100" kern="0" dirty="0">
                <a:cs typeface="Arial"/>
              </a:rPr>
              <a:t>Based upon customer input and relevant regulations</a:t>
            </a:r>
          </a:p>
          <a:p>
            <a:pPr marL="290830" indent="-290830"/>
            <a:r>
              <a:rPr lang="en-US" sz="1100" kern="0" dirty="0">
                <a:cs typeface="Arial"/>
              </a:rPr>
              <a:t>May be provided within </a:t>
            </a:r>
            <a:r>
              <a:rPr lang="en-US" sz="1100" kern="0" dirty="0" err="1">
                <a:cs typeface="Arial"/>
              </a:rPr>
              <a:t>OpOrder</a:t>
            </a:r>
            <a:r>
              <a:rPr lang="en-US" sz="1100" kern="0" dirty="0">
                <a:cs typeface="Arial"/>
              </a:rPr>
              <a:t>, may be developed from interactions with stakeholders</a:t>
            </a:r>
          </a:p>
        </p:txBody>
      </p:sp>
      <p:sp>
        <p:nvSpPr>
          <p:cNvPr id="17" name="Line 15">
            <a:extLst>
              <a:ext uri="{FF2B5EF4-FFF2-40B4-BE49-F238E27FC236}">
                <a16:creationId xmlns:a16="http://schemas.microsoft.com/office/drawing/2014/main" id="{420E8522-D17E-44E1-8587-6BBD54A45B8E}"/>
              </a:ext>
            </a:extLst>
          </p:cNvPr>
          <p:cNvSpPr>
            <a:spLocks noChangeShapeType="1"/>
          </p:cNvSpPr>
          <p:nvPr/>
        </p:nvSpPr>
        <p:spPr bwMode="auto">
          <a:xfrm>
            <a:off x="267131" y="3771900"/>
            <a:ext cx="8591119" cy="0"/>
          </a:xfrm>
          <a:prstGeom prst="line">
            <a:avLst/>
          </a:prstGeom>
          <a:noFill/>
          <a:ln w="38100">
            <a:solidFill>
              <a:schemeClr val="tx1"/>
            </a:solidFill>
            <a:round/>
            <a:headEnd/>
            <a:tailEnd/>
          </a:ln>
        </p:spPr>
        <p:txBody>
          <a:bodyPr/>
          <a:lstStyle/>
          <a:p>
            <a:endParaRPr lang="en-US"/>
          </a:p>
        </p:txBody>
      </p:sp>
      <p:sp>
        <p:nvSpPr>
          <p:cNvPr id="18" name="Line 17">
            <a:extLst>
              <a:ext uri="{FF2B5EF4-FFF2-40B4-BE49-F238E27FC236}">
                <a16:creationId xmlns:a16="http://schemas.microsoft.com/office/drawing/2014/main" id="{703E17E3-F388-43B8-B339-4EF7ED251E2E}"/>
              </a:ext>
            </a:extLst>
          </p:cNvPr>
          <p:cNvSpPr>
            <a:spLocks noChangeShapeType="1"/>
          </p:cNvSpPr>
          <p:nvPr/>
        </p:nvSpPr>
        <p:spPr bwMode="auto">
          <a:xfrm>
            <a:off x="4572000" y="1331911"/>
            <a:ext cx="0" cy="5089525"/>
          </a:xfrm>
          <a:prstGeom prst="line">
            <a:avLst/>
          </a:prstGeom>
          <a:noFill/>
          <a:ln w="38100">
            <a:solidFill>
              <a:schemeClr val="tx1"/>
            </a:solidFill>
            <a:round/>
            <a:headEnd/>
            <a:tailEnd/>
          </a:ln>
        </p:spPr>
        <p:txBody>
          <a:bodyPr/>
          <a:lstStyle/>
          <a:p>
            <a:endParaRPr lang="en-US"/>
          </a:p>
        </p:txBody>
      </p:sp>
      <p:sp>
        <p:nvSpPr>
          <p:cNvPr id="22" name="Rectangle 10">
            <a:extLst>
              <a:ext uri="{FF2B5EF4-FFF2-40B4-BE49-F238E27FC236}">
                <a16:creationId xmlns:a16="http://schemas.microsoft.com/office/drawing/2014/main" id="{DA1B2BB4-4278-402B-89A6-35D2BE0CBA59}"/>
              </a:ext>
            </a:extLst>
          </p:cNvPr>
          <p:cNvSpPr txBox="1">
            <a:spLocks noChangeArrowheads="1"/>
          </p:cNvSpPr>
          <p:nvPr/>
        </p:nvSpPr>
        <p:spPr>
          <a:xfrm>
            <a:off x="4667681" y="1417544"/>
            <a:ext cx="4194309"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Intel</a:t>
            </a:r>
          </a:p>
          <a:p>
            <a:pPr marL="290830" indent="-290830" eaLnBrk="1" hangingPunct="1"/>
            <a:r>
              <a:rPr lang="en-US" sz="1100" kern="0" dirty="0">
                <a:solidFill>
                  <a:srgbClr val="000000"/>
                </a:solidFill>
                <a:cs typeface="Arial"/>
              </a:rPr>
              <a:t>Coordinate with Fusion Center and Cells</a:t>
            </a:r>
          </a:p>
          <a:p>
            <a:pPr marL="290830" indent="-290830"/>
            <a:r>
              <a:rPr lang="en-US" sz="1100" kern="0" dirty="0">
                <a:solidFill>
                  <a:srgbClr val="000000"/>
                </a:solidFill>
                <a:cs typeface="Arial"/>
              </a:rPr>
              <a:t>Ingest customer provided Intelligence</a:t>
            </a:r>
          </a:p>
          <a:p>
            <a:pPr marL="290830" indent="-290830"/>
            <a:r>
              <a:rPr lang="en-US" sz="1100" kern="0" dirty="0">
                <a:solidFill>
                  <a:srgbClr val="000000"/>
                </a:solidFill>
                <a:cs typeface="Arial"/>
              </a:rPr>
              <a:t>Cross reference customer provided information with operator acquired information</a:t>
            </a:r>
          </a:p>
        </p:txBody>
      </p:sp>
      <p:sp>
        <p:nvSpPr>
          <p:cNvPr id="23" name="Rectangle 10">
            <a:extLst>
              <a:ext uri="{FF2B5EF4-FFF2-40B4-BE49-F238E27FC236}">
                <a16:creationId xmlns:a16="http://schemas.microsoft.com/office/drawing/2014/main" id="{EC7B1F2D-A39F-41CA-A595-9096CDD083FC}"/>
              </a:ext>
            </a:extLst>
          </p:cNvPr>
          <p:cNvSpPr txBox="1">
            <a:spLocks noChangeArrowheads="1"/>
          </p:cNvSpPr>
          <p:nvPr/>
        </p:nvSpPr>
        <p:spPr>
          <a:xfrm>
            <a:off x="228600" y="3886200"/>
            <a:ext cx="4304865"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Pre-execution</a:t>
            </a:r>
          </a:p>
          <a:p>
            <a:pPr marL="104140" marR="0" indent="-290830">
              <a:lnSpc>
                <a:spcPts val="1280"/>
              </a:lnSpc>
              <a:spcBef>
                <a:spcPts val="0"/>
              </a:spcBef>
              <a:spcAft>
                <a:spcPts val="0"/>
              </a:spcAft>
            </a:pPr>
            <a:endParaRPr lang="en-US" sz="1100" dirty="0">
              <a:solidFill>
                <a:srgbClr val="FF0000"/>
              </a:solidFill>
              <a:effectLst/>
              <a:ea typeface="Times New Roman" panose="02020603050405020304" pitchFamily="18" charset="0"/>
              <a:cs typeface="Arial"/>
            </a:endParaRPr>
          </a:p>
          <a:p>
            <a:pPr marL="290830" indent="-290830">
              <a:lnSpc>
                <a:spcPts val="1280"/>
              </a:lnSpc>
              <a:spcBef>
                <a:spcPts val="0"/>
              </a:spcBef>
              <a:spcAft>
                <a:spcPts val="0"/>
              </a:spcAft>
            </a:pPr>
            <a:r>
              <a:rPr lang="en-US" sz="1100" dirty="0">
                <a:ea typeface="Times New Roman" panose="02020603050405020304" pitchFamily="18" charset="0"/>
                <a:cs typeface="Arial"/>
              </a:rPr>
              <a:t>Get, in writing, the MOA/MOU (signed by customer) and provide signed NDA </a:t>
            </a:r>
          </a:p>
          <a:p>
            <a:pPr marL="290830" indent="-290830">
              <a:lnSpc>
                <a:spcPts val="1280"/>
              </a:lnSpc>
              <a:spcBef>
                <a:spcPts val="0"/>
              </a:spcBef>
              <a:spcAft>
                <a:spcPts val="0"/>
              </a:spcAft>
            </a:pPr>
            <a:r>
              <a:rPr lang="en-US" sz="1100" dirty="0">
                <a:solidFill>
                  <a:srgbClr val="000000"/>
                </a:solidFill>
                <a:ea typeface="Times New Roman" panose="02020603050405020304" pitchFamily="18" charset="0"/>
                <a:cs typeface="Arial"/>
              </a:rPr>
              <a:t>Acquire customer documentation and information for network and host asset documentation</a:t>
            </a:r>
          </a:p>
          <a:p>
            <a:pPr marL="290830" indent="-290830"/>
            <a:r>
              <a:rPr lang="en-US" sz="1100" dirty="0">
                <a:cs typeface="Arial"/>
              </a:rPr>
              <a:t>Provide templated unit document with on objective authorized actions like conducting network scanning, cloning hosts, and inspecting other customer resources</a:t>
            </a:r>
          </a:p>
          <a:p>
            <a:pPr marL="290830" indent="-290830"/>
            <a:r>
              <a:rPr lang="en-US" sz="1100" dirty="0">
                <a:solidFill>
                  <a:srgbClr val="000000"/>
                </a:solidFill>
                <a:cs typeface="Arial"/>
              </a:rPr>
              <a:t>Schedule In-brief to stakeholders</a:t>
            </a:r>
          </a:p>
          <a:p>
            <a:pPr marL="290830" indent="-290830" eaLnBrk="1" hangingPunct="1"/>
            <a:endParaRPr lang="en-US" sz="1100" dirty="0">
              <a:solidFill>
                <a:srgbClr val="FF0000"/>
              </a:solidFill>
              <a:cs typeface="Arial"/>
            </a:endParaRPr>
          </a:p>
          <a:p>
            <a:pPr marL="0" indent="0" eaLnBrk="1" hangingPunct="1">
              <a:buNone/>
            </a:pPr>
            <a:endParaRPr lang="en-US" sz="1100" kern="0" dirty="0">
              <a:cs typeface="Arial"/>
            </a:endParaRPr>
          </a:p>
          <a:p>
            <a:pPr marL="290830" indent="-290830" eaLnBrk="1" hangingPunct="1"/>
            <a:endParaRPr lang="en-US" sz="1100" kern="0" dirty="0">
              <a:cs typeface="Arial"/>
            </a:endParaRPr>
          </a:p>
        </p:txBody>
      </p:sp>
      <p:sp>
        <p:nvSpPr>
          <p:cNvPr id="24" name="Rectangle 10">
            <a:extLst>
              <a:ext uri="{FF2B5EF4-FFF2-40B4-BE49-F238E27FC236}">
                <a16:creationId xmlns:a16="http://schemas.microsoft.com/office/drawing/2014/main" id="{A0B712F2-5753-4EB6-8083-4B6C0C7313D3}"/>
              </a:ext>
            </a:extLst>
          </p:cNvPr>
          <p:cNvSpPr txBox="1">
            <a:spLocks noChangeArrowheads="1"/>
          </p:cNvSpPr>
          <p:nvPr/>
        </p:nvSpPr>
        <p:spPr>
          <a:xfrm>
            <a:off x="4629150" y="3886200"/>
            <a:ext cx="4194309"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Approach</a:t>
            </a:r>
          </a:p>
          <a:p>
            <a:pPr marL="290830" indent="-290830" eaLnBrk="1" hangingPunct="1"/>
            <a:r>
              <a:rPr lang="en-US" sz="1100" kern="0" dirty="0">
                <a:cs typeface="Arial"/>
              </a:rPr>
              <a:t>Based upon constraints and environmental factors</a:t>
            </a:r>
          </a:p>
          <a:p>
            <a:pPr marL="290830" indent="-290830"/>
            <a:r>
              <a:rPr lang="en-US" sz="1100" kern="0" dirty="0">
                <a:cs typeface="Arial"/>
              </a:rPr>
              <a:t>Tailored to current mission and customer needs</a:t>
            </a:r>
          </a:p>
          <a:p>
            <a:pPr marL="290830" indent="-290830"/>
            <a:r>
              <a:rPr lang="en-US" sz="1100" kern="0" dirty="0">
                <a:cs typeface="Arial"/>
              </a:rPr>
              <a:t>Intended to define the path from where we will begin to where we need to be</a:t>
            </a:r>
          </a:p>
          <a:p>
            <a:pPr marL="290830" indent="-290830"/>
            <a:r>
              <a:rPr lang="en-US" sz="1100" kern="0" dirty="0">
                <a:cs typeface="Arial"/>
              </a:rPr>
              <a:t>Follow NIST standards</a:t>
            </a:r>
          </a:p>
        </p:txBody>
      </p:sp>
    </p:spTree>
    <p:extLst>
      <p:ext uri="{BB962C8B-B14F-4D97-AF65-F5344CB8AC3E}">
        <p14:creationId xmlns:p14="http://schemas.microsoft.com/office/powerpoint/2010/main" val="1551029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t>173 CPT Task Organization</a:t>
            </a:r>
          </a:p>
        </p:txBody>
      </p:sp>
      <p:graphicFrame>
        <p:nvGraphicFramePr>
          <p:cNvPr id="7" name="Table 7">
            <a:extLst>
              <a:ext uri="{FF2B5EF4-FFF2-40B4-BE49-F238E27FC236}">
                <a16:creationId xmlns:a16="http://schemas.microsoft.com/office/drawing/2014/main" id="{865636D5-76D5-5B52-4C46-91F11CE9F505}"/>
              </a:ext>
            </a:extLst>
          </p:cNvPr>
          <p:cNvGraphicFramePr>
            <a:graphicFrameLocks noGrp="1"/>
          </p:cNvGraphicFramePr>
          <p:nvPr>
            <p:ph idx="1"/>
            <p:extLst>
              <p:ext uri="{D42A27DB-BD31-4B8C-83A1-F6EECF244321}">
                <p14:modId xmlns:p14="http://schemas.microsoft.com/office/powerpoint/2010/main" val="393577771"/>
              </p:ext>
            </p:extLst>
          </p:nvPr>
        </p:nvGraphicFramePr>
        <p:xfrm>
          <a:off x="457200" y="1543050"/>
          <a:ext cx="8229600" cy="3708400"/>
        </p:xfrm>
        <a:graphic>
          <a:graphicData uri="http://schemas.openxmlformats.org/drawingml/2006/table">
            <a:tbl>
              <a:tblPr firstRow="1" bandRow="1">
                <a:tableStyleId>{073A0DAA-6AF3-43AB-8588-CEC1D06C72B9}</a:tableStyleId>
              </a:tblPr>
              <a:tblGrid>
                <a:gridCol w="2743200">
                  <a:extLst>
                    <a:ext uri="{9D8B030D-6E8A-4147-A177-3AD203B41FA5}">
                      <a16:colId xmlns:a16="http://schemas.microsoft.com/office/drawing/2014/main" val="2093194927"/>
                    </a:ext>
                  </a:extLst>
                </a:gridCol>
                <a:gridCol w="2743200">
                  <a:extLst>
                    <a:ext uri="{9D8B030D-6E8A-4147-A177-3AD203B41FA5}">
                      <a16:colId xmlns:a16="http://schemas.microsoft.com/office/drawing/2014/main" val="3953143173"/>
                    </a:ext>
                  </a:extLst>
                </a:gridCol>
                <a:gridCol w="2743200">
                  <a:extLst>
                    <a:ext uri="{9D8B030D-6E8A-4147-A177-3AD203B41FA5}">
                      <a16:colId xmlns:a16="http://schemas.microsoft.com/office/drawing/2014/main" val="4278839843"/>
                    </a:ext>
                  </a:extLst>
                </a:gridCol>
              </a:tblGrid>
              <a:tr h="370840">
                <a:tc>
                  <a:txBody>
                    <a:bodyPr/>
                    <a:lstStyle/>
                    <a:p>
                      <a:r>
                        <a:rPr lang="en-US" dirty="0"/>
                        <a:t>Mission Team 1</a:t>
                      </a:r>
                    </a:p>
                  </a:txBody>
                  <a:tcPr/>
                </a:tc>
                <a:tc>
                  <a:txBody>
                    <a:bodyPr/>
                    <a:lstStyle/>
                    <a:p>
                      <a:r>
                        <a:rPr lang="en-US" dirty="0"/>
                        <a:t>Mission Team 2</a:t>
                      </a:r>
                    </a:p>
                  </a:txBody>
                  <a:tcPr/>
                </a:tc>
                <a:tc>
                  <a:txBody>
                    <a:bodyPr/>
                    <a:lstStyle/>
                    <a:p>
                      <a:endParaRPr lang="en-US"/>
                    </a:p>
                  </a:txBody>
                  <a:tcPr/>
                </a:tc>
                <a:extLst>
                  <a:ext uri="{0D108BD9-81ED-4DB2-BD59-A6C34878D82A}">
                    <a16:rowId xmlns:a16="http://schemas.microsoft.com/office/drawing/2014/main" val="3766304310"/>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76682309"/>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33546506"/>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725211658"/>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484267152"/>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728294082"/>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8886535"/>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14711543"/>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3891301"/>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81145766"/>
                  </a:ext>
                </a:extLst>
              </a:tr>
            </a:tbl>
          </a:graphicData>
        </a:graphic>
      </p:graphicFrame>
    </p:spTree>
    <p:extLst>
      <p:ext uri="{BB962C8B-B14F-4D97-AF65-F5344CB8AC3E}">
        <p14:creationId xmlns:p14="http://schemas.microsoft.com/office/powerpoint/2010/main" val="4138347299"/>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CABF-20F0-68A2-95FA-E09541A33EEE}"/>
              </a:ext>
            </a:extLst>
          </p:cNvPr>
          <p:cNvSpPr>
            <a:spLocks noGrp="1"/>
          </p:cNvSpPr>
          <p:nvPr>
            <p:ph type="title"/>
          </p:nvPr>
        </p:nvSpPr>
        <p:spPr/>
        <p:txBody>
          <a:bodyPr/>
          <a:lstStyle/>
          <a:p>
            <a:r>
              <a:rPr lang="en-US" dirty="0"/>
              <a:t>Execution Checklist</a:t>
            </a:r>
          </a:p>
        </p:txBody>
      </p:sp>
      <p:graphicFrame>
        <p:nvGraphicFramePr>
          <p:cNvPr id="5" name="Table 5">
            <a:extLst>
              <a:ext uri="{FF2B5EF4-FFF2-40B4-BE49-F238E27FC236}">
                <a16:creationId xmlns:a16="http://schemas.microsoft.com/office/drawing/2014/main" id="{18F5666E-5E87-5358-D3DF-A0FB5E1D4F15}"/>
              </a:ext>
            </a:extLst>
          </p:cNvPr>
          <p:cNvGraphicFramePr>
            <a:graphicFrameLocks noGrp="1"/>
          </p:cNvGraphicFramePr>
          <p:nvPr>
            <p:ph idx="1"/>
            <p:extLst>
              <p:ext uri="{D42A27DB-BD31-4B8C-83A1-F6EECF244321}">
                <p14:modId xmlns:p14="http://schemas.microsoft.com/office/powerpoint/2010/main" val="3776610269"/>
              </p:ext>
            </p:extLst>
          </p:nvPr>
        </p:nvGraphicFramePr>
        <p:xfrm>
          <a:off x="457200" y="1330736"/>
          <a:ext cx="8229600" cy="4973544"/>
        </p:xfrm>
        <a:graphic>
          <a:graphicData uri="http://schemas.openxmlformats.org/drawingml/2006/table">
            <a:tbl>
              <a:tblPr firstRow="1" bandRow="1">
                <a:tableStyleId>{073A0DAA-6AF3-43AB-8588-CEC1D06C72B9}</a:tableStyleId>
              </a:tblPr>
              <a:tblGrid>
                <a:gridCol w="7486650">
                  <a:extLst>
                    <a:ext uri="{9D8B030D-6E8A-4147-A177-3AD203B41FA5}">
                      <a16:colId xmlns:a16="http://schemas.microsoft.com/office/drawing/2014/main" val="2981979427"/>
                    </a:ext>
                  </a:extLst>
                </a:gridCol>
                <a:gridCol w="742950">
                  <a:extLst>
                    <a:ext uri="{9D8B030D-6E8A-4147-A177-3AD203B41FA5}">
                      <a16:colId xmlns:a16="http://schemas.microsoft.com/office/drawing/2014/main" val="20590222"/>
                    </a:ext>
                  </a:extLst>
                </a:gridCol>
              </a:tblGrid>
              <a:tr h="370840">
                <a:tc>
                  <a:txBody>
                    <a:bodyPr/>
                    <a:lstStyle/>
                    <a:p>
                      <a:pPr algn="ctr"/>
                      <a:r>
                        <a:rPr lang="en-US" sz="1100" dirty="0">
                          <a:latin typeface="+mn-lt"/>
                        </a:rPr>
                        <a:t>Item</a:t>
                      </a:r>
                    </a:p>
                  </a:txBody>
                  <a:tcPr/>
                </a:tc>
                <a:tc>
                  <a:txBody>
                    <a:bodyPr/>
                    <a:lstStyle/>
                    <a:p>
                      <a:pPr algn="ctr"/>
                      <a:r>
                        <a:rPr lang="en-US" sz="1100" dirty="0">
                          <a:latin typeface="+mn-lt"/>
                        </a:rPr>
                        <a:t>Check</a:t>
                      </a:r>
                    </a:p>
                  </a:txBody>
                  <a:tcPr/>
                </a:tc>
                <a:extLst>
                  <a:ext uri="{0D108BD9-81ED-4DB2-BD59-A6C34878D82A}">
                    <a16:rowId xmlns:a16="http://schemas.microsoft.com/office/drawing/2014/main" val="3386563740"/>
                  </a:ext>
                </a:extLst>
              </a:tr>
              <a:tr h="370840">
                <a:tc>
                  <a:txBody>
                    <a:bodyPr/>
                    <a:lstStyle/>
                    <a:p>
                      <a:pPr marL="0" marR="0" lvl="0" indent="0" algn="ctr"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Core Task 3</a:t>
                      </a:r>
                      <a:r>
                        <a:rPr lang="en-US" sz="1100" dirty="0">
                          <a:effectLst/>
                          <a:latin typeface="+mn-lt"/>
                          <a:ea typeface="Times New Roman" panose="02020603050405020304" pitchFamily="18" charset="0"/>
                        </a:rPr>
                        <a:t>: </a:t>
                      </a:r>
                      <a:r>
                        <a:rPr lang="en-US" sz="1100" b="0" kern="1200" dirty="0">
                          <a:solidFill>
                            <a:schemeClr val="dk1"/>
                          </a:solidFill>
                          <a:effectLst/>
                          <a:latin typeface="+mn-lt"/>
                          <a:ea typeface="+mn-ea"/>
                          <a:cs typeface="+mn-cs"/>
                        </a:rPr>
                        <a:t>Identify and characterize the area of operations. [ME; SE]</a:t>
                      </a:r>
                      <a:endParaRPr lang="en-US" sz="1100" b="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598356957"/>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kern="0" dirty="0">
                          <a:latin typeface="+mn-lt"/>
                        </a:rPr>
                        <a:t>CT3;ST1:</a:t>
                      </a:r>
                      <a:r>
                        <a:rPr lang="en-US" sz="1100" kern="0" dirty="0">
                          <a:latin typeface="+mn-lt"/>
                        </a:rPr>
                        <a:t> </a:t>
                      </a:r>
                      <a:r>
                        <a:rPr lang="en-US" sz="1100" kern="1200" dirty="0">
                          <a:solidFill>
                            <a:schemeClr val="dk1"/>
                          </a:solidFill>
                          <a:effectLst/>
                          <a:latin typeface="+mn-lt"/>
                          <a:ea typeface="+mn-ea"/>
                          <a:cs typeface="+mn-cs"/>
                        </a:rPr>
                        <a:t>Integrate the deployable mission support system (DMSS) kit into operations. [ME Network Analyst; SE Network Technician]</a:t>
                      </a:r>
                      <a:endParaRPr lang="en-US" sz="1100" kern="0" dirty="0">
                        <a:latin typeface="+mn-lt"/>
                      </a:endParaRPr>
                    </a:p>
                  </a:txBody>
                  <a:tcPr/>
                </a:tc>
                <a:tc>
                  <a:txBody>
                    <a:bodyPr/>
                    <a:lstStyle/>
                    <a:p>
                      <a:endParaRPr lang="en-US" sz="1100">
                        <a:latin typeface="+mn-lt"/>
                      </a:endParaRPr>
                    </a:p>
                  </a:txBody>
                  <a:tcPr/>
                </a:tc>
                <a:extLst>
                  <a:ext uri="{0D108BD9-81ED-4DB2-BD59-A6C34878D82A}">
                    <a16:rowId xmlns:a16="http://schemas.microsoft.com/office/drawing/2014/main" val="78786023"/>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CT3;ST2: </a:t>
                      </a:r>
                      <a:r>
                        <a:rPr lang="en-US" sz="1100" kern="1200" dirty="0">
                          <a:solidFill>
                            <a:schemeClr val="dk1"/>
                          </a:solidFill>
                          <a:effectLst/>
                          <a:latin typeface="+mn-lt"/>
                          <a:ea typeface="+mn-ea"/>
                          <a:cs typeface="+mn-cs"/>
                        </a:rPr>
                        <a:t>Establish and maintain operations. [SE Network Technician]</a:t>
                      </a:r>
                      <a:endParaRPr lang="en-US" sz="1100" b="1"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303818979"/>
                  </a:ext>
                </a:extLst>
              </a:tr>
              <a:tr h="370840">
                <a:tc>
                  <a:txBody>
                    <a:bodyPr/>
                    <a:lstStyle/>
                    <a:p>
                      <a:r>
                        <a:rPr lang="en-US" sz="1100" b="1" dirty="0">
                          <a:effectLst/>
                          <a:latin typeface="+mn-lt"/>
                          <a:ea typeface="Times New Roman" panose="02020603050405020304" pitchFamily="18" charset="0"/>
                        </a:rPr>
                        <a:t>CT3</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ST3: </a:t>
                      </a:r>
                      <a:r>
                        <a:rPr lang="en-US" sz="1100" kern="1200" dirty="0">
                          <a:solidFill>
                            <a:schemeClr val="dk1"/>
                          </a:solidFill>
                          <a:effectLst/>
                          <a:latin typeface="+mn-lt"/>
                          <a:ea typeface="+mn-ea"/>
                          <a:cs typeface="+mn-cs"/>
                        </a:rPr>
                        <a:t>Enumerate the area of operations to identify the battlespace. [ME Lead; ME Host and Network Analyst]</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1918921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CT3</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ST4: </a:t>
                      </a:r>
                      <a:r>
                        <a:rPr lang="en-US" sz="1100" kern="1200" dirty="0">
                          <a:solidFill>
                            <a:schemeClr val="dk1"/>
                          </a:solidFill>
                          <a:effectLst/>
                          <a:latin typeface="+mn-lt"/>
                          <a:ea typeface="+mn-ea"/>
                          <a:cs typeface="+mn-cs"/>
                        </a:rPr>
                        <a:t>Identify the cyber-related risks to the supported mission. [Crew Lead; ME Lead; ASA]</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251428874"/>
                  </a:ext>
                </a:extLst>
              </a:tr>
              <a:tr h="370840">
                <a:tc>
                  <a:txBody>
                    <a:bodyPr/>
                    <a:lstStyle/>
                    <a:p>
                      <a:pPr marL="0" marR="0" lvl="0" indent="0" algn="l" rtl="0" eaLnBrk="1" fontAlgn="auto" latinLnBrk="0" hangingPunct="1">
                        <a:lnSpc>
                          <a:spcPct val="100000"/>
                        </a:lnSpc>
                        <a:spcBef>
                          <a:spcPts val="0"/>
                        </a:spcBef>
                        <a:spcAft>
                          <a:spcPts val="0"/>
                        </a:spcAft>
                        <a:buClrTx/>
                        <a:buSzTx/>
                        <a:buFontTx/>
                        <a:buNone/>
                      </a:pPr>
                      <a:r>
                        <a:rPr lang="en-US" sz="1100" b="1" dirty="0">
                          <a:effectLst/>
                          <a:latin typeface="+mn-lt"/>
                          <a:ea typeface="Times New Roman" panose="02020603050405020304" pitchFamily="18" charset="0"/>
                        </a:rPr>
                        <a:t>CT3</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ST5: </a:t>
                      </a:r>
                      <a:r>
                        <a:rPr lang="en-US" sz="1100" kern="1200" dirty="0">
                          <a:solidFill>
                            <a:schemeClr val="dk1"/>
                          </a:solidFill>
                          <a:effectLst/>
                          <a:latin typeface="+mn-lt"/>
                          <a:ea typeface="+mn-ea"/>
                          <a:cs typeface="+mn-cs"/>
                        </a:rPr>
                        <a:t>Analyze attack surface of the specified terrain to enable </a:t>
                      </a:r>
                      <a:r>
                        <a:rPr lang="en-US" sz="1100" u="none" kern="1200" dirty="0">
                          <a:solidFill>
                            <a:schemeClr val="dk1"/>
                          </a:solidFill>
                          <a:effectLst/>
                          <a:latin typeface="+mn-lt"/>
                          <a:ea typeface="+mn-ea"/>
                          <a:cs typeface="+mn-cs"/>
                        </a:rPr>
                        <a:t>hardening actions. [ME Host and Network Analysts] </a:t>
                      </a:r>
                      <a:endParaRPr lang="en-US" sz="1100" u="none"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330486238"/>
                  </a:ext>
                </a:extLst>
              </a:tr>
              <a:tr h="370840">
                <a:tc>
                  <a:txBody>
                    <a:bodyPr/>
                    <a:lstStyle/>
                    <a:p>
                      <a:pPr marL="0" marR="0" lvl="0" indent="0" algn="ctr"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Core Task 4</a:t>
                      </a:r>
                      <a:r>
                        <a:rPr lang="en-US" sz="1100" dirty="0">
                          <a:effectLst/>
                          <a:latin typeface="+mn-lt"/>
                          <a:ea typeface="Times New Roman" panose="02020603050405020304" pitchFamily="18" charset="0"/>
                        </a:rPr>
                        <a:t>: </a:t>
                      </a:r>
                      <a:r>
                        <a:rPr lang="en-US" sz="1100" b="0" kern="1200" dirty="0">
                          <a:solidFill>
                            <a:schemeClr val="dk1"/>
                          </a:solidFill>
                          <a:effectLst/>
                          <a:latin typeface="+mn-lt"/>
                          <a:ea typeface="+mn-ea"/>
                          <a:cs typeface="+mn-cs"/>
                        </a:rPr>
                        <a:t>Execute the mission plan. [IME; SE]</a:t>
                      </a:r>
                      <a:endParaRPr lang="en-US" sz="1100" b="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4125846812"/>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a:t>
                      </a:r>
                      <a:r>
                        <a:rPr lang="en-US" sz="1100" b="1" spc="9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Conduct split-based operations as needed. [ME Host and Network Analysts]</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245509303"/>
                  </a:ext>
                </a:extLst>
              </a:tr>
              <a:tr h="411704">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ST2: </a:t>
                      </a:r>
                      <a:r>
                        <a:rPr lang="en-US" sz="1100" kern="1200" dirty="0">
                          <a:solidFill>
                            <a:schemeClr val="dk1"/>
                          </a:solidFill>
                          <a:effectLst/>
                          <a:latin typeface="+mn-lt"/>
                          <a:ea typeface="+mn-ea"/>
                          <a:cs typeface="+mn-cs"/>
                        </a:rPr>
                        <a:t>Validate specified terrain. [ME Crew Lead; ME Lead]</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3960374064"/>
                  </a:ext>
                </a:extLst>
              </a:tr>
              <a:tr h="370840">
                <a:tc>
                  <a:txBody>
                    <a:bodyPr/>
                    <a:lstStyle/>
                    <a:p>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ST3: </a:t>
                      </a:r>
                      <a:r>
                        <a:rPr lang="en-US" sz="1100" kern="1200" dirty="0">
                          <a:solidFill>
                            <a:schemeClr val="dk1"/>
                          </a:solidFill>
                          <a:effectLst/>
                          <a:latin typeface="+mn-lt"/>
                          <a:ea typeface="+mn-ea"/>
                          <a:cs typeface="+mn-cs"/>
                        </a:rPr>
                        <a:t>Conduct actions to identify adversary presence within the terrain. [ME Host and Network Analysts]</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74676560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ST4: </a:t>
                      </a:r>
                      <a:r>
                        <a:rPr lang="en-US" sz="1100" kern="1200" dirty="0">
                          <a:solidFill>
                            <a:schemeClr val="dk1"/>
                          </a:solidFill>
                          <a:effectLst/>
                          <a:latin typeface="+mn-lt"/>
                          <a:ea typeface="+mn-ea"/>
                          <a:cs typeface="+mn-cs"/>
                        </a:rPr>
                        <a:t>Identify and process artifacts discovered in the environment. [ME Host and Network Analysts]</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85954846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ST5: </a:t>
                      </a:r>
                      <a:r>
                        <a:rPr lang="en-US" sz="1100" kern="1200" dirty="0">
                          <a:solidFill>
                            <a:schemeClr val="dk1"/>
                          </a:solidFill>
                          <a:effectLst/>
                          <a:latin typeface="+mn-lt"/>
                          <a:ea typeface="+mn-ea"/>
                          <a:cs typeface="+mn-cs"/>
                        </a:rPr>
                        <a:t>Execute triage-level case management to document environment and actions. [ME Crew Lead]</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4018885159"/>
                  </a:ext>
                </a:extLst>
              </a:tr>
            </a:tbl>
          </a:graphicData>
        </a:graphic>
      </p:graphicFrame>
    </p:spTree>
    <p:extLst>
      <p:ext uri="{BB962C8B-B14F-4D97-AF65-F5344CB8AC3E}">
        <p14:creationId xmlns:p14="http://schemas.microsoft.com/office/powerpoint/2010/main" val="2847511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CABF-20F0-68A2-95FA-E09541A33EEE}"/>
              </a:ext>
            </a:extLst>
          </p:cNvPr>
          <p:cNvSpPr>
            <a:spLocks noGrp="1"/>
          </p:cNvSpPr>
          <p:nvPr>
            <p:ph type="title"/>
          </p:nvPr>
        </p:nvSpPr>
        <p:spPr/>
        <p:txBody>
          <a:bodyPr/>
          <a:lstStyle/>
          <a:p>
            <a:r>
              <a:rPr lang="en-US" dirty="0"/>
              <a:t>Execution Checklist</a:t>
            </a:r>
          </a:p>
        </p:txBody>
      </p:sp>
      <p:graphicFrame>
        <p:nvGraphicFramePr>
          <p:cNvPr id="5" name="Table 5">
            <a:extLst>
              <a:ext uri="{FF2B5EF4-FFF2-40B4-BE49-F238E27FC236}">
                <a16:creationId xmlns:a16="http://schemas.microsoft.com/office/drawing/2014/main" id="{18F5666E-5E87-5358-D3DF-A0FB5E1D4F15}"/>
              </a:ext>
            </a:extLst>
          </p:cNvPr>
          <p:cNvGraphicFramePr>
            <a:graphicFrameLocks noGrp="1"/>
          </p:cNvGraphicFramePr>
          <p:nvPr>
            <p:ph idx="1"/>
            <p:extLst>
              <p:ext uri="{D42A27DB-BD31-4B8C-83A1-F6EECF244321}">
                <p14:modId xmlns:p14="http://schemas.microsoft.com/office/powerpoint/2010/main" val="1543362537"/>
              </p:ext>
            </p:extLst>
          </p:nvPr>
        </p:nvGraphicFramePr>
        <p:xfrm>
          <a:off x="457200" y="1330736"/>
          <a:ext cx="8229600" cy="4617720"/>
        </p:xfrm>
        <a:graphic>
          <a:graphicData uri="http://schemas.openxmlformats.org/drawingml/2006/table">
            <a:tbl>
              <a:tblPr firstRow="1" bandRow="1">
                <a:tableStyleId>{073A0DAA-6AF3-43AB-8588-CEC1D06C72B9}</a:tableStyleId>
              </a:tblPr>
              <a:tblGrid>
                <a:gridCol w="7486650">
                  <a:extLst>
                    <a:ext uri="{9D8B030D-6E8A-4147-A177-3AD203B41FA5}">
                      <a16:colId xmlns:a16="http://schemas.microsoft.com/office/drawing/2014/main" val="2981979427"/>
                    </a:ext>
                  </a:extLst>
                </a:gridCol>
                <a:gridCol w="742950">
                  <a:extLst>
                    <a:ext uri="{9D8B030D-6E8A-4147-A177-3AD203B41FA5}">
                      <a16:colId xmlns:a16="http://schemas.microsoft.com/office/drawing/2014/main" val="20590222"/>
                    </a:ext>
                  </a:extLst>
                </a:gridCol>
              </a:tblGrid>
              <a:tr h="370840">
                <a:tc>
                  <a:txBody>
                    <a:bodyPr/>
                    <a:lstStyle/>
                    <a:p>
                      <a:pPr algn="ctr"/>
                      <a:r>
                        <a:rPr lang="en-US" sz="1100" dirty="0">
                          <a:latin typeface="+mn-lt"/>
                        </a:rPr>
                        <a:t>Item</a:t>
                      </a:r>
                    </a:p>
                  </a:txBody>
                  <a:tcPr/>
                </a:tc>
                <a:tc>
                  <a:txBody>
                    <a:bodyPr/>
                    <a:lstStyle/>
                    <a:p>
                      <a:pPr algn="ctr"/>
                      <a:r>
                        <a:rPr lang="en-US" sz="1100" dirty="0">
                          <a:latin typeface="+mn-lt"/>
                        </a:rPr>
                        <a:t>Check</a:t>
                      </a:r>
                    </a:p>
                  </a:txBody>
                  <a:tcPr/>
                </a:tc>
                <a:extLst>
                  <a:ext uri="{0D108BD9-81ED-4DB2-BD59-A6C34878D82A}">
                    <a16:rowId xmlns:a16="http://schemas.microsoft.com/office/drawing/2014/main" val="3386563740"/>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ST6: </a:t>
                      </a:r>
                      <a:r>
                        <a:rPr lang="en-US" sz="1100" kern="1200" dirty="0">
                          <a:solidFill>
                            <a:schemeClr val="dk1"/>
                          </a:solidFill>
                          <a:effectLst/>
                          <a:latin typeface="+mn-lt"/>
                          <a:ea typeface="+mn-ea"/>
                          <a:cs typeface="+mn-cs"/>
                        </a:rPr>
                        <a:t>Identify scope of adversary access to determine extent of intrusion. [ME Host and Network Analysts]</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127477244"/>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ST7: </a:t>
                      </a:r>
                      <a:r>
                        <a:rPr lang="en-US" sz="1100" kern="1200" dirty="0">
                          <a:solidFill>
                            <a:schemeClr val="dk1"/>
                          </a:solidFill>
                          <a:effectLst/>
                          <a:latin typeface="+mn-lt"/>
                          <a:ea typeface="+mn-ea"/>
                          <a:cs typeface="+mn-cs"/>
                        </a:rPr>
                        <a:t>Coordinate with Support Element/Leadership for mission support as required. [ME Crew Lead; ME Lead]</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339013211"/>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kern="0" dirty="0">
                          <a:latin typeface="+mn-lt"/>
                        </a:rPr>
                        <a:t>CT4;ST8:</a:t>
                      </a:r>
                      <a:r>
                        <a:rPr lang="en-US" sz="1100" kern="0" dirty="0">
                          <a:latin typeface="+mn-lt"/>
                        </a:rPr>
                        <a:t> </a:t>
                      </a:r>
                      <a:r>
                        <a:rPr lang="en-US" sz="1100" kern="1200" dirty="0">
                          <a:solidFill>
                            <a:schemeClr val="dk1"/>
                          </a:solidFill>
                          <a:effectLst/>
                          <a:latin typeface="+mn-lt"/>
                          <a:ea typeface="+mn-ea"/>
                          <a:cs typeface="+mn-cs"/>
                        </a:rPr>
                        <a:t>Conduct actions against adversary presence within the terrain. [ME Host and Network Analysts]</a:t>
                      </a:r>
                      <a:endParaRPr lang="en-US" sz="1100" kern="0" dirty="0">
                        <a:latin typeface="+mn-lt"/>
                      </a:endParaRPr>
                    </a:p>
                  </a:txBody>
                  <a:tcPr/>
                </a:tc>
                <a:tc>
                  <a:txBody>
                    <a:bodyPr/>
                    <a:lstStyle/>
                    <a:p>
                      <a:endParaRPr lang="en-US" sz="1100" dirty="0">
                        <a:latin typeface="+mn-lt"/>
                      </a:endParaRPr>
                    </a:p>
                  </a:txBody>
                  <a:tcPr/>
                </a:tc>
                <a:extLst>
                  <a:ext uri="{0D108BD9-81ED-4DB2-BD59-A6C34878D82A}">
                    <a16:rowId xmlns:a16="http://schemas.microsoft.com/office/drawing/2014/main" val="3598356957"/>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kern="0" dirty="0">
                          <a:latin typeface="+mn-lt"/>
                        </a:rPr>
                        <a:t>CT4;ST9</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Implement threat emulation plan. [Crew Lead and CTA]</a:t>
                      </a:r>
                      <a:endParaRPr lang="en-US" sz="1100" b="1"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78786023"/>
                  </a:ext>
                </a:extLst>
              </a:tr>
              <a:tr h="370840">
                <a:tc>
                  <a:txBody>
                    <a:bodyPr/>
                    <a:lstStyle/>
                    <a:p>
                      <a:r>
                        <a:rPr lang="en-US" sz="1100" b="1" kern="0" dirty="0">
                          <a:latin typeface="+mn-lt"/>
                        </a:rPr>
                        <a:t>CT4;ST10</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Assess the effectiveness of your current operations. [ME Lead; </a:t>
                      </a:r>
                      <a:r>
                        <a:rPr lang="en-US" sz="1100" u="none" kern="1200" dirty="0">
                          <a:solidFill>
                            <a:schemeClr val="dk1"/>
                          </a:solidFill>
                          <a:effectLst/>
                          <a:latin typeface="+mn-lt"/>
                          <a:ea typeface="+mn-ea"/>
                          <a:cs typeface="+mn-cs"/>
                        </a:rPr>
                        <a:t>CL; PLNR; CTA] </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303818979"/>
                  </a:ext>
                </a:extLst>
              </a:tr>
              <a:tr h="370840">
                <a:tc>
                  <a:txBody>
                    <a:bodyPr/>
                    <a:lstStyle/>
                    <a:p>
                      <a:pPr marL="0" marR="0" lvl="0" indent="0" algn="ctr"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Core Task 5</a:t>
                      </a:r>
                      <a:r>
                        <a:rPr lang="en-US" sz="110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Conduct or coordinate threat response actions. [LE; ME]</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11918921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CT5;ST1:</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Coordinate with HHQ or designated external organizations to enable response actions. [TL; OPSO; ME Crew Lead; ME Lead]</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762137542"/>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CT5;ST2:</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Set defensive conditions on specified terrain to enable response actions. [ME Crew Lead; ME Lead]</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1773534855"/>
                  </a:ext>
                </a:extLst>
              </a:tr>
              <a:tr h="370840">
                <a:tc>
                  <a:txBody>
                    <a:bodyPr/>
                    <a:lstStyle/>
                    <a:p>
                      <a:r>
                        <a:rPr lang="en-US" sz="1100" b="1" dirty="0">
                          <a:effectLst/>
                          <a:latin typeface="+mn-lt"/>
                          <a:ea typeface="Times New Roman" panose="02020603050405020304" pitchFamily="18" charset="0"/>
                        </a:rPr>
                        <a:t>CT5;ST3:</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Conduct defensive monitoring of the specified terrain. [ME Host and Network Analysts]</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582958844"/>
                  </a:ext>
                </a:extLst>
              </a:tr>
              <a:tr h="370840">
                <a:tc>
                  <a:txBody>
                    <a:bodyPr/>
                    <a:lstStyle/>
                    <a:p>
                      <a:r>
                        <a:rPr lang="en-US" sz="1100" b="1" dirty="0">
                          <a:effectLst/>
                          <a:latin typeface="+mn-lt"/>
                          <a:ea typeface="Times New Roman" panose="02020603050405020304" pitchFamily="18" charset="0"/>
                        </a:rPr>
                        <a:t>CT5;ST4:</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Eradicate detected malicious activity in order to remove adversarial presence. [ME Host and Network Analysts]</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758476272"/>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CT5;ST5:</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Conduct defensive monitoring of the specified terrain to validate </a:t>
                      </a:r>
                      <a:r>
                        <a:rPr lang="en-US" sz="1100" u="none" kern="1200" dirty="0">
                          <a:solidFill>
                            <a:schemeClr val="dk1"/>
                          </a:solidFill>
                          <a:effectLst/>
                          <a:latin typeface="+mn-lt"/>
                          <a:ea typeface="+mn-ea"/>
                          <a:cs typeface="+mn-cs"/>
                        </a:rPr>
                        <a:t>post-mitigation actions. [ME Host and Network Analysts] </a:t>
                      </a:r>
                      <a:endParaRPr lang="en-US" sz="1100" b="1" u="none"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4121490711"/>
                  </a:ext>
                </a:extLst>
              </a:tr>
            </a:tbl>
          </a:graphicData>
        </a:graphic>
      </p:graphicFrame>
    </p:spTree>
    <p:extLst>
      <p:ext uri="{BB962C8B-B14F-4D97-AF65-F5344CB8AC3E}">
        <p14:creationId xmlns:p14="http://schemas.microsoft.com/office/powerpoint/2010/main" val="1933357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CABF-20F0-68A2-95FA-E09541A33EEE}"/>
              </a:ext>
            </a:extLst>
          </p:cNvPr>
          <p:cNvSpPr>
            <a:spLocks noGrp="1"/>
          </p:cNvSpPr>
          <p:nvPr>
            <p:ph type="title"/>
          </p:nvPr>
        </p:nvSpPr>
        <p:spPr/>
        <p:txBody>
          <a:bodyPr/>
          <a:lstStyle/>
          <a:p>
            <a:r>
              <a:rPr lang="en-US" dirty="0"/>
              <a:t>Execution Checklist</a:t>
            </a:r>
          </a:p>
        </p:txBody>
      </p:sp>
      <p:graphicFrame>
        <p:nvGraphicFramePr>
          <p:cNvPr id="5" name="Table 5">
            <a:extLst>
              <a:ext uri="{FF2B5EF4-FFF2-40B4-BE49-F238E27FC236}">
                <a16:creationId xmlns:a16="http://schemas.microsoft.com/office/drawing/2014/main" id="{18F5666E-5E87-5358-D3DF-A0FB5E1D4F15}"/>
              </a:ext>
            </a:extLst>
          </p:cNvPr>
          <p:cNvGraphicFramePr>
            <a:graphicFrameLocks noGrp="1"/>
          </p:cNvGraphicFramePr>
          <p:nvPr>
            <p:ph idx="1"/>
            <p:extLst>
              <p:ext uri="{D42A27DB-BD31-4B8C-83A1-F6EECF244321}">
                <p14:modId xmlns:p14="http://schemas.microsoft.com/office/powerpoint/2010/main" val="1592254475"/>
              </p:ext>
            </p:extLst>
          </p:nvPr>
        </p:nvGraphicFramePr>
        <p:xfrm>
          <a:off x="457200" y="1330736"/>
          <a:ext cx="8229600" cy="4505960"/>
        </p:xfrm>
        <a:graphic>
          <a:graphicData uri="http://schemas.openxmlformats.org/drawingml/2006/table">
            <a:tbl>
              <a:tblPr firstRow="1" bandRow="1">
                <a:tableStyleId>{073A0DAA-6AF3-43AB-8588-CEC1D06C72B9}</a:tableStyleId>
              </a:tblPr>
              <a:tblGrid>
                <a:gridCol w="7486650">
                  <a:extLst>
                    <a:ext uri="{9D8B030D-6E8A-4147-A177-3AD203B41FA5}">
                      <a16:colId xmlns:a16="http://schemas.microsoft.com/office/drawing/2014/main" val="2981979427"/>
                    </a:ext>
                  </a:extLst>
                </a:gridCol>
                <a:gridCol w="742950">
                  <a:extLst>
                    <a:ext uri="{9D8B030D-6E8A-4147-A177-3AD203B41FA5}">
                      <a16:colId xmlns:a16="http://schemas.microsoft.com/office/drawing/2014/main" val="20590222"/>
                    </a:ext>
                  </a:extLst>
                </a:gridCol>
              </a:tblGrid>
              <a:tr h="370840">
                <a:tc>
                  <a:txBody>
                    <a:bodyPr/>
                    <a:lstStyle/>
                    <a:p>
                      <a:pPr algn="ctr"/>
                      <a:r>
                        <a:rPr lang="en-US" sz="1100" dirty="0">
                          <a:latin typeface="+mn-lt"/>
                        </a:rPr>
                        <a:t>Item</a:t>
                      </a:r>
                    </a:p>
                  </a:txBody>
                  <a:tcPr/>
                </a:tc>
                <a:tc>
                  <a:txBody>
                    <a:bodyPr/>
                    <a:lstStyle/>
                    <a:p>
                      <a:pPr algn="ctr"/>
                      <a:r>
                        <a:rPr lang="en-US" sz="1100" dirty="0">
                          <a:latin typeface="+mn-lt"/>
                        </a:rPr>
                        <a:t>Check</a:t>
                      </a:r>
                    </a:p>
                  </a:txBody>
                  <a:tcPr/>
                </a:tc>
                <a:extLst>
                  <a:ext uri="{0D108BD9-81ED-4DB2-BD59-A6C34878D82A}">
                    <a16:rowId xmlns:a16="http://schemas.microsoft.com/office/drawing/2014/main" val="3386563740"/>
                  </a:ext>
                </a:extLst>
              </a:tr>
              <a:tr h="370840">
                <a:tc>
                  <a:txBody>
                    <a:bodyPr/>
                    <a:lstStyle/>
                    <a:p>
                      <a:pPr marL="0" marR="0" lvl="0" indent="0" algn="ctr"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Core Task 6: </a:t>
                      </a:r>
                      <a:r>
                        <a:rPr lang="en-US" sz="1100" b="0" kern="1200" dirty="0">
                          <a:solidFill>
                            <a:schemeClr val="dk1"/>
                          </a:solidFill>
                          <a:effectLst/>
                          <a:latin typeface="+mn-lt"/>
                          <a:ea typeface="+mn-ea"/>
                          <a:cs typeface="+mn-cs"/>
                        </a:rPr>
                        <a:t>Conduct assessment actions. [ME]</a:t>
                      </a:r>
                      <a:endParaRPr lang="en-US" sz="1100" b="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127477244"/>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CT6</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Emulate threats to determine if technical mitigations are effective. [CL; CTA]</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339013211"/>
                  </a:ext>
                </a:extLst>
              </a:tr>
              <a:tr h="370840">
                <a:tc>
                  <a:txBody>
                    <a:bodyPr/>
                    <a:lstStyle/>
                    <a:p>
                      <a:r>
                        <a:rPr lang="en-US" sz="1100" b="1" kern="0" dirty="0">
                          <a:latin typeface="+mn-lt"/>
                        </a:rPr>
                        <a:t>CT6;ST2:</a:t>
                      </a:r>
                      <a:r>
                        <a:rPr lang="en-US" sz="1100" kern="0" dirty="0">
                          <a:latin typeface="+mn-lt"/>
                        </a:rPr>
                        <a:t> </a:t>
                      </a:r>
                      <a:r>
                        <a:rPr lang="en-US" sz="1100" kern="1200" dirty="0">
                          <a:solidFill>
                            <a:schemeClr val="dk1"/>
                          </a:solidFill>
                          <a:effectLst/>
                          <a:latin typeface="+mn-lt"/>
                          <a:ea typeface="+mn-ea"/>
                          <a:cs typeface="+mn-cs"/>
                        </a:rPr>
                        <a:t>Emulate threats to determine if procedural mitigations are effective. [CL; CTA]</a:t>
                      </a:r>
                      <a:endParaRPr lang="en-US" sz="1100" kern="0" dirty="0">
                        <a:latin typeface="+mn-lt"/>
                      </a:endParaRPr>
                    </a:p>
                  </a:txBody>
                  <a:tcPr/>
                </a:tc>
                <a:tc>
                  <a:txBody>
                    <a:bodyPr/>
                    <a:lstStyle/>
                    <a:p>
                      <a:endParaRPr lang="en-US" sz="1100" dirty="0">
                        <a:latin typeface="+mn-lt"/>
                      </a:endParaRPr>
                    </a:p>
                  </a:txBody>
                  <a:tcPr/>
                </a:tc>
                <a:extLst>
                  <a:ext uri="{0D108BD9-81ED-4DB2-BD59-A6C34878D82A}">
                    <a16:rowId xmlns:a16="http://schemas.microsoft.com/office/drawing/2014/main" val="3598356957"/>
                  </a:ext>
                </a:extLst>
              </a:tr>
              <a:tr h="370840">
                <a:tc>
                  <a:txBody>
                    <a:bodyPr/>
                    <a:lstStyle/>
                    <a:p>
                      <a:r>
                        <a:rPr lang="en-US" sz="1100" b="1" kern="0" dirty="0">
                          <a:latin typeface="+mn-lt"/>
                        </a:rPr>
                        <a:t>CT6;ST3</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Validate if technical mitigations are effective. [ME Host and Network Analysts]</a:t>
                      </a:r>
                      <a:endParaRPr lang="en-US" sz="1100" b="1"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78786023"/>
                  </a:ext>
                </a:extLst>
              </a:tr>
              <a:tr h="370840">
                <a:tc>
                  <a:txBody>
                    <a:bodyPr/>
                    <a:lstStyle/>
                    <a:p>
                      <a:r>
                        <a:rPr lang="en-US" sz="1100" b="1" kern="0" dirty="0">
                          <a:latin typeface="+mn-lt"/>
                        </a:rPr>
                        <a:t>CT6;ST4</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Validate if procedural mitigations are effective. [ME Host and </a:t>
                      </a:r>
                      <a:r>
                        <a:rPr lang="en-US" sz="1100" u="none" kern="1200" dirty="0">
                          <a:solidFill>
                            <a:schemeClr val="dk1"/>
                          </a:solidFill>
                          <a:effectLst/>
                          <a:latin typeface="+mn-lt"/>
                          <a:ea typeface="+mn-ea"/>
                          <a:cs typeface="+mn-cs"/>
                        </a:rPr>
                        <a:t>Network Analysts</a:t>
                      </a:r>
                      <a:r>
                        <a:rPr lang="en-US" sz="1100" u="sng" kern="1200" dirty="0">
                          <a:solidFill>
                            <a:schemeClr val="dk1"/>
                          </a:solidFill>
                          <a:effectLst/>
                          <a:latin typeface="+mn-lt"/>
                          <a:ea typeface="+mn-ea"/>
                          <a:cs typeface="+mn-cs"/>
                        </a:rPr>
                        <a:t>] </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303818979"/>
                  </a:ext>
                </a:extLst>
              </a:tr>
              <a:tr h="370840">
                <a:tc>
                  <a:txBody>
                    <a:bodyPr/>
                    <a:lstStyle/>
                    <a:p>
                      <a:pPr marL="0" marR="0" lvl="0" indent="0" algn="ctr"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Core Task 7: </a:t>
                      </a:r>
                      <a:r>
                        <a:rPr lang="en-US" sz="1100" b="0" kern="1200" dirty="0">
                          <a:solidFill>
                            <a:schemeClr val="dk1"/>
                          </a:solidFill>
                          <a:effectLst/>
                          <a:latin typeface="+mn-lt"/>
                          <a:ea typeface="+mn-ea"/>
                          <a:cs typeface="+mn-cs"/>
                        </a:rPr>
                        <a:t>Conduct reporting. [LE; ME]</a:t>
                      </a:r>
                      <a:endParaRPr lang="en-US" sz="1100" b="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11918921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kern="0" dirty="0">
                          <a:latin typeface="+mn-lt"/>
                        </a:rPr>
                        <a:t>CT7;ST1</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ln brief to key stakeholders. [Leadership; ME Lead]</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762137542"/>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kern="0" dirty="0">
                          <a:latin typeface="+mn-lt"/>
                        </a:rPr>
                        <a:t>CT7;ST2</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Conduct operational reporting. [ME Crew Lead; ME Lead; TL]</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1773534855"/>
                  </a:ext>
                </a:extLst>
              </a:tr>
              <a:tr h="370840">
                <a:tc>
                  <a:txBody>
                    <a:bodyPr/>
                    <a:lstStyle/>
                    <a:p>
                      <a:r>
                        <a:rPr lang="en-US" sz="1100" b="1" kern="0" dirty="0">
                          <a:latin typeface="+mn-lt"/>
                        </a:rPr>
                        <a:t>CT7;ST3</a:t>
                      </a:r>
                      <a:r>
                        <a:rPr lang="en-US" sz="1100" b="1" dirty="0">
                          <a:effectLst/>
                          <a:latin typeface="+mn-lt"/>
                          <a:ea typeface="Times New Roman" panose="02020603050405020304" pitchFamily="18" charset="0"/>
                        </a:rPr>
                        <a:t>:</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Provide evaluation and feedback necessary for improving intelligence production, intelligence reporting, collection requirements, and operations. [ASA; ME Lead; ME Host and Network Analysts]</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582958844"/>
                  </a:ext>
                </a:extLst>
              </a:tr>
              <a:tr h="370840">
                <a:tc>
                  <a:txBody>
                    <a:bodyPr/>
                    <a:lstStyle/>
                    <a:p>
                      <a:r>
                        <a:rPr lang="en-US" sz="1100" b="1" kern="0" dirty="0">
                          <a:latin typeface="+mn-lt"/>
                        </a:rPr>
                        <a:t>CT7;ST4</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Out brief to key stakeholders. [Leadership (all; ME Lead]</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758476272"/>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CT7;ST5:</a:t>
                      </a:r>
                      <a:r>
                        <a:rPr lang="en-US" sz="1100" b="0" dirty="0">
                          <a:effectLst/>
                          <a:latin typeface="+mn-lt"/>
                          <a:ea typeface="Times New Roman" panose="02020603050405020304" pitchFamily="18" charset="0"/>
                        </a:rPr>
                        <a:t> </a:t>
                      </a:r>
                      <a:r>
                        <a:rPr lang="en-US" sz="1100" u="none" kern="1200" dirty="0">
                          <a:solidFill>
                            <a:schemeClr val="dk1"/>
                          </a:solidFill>
                          <a:effectLst/>
                          <a:latin typeface="+mn-lt"/>
                          <a:ea typeface="+mn-ea"/>
                          <a:cs typeface="+mn-cs"/>
                        </a:rPr>
                        <a:t>Develop Final Report. [ME Lead; TL; OPSO] </a:t>
                      </a:r>
                      <a:endParaRPr lang="en-US" sz="1100" b="1" u="none"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4121490711"/>
                  </a:ext>
                </a:extLst>
              </a:tr>
            </a:tbl>
          </a:graphicData>
        </a:graphic>
      </p:graphicFrame>
    </p:spTree>
    <p:extLst>
      <p:ext uri="{BB962C8B-B14F-4D97-AF65-F5344CB8AC3E}">
        <p14:creationId xmlns:p14="http://schemas.microsoft.com/office/powerpoint/2010/main" val="2658168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969276C5-7F2B-47DE-B4ED-9187B2575435}"/>
              </a:ext>
            </a:extLst>
          </p:cNvPr>
          <p:cNvSpPr>
            <a:spLocks noGrp="1"/>
          </p:cNvSpPr>
          <p:nvPr>
            <p:ph type="title"/>
          </p:nvPr>
        </p:nvSpPr>
        <p:spPr/>
        <p:txBody>
          <a:bodyPr/>
          <a:lstStyle/>
          <a:p>
            <a:r>
              <a:rPr lang="en-US" dirty="0"/>
              <a:t>ME Status Report</a:t>
            </a:r>
          </a:p>
        </p:txBody>
      </p:sp>
      <p:sp>
        <p:nvSpPr>
          <p:cNvPr id="15" name="Rectangle 10">
            <a:extLst>
              <a:ext uri="{FF2B5EF4-FFF2-40B4-BE49-F238E27FC236}">
                <a16:creationId xmlns:a16="http://schemas.microsoft.com/office/drawing/2014/main" id="{1C884D6F-7F12-4370-A576-54617A71662E}"/>
              </a:ext>
            </a:extLst>
          </p:cNvPr>
          <p:cNvSpPr txBox="1">
            <a:spLocks noChangeArrowheads="1"/>
          </p:cNvSpPr>
          <p:nvPr/>
        </p:nvSpPr>
        <p:spPr>
          <a:xfrm>
            <a:off x="267131" y="1417544"/>
            <a:ext cx="4304865"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Actions Planned</a:t>
            </a:r>
          </a:p>
          <a:p>
            <a:pPr marL="290830" indent="-290830" eaLnBrk="1" hangingPunct="1"/>
            <a:r>
              <a:rPr lang="en-US" sz="1100" kern="0" dirty="0">
                <a:cs typeface="Arial"/>
              </a:rPr>
              <a:t>Execute Mission</a:t>
            </a:r>
          </a:p>
          <a:p>
            <a:pPr marL="290830" indent="-290830"/>
            <a:r>
              <a:rPr lang="en-US" sz="1100" kern="0" dirty="0">
                <a:cs typeface="Arial"/>
              </a:rPr>
              <a:t>Receive Customer network and asset documentation</a:t>
            </a:r>
          </a:p>
          <a:p>
            <a:pPr marL="290830" indent="-290830"/>
            <a:endParaRPr lang="en-US" sz="1100" kern="0" dirty="0">
              <a:cs typeface="Arial"/>
            </a:endParaRPr>
          </a:p>
        </p:txBody>
      </p:sp>
      <p:sp>
        <p:nvSpPr>
          <p:cNvPr id="17" name="Line 15">
            <a:extLst>
              <a:ext uri="{FF2B5EF4-FFF2-40B4-BE49-F238E27FC236}">
                <a16:creationId xmlns:a16="http://schemas.microsoft.com/office/drawing/2014/main" id="{420E8522-D17E-44E1-8587-6BBD54A45B8E}"/>
              </a:ext>
            </a:extLst>
          </p:cNvPr>
          <p:cNvSpPr>
            <a:spLocks noChangeShapeType="1"/>
          </p:cNvSpPr>
          <p:nvPr/>
        </p:nvSpPr>
        <p:spPr bwMode="auto">
          <a:xfrm>
            <a:off x="267131" y="3771900"/>
            <a:ext cx="8591119" cy="0"/>
          </a:xfrm>
          <a:prstGeom prst="line">
            <a:avLst/>
          </a:prstGeom>
          <a:noFill/>
          <a:ln w="38100">
            <a:solidFill>
              <a:schemeClr val="tx1"/>
            </a:solidFill>
            <a:round/>
            <a:headEnd/>
            <a:tailEnd/>
          </a:ln>
        </p:spPr>
        <p:txBody>
          <a:bodyPr/>
          <a:lstStyle/>
          <a:p>
            <a:endParaRPr lang="en-US"/>
          </a:p>
        </p:txBody>
      </p:sp>
      <p:sp>
        <p:nvSpPr>
          <p:cNvPr id="18" name="Line 17">
            <a:extLst>
              <a:ext uri="{FF2B5EF4-FFF2-40B4-BE49-F238E27FC236}">
                <a16:creationId xmlns:a16="http://schemas.microsoft.com/office/drawing/2014/main" id="{703E17E3-F388-43B8-B339-4EF7ED251E2E}"/>
              </a:ext>
            </a:extLst>
          </p:cNvPr>
          <p:cNvSpPr>
            <a:spLocks noChangeShapeType="1"/>
          </p:cNvSpPr>
          <p:nvPr/>
        </p:nvSpPr>
        <p:spPr bwMode="auto">
          <a:xfrm>
            <a:off x="4572000" y="1331911"/>
            <a:ext cx="0" cy="5089525"/>
          </a:xfrm>
          <a:prstGeom prst="line">
            <a:avLst/>
          </a:prstGeom>
          <a:noFill/>
          <a:ln w="38100">
            <a:solidFill>
              <a:schemeClr val="tx1"/>
            </a:solidFill>
            <a:round/>
            <a:headEnd/>
            <a:tailEnd/>
          </a:ln>
        </p:spPr>
        <p:txBody>
          <a:bodyPr/>
          <a:lstStyle/>
          <a:p>
            <a:endParaRPr lang="en-US"/>
          </a:p>
        </p:txBody>
      </p:sp>
      <p:sp>
        <p:nvSpPr>
          <p:cNvPr id="22" name="Rectangle 10">
            <a:extLst>
              <a:ext uri="{FF2B5EF4-FFF2-40B4-BE49-F238E27FC236}">
                <a16:creationId xmlns:a16="http://schemas.microsoft.com/office/drawing/2014/main" id="{DA1B2BB4-4278-402B-89A6-35D2BE0CBA59}"/>
              </a:ext>
            </a:extLst>
          </p:cNvPr>
          <p:cNvSpPr txBox="1">
            <a:spLocks noChangeArrowheads="1"/>
          </p:cNvSpPr>
          <p:nvPr/>
        </p:nvSpPr>
        <p:spPr>
          <a:xfrm>
            <a:off x="4667681" y="1417544"/>
            <a:ext cx="4194309"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Actions In-process</a:t>
            </a:r>
          </a:p>
          <a:p>
            <a:pPr marL="290830" indent="-290830" eaLnBrk="1" hangingPunct="1"/>
            <a:r>
              <a:rPr lang="en-US" sz="1100" kern="0" dirty="0">
                <a:cs typeface="Arial"/>
              </a:rPr>
              <a:t>Coordinating with intelligence assets</a:t>
            </a:r>
            <a:endParaRPr lang="en-US" sz="1600" kern="0" dirty="0">
              <a:cs typeface="Arial"/>
            </a:endParaRPr>
          </a:p>
          <a:p>
            <a:pPr marL="290830" indent="-290830"/>
            <a:r>
              <a:rPr lang="en-US" sz="1100" kern="0" dirty="0">
                <a:cs typeface="Arial"/>
              </a:rPr>
              <a:t>Coordinating with customer and providing information </a:t>
            </a:r>
          </a:p>
        </p:txBody>
      </p:sp>
      <p:sp>
        <p:nvSpPr>
          <p:cNvPr id="23" name="Rectangle 10">
            <a:extLst>
              <a:ext uri="{FF2B5EF4-FFF2-40B4-BE49-F238E27FC236}">
                <a16:creationId xmlns:a16="http://schemas.microsoft.com/office/drawing/2014/main" id="{EC7B1F2D-A39F-41CA-A595-9096CDD083FC}"/>
              </a:ext>
            </a:extLst>
          </p:cNvPr>
          <p:cNvSpPr txBox="1">
            <a:spLocks noChangeArrowheads="1"/>
          </p:cNvSpPr>
          <p:nvPr/>
        </p:nvSpPr>
        <p:spPr>
          <a:xfrm>
            <a:off x="267130" y="3781425"/>
            <a:ext cx="4304865" cy="2141536"/>
          </a:xfrm>
          <a:prstGeom prst="rect">
            <a:avLst/>
          </a:prstGeom>
        </p:spPr>
        <p:txBody>
          <a:bodyPr/>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Actions Completed</a:t>
            </a:r>
          </a:p>
          <a:p>
            <a:pPr eaLnBrk="1" hangingPunct="1"/>
            <a:endParaRPr lang="en-US" sz="1600" kern="0" dirty="0"/>
          </a:p>
        </p:txBody>
      </p:sp>
      <p:sp>
        <p:nvSpPr>
          <p:cNvPr id="24" name="Rectangle 10">
            <a:extLst>
              <a:ext uri="{FF2B5EF4-FFF2-40B4-BE49-F238E27FC236}">
                <a16:creationId xmlns:a16="http://schemas.microsoft.com/office/drawing/2014/main" id="{A0B712F2-5753-4EB6-8083-4B6C0C7313D3}"/>
              </a:ext>
            </a:extLst>
          </p:cNvPr>
          <p:cNvSpPr txBox="1">
            <a:spLocks noChangeArrowheads="1"/>
          </p:cNvSpPr>
          <p:nvPr/>
        </p:nvSpPr>
        <p:spPr>
          <a:xfrm>
            <a:off x="4571995" y="3781425"/>
            <a:ext cx="4194309"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Findings</a:t>
            </a:r>
          </a:p>
          <a:p>
            <a:pPr marL="290830" indent="-290830" eaLnBrk="1" hangingPunct="1"/>
            <a:r>
              <a:rPr lang="en-US" sz="1100" kern="0" dirty="0" err="1">
                <a:cs typeface="Arial"/>
              </a:rPr>
              <a:t>IoCs</a:t>
            </a:r>
            <a:endParaRPr lang="en-US" sz="1100" kern="0" dirty="0">
              <a:cs typeface="Arial"/>
            </a:endParaRPr>
          </a:p>
          <a:p>
            <a:pPr marL="290830" indent="-290830"/>
            <a:r>
              <a:rPr lang="en-US" sz="1100" kern="0" dirty="0">
                <a:cs typeface="Arial"/>
              </a:rPr>
              <a:t>Compromised Assets</a:t>
            </a:r>
          </a:p>
          <a:p>
            <a:pPr marL="290830" indent="-290830"/>
            <a:r>
              <a:rPr lang="en-US" sz="1100" kern="0" dirty="0">
                <a:cs typeface="Arial"/>
              </a:rPr>
              <a:t>Timelines</a:t>
            </a:r>
          </a:p>
          <a:p>
            <a:pPr marL="290830" indent="-290830"/>
            <a:r>
              <a:rPr lang="en-US" sz="1100" kern="0" dirty="0">
                <a:cs typeface="Arial"/>
              </a:rPr>
              <a:t>Suspected Actors</a:t>
            </a:r>
          </a:p>
          <a:p>
            <a:pPr marL="290830" indent="-290830"/>
            <a:r>
              <a:rPr lang="en-US" sz="1100" kern="0" dirty="0">
                <a:cs typeface="Arial"/>
              </a:rPr>
              <a:t>Poor Practices</a:t>
            </a:r>
          </a:p>
          <a:p>
            <a:pPr marL="633095" lvl="1" indent="-243840"/>
            <a:r>
              <a:rPr lang="en-US" sz="900" kern="0" dirty="0">
                <a:cs typeface="Arial"/>
              </a:rPr>
              <a:t>Industry/NIST/CISA best practices</a:t>
            </a:r>
          </a:p>
          <a:p>
            <a:pPr marL="290830" indent="-290830"/>
            <a:endParaRPr lang="en-US" sz="1200" kern="0" dirty="0">
              <a:cs typeface="Arial"/>
            </a:endParaRPr>
          </a:p>
        </p:txBody>
      </p:sp>
      <p:sp>
        <p:nvSpPr>
          <p:cNvPr id="9" name="Rectangle 10">
            <a:extLst>
              <a:ext uri="{FF2B5EF4-FFF2-40B4-BE49-F238E27FC236}">
                <a16:creationId xmlns:a16="http://schemas.microsoft.com/office/drawing/2014/main" id="{CA7726BF-A84F-419C-9BC9-C88A9A31C948}"/>
              </a:ext>
            </a:extLst>
          </p:cNvPr>
          <p:cNvSpPr txBox="1">
            <a:spLocks noChangeArrowheads="1"/>
          </p:cNvSpPr>
          <p:nvPr/>
        </p:nvSpPr>
        <p:spPr>
          <a:xfrm>
            <a:off x="114300" y="6515100"/>
            <a:ext cx="4304865" cy="279402"/>
          </a:xfrm>
          <a:prstGeom prst="rect">
            <a:avLst/>
          </a:prstGeom>
        </p:spPr>
        <p:txBody>
          <a:bodyPr/>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eaLnBrk="1" hangingPunct="1">
              <a:buFontTx/>
              <a:buNone/>
            </a:pPr>
            <a:r>
              <a:rPr lang="en-US" sz="1200" kern="0" dirty="0"/>
              <a:t>** Mission support required</a:t>
            </a:r>
          </a:p>
        </p:txBody>
      </p:sp>
    </p:spTree>
    <p:extLst>
      <p:ext uri="{BB962C8B-B14F-4D97-AF65-F5344CB8AC3E}">
        <p14:creationId xmlns:p14="http://schemas.microsoft.com/office/powerpoint/2010/main" val="3867055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9AC27-FE1D-42F1-8203-151ADD14702E}"/>
              </a:ext>
            </a:extLst>
          </p:cNvPr>
          <p:cNvSpPr>
            <a:spLocks noGrp="1"/>
          </p:cNvSpPr>
          <p:nvPr>
            <p:ph type="title"/>
          </p:nvPr>
        </p:nvSpPr>
        <p:spPr/>
        <p:txBody>
          <a:bodyPr/>
          <a:lstStyle/>
          <a:p>
            <a:r>
              <a:rPr lang="en-US" dirty="0"/>
              <a:t>Mission Support Required</a:t>
            </a:r>
          </a:p>
        </p:txBody>
      </p:sp>
      <p:sp>
        <p:nvSpPr>
          <p:cNvPr id="3" name="Content Placeholder 2">
            <a:extLst>
              <a:ext uri="{FF2B5EF4-FFF2-40B4-BE49-F238E27FC236}">
                <a16:creationId xmlns:a16="http://schemas.microsoft.com/office/drawing/2014/main" id="{3A5F20F6-0108-4171-8A40-B07FB47F6592}"/>
              </a:ext>
            </a:extLst>
          </p:cNvPr>
          <p:cNvSpPr>
            <a:spLocks noGrp="1"/>
          </p:cNvSpPr>
          <p:nvPr>
            <p:ph idx="1"/>
          </p:nvPr>
        </p:nvSpPr>
        <p:spPr>
          <a:xfrm>
            <a:off x="456973" y="1543050"/>
            <a:ext cx="8230054" cy="4525775"/>
          </a:xfrm>
        </p:spPr>
        <p:txBody>
          <a:bodyPr/>
          <a:lstStyle/>
          <a:p>
            <a:pPr marL="290830" indent="-290830"/>
            <a:r>
              <a:rPr lang="en-US" sz="1600" dirty="0"/>
              <a:t>Coordinate with JAG and report at major intervals on findings and actions</a:t>
            </a:r>
            <a:endParaRPr lang="en-US" sz="1600" dirty="0">
              <a:cs typeface="Arial"/>
            </a:endParaRPr>
          </a:p>
          <a:p>
            <a:pPr marL="290830" indent="-290830"/>
            <a:r>
              <a:rPr lang="en-US" sz="1600" dirty="0">
                <a:cs typeface="Arial"/>
              </a:rPr>
              <a:t>Report to DHS, CISA, FBI, and other entities in alignment with applicable laws and regulations</a:t>
            </a:r>
          </a:p>
          <a:p>
            <a:pPr marL="290830" indent="-290830"/>
            <a:r>
              <a:rPr lang="en-US" sz="1600" dirty="0">
                <a:solidFill>
                  <a:schemeClr val="dk1"/>
                </a:solidFill>
                <a:ea typeface="+mn-lt"/>
                <a:cs typeface="+mn-lt"/>
              </a:rPr>
              <a:t>Coordinate with Fusion Centers to report findings and request information on findings to identify adversary TTPs and mechanisms of intrusion and actions taken on customer assets</a:t>
            </a:r>
          </a:p>
          <a:p>
            <a:pPr marL="290830" indent="-290830"/>
            <a:r>
              <a:rPr lang="en-US" sz="1600" dirty="0">
                <a:solidFill>
                  <a:schemeClr val="dk1"/>
                </a:solidFill>
                <a:cs typeface="Arial"/>
              </a:rPr>
              <a:t>Maintain unit readiness to ensure soldiers can operate on customer assets</a:t>
            </a:r>
          </a:p>
          <a:p>
            <a:pPr marL="290830" indent="-290830"/>
            <a:endParaRPr lang="en-US" sz="1400" kern="1200" dirty="0">
              <a:cs typeface="Arial"/>
            </a:endParaRPr>
          </a:p>
          <a:p>
            <a:pPr marL="290830" indent="-290830"/>
            <a:endParaRPr lang="en-US" dirty="0">
              <a:cs typeface="Arial"/>
            </a:endParaRPr>
          </a:p>
        </p:txBody>
      </p:sp>
    </p:spTree>
    <p:extLst>
      <p:ext uri="{BB962C8B-B14F-4D97-AF65-F5344CB8AC3E}">
        <p14:creationId xmlns:p14="http://schemas.microsoft.com/office/powerpoint/2010/main" val="1231922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969276C5-7F2B-47DE-B4ED-9187B2575435}"/>
              </a:ext>
            </a:extLst>
          </p:cNvPr>
          <p:cNvSpPr>
            <a:spLocks noGrp="1"/>
          </p:cNvSpPr>
          <p:nvPr>
            <p:ph type="title"/>
          </p:nvPr>
        </p:nvSpPr>
        <p:spPr/>
        <p:txBody>
          <a:bodyPr/>
          <a:lstStyle/>
          <a:p>
            <a:r>
              <a:rPr lang="en-US" sz="3200" dirty="0"/>
              <a:t>Finding x – Details TEMPLATE</a:t>
            </a:r>
          </a:p>
        </p:txBody>
      </p:sp>
      <p:sp>
        <p:nvSpPr>
          <p:cNvPr id="2" name="Content Placeholder 1">
            <a:extLst>
              <a:ext uri="{FF2B5EF4-FFF2-40B4-BE49-F238E27FC236}">
                <a16:creationId xmlns:a16="http://schemas.microsoft.com/office/drawing/2014/main" id="{BFBF05C9-F03A-49F3-AC83-7D9F6C507EC9}"/>
              </a:ext>
            </a:extLst>
          </p:cNvPr>
          <p:cNvSpPr>
            <a:spLocks noGrp="1"/>
          </p:cNvSpPr>
          <p:nvPr>
            <p:ph idx="1"/>
          </p:nvPr>
        </p:nvSpPr>
        <p:spPr/>
        <p:txBody>
          <a:bodyPr/>
          <a:lstStyle/>
          <a:p>
            <a:pPr marL="290830" indent="-290830"/>
            <a:r>
              <a:rPr lang="en-US" sz="1200" dirty="0"/>
              <a:t>Finding – </a:t>
            </a:r>
            <a:endParaRPr lang="en-US"/>
          </a:p>
          <a:p>
            <a:pPr marL="290830" indent="-290830"/>
            <a:r>
              <a:rPr lang="en-US" sz="1200" dirty="0"/>
              <a:t>Artifacts, info, IOCs – (dates, times, filenames, processes, hashes, etc.)</a:t>
            </a:r>
            <a:endParaRPr lang="en-US" sz="1200" dirty="0">
              <a:cs typeface="Arial"/>
            </a:endParaRPr>
          </a:p>
          <a:p>
            <a:pPr marL="633095" lvl="1" indent="-243840"/>
            <a:r>
              <a:rPr lang="en-US" sz="900" dirty="0">
                <a:cs typeface="Arial"/>
              </a:rPr>
              <a:t>Date of </a:t>
            </a:r>
            <a:r>
              <a:rPr lang="en-US" sz="900" dirty="0" err="1">
                <a:cs typeface="Arial"/>
              </a:rPr>
              <a:t>creatiion</a:t>
            </a:r>
            <a:r>
              <a:rPr lang="en-US" sz="900" dirty="0">
                <a:cs typeface="Arial"/>
              </a:rPr>
              <a:t>, date of edit, </a:t>
            </a:r>
            <a:r>
              <a:rPr lang="en-US" sz="900" dirty="0" err="1">
                <a:cs typeface="Arial"/>
              </a:rPr>
              <a:t>inode</a:t>
            </a:r>
            <a:r>
              <a:rPr lang="en-US" sz="900" dirty="0">
                <a:cs typeface="Arial"/>
              </a:rPr>
              <a:t> info, </a:t>
            </a:r>
          </a:p>
          <a:p>
            <a:pPr marL="290830" indent="-290830"/>
            <a:r>
              <a:rPr lang="en-US" sz="1200" dirty="0"/>
              <a:t>Scope of adversary access and impact – </a:t>
            </a:r>
            <a:endParaRPr lang="en-US" sz="1200" dirty="0">
              <a:cs typeface="Arial"/>
            </a:endParaRPr>
          </a:p>
          <a:p>
            <a:pPr marL="633095" lvl="1" indent="-243840"/>
            <a:endParaRPr lang="en-US" sz="900" dirty="0">
              <a:cs typeface="Arial"/>
            </a:endParaRPr>
          </a:p>
          <a:p>
            <a:pPr marL="290830" indent="-290830"/>
            <a:r>
              <a:rPr lang="en-US" sz="1200" dirty="0"/>
              <a:t>Mitre ATT&amp;CK mapping – </a:t>
            </a:r>
            <a:endParaRPr lang="en-US" sz="1200" dirty="0">
              <a:cs typeface="Arial"/>
            </a:endParaRPr>
          </a:p>
          <a:p>
            <a:pPr marL="290830" indent="-290830"/>
            <a:r>
              <a:rPr lang="en-US" sz="1200" dirty="0">
                <a:solidFill>
                  <a:srgbClr val="FF0000"/>
                </a:solidFill>
                <a:cs typeface="Arial"/>
              </a:rPr>
              <a:t>What forensic artifacts have been retained? Chain of evidence? Integrity?</a:t>
            </a:r>
          </a:p>
          <a:p>
            <a:pPr marL="290830" indent="-290830"/>
            <a:r>
              <a:rPr lang="en-US" sz="1200" dirty="0"/>
              <a:t>Actions taken –</a:t>
            </a:r>
            <a:endParaRPr lang="en-US" sz="1200" dirty="0">
              <a:cs typeface="Arial"/>
            </a:endParaRPr>
          </a:p>
          <a:p>
            <a:pPr marL="633095" lvl="1" indent="-243840"/>
            <a:endParaRPr lang="en-US" sz="900" dirty="0">
              <a:cs typeface="Arial"/>
            </a:endParaRPr>
          </a:p>
          <a:p>
            <a:pPr marL="290830" indent="-290830"/>
            <a:r>
              <a:rPr lang="en-US" sz="1200" dirty="0"/>
              <a:t>Recommended actions – </a:t>
            </a:r>
            <a:endParaRPr lang="en-US" sz="1200" dirty="0">
              <a:cs typeface="Arial"/>
            </a:endParaRPr>
          </a:p>
          <a:p>
            <a:pPr marL="633095" lvl="1" indent="-243840"/>
            <a:r>
              <a:rPr lang="en-US" sz="1100" b="1" kern="0" dirty="0">
                <a:solidFill>
                  <a:srgbClr val="FF0000"/>
                </a:solidFill>
                <a:latin typeface="+mn-lt"/>
              </a:rPr>
              <a:t>CT7;ST3</a:t>
            </a:r>
            <a:r>
              <a:rPr lang="en-US" sz="1100" b="1" dirty="0">
                <a:solidFill>
                  <a:srgbClr val="FF0000"/>
                </a:solidFill>
                <a:effectLst/>
                <a:latin typeface="+mn-lt"/>
                <a:ea typeface="Times New Roman" panose="02020603050405020304" pitchFamily="18" charset="0"/>
              </a:rPr>
              <a:t>:</a:t>
            </a:r>
            <a:r>
              <a:rPr lang="en-US" sz="1100" b="0" dirty="0">
                <a:solidFill>
                  <a:srgbClr val="FF0000"/>
                </a:solidFill>
                <a:effectLst/>
                <a:latin typeface="+mn-lt"/>
                <a:ea typeface="Times New Roman" panose="02020603050405020304" pitchFamily="18" charset="0"/>
              </a:rPr>
              <a:t> </a:t>
            </a:r>
            <a:r>
              <a:rPr lang="en-US" sz="1100" kern="1200" dirty="0">
                <a:solidFill>
                  <a:srgbClr val="FF0000"/>
                </a:solidFill>
                <a:effectLst/>
                <a:latin typeface="+mn-lt"/>
                <a:ea typeface="+mn-ea"/>
                <a:cs typeface="+mn-cs"/>
              </a:rPr>
              <a:t>Provide evaluation and feedback necessary for improving intelligence production, intelligence reporting, collection requirements, and operations. [ASA; ME Lead; ME Host and Network Analysts]</a:t>
            </a:r>
            <a:endParaRPr lang="en-US" sz="1100" kern="1200">
              <a:solidFill>
                <a:srgbClr val="FF0000"/>
              </a:solidFill>
              <a:effectLst/>
              <a:latin typeface="+mn-lt"/>
              <a:ea typeface="+mn-ea"/>
              <a:cs typeface="Arial"/>
            </a:endParaRPr>
          </a:p>
          <a:p>
            <a:pPr marL="633095" lvl="1" indent="-243840"/>
            <a:endParaRPr lang="en-US" sz="1100" b="1" dirty="0">
              <a:solidFill>
                <a:srgbClr val="FF0000"/>
              </a:solidFill>
              <a:effectLst/>
              <a:latin typeface="+mn-lt"/>
              <a:ea typeface="Times New Roman" panose="02020603050405020304" pitchFamily="18" charset="0"/>
              <a:cs typeface="Arial"/>
            </a:endParaRPr>
          </a:p>
          <a:p>
            <a:pPr marL="290830" indent="-290830"/>
            <a:r>
              <a:rPr lang="en-US" sz="1200" dirty="0"/>
              <a:t>Method to emulate threat and validate technical/procedural actions – </a:t>
            </a:r>
            <a:endParaRPr lang="en-US" sz="1200" dirty="0">
              <a:cs typeface="Arial"/>
            </a:endParaRPr>
          </a:p>
          <a:p>
            <a:pPr marL="633095" lvl="1" indent="-243840"/>
            <a:r>
              <a:rPr lang="en-US" sz="1200" dirty="0">
                <a:solidFill>
                  <a:srgbClr val="000000"/>
                </a:solidFill>
                <a:ea typeface="Times New Roman" panose="02020603050405020304" pitchFamily="18" charset="0"/>
                <a:cs typeface="Arial"/>
              </a:rPr>
              <a:t>Test threat </a:t>
            </a:r>
            <a:r>
              <a:rPr lang="en-US" sz="1200" dirty="0" err="1">
                <a:solidFill>
                  <a:srgbClr val="000000"/>
                </a:solidFill>
                <a:ea typeface="Times New Roman" panose="02020603050405020304" pitchFamily="18" charset="0"/>
                <a:cs typeface="Arial"/>
              </a:rPr>
              <a:t>mitigiations</a:t>
            </a:r>
            <a:r>
              <a:rPr lang="en-US" sz="1200" dirty="0">
                <a:solidFill>
                  <a:srgbClr val="000000"/>
                </a:solidFill>
                <a:ea typeface="Times New Roman" panose="02020603050405020304" pitchFamily="18" charset="0"/>
                <a:cs typeface="Arial"/>
              </a:rPr>
              <a:t> in virtualized environment as like to the customer assets as possible as permitted by NDA and mission</a:t>
            </a:r>
          </a:p>
          <a:p>
            <a:pPr marL="633095" lvl="1" indent="-243840"/>
            <a:r>
              <a:rPr lang="en-US" sz="1200" dirty="0">
                <a:solidFill>
                  <a:srgbClr val="000000"/>
                </a:solidFill>
                <a:ea typeface="Times New Roman" panose="02020603050405020304" pitchFamily="18" charset="0"/>
                <a:cs typeface="Arial"/>
              </a:rPr>
              <a:t>Identify  how well remediation and hardening mechanisms will work on a customer asset and the implication of the </a:t>
            </a:r>
            <a:r>
              <a:rPr lang="en-US" sz="1200" dirty="0" err="1">
                <a:solidFill>
                  <a:srgbClr val="000000"/>
                </a:solidFill>
                <a:ea typeface="Times New Roman" panose="02020603050405020304" pitchFamily="18" charset="0"/>
                <a:cs typeface="Arial"/>
              </a:rPr>
              <a:t>miti</a:t>
            </a:r>
            <a:endParaRPr lang="en-US" sz="1200">
              <a:solidFill>
                <a:srgbClr val="000000"/>
              </a:solidFill>
              <a:ea typeface="Times New Roman" panose="02020603050405020304" pitchFamily="18" charset="0"/>
              <a:cs typeface="Arial"/>
            </a:endParaRPr>
          </a:p>
          <a:p>
            <a:pPr marL="633095" lvl="1" indent="-243840"/>
            <a:endParaRPr lang="en-US" sz="900" dirty="0">
              <a:solidFill>
                <a:srgbClr val="000000"/>
              </a:solidFill>
              <a:ea typeface="Times New Roman" panose="02020603050405020304" pitchFamily="18" charset="0"/>
            </a:endParaRPr>
          </a:p>
          <a:p>
            <a:pPr marL="290830" indent="-290830"/>
            <a:r>
              <a:rPr lang="en-US" sz="1200" dirty="0"/>
              <a:t>Overall finding status – </a:t>
            </a:r>
            <a:endParaRPr lang="en-US" sz="1200" dirty="0">
              <a:cs typeface="Arial"/>
            </a:endParaRPr>
          </a:p>
          <a:p>
            <a:pPr marL="633095" lvl="1" indent="-243840"/>
            <a:r>
              <a:rPr lang="en-US" sz="1200" dirty="0">
                <a:solidFill>
                  <a:srgbClr val="000000"/>
                </a:solidFill>
                <a:cs typeface="Arial"/>
              </a:rPr>
              <a:t>Review documentation, logs, permissions, and other records to identify threat actor vector of access to customer assets</a:t>
            </a:r>
          </a:p>
          <a:p>
            <a:pPr marL="633095" lvl="1" indent="-243840"/>
            <a:endParaRPr lang="en-US" sz="1200" dirty="0">
              <a:solidFill>
                <a:srgbClr val="000000"/>
              </a:solidFill>
              <a:cs typeface="Arial"/>
            </a:endParaRPr>
          </a:p>
          <a:p>
            <a:pPr marL="633095" lvl="1" indent="-243840"/>
            <a:endParaRPr lang="en-US" sz="1200" dirty="0">
              <a:solidFill>
                <a:srgbClr val="FF0000"/>
              </a:solidFill>
              <a:cs typeface="Arial"/>
            </a:endParaRPr>
          </a:p>
          <a:p>
            <a:pPr marL="633095" lvl="1" indent="-243840"/>
            <a:endParaRPr lang="en-US" sz="1100" dirty="0">
              <a:cs typeface="Arial"/>
            </a:endParaRPr>
          </a:p>
          <a:p>
            <a:pPr marL="633095" lvl="1" indent="-243840"/>
            <a:endParaRPr lang="en-US" sz="900" dirty="0">
              <a:cs typeface="Arial"/>
            </a:endParaRPr>
          </a:p>
          <a:p>
            <a:pPr marL="290830" indent="-290830"/>
            <a:endParaRPr lang="en-US" dirty="0">
              <a:cs typeface="Arial"/>
            </a:endParaRPr>
          </a:p>
          <a:p>
            <a:pPr marL="290830" indent="-290830"/>
            <a:endParaRPr lang="en-US" dirty="0">
              <a:cs typeface="Arial"/>
            </a:endParaRPr>
          </a:p>
          <a:p>
            <a:pPr marL="290830" indent="-290830"/>
            <a:endParaRPr lang="en-US" dirty="0">
              <a:cs typeface="Arial"/>
            </a:endParaRPr>
          </a:p>
        </p:txBody>
      </p:sp>
    </p:spTree>
    <p:extLst>
      <p:ext uri="{BB962C8B-B14F-4D97-AF65-F5344CB8AC3E}">
        <p14:creationId xmlns:p14="http://schemas.microsoft.com/office/powerpoint/2010/main" val="1670386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CAB15-C756-CB82-A42D-1539D559FBDB}"/>
              </a:ext>
            </a:extLst>
          </p:cNvPr>
          <p:cNvSpPr>
            <a:spLocks noGrp="1"/>
          </p:cNvSpPr>
          <p:nvPr>
            <p:ph type="title"/>
          </p:nvPr>
        </p:nvSpPr>
        <p:spPr>
          <a:xfrm>
            <a:off x="628649" y="291090"/>
            <a:ext cx="7886699" cy="932688"/>
          </a:xfrm>
        </p:spPr>
        <p:txBody>
          <a:bodyPr vert="horz" lIns="91440" tIns="45720" rIns="91440" bIns="45720" rtlCol="0" anchor="b">
            <a:normAutofit/>
          </a:bodyPr>
          <a:lstStyle/>
          <a:p>
            <a:pPr defTabSz="914400" eaLnBrk="1" hangingPunct="1">
              <a:lnSpc>
                <a:spcPct val="90000"/>
              </a:lnSpc>
            </a:pPr>
            <a:r>
              <a:rPr lang="en-US" sz="4700" kern="1200" dirty="0">
                <a:solidFill>
                  <a:schemeClr val="tx1"/>
                </a:solidFill>
                <a:latin typeface="+mj-lt"/>
                <a:ea typeface="+mj-ea"/>
                <a:cs typeface="+mj-cs"/>
              </a:rPr>
              <a:t>MITRE ATT&amp;CK</a:t>
            </a:r>
            <a:r>
              <a:rPr lang="en-US" sz="4700" kern="1200" dirty="0">
                <a:solidFill>
                  <a:schemeClr val="tx1"/>
                </a:solidFill>
              </a:rPr>
              <a:t> pt. 1</a:t>
            </a:r>
            <a:endParaRPr lang="en-US" dirty="0">
              <a:solidFill>
                <a:schemeClr val="tx1"/>
              </a:solidFill>
              <a:ea typeface="+mj-ea"/>
              <a:cs typeface="+mj-cs"/>
            </a:endParaRPr>
          </a:p>
        </p:txBody>
      </p:sp>
      <p:graphicFrame>
        <p:nvGraphicFramePr>
          <p:cNvPr id="7" name="Table 6">
            <a:extLst>
              <a:ext uri="{FF2B5EF4-FFF2-40B4-BE49-F238E27FC236}">
                <a16:creationId xmlns:a16="http://schemas.microsoft.com/office/drawing/2014/main" id="{4EB362C4-A62A-7861-4B93-99D1B8128FBD}"/>
              </a:ext>
            </a:extLst>
          </p:cNvPr>
          <p:cNvGraphicFramePr>
            <a:graphicFrameLocks noGrp="1"/>
          </p:cNvGraphicFramePr>
          <p:nvPr>
            <p:extLst>
              <p:ext uri="{D42A27DB-BD31-4B8C-83A1-F6EECF244321}">
                <p14:modId xmlns:p14="http://schemas.microsoft.com/office/powerpoint/2010/main" val="2509155135"/>
              </p:ext>
            </p:extLst>
          </p:nvPr>
        </p:nvGraphicFramePr>
        <p:xfrm>
          <a:off x="35169" y="1477107"/>
          <a:ext cx="9105511" cy="5355484"/>
        </p:xfrm>
        <a:graphic>
          <a:graphicData uri="http://schemas.openxmlformats.org/drawingml/2006/table">
            <a:tbl>
              <a:tblPr firstRow="1" bandRow="1">
                <a:tableStyleId>{073A0DAA-6AF3-43AB-8588-CEC1D06C72B9}</a:tableStyleId>
              </a:tblPr>
              <a:tblGrid>
                <a:gridCol w="2112773">
                  <a:extLst>
                    <a:ext uri="{9D8B030D-6E8A-4147-A177-3AD203B41FA5}">
                      <a16:colId xmlns:a16="http://schemas.microsoft.com/office/drawing/2014/main" val="419996402"/>
                    </a:ext>
                  </a:extLst>
                </a:gridCol>
                <a:gridCol w="2513015">
                  <a:extLst>
                    <a:ext uri="{9D8B030D-6E8A-4147-A177-3AD203B41FA5}">
                      <a16:colId xmlns:a16="http://schemas.microsoft.com/office/drawing/2014/main" val="758480417"/>
                    </a:ext>
                  </a:extLst>
                </a:gridCol>
                <a:gridCol w="2204233">
                  <a:extLst>
                    <a:ext uri="{9D8B030D-6E8A-4147-A177-3AD203B41FA5}">
                      <a16:colId xmlns:a16="http://schemas.microsoft.com/office/drawing/2014/main" val="2167062402"/>
                    </a:ext>
                  </a:extLst>
                </a:gridCol>
                <a:gridCol w="2275490">
                  <a:extLst>
                    <a:ext uri="{9D8B030D-6E8A-4147-A177-3AD203B41FA5}">
                      <a16:colId xmlns:a16="http://schemas.microsoft.com/office/drawing/2014/main" val="3953101268"/>
                    </a:ext>
                  </a:extLst>
                </a:gridCol>
              </a:tblGrid>
              <a:tr h="270962">
                <a:tc>
                  <a:txBody>
                    <a:bodyPr/>
                    <a:lstStyle/>
                    <a:p>
                      <a:r>
                        <a:rPr lang="en-US" sz="700">
                          <a:effectLst/>
                        </a:rPr>
                        <a:t>Initial Access</a:t>
                      </a:r>
                    </a:p>
                  </a:txBody>
                  <a:tcPr marL="0" marR="0" marT="0" marB="0" anchor="ctr"/>
                </a:tc>
                <a:tc>
                  <a:txBody>
                    <a:bodyPr/>
                    <a:lstStyle/>
                    <a:p>
                      <a:r>
                        <a:rPr lang="en-US" sz="700">
                          <a:effectLst/>
                        </a:rPr>
                        <a:t>Execution</a:t>
                      </a:r>
                    </a:p>
                  </a:txBody>
                  <a:tcPr marL="0" marR="0" marT="0" marB="0" anchor="ctr"/>
                </a:tc>
                <a:tc>
                  <a:txBody>
                    <a:bodyPr/>
                    <a:lstStyle/>
                    <a:p>
                      <a:r>
                        <a:rPr lang="en-US" sz="700">
                          <a:effectLst/>
                        </a:rPr>
                        <a:t>Persistence</a:t>
                      </a:r>
                    </a:p>
                  </a:txBody>
                  <a:tcPr marL="0" marR="0" marT="0" marB="0" anchor="ctr"/>
                </a:tc>
                <a:tc>
                  <a:txBody>
                    <a:bodyPr/>
                    <a:lstStyle/>
                    <a:p>
                      <a:r>
                        <a:rPr lang="en-US" sz="700">
                          <a:effectLst/>
                        </a:rPr>
                        <a:t>Privilege Escalation</a:t>
                      </a:r>
                    </a:p>
                  </a:txBody>
                  <a:tcPr marL="0" marR="0" marT="0" marB="0" anchor="ctr"/>
                </a:tc>
                <a:extLst>
                  <a:ext uri="{0D108BD9-81ED-4DB2-BD59-A6C34878D82A}">
                    <a16:rowId xmlns:a16="http://schemas.microsoft.com/office/drawing/2014/main" val="842511482"/>
                  </a:ext>
                </a:extLst>
              </a:tr>
              <a:tr h="270962">
                <a:tc>
                  <a:txBody>
                    <a:bodyPr/>
                    <a:lstStyle/>
                    <a:p>
                      <a:r>
                        <a:rPr lang="en-US" sz="700">
                          <a:effectLst/>
                        </a:rPr>
                        <a:t>Drive-by Compromise</a:t>
                      </a:r>
                    </a:p>
                  </a:txBody>
                  <a:tcPr marL="0" marR="0" marT="0" marB="0" anchor="ctr"/>
                </a:tc>
                <a:tc>
                  <a:txBody>
                    <a:bodyPr/>
                    <a:lstStyle/>
                    <a:p>
                      <a:r>
                        <a:rPr lang="en-US" sz="700"/>
                        <a:t>Command and Scripting Interpreter</a:t>
                      </a:r>
                    </a:p>
                  </a:txBody>
                  <a:tcPr marL="0" marR="0" marT="0" marB="0" anchor="ctr"/>
                </a:tc>
                <a:tc>
                  <a:txBody>
                    <a:bodyPr/>
                    <a:lstStyle/>
                    <a:p>
                      <a:r>
                        <a:rPr lang="en-US" sz="700"/>
                        <a:t>Account Manipulation</a:t>
                      </a:r>
                    </a:p>
                  </a:txBody>
                  <a:tcPr marL="0" marR="0" marT="0" marB="0" anchor="ctr"/>
                </a:tc>
                <a:tc>
                  <a:txBody>
                    <a:bodyPr/>
                    <a:lstStyle/>
                    <a:p>
                      <a:r>
                        <a:rPr lang="en-US" sz="700"/>
                        <a:t>Abuse Elevation Control Mechanism</a:t>
                      </a:r>
                    </a:p>
                  </a:txBody>
                  <a:tcPr marL="0" marR="0" marT="0" marB="0" anchor="ctr"/>
                </a:tc>
                <a:extLst>
                  <a:ext uri="{0D108BD9-81ED-4DB2-BD59-A6C34878D82A}">
                    <a16:rowId xmlns:a16="http://schemas.microsoft.com/office/drawing/2014/main" val="714933725"/>
                  </a:ext>
                </a:extLst>
              </a:tr>
              <a:tr h="270962">
                <a:tc>
                  <a:txBody>
                    <a:bodyPr/>
                    <a:lstStyle/>
                    <a:p>
                      <a:r>
                        <a:rPr lang="en-US" sz="700">
                          <a:effectLst/>
                        </a:rPr>
                        <a:t>Exploit Public-Facing Application</a:t>
                      </a:r>
                    </a:p>
                  </a:txBody>
                  <a:tcPr marL="0" marR="0" marT="0" marB="0" anchor="ctr"/>
                </a:tc>
                <a:tc>
                  <a:txBody>
                    <a:bodyPr/>
                    <a:lstStyle/>
                    <a:p>
                      <a:r>
                        <a:rPr lang="en-US" sz="700"/>
                        <a:t>Exploitation for Client Execution</a:t>
                      </a:r>
                    </a:p>
                  </a:txBody>
                  <a:tcPr marL="0" marR="0" marT="0" marB="0" anchor="ctr"/>
                </a:tc>
                <a:tc>
                  <a:txBody>
                    <a:bodyPr/>
                    <a:lstStyle/>
                    <a:p>
                      <a:r>
                        <a:rPr lang="en-US" sz="700"/>
                        <a:t>BITS Jobs</a:t>
                      </a:r>
                    </a:p>
                  </a:txBody>
                  <a:tcPr marL="0" marR="0" marT="0" marB="0" anchor="ctr"/>
                </a:tc>
                <a:tc>
                  <a:txBody>
                    <a:bodyPr/>
                    <a:lstStyle/>
                    <a:p>
                      <a:r>
                        <a:rPr lang="en-US" sz="700"/>
                        <a:t>Access Token Manipulation</a:t>
                      </a:r>
                    </a:p>
                  </a:txBody>
                  <a:tcPr marL="0" marR="0" marT="0" marB="0" anchor="ctr"/>
                </a:tc>
                <a:extLst>
                  <a:ext uri="{0D108BD9-81ED-4DB2-BD59-A6C34878D82A}">
                    <a16:rowId xmlns:a16="http://schemas.microsoft.com/office/drawing/2014/main" val="4257787003"/>
                  </a:ext>
                </a:extLst>
              </a:tr>
              <a:tr h="270962">
                <a:tc>
                  <a:txBody>
                    <a:bodyPr/>
                    <a:lstStyle/>
                    <a:p>
                      <a:r>
                        <a:rPr lang="en-US" sz="700">
                          <a:effectLst/>
                        </a:rPr>
                        <a:t>External Remote Services</a:t>
                      </a:r>
                    </a:p>
                  </a:txBody>
                  <a:tcPr marL="0" marR="0" marT="0" marB="0" anchor="ctr"/>
                </a:tc>
                <a:tc>
                  <a:txBody>
                    <a:bodyPr/>
                    <a:lstStyle/>
                    <a:p>
                      <a:r>
                        <a:rPr lang="en-US" sz="700"/>
                        <a:t>Inter-Process Communication</a:t>
                      </a:r>
                    </a:p>
                  </a:txBody>
                  <a:tcPr marL="0" marR="0" marT="0" marB="0" anchor="ctr"/>
                </a:tc>
                <a:tc>
                  <a:txBody>
                    <a:bodyPr/>
                    <a:lstStyle/>
                    <a:p>
                      <a:r>
                        <a:rPr lang="en-US" sz="700"/>
                        <a:t>Boot or Logon Autostart Execution</a:t>
                      </a:r>
                    </a:p>
                  </a:txBody>
                  <a:tcPr marL="0" marR="0" marT="0" marB="0" anchor="ctr"/>
                </a:tc>
                <a:tc>
                  <a:txBody>
                    <a:bodyPr/>
                    <a:lstStyle/>
                    <a:p>
                      <a:r>
                        <a:rPr lang="en-US" sz="700"/>
                        <a:t>Boot or Logon Autostart Execution</a:t>
                      </a:r>
                    </a:p>
                  </a:txBody>
                  <a:tcPr marL="0" marR="0" marT="0" marB="0" anchor="ctr"/>
                </a:tc>
                <a:extLst>
                  <a:ext uri="{0D108BD9-81ED-4DB2-BD59-A6C34878D82A}">
                    <a16:rowId xmlns:a16="http://schemas.microsoft.com/office/drawing/2014/main" val="2065910374"/>
                  </a:ext>
                </a:extLst>
              </a:tr>
              <a:tr h="270962">
                <a:tc>
                  <a:txBody>
                    <a:bodyPr/>
                    <a:lstStyle/>
                    <a:p>
                      <a:r>
                        <a:rPr lang="en-US" sz="700">
                          <a:effectLst/>
                        </a:rPr>
                        <a:t>Hardware Additions</a:t>
                      </a:r>
                    </a:p>
                  </a:txBody>
                  <a:tcPr marL="0" marR="0" marT="0" marB="0" anchor="ctr"/>
                </a:tc>
                <a:tc>
                  <a:txBody>
                    <a:bodyPr/>
                    <a:lstStyle/>
                    <a:p>
                      <a:r>
                        <a:rPr lang="en-US" sz="700"/>
                        <a:t>Native API</a:t>
                      </a:r>
                    </a:p>
                  </a:txBody>
                  <a:tcPr marL="0" marR="0" marT="0" marB="0" anchor="ctr"/>
                </a:tc>
                <a:tc>
                  <a:txBody>
                    <a:bodyPr/>
                    <a:lstStyle/>
                    <a:p>
                      <a:r>
                        <a:rPr lang="en-US" sz="700"/>
                        <a:t>Boot or Logon Initialization Scripts</a:t>
                      </a:r>
                    </a:p>
                  </a:txBody>
                  <a:tcPr marL="0" marR="0" marT="0" marB="0" anchor="ctr"/>
                </a:tc>
                <a:tc>
                  <a:txBody>
                    <a:bodyPr/>
                    <a:lstStyle/>
                    <a:p>
                      <a:r>
                        <a:rPr lang="en-US" sz="700"/>
                        <a:t>Boot or Logon Initialization Scripts</a:t>
                      </a:r>
                    </a:p>
                  </a:txBody>
                  <a:tcPr marL="0" marR="0" marT="0" marB="0" anchor="ctr"/>
                </a:tc>
                <a:extLst>
                  <a:ext uri="{0D108BD9-81ED-4DB2-BD59-A6C34878D82A}">
                    <a16:rowId xmlns:a16="http://schemas.microsoft.com/office/drawing/2014/main" val="1493039058"/>
                  </a:ext>
                </a:extLst>
              </a:tr>
              <a:tr h="270962">
                <a:tc>
                  <a:txBody>
                    <a:bodyPr/>
                    <a:lstStyle/>
                    <a:p>
                      <a:r>
                        <a:rPr lang="en-US" sz="700">
                          <a:effectLst/>
                        </a:rPr>
                        <a:t>Phishing</a:t>
                      </a:r>
                    </a:p>
                  </a:txBody>
                  <a:tcPr marL="0" marR="0" marT="0" marB="0" anchor="ctr"/>
                </a:tc>
                <a:tc>
                  <a:txBody>
                    <a:bodyPr/>
                    <a:lstStyle/>
                    <a:p>
                      <a:r>
                        <a:rPr lang="en-US" sz="700"/>
                        <a:t>Scheduled Task/Job</a:t>
                      </a:r>
                    </a:p>
                  </a:txBody>
                  <a:tcPr marL="0" marR="0" marT="0" marB="0" anchor="ctr"/>
                </a:tc>
                <a:tc>
                  <a:txBody>
                    <a:bodyPr/>
                    <a:lstStyle/>
                    <a:p>
                      <a:r>
                        <a:rPr lang="en-US" sz="700"/>
                        <a:t>Browser Extensions</a:t>
                      </a:r>
                    </a:p>
                  </a:txBody>
                  <a:tcPr marL="0" marR="0" marT="0" marB="0" anchor="ctr"/>
                </a:tc>
                <a:tc>
                  <a:txBody>
                    <a:bodyPr/>
                    <a:lstStyle/>
                    <a:p>
                      <a:r>
                        <a:rPr lang="en-US" sz="700"/>
                        <a:t>Create or Modify System Process</a:t>
                      </a:r>
                    </a:p>
                  </a:txBody>
                  <a:tcPr marL="0" marR="0" marT="0" marB="0" anchor="ctr"/>
                </a:tc>
                <a:extLst>
                  <a:ext uri="{0D108BD9-81ED-4DB2-BD59-A6C34878D82A}">
                    <a16:rowId xmlns:a16="http://schemas.microsoft.com/office/drawing/2014/main" val="2348666518"/>
                  </a:ext>
                </a:extLst>
              </a:tr>
              <a:tr h="478168">
                <a:tc>
                  <a:txBody>
                    <a:bodyPr/>
                    <a:lstStyle/>
                    <a:p>
                      <a:r>
                        <a:rPr lang="en-US" sz="700">
                          <a:effectLst/>
                        </a:rPr>
                        <a:t>Replication Through Removable Media</a:t>
                      </a:r>
                    </a:p>
                  </a:txBody>
                  <a:tcPr marL="0" marR="0" marT="0" marB="0" anchor="ctr"/>
                </a:tc>
                <a:tc>
                  <a:txBody>
                    <a:bodyPr/>
                    <a:lstStyle/>
                    <a:p>
                      <a:r>
                        <a:rPr lang="en-US" sz="700"/>
                        <a:t>Shared Modules</a:t>
                      </a:r>
                    </a:p>
                  </a:txBody>
                  <a:tcPr marL="0" marR="0" marT="0" marB="0" anchor="ctr"/>
                </a:tc>
                <a:tc>
                  <a:txBody>
                    <a:bodyPr/>
                    <a:lstStyle/>
                    <a:p>
                      <a:r>
                        <a:rPr lang="en-US" sz="700"/>
                        <a:t>Compromise Client Software Binary</a:t>
                      </a:r>
                    </a:p>
                  </a:txBody>
                  <a:tcPr marL="0" marR="0" marT="0" marB="0" anchor="ctr"/>
                </a:tc>
                <a:tc>
                  <a:txBody>
                    <a:bodyPr/>
                    <a:lstStyle/>
                    <a:p>
                      <a:r>
                        <a:rPr lang="en-US" sz="700"/>
                        <a:t>Domain Policy Modification</a:t>
                      </a:r>
                    </a:p>
                  </a:txBody>
                  <a:tcPr marL="0" marR="0" marT="0" marB="0" anchor="ctr"/>
                </a:tc>
                <a:extLst>
                  <a:ext uri="{0D108BD9-81ED-4DB2-BD59-A6C34878D82A}">
                    <a16:rowId xmlns:a16="http://schemas.microsoft.com/office/drawing/2014/main" val="232742016"/>
                  </a:ext>
                </a:extLst>
              </a:tr>
              <a:tr h="270962">
                <a:tc>
                  <a:txBody>
                    <a:bodyPr/>
                    <a:lstStyle/>
                    <a:p>
                      <a:r>
                        <a:rPr lang="en-US" sz="700">
                          <a:effectLst/>
                        </a:rPr>
                        <a:t>Supply Chain Compromise</a:t>
                      </a:r>
                    </a:p>
                  </a:txBody>
                  <a:tcPr marL="0" marR="0" marT="0" marB="0" anchor="ctr"/>
                </a:tc>
                <a:tc>
                  <a:txBody>
                    <a:bodyPr/>
                    <a:lstStyle/>
                    <a:p>
                      <a:r>
                        <a:rPr lang="en-US" sz="700"/>
                        <a:t>Software Deployment Tools</a:t>
                      </a:r>
                    </a:p>
                  </a:txBody>
                  <a:tcPr marL="0" marR="0" marT="0" marB="0" anchor="ctr"/>
                </a:tc>
                <a:tc>
                  <a:txBody>
                    <a:bodyPr/>
                    <a:lstStyle/>
                    <a:p>
                      <a:r>
                        <a:rPr lang="en-US" sz="700"/>
                        <a:t>Create Account</a:t>
                      </a:r>
                    </a:p>
                  </a:txBody>
                  <a:tcPr marL="0" marR="0" marT="0" marB="0" anchor="ctr"/>
                </a:tc>
                <a:tc>
                  <a:txBody>
                    <a:bodyPr/>
                    <a:lstStyle/>
                    <a:p>
                      <a:r>
                        <a:rPr lang="en-US" sz="700"/>
                        <a:t>Escape to Host</a:t>
                      </a:r>
                    </a:p>
                  </a:txBody>
                  <a:tcPr marL="0" marR="0" marT="0" marB="0" anchor="ctr"/>
                </a:tc>
                <a:extLst>
                  <a:ext uri="{0D108BD9-81ED-4DB2-BD59-A6C34878D82A}">
                    <a16:rowId xmlns:a16="http://schemas.microsoft.com/office/drawing/2014/main" val="2129030905"/>
                  </a:ext>
                </a:extLst>
              </a:tr>
              <a:tr h="270962">
                <a:tc>
                  <a:txBody>
                    <a:bodyPr/>
                    <a:lstStyle/>
                    <a:p>
                      <a:r>
                        <a:rPr lang="en-US" sz="700">
                          <a:effectLst/>
                        </a:rPr>
                        <a:t>Trusted Relationship</a:t>
                      </a:r>
                    </a:p>
                  </a:txBody>
                  <a:tcPr marL="0" marR="0" marT="0" marB="0" anchor="ctr"/>
                </a:tc>
                <a:tc>
                  <a:txBody>
                    <a:bodyPr/>
                    <a:lstStyle/>
                    <a:p>
                      <a:r>
                        <a:rPr lang="en-US" sz="700"/>
                        <a:t>System Services</a:t>
                      </a:r>
                    </a:p>
                  </a:txBody>
                  <a:tcPr marL="0" marR="0" marT="0" marB="0" anchor="ctr"/>
                </a:tc>
                <a:tc>
                  <a:txBody>
                    <a:bodyPr/>
                    <a:lstStyle/>
                    <a:p>
                      <a:r>
                        <a:rPr lang="en-US" sz="700"/>
                        <a:t>Create or Modify System Process</a:t>
                      </a:r>
                    </a:p>
                  </a:txBody>
                  <a:tcPr marL="0" marR="0" marT="0" marB="0" anchor="ctr"/>
                </a:tc>
                <a:tc>
                  <a:txBody>
                    <a:bodyPr/>
                    <a:lstStyle/>
                    <a:p>
                      <a:r>
                        <a:rPr lang="en-US" sz="700"/>
                        <a:t>Event Triggered Execution</a:t>
                      </a:r>
                    </a:p>
                  </a:txBody>
                  <a:tcPr marL="0" marR="0" marT="0" marB="0" anchor="ctr"/>
                </a:tc>
                <a:extLst>
                  <a:ext uri="{0D108BD9-81ED-4DB2-BD59-A6C34878D82A}">
                    <a16:rowId xmlns:a16="http://schemas.microsoft.com/office/drawing/2014/main" val="880570639"/>
                  </a:ext>
                </a:extLst>
              </a:tr>
              <a:tr h="270962">
                <a:tc>
                  <a:txBody>
                    <a:bodyPr/>
                    <a:lstStyle/>
                    <a:p>
                      <a:r>
                        <a:rPr lang="en-US" sz="700">
                          <a:effectLst/>
                        </a:rPr>
                        <a:t>Valid Accounts</a:t>
                      </a:r>
                    </a:p>
                  </a:txBody>
                  <a:tcPr marL="0" marR="0" marT="0" marB="0" anchor="ctr"/>
                </a:tc>
                <a:tc>
                  <a:txBody>
                    <a:bodyPr/>
                    <a:lstStyle/>
                    <a:p>
                      <a:r>
                        <a:rPr lang="en-US" sz="700"/>
                        <a:t>User Execution</a:t>
                      </a:r>
                    </a:p>
                  </a:txBody>
                  <a:tcPr marL="0" marR="0" marT="0" marB="0" anchor="ctr"/>
                </a:tc>
                <a:tc>
                  <a:txBody>
                    <a:bodyPr/>
                    <a:lstStyle/>
                    <a:p>
                      <a:r>
                        <a:rPr lang="en-US" sz="700"/>
                        <a:t>Event Triggered Execution</a:t>
                      </a:r>
                    </a:p>
                  </a:txBody>
                  <a:tcPr marL="0" marR="0" marT="0" marB="0" anchor="ctr"/>
                </a:tc>
                <a:tc>
                  <a:txBody>
                    <a:bodyPr/>
                    <a:lstStyle/>
                    <a:p>
                      <a:r>
                        <a:rPr lang="en-US" sz="700"/>
                        <a:t>Exploitation for Privilege Escalation</a:t>
                      </a:r>
                    </a:p>
                  </a:txBody>
                  <a:tcPr marL="0" marR="0" marT="0" marB="0" anchor="ctr"/>
                </a:tc>
                <a:extLst>
                  <a:ext uri="{0D108BD9-81ED-4DB2-BD59-A6C34878D82A}">
                    <a16:rowId xmlns:a16="http://schemas.microsoft.com/office/drawing/2014/main" val="3583779715"/>
                  </a:ext>
                </a:extLst>
              </a:tr>
              <a:tr h="270962">
                <a:tc>
                  <a:txBody>
                    <a:bodyPr/>
                    <a:lstStyle/>
                    <a:p>
                      <a:endParaRPr lang="en-US" sz="700">
                        <a:effectLst/>
                      </a:endParaRPr>
                    </a:p>
                  </a:txBody>
                  <a:tcPr marL="0" marR="0" marT="0" marB="0" anchor="ctr"/>
                </a:tc>
                <a:tc>
                  <a:txBody>
                    <a:bodyPr/>
                    <a:lstStyle/>
                    <a:p>
                      <a:r>
                        <a:rPr lang="en-US" sz="700"/>
                        <a:t>Windows Management Instrumentation</a:t>
                      </a:r>
                    </a:p>
                  </a:txBody>
                  <a:tcPr marL="0" marR="0" marT="0" marB="0" anchor="ctr"/>
                </a:tc>
                <a:tc>
                  <a:txBody>
                    <a:bodyPr/>
                    <a:lstStyle/>
                    <a:p>
                      <a:r>
                        <a:rPr lang="en-US" sz="700"/>
                        <a:t>External Remote Services</a:t>
                      </a:r>
                    </a:p>
                  </a:txBody>
                  <a:tcPr marL="0" marR="0" marT="0" marB="0" anchor="ctr"/>
                </a:tc>
                <a:tc>
                  <a:txBody>
                    <a:bodyPr/>
                    <a:lstStyle/>
                    <a:p>
                      <a:r>
                        <a:rPr lang="en-US" sz="700"/>
                        <a:t>Hijack Execution Flow</a:t>
                      </a:r>
                    </a:p>
                  </a:txBody>
                  <a:tcPr marL="0" marR="0" marT="0" marB="0" anchor="ctr"/>
                </a:tc>
                <a:extLst>
                  <a:ext uri="{0D108BD9-81ED-4DB2-BD59-A6C34878D82A}">
                    <a16:rowId xmlns:a16="http://schemas.microsoft.com/office/drawing/2014/main" val="3987573045"/>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Hijack Execution Flow</a:t>
                      </a:r>
                    </a:p>
                  </a:txBody>
                  <a:tcPr marL="0" marR="0" marT="0" marB="0" anchor="ctr"/>
                </a:tc>
                <a:tc>
                  <a:txBody>
                    <a:bodyPr/>
                    <a:lstStyle/>
                    <a:p>
                      <a:r>
                        <a:rPr lang="en-US" sz="700"/>
                        <a:t>Process Injection</a:t>
                      </a:r>
                    </a:p>
                  </a:txBody>
                  <a:tcPr marL="0" marR="0" marT="0" marB="0" anchor="ctr"/>
                </a:tc>
                <a:extLst>
                  <a:ext uri="{0D108BD9-81ED-4DB2-BD59-A6C34878D82A}">
                    <a16:rowId xmlns:a16="http://schemas.microsoft.com/office/drawing/2014/main" val="232718173"/>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Modify Authentication Process</a:t>
                      </a:r>
                    </a:p>
                  </a:txBody>
                  <a:tcPr marL="0" marR="0" marT="0" marB="0" anchor="ctr"/>
                </a:tc>
                <a:tc>
                  <a:txBody>
                    <a:bodyPr/>
                    <a:lstStyle/>
                    <a:p>
                      <a:r>
                        <a:rPr lang="en-US" sz="700"/>
                        <a:t>Scheduled Task/Job</a:t>
                      </a:r>
                    </a:p>
                  </a:txBody>
                  <a:tcPr marL="0" marR="0" marT="0" marB="0" anchor="ctr"/>
                </a:tc>
                <a:extLst>
                  <a:ext uri="{0D108BD9-81ED-4DB2-BD59-A6C34878D82A}">
                    <a16:rowId xmlns:a16="http://schemas.microsoft.com/office/drawing/2014/main" val="3217374584"/>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Office Application Startup</a:t>
                      </a:r>
                    </a:p>
                  </a:txBody>
                  <a:tcPr marL="0" marR="0" marT="0" marB="0" anchor="ctr"/>
                </a:tc>
                <a:tc>
                  <a:txBody>
                    <a:bodyPr/>
                    <a:lstStyle/>
                    <a:p>
                      <a:r>
                        <a:rPr lang="en-US" sz="700"/>
                        <a:t>Valid Accounts</a:t>
                      </a:r>
                    </a:p>
                  </a:txBody>
                  <a:tcPr marL="0" marR="0" marT="0" marB="0" anchor="ctr"/>
                </a:tc>
                <a:extLst>
                  <a:ext uri="{0D108BD9-81ED-4DB2-BD59-A6C34878D82A}">
                    <a16:rowId xmlns:a16="http://schemas.microsoft.com/office/drawing/2014/main" val="257431337"/>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Pre-OS Boot</a:t>
                      </a:r>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3624197289"/>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Scheduled Task/Job</a:t>
                      </a:r>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1107666679"/>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Server Software Component</a:t>
                      </a:r>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434600413"/>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Traffic Signaling</a:t>
                      </a:r>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2482375508"/>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Valid Accounts</a:t>
                      </a:r>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3566633195"/>
                  </a:ext>
                </a:extLst>
              </a:tr>
            </a:tbl>
          </a:graphicData>
        </a:graphic>
      </p:graphicFrame>
    </p:spTree>
    <p:extLst>
      <p:ext uri="{BB962C8B-B14F-4D97-AF65-F5344CB8AC3E}">
        <p14:creationId xmlns:p14="http://schemas.microsoft.com/office/powerpoint/2010/main" val="3728310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CAB15-C756-CB82-A42D-1539D559FBDB}"/>
              </a:ext>
            </a:extLst>
          </p:cNvPr>
          <p:cNvSpPr>
            <a:spLocks noGrp="1"/>
          </p:cNvSpPr>
          <p:nvPr>
            <p:ph type="title"/>
          </p:nvPr>
        </p:nvSpPr>
        <p:spPr>
          <a:xfrm>
            <a:off x="628649" y="291090"/>
            <a:ext cx="7886699" cy="932688"/>
          </a:xfrm>
        </p:spPr>
        <p:txBody>
          <a:bodyPr vert="horz" lIns="91440" tIns="45720" rIns="91440" bIns="45720" rtlCol="0" anchor="b">
            <a:normAutofit/>
          </a:bodyPr>
          <a:lstStyle/>
          <a:p>
            <a:pPr defTabSz="914400" eaLnBrk="1" hangingPunct="1">
              <a:lnSpc>
                <a:spcPct val="90000"/>
              </a:lnSpc>
            </a:pPr>
            <a:r>
              <a:rPr lang="en-US" sz="4700" kern="1200" dirty="0">
                <a:solidFill>
                  <a:schemeClr val="tx1"/>
                </a:solidFill>
                <a:latin typeface="+mj-lt"/>
                <a:ea typeface="+mj-ea"/>
                <a:cs typeface="+mj-cs"/>
              </a:rPr>
              <a:t>MITRE ATT&amp;CK</a:t>
            </a:r>
            <a:r>
              <a:rPr lang="en-US" sz="4700" kern="1200">
                <a:solidFill>
                  <a:schemeClr val="tx1"/>
                </a:solidFill>
                <a:latin typeface="+mj-lt"/>
                <a:ea typeface="+mj-ea"/>
                <a:cs typeface="+mj-cs"/>
              </a:rPr>
              <a:t> pt. 2</a:t>
            </a:r>
          </a:p>
        </p:txBody>
      </p:sp>
      <p:graphicFrame>
        <p:nvGraphicFramePr>
          <p:cNvPr id="4" name="Table 3">
            <a:extLst>
              <a:ext uri="{FF2B5EF4-FFF2-40B4-BE49-F238E27FC236}">
                <a16:creationId xmlns:a16="http://schemas.microsoft.com/office/drawing/2014/main" id="{C53A6CF6-536D-3A62-3DD6-6B2396E6E96D}"/>
              </a:ext>
            </a:extLst>
          </p:cNvPr>
          <p:cNvGraphicFramePr>
            <a:graphicFrameLocks noGrp="1"/>
          </p:cNvGraphicFramePr>
          <p:nvPr>
            <p:extLst>
              <p:ext uri="{D42A27DB-BD31-4B8C-83A1-F6EECF244321}">
                <p14:modId xmlns:p14="http://schemas.microsoft.com/office/powerpoint/2010/main" val="2105483562"/>
              </p:ext>
            </p:extLst>
          </p:nvPr>
        </p:nvGraphicFramePr>
        <p:xfrm>
          <a:off x="0" y="1350498"/>
          <a:ext cx="9124707" cy="5434153"/>
        </p:xfrm>
        <a:graphic>
          <a:graphicData uri="http://schemas.openxmlformats.org/drawingml/2006/table">
            <a:tbl>
              <a:tblPr firstRow="1" bandRow="1">
                <a:tableStyleId>{5202B0CA-FC54-4496-8BCA-5EF66A818D29}</a:tableStyleId>
              </a:tblPr>
              <a:tblGrid>
                <a:gridCol w="3193930">
                  <a:extLst>
                    <a:ext uri="{9D8B030D-6E8A-4147-A177-3AD203B41FA5}">
                      <a16:colId xmlns:a16="http://schemas.microsoft.com/office/drawing/2014/main" val="2952532053"/>
                    </a:ext>
                  </a:extLst>
                </a:gridCol>
                <a:gridCol w="2896818">
                  <a:extLst>
                    <a:ext uri="{9D8B030D-6E8A-4147-A177-3AD203B41FA5}">
                      <a16:colId xmlns:a16="http://schemas.microsoft.com/office/drawing/2014/main" val="1102839978"/>
                    </a:ext>
                  </a:extLst>
                </a:gridCol>
                <a:gridCol w="3033959">
                  <a:extLst>
                    <a:ext uri="{9D8B030D-6E8A-4147-A177-3AD203B41FA5}">
                      <a16:colId xmlns:a16="http://schemas.microsoft.com/office/drawing/2014/main" val="2372043833"/>
                    </a:ext>
                  </a:extLst>
                </a:gridCol>
              </a:tblGrid>
              <a:tr h="146869">
                <a:tc>
                  <a:txBody>
                    <a:bodyPr/>
                    <a:lstStyle/>
                    <a:p>
                      <a:r>
                        <a:rPr lang="en-US" sz="500">
                          <a:effectLst/>
                        </a:rPr>
                        <a:t>Defense Evasion</a:t>
                      </a:r>
                    </a:p>
                  </a:txBody>
                  <a:tcPr marL="0" marR="0" marT="0" marB="0" anchor="ctr"/>
                </a:tc>
                <a:tc>
                  <a:txBody>
                    <a:bodyPr/>
                    <a:lstStyle/>
                    <a:p>
                      <a:r>
                        <a:rPr lang="en-US" sz="500">
                          <a:effectLst/>
                        </a:rPr>
                        <a:t>Credential Access</a:t>
                      </a:r>
                    </a:p>
                  </a:txBody>
                  <a:tcPr marL="0" marR="0" marT="0" marB="0" anchor="ctr"/>
                </a:tc>
                <a:tc>
                  <a:txBody>
                    <a:bodyPr/>
                    <a:lstStyle/>
                    <a:p>
                      <a:r>
                        <a:rPr lang="en-US" sz="500">
                          <a:effectLst/>
                        </a:rPr>
                        <a:t>Discovery</a:t>
                      </a:r>
                    </a:p>
                  </a:txBody>
                  <a:tcPr marL="0" marR="0" marT="0" marB="0" anchor="ctr"/>
                </a:tc>
                <a:extLst>
                  <a:ext uri="{0D108BD9-81ED-4DB2-BD59-A6C34878D82A}">
                    <a16:rowId xmlns:a16="http://schemas.microsoft.com/office/drawing/2014/main" val="1218005644"/>
                  </a:ext>
                </a:extLst>
              </a:tr>
              <a:tr h="146869">
                <a:tc>
                  <a:txBody>
                    <a:bodyPr/>
                    <a:lstStyle/>
                    <a:p>
                      <a:r>
                        <a:rPr lang="en-US" sz="500">
                          <a:effectLst/>
                        </a:rPr>
                        <a:t>Abuse Elevation Control Mechanism</a:t>
                      </a:r>
                    </a:p>
                  </a:txBody>
                  <a:tcPr marL="0" marR="0" marT="0" marB="0" anchor="ctr"/>
                </a:tc>
                <a:tc>
                  <a:txBody>
                    <a:bodyPr/>
                    <a:lstStyle/>
                    <a:p>
                      <a:r>
                        <a:rPr lang="en-US" sz="500"/>
                        <a:t>Adversary-in-the-Middle</a:t>
                      </a:r>
                    </a:p>
                  </a:txBody>
                  <a:tcPr marL="0" marR="0" marT="0" marB="0" anchor="ctr"/>
                </a:tc>
                <a:tc>
                  <a:txBody>
                    <a:bodyPr/>
                    <a:lstStyle/>
                    <a:p>
                      <a:r>
                        <a:rPr lang="en-US" sz="500"/>
                        <a:t>Account Discovery</a:t>
                      </a:r>
                    </a:p>
                  </a:txBody>
                  <a:tcPr marL="0" marR="0" marT="0" marB="0" anchor="ctr"/>
                </a:tc>
                <a:extLst>
                  <a:ext uri="{0D108BD9-81ED-4DB2-BD59-A6C34878D82A}">
                    <a16:rowId xmlns:a16="http://schemas.microsoft.com/office/drawing/2014/main" val="833475803"/>
                  </a:ext>
                </a:extLst>
              </a:tr>
              <a:tr h="146869">
                <a:tc>
                  <a:txBody>
                    <a:bodyPr/>
                    <a:lstStyle/>
                    <a:p>
                      <a:r>
                        <a:rPr lang="en-US" sz="500">
                          <a:effectLst/>
                        </a:rPr>
                        <a:t>Access Token Manipulation</a:t>
                      </a:r>
                    </a:p>
                  </a:txBody>
                  <a:tcPr marL="0" marR="0" marT="0" marB="0" anchor="ctr"/>
                </a:tc>
                <a:tc>
                  <a:txBody>
                    <a:bodyPr/>
                    <a:lstStyle/>
                    <a:p>
                      <a:r>
                        <a:rPr lang="en-US" sz="500"/>
                        <a:t>Brute Force</a:t>
                      </a:r>
                    </a:p>
                  </a:txBody>
                  <a:tcPr marL="0" marR="0" marT="0" marB="0" anchor="ctr"/>
                </a:tc>
                <a:tc>
                  <a:txBody>
                    <a:bodyPr/>
                    <a:lstStyle/>
                    <a:p>
                      <a:r>
                        <a:rPr lang="en-US" sz="500"/>
                        <a:t>Application Window Discovery</a:t>
                      </a:r>
                    </a:p>
                  </a:txBody>
                  <a:tcPr marL="0" marR="0" marT="0" marB="0" anchor="ctr"/>
                </a:tc>
                <a:extLst>
                  <a:ext uri="{0D108BD9-81ED-4DB2-BD59-A6C34878D82A}">
                    <a16:rowId xmlns:a16="http://schemas.microsoft.com/office/drawing/2014/main" val="3814786902"/>
                  </a:ext>
                </a:extLst>
              </a:tr>
              <a:tr h="146869">
                <a:tc>
                  <a:txBody>
                    <a:bodyPr/>
                    <a:lstStyle/>
                    <a:p>
                      <a:r>
                        <a:rPr lang="en-US" sz="500">
                          <a:effectLst/>
                        </a:rPr>
                        <a:t>BITS Jobs</a:t>
                      </a:r>
                    </a:p>
                  </a:txBody>
                  <a:tcPr marL="0" marR="0" marT="0" marB="0" anchor="ctr"/>
                </a:tc>
                <a:tc>
                  <a:txBody>
                    <a:bodyPr/>
                    <a:lstStyle/>
                    <a:p>
                      <a:r>
                        <a:rPr lang="en-US" sz="500"/>
                        <a:t>Credentials from Password Stores</a:t>
                      </a:r>
                    </a:p>
                  </a:txBody>
                  <a:tcPr marL="0" marR="0" marT="0" marB="0" anchor="ctr"/>
                </a:tc>
                <a:tc>
                  <a:txBody>
                    <a:bodyPr/>
                    <a:lstStyle/>
                    <a:p>
                      <a:r>
                        <a:rPr lang="en-US" sz="500"/>
                        <a:t>Browser Bookmark Discovery</a:t>
                      </a:r>
                    </a:p>
                  </a:txBody>
                  <a:tcPr marL="0" marR="0" marT="0" marB="0" anchor="ctr"/>
                </a:tc>
                <a:extLst>
                  <a:ext uri="{0D108BD9-81ED-4DB2-BD59-A6C34878D82A}">
                    <a16:rowId xmlns:a16="http://schemas.microsoft.com/office/drawing/2014/main" val="364426885"/>
                  </a:ext>
                </a:extLst>
              </a:tr>
              <a:tr h="146869">
                <a:tc>
                  <a:txBody>
                    <a:bodyPr/>
                    <a:lstStyle/>
                    <a:p>
                      <a:r>
                        <a:rPr lang="en-US" sz="500">
                          <a:effectLst/>
                        </a:rPr>
                        <a:t>Debugger Evasion</a:t>
                      </a:r>
                    </a:p>
                  </a:txBody>
                  <a:tcPr marL="0" marR="0" marT="0" marB="0" anchor="ctr"/>
                </a:tc>
                <a:tc>
                  <a:txBody>
                    <a:bodyPr/>
                    <a:lstStyle/>
                    <a:p>
                      <a:r>
                        <a:rPr lang="en-US" sz="500"/>
                        <a:t>Exploitation for Credential Access</a:t>
                      </a:r>
                    </a:p>
                  </a:txBody>
                  <a:tcPr marL="0" marR="0" marT="0" marB="0" anchor="ctr"/>
                </a:tc>
                <a:tc>
                  <a:txBody>
                    <a:bodyPr/>
                    <a:lstStyle/>
                    <a:p>
                      <a:r>
                        <a:rPr lang="en-US" sz="500"/>
                        <a:t>Debugger Evasion</a:t>
                      </a:r>
                    </a:p>
                  </a:txBody>
                  <a:tcPr marL="0" marR="0" marT="0" marB="0" anchor="ctr"/>
                </a:tc>
                <a:extLst>
                  <a:ext uri="{0D108BD9-81ED-4DB2-BD59-A6C34878D82A}">
                    <a16:rowId xmlns:a16="http://schemas.microsoft.com/office/drawing/2014/main" val="804789853"/>
                  </a:ext>
                </a:extLst>
              </a:tr>
              <a:tr h="146869">
                <a:tc>
                  <a:txBody>
                    <a:bodyPr/>
                    <a:lstStyle/>
                    <a:p>
                      <a:r>
                        <a:rPr lang="en-US" sz="500">
                          <a:effectLst/>
                        </a:rPr>
                        <a:t>Deobfuscate/Decode Files or Information</a:t>
                      </a:r>
                    </a:p>
                  </a:txBody>
                  <a:tcPr marL="0" marR="0" marT="0" marB="0" anchor="ctr"/>
                </a:tc>
                <a:tc>
                  <a:txBody>
                    <a:bodyPr/>
                    <a:lstStyle/>
                    <a:p>
                      <a:r>
                        <a:rPr lang="en-US" sz="500"/>
                        <a:t>Forced Authentication</a:t>
                      </a:r>
                    </a:p>
                  </a:txBody>
                  <a:tcPr marL="0" marR="0" marT="0" marB="0" anchor="ctr"/>
                </a:tc>
                <a:tc>
                  <a:txBody>
                    <a:bodyPr/>
                    <a:lstStyle/>
                    <a:p>
                      <a:r>
                        <a:rPr lang="en-US" sz="500"/>
                        <a:t>Domain Trust Discovery</a:t>
                      </a:r>
                    </a:p>
                  </a:txBody>
                  <a:tcPr marL="0" marR="0" marT="0" marB="0" anchor="ctr"/>
                </a:tc>
                <a:extLst>
                  <a:ext uri="{0D108BD9-81ED-4DB2-BD59-A6C34878D82A}">
                    <a16:rowId xmlns:a16="http://schemas.microsoft.com/office/drawing/2014/main" val="3119403639"/>
                  </a:ext>
                </a:extLst>
              </a:tr>
              <a:tr h="146869">
                <a:tc>
                  <a:txBody>
                    <a:bodyPr/>
                    <a:lstStyle/>
                    <a:p>
                      <a:r>
                        <a:rPr lang="en-US" sz="500">
                          <a:effectLst/>
                        </a:rPr>
                        <a:t>Direct Volume Access</a:t>
                      </a:r>
                    </a:p>
                  </a:txBody>
                  <a:tcPr marL="0" marR="0" marT="0" marB="0" anchor="ctr"/>
                </a:tc>
                <a:tc>
                  <a:txBody>
                    <a:bodyPr/>
                    <a:lstStyle/>
                    <a:p>
                      <a:r>
                        <a:rPr lang="en-US" sz="500"/>
                        <a:t>Forge Web Credentials</a:t>
                      </a:r>
                    </a:p>
                  </a:txBody>
                  <a:tcPr marL="0" marR="0" marT="0" marB="0" anchor="ctr"/>
                </a:tc>
                <a:tc>
                  <a:txBody>
                    <a:bodyPr/>
                    <a:lstStyle/>
                    <a:p>
                      <a:r>
                        <a:rPr lang="en-US" sz="500"/>
                        <a:t>File and Directory Discovery</a:t>
                      </a:r>
                    </a:p>
                  </a:txBody>
                  <a:tcPr marL="0" marR="0" marT="0" marB="0" anchor="ctr"/>
                </a:tc>
                <a:extLst>
                  <a:ext uri="{0D108BD9-81ED-4DB2-BD59-A6C34878D82A}">
                    <a16:rowId xmlns:a16="http://schemas.microsoft.com/office/drawing/2014/main" val="1381500385"/>
                  </a:ext>
                </a:extLst>
              </a:tr>
              <a:tr h="146869">
                <a:tc>
                  <a:txBody>
                    <a:bodyPr/>
                    <a:lstStyle/>
                    <a:p>
                      <a:r>
                        <a:rPr lang="en-US" sz="500">
                          <a:effectLst/>
                        </a:rPr>
                        <a:t>Domain Policy Modification</a:t>
                      </a:r>
                    </a:p>
                  </a:txBody>
                  <a:tcPr marL="0" marR="0" marT="0" marB="0" anchor="ctr"/>
                </a:tc>
                <a:tc>
                  <a:txBody>
                    <a:bodyPr/>
                    <a:lstStyle/>
                    <a:p>
                      <a:r>
                        <a:rPr lang="en-US" sz="500"/>
                        <a:t>Input Capture</a:t>
                      </a:r>
                    </a:p>
                  </a:txBody>
                  <a:tcPr marL="0" marR="0" marT="0" marB="0" anchor="ctr"/>
                </a:tc>
                <a:tc>
                  <a:txBody>
                    <a:bodyPr/>
                    <a:lstStyle/>
                    <a:p>
                      <a:r>
                        <a:rPr lang="en-US" sz="500"/>
                        <a:t>Group Policy Discovery</a:t>
                      </a:r>
                    </a:p>
                  </a:txBody>
                  <a:tcPr marL="0" marR="0" marT="0" marB="0" anchor="ctr"/>
                </a:tc>
                <a:extLst>
                  <a:ext uri="{0D108BD9-81ED-4DB2-BD59-A6C34878D82A}">
                    <a16:rowId xmlns:a16="http://schemas.microsoft.com/office/drawing/2014/main" val="3623373968"/>
                  </a:ext>
                </a:extLst>
              </a:tr>
              <a:tr h="146869">
                <a:tc>
                  <a:txBody>
                    <a:bodyPr/>
                    <a:lstStyle/>
                    <a:p>
                      <a:r>
                        <a:rPr lang="en-US" sz="500">
                          <a:effectLst/>
                        </a:rPr>
                        <a:t>Execution Guardrails</a:t>
                      </a:r>
                    </a:p>
                  </a:txBody>
                  <a:tcPr marL="0" marR="0" marT="0" marB="0" anchor="ctr"/>
                </a:tc>
                <a:tc>
                  <a:txBody>
                    <a:bodyPr/>
                    <a:lstStyle/>
                    <a:p>
                      <a:r>
                        <a:rPr lang="en-US" sz="500"/>
                        <a:t>Modify Authentication Process</a:t>
                      </a:r>
                    </a:p>
                  </a:txBody>
                  <a:tcPr marL="0" marR="0" marT="0" marB="0" anchor="ctr"/>
                </a:tc>
                <a:tc>
                  <a:txBody>
                    <a:bodyPr/>
                    <a:lstStyle/>
                    <a:p>
                      <a:r>
                        <a:rPr lang="en-US" sz="500"/>
                        <a:t>Network Service Discovery</a:t>
                      </a:r>
                    </a:p>
                  </a:txBody>
                  <a:tcPr marL="0" marR="0" marT="0" marB="0" anchor="ctr"/>
                </a:tc>
                <a:extLst>
                  <a:ext uri="{0D108BD9-81ED-4DB2-BD59-A6C34878D82A}">
                    <a16:rowId xmlns:a16="http://schemas.microsoft.com/office/drawing/2014/main" val="532433149"/>
                  </a:ext>
                </a:extLst>
              </a:tr>
              <a:tr h="146869">
                <a:tc>
                  <a:txBody>
                    <a:bodyPr/>
                    <a:lstStyle/>
                    <a:p>
                      <a:r>
                        <a:rPr lang="en-US" sz="500">
                          <a:effectLst/>
                        </a:rPr>
                        <a:t>Exploitation for Defense Evasion</a:t>
                      </a:r>
                    </a:p>
                  </a:txBody>
                  <a:tcPr marL="0" marR="0" marT="0" marB="0" anchor="ctr"/>
                </a:tc>
                <a:tc>
                  <a:txBody>
                    <a:bodyPr/>
                    <a:lstStyle/>
                    <a:p>
                      <a:r>
                        <a:rPr lang="en-US" sz="500"/>
                        <a:t>Multi-Factor Authentication Interception</a:t>
                      </a:r>
                    </a:p>
                  </a:txBody>
                  <a:tcPr marL="0" marR="0" marT="0" marB="0" anchor="ctr"/>
                </a:tc>
                <a:tc>
                  <a:txBody>
                    <a:bodyPr/>
                    <a:lstStyle/>
                    <a:p>
                      <a:r>
                        <a:rPr lang="en-US" sz="500"/>
                        <a:t>Network Share Discovery</a:t>
                      </a:r>
                    </a:p>
                  </a:txBody>
                  <a:tcPr marL="0" marR="0" marT="0" marB="0" anchor="ctr"/>
                </a:tc>
                <a:extLst>
                  <a:ext uri="{0D108BD9-81ED-4DB2-BD59-A6C34878D82A}">
                    <a16:rowId xmlns:a16="http://schemas.microsoft.com/office/drawing/2014/main" val="920565847"/>
                  </a:ext>
                </a:extLst>
              </a:tr>
              <a:tr h="146869">
                <a:tc>
                  <a:txBody>
                    <a:bodyPr/>
                    <a:lstStyle/>
                    <a:p>
                      <a:r>
                        <a:rPr lang="en-US" sz="500">
                          <a:effectLst/>
                        </a:rPr>
                        <a:t>File and Directory Permissions Modification</a:t>
                      </a:r>
                    </a:p>
                  </a:txBody>
                  <a:tcPr marL="0" marR="0" marT="0" marB="0" anchor="ctr"/>
                </a:tc>
                <a:tc>
                  <a:txBody>
                    <a:bodyPr/>
                    <a:lstStyle/>
                    <a:p>
                      <a:r>
                        <a:rPr lang="en-US" sz="500"/>
                        <a:t>Multi-Factor Authentication Request Generation</a:t>
                      </a:r>
                    </a:p>
                  </a:txBody>
                  <a:tcPr marL="0" marR="0" marT="0" marB="0" anchor="ctr"/>
                </a:tc>
                <a:tc>
                  <a:txBody>
                    <a:bodyPr/>
                    <a:lstStyle/>
                    <a:p>
                      <a:r>
                        <a:rPr lang="en-US" sz="500"/>
                        <a:t>Network Sniffing</a:t>
                      </a:r>
                    </a:p>
                  </a:txBody>
                  <a:tcPr marL="0" marR="0" marT="0" marB="0" anchor="ctr"/>
                </a:tc>
                <a:extLst>
                  <a:ext uri="{0D108BD9-81ED-4DB2-BD59-A6C34878D82A}">
                    <a16:rowId xmlns:a16="http://schemas.microsoft.com/office/drawing/2014/main" val="3535346858"/>
                  </a:ext>
                </a:extLst>
              </a:tr>
              <a:tr h="146869">
                <a:tc>
                  <a:txBody>
                    <a:bodyPr/>
                    <a:lstStyle/>
                    <a:p>
                      <a:r>
                        <a:rPr lang="en-US" sz="500">
                          <a:effectLst/>
                        </a:rPr>
                        <a:t>Hide Artifacts</a:t>
                      </a:r>
                    </a:p>
                  </a:txBody>
                  <a:tcPr marL="0" marR="0" marT="0" marB="0" anchor="ctr"/>
                </a:tc>
                <a:tc>
                  <a:txBody>
                    <a:bodyPr/>
                    <a:lstStyle/>
                    <a:p>
                      <a:r>
                        <a:rPr lang="en-US" sz="500"/>
                        <a:t>Network Sniffing</a:t>
                      </a:r>
                    </a:p>
                  </a:txBody>
                  <a:tcPr marL="0" marR="0" marT="0" marB="0" anchor="ctr"/>
                </a:tc>
                <a:tc>
                  <a:txBody>
                    <a:bodyPr/>
                    <a:lstStyle/>
                    <a:p>
                      <a:r>
                        <a:rPr lang="en-US" sz="500"/>
                        <a:t>Password Policy Discovery</a:t>
                      </a:r>
                    </a:p>
                  </a:txBody>
                  <a:tcPr marL="0" marR="0" marT="0" marB="0" anchor="ctr"/>
                </a:tc>
                <a:extLst>
                  <a:ext uri="{0D108BD9-81ED-4DB2-BD59-A6C34878D82A}">
                    <a16:rowId xmlns:a16="http://schemas.microsoft.com/office/drawing/2014/main" val="2288585946"/>
                  </a:ext>
                </a:extLst>
              </a:tr>
              <a:tr h="146869">
                <a:tc>
                  <a:txBody>
                    <a:bodyPr/>
                    <a:lstStyle/>
                    <a:p>
                      <a:r>
                        <a:rPr lang="en-US" sz="500">
                          <a:effectLst/>
                        </a:rPr>
                        <a:t>Hijack Execution Flow</a:t>
                      </a:r>
                    </a:p>
                  </a:txBody>
                  <a:tcPr marL="0" marR="0" marT="0" marB="0" anchor="ctr"/>
                </a:tc>
                <a:tc>
                  <a:txBody>
                    <a:bodyPr/>
                    <a:lstStyle/>
                    <a:p>
                      <a:r>
                        <a:rPr lang="en-US" sz="500"/>
                        <a:t>OS Credential Dumping</a:t>
                      </a:r>
                    </a:p>
                  </a:txBody>
                  <a:tcPr marL="0" marR="0" marT="0" marB="0" anchor="ctr"/>
                </a:tc>
                <a:tc>
                  <a:txBody>
                    <a:bodyPr/>
                    <a:lstStyle/>
                    <a:p>
                      <a:r>
                        <a:rPr lang="en-US" sz="500"/>
                        <a:t>Peripheral Device Discovery</a:t>
                      </a:r>
                    </a:p>
                  </a:txBody>
                  <a:tcPr marL="0" marR="0" marT="0" marB="0" anchor="ctr"/>
                </a:tc>
                <a:extLst>
                  <a:ext uri="{0D108BD9-81ED-4DB2-BD59-A6C34878D82A}">
                    <a16:rowId xmlns:a16="http://schemas.microsoft.com/office/drawing/2014/main" val="1066832916"/>
                  </a:ext>
                </a:extLst>
              </a:tr>
              <a:tr h="146869">
                <a:tc>
                  <a:txBody>
                    <a:bodyPr/>
                    <a:lstStyle/>
                    <a:p>
                      <a:r>
                        <a:rPr lang="en-US" sz="500">
                          <a:effectLst/>
                        </a:rPr>
                        <a:t>Impair Defenses</a:t>
                      </a:r>
                    </a:p>
                  </a:txBody>
                  <a:tcPr marL="0" marR="0" marT="0" marB="0" anchor="ctr"/>
                </a:tc>
                <a:tc>
                  <a:txBody>
                    <a:bodyPr/>
                    <a:lstStyle/>
                    <a:p>
                      <a:r>
                        <a:rPr lang="en-US" sz="500"/>
                        <a:t>Steal or Forge Kerberos Tickets</a:t>
                      </a:r>
                    </a:p>
                  </a:txBody>
                  <a:tcPr marL="0" marR="0" marT="0" marB="0" anchor="ctr"/>
                </a:tc>
                <a:tc>
                  <a:txBody>
                    <a:bodyPr/>
                    <a:lstStyle/>
                    <a:p>
                      <a:r>
                        <a:rPr lang="en-US" sz="500"/>
                        <a:t>Permission Groups Discovery</a:t>
                      </a:r>
                    </a:p>
                  </a:txBody>
                  <a:tcPr marL="0" marR="0" marT="0" marB="0" anchor="ctr"/>
                </a:tc>
                <a:extLst>
                  <a:ext uri="{0D108BD9-81ED-4DB2-BD59-A6C34878D82A}">
                    <a16:rowId xmlns:a16="http://schemas.microsoft.com/office/drawing/2014/main" val="1406139748"/>
                  </a:ext>
                </a:extLst>
              </a:tr>
              <a:tr h="146869">
                <a:tc>
                  <a:txBody>
                    <a:bodyPr/>
                    <a:lstStyle/>
                    <a:p>
                      <a:r>
                        <a:rPr lang="en-US" sz="500">
                          <a:effectLst/>
                        </a:rPr>
                        <a:t>Indicator Removal on Host</a:t>
                      </a:r>
                    </a:p>
                  </a:txBody>
                  <a:tcPr marL="0" marR="0" marT="0" marB="0" anchor="ctr"/>
                </a:tc>
                <a:tc>
                  <a:txBody>
                    <a:bodyPr/>
                    <a:lstStyle/>
                    <a:p>
                      <a:r>
                        <a:rPr lang="en-US" sz="500"/>
                        <a:t>Steal Web Session Cookie</a:t>
                      </a:r>
                    </a:p>
                  </a:txBody>
                  <a:tcPr marL="0" marR="0" marT="0" marB="0" anchor="ctr"/>
                </a:tc>
                <a:tc>
                  <a:txBody>
                    <a:bodyPr/>
                    <a:lstStyle/>
                    <a:p>
                      <a:r>
                        <a:rPr lang="en-US" sz="500"/>
                        <a:t>Process Discovery</a:t>
                      </a:r>
                    </a:p>
                  </a:txBody>
                  <a:tcPr marL="0" marR="0" marT="0" marB="0" anchor="ctr"/>
                </a:tc>
                <a:extLst>
                  <a:ext uri="{0D108BD9-81ED-4DB2-BD59-A6C34878D82A}">
                    <a16:rowId xmlns:a16="http://schemas.microsoft.com/office/drawing/2014/main" val="138860856"/>
                  </a:ext>
                </a:extLst>
              </a:tr>
              <a:tr h="146869">
                <a:tc>
                  <a:txBody>
                    <a:bodyPr/>
                    <a:lstStyle/>
                    <a:p>
                      <a:r>
                        <a:rPr lang="en-US" sz="500">
                          <a:effectLst/>
                        </a:rPr>
                        <a:t>Indirect Command Execution</a:t>
                      </a:r>
                    </a:p>
                  </a:txBody>
                  <a:tcPr marL="0" marR="0" marT="0" marB="0" anchor="ctr"/>
                </a:tc>
                <a:tc>
                  <a:txBody>
                    <a:bodyPr/>
                    <a:lstStyle/>
                    <a:p>
                      <a:r>
                        <a:rPr lang="en-US" sz="500"/>
                        <a:t>Unsecured Credentials</a:t>
                      </a:r>
                    </a:p>
                  </a:txBody>
                  <a:tcPr marL="0" marR="0" marT="0" marB="0" anchor="ctr"/>
                </a:tc>
                <a:tc>
                  <a:txBody>
                    <a:bodyPr/>
                    <a:lstStyle/>
                    <a:p>
                      <a:r>
                        <a:rPr lang="en-US" sz="500"/>
                        <a:t>Query Registry</a:t>
                      </a:r>
                    </a:p>
                  </a:txBody>
                  <a:tcPr marL="0" marR="0" marT="0" marB="0" anchor="ctr"/>
                </a:tc>
                <a:extLst>
                  <a:ext uri="{0D108BD9-81ED-4DB2-BD59-A6C34878D82A}">
                    <a16:rowId xmlns:a16="http://schemas.microsoft.com/office/drawing/2014/main" val="281823199"/>
                  </a:ext>
                </a:extLst>
              </a:tr>
              <a:tr h="146869">
                <a:tc>
                  <a:txBody>
                    <a:bodyPr/>
                    <a:lstStyle/>
                    <a:p>
                      <a:r>
                        <a:rPr lang="en-US" sz="500">
                          <a:effectLst/>
                        </a:rPr>
                        <a:t>Masquerading</a:t>
                      </a:r>
                    </a:p>
                  </a:txBody>
                  <a:tcPr marL="0" marR="0" marT="0" marB="0" anchor="ctr"/>
                </a:tc>
                <a:tc>
                  <a:txBody>
                    <a:bodyPr/>
                    <a:lstStyle/>
                    <a:p>
                      <a:endParaRPr lang="en-US" sz="500"/>
                    </a:p>
                  </a:txBody>
                  <a:tcPr marL="0" marR="0" marT="0" marB="0" anchor="ctr"/>
                </a:tc>
                <a:tc>
                  <a:txBody>
                    <a:bodyPr/>
                    <a:lstStyle/>
                    <a:p>
                      <a:r>
                        <a:rPr lang="en-US" sz="500"/>
                        <a:t>Remote System Discovery</a:t>
                      </a:r>
                    </a:p>
                  </a:txBody>
                  <a:tcPr marL="0" marR="0" marT="0" marB="0" anchor="ctr"/>
                </a:tc>
                <a:extLst>
                  <a:ext uri="{0D108BD9-81ED-4DB2-BD59-A6C34878D82A}">
                    <a16:rowId xmlns:a16="http://schemas.microsoft.com/office/drawing/2014/main" val="163739748"/>
                  </a:ext>
                </a:extLst>
              </a:tr>
              <a:tr h="146869">
                <a:tc>
                  <a:txBody>
                    <a:bodyPr/>
                    <a:lstStyle/>
                    <a:p>
                      <a:r>
                        <a:rPr lang="en-US" sz="500">
                          <a:effectLst/>
                        </a:rPr>
                        <a:t>Modify Authentication Process</a:t>
                      </a:r>
                    </a:p>
                  </a:txBody>
                  <a:tcPr marL="0" marR="0" marT="0" marB="0" anchor="ctr"/>
                </a:tc>
                <a:tc>
                  <a:txBody>
                    <a:bodyPr/>
                    <a:lstStyle/>
                    <a:p>
                      <a:endParaRPr lang="en-US" sz="500"/>
                    </a:p>
                  </a:txBody>
                  <a:tcPr marL="0" marR="0" marT="0" marB="0" anchor="ctr"/>
                </a:tc>
                <a:tc>
                  <a:txBody>
                    <a:bodyPr/>
                    <a:lstStyle/>
                    <a:p>
                      <a:r>
                        <a:rPr lang="en-US" sz="500"/>
                        <a:t>Software Discovery</a:t>
                      </a:r>
                    </a:p>
                  </a:txBody>
                  <a:tcPr marL="0" marR="0" marT="0" marB="0" anchor="ctr"/>
                </a:tc>
                <a:extLst>
                  <a:ext uri="{0D108BD9-81ED-4DB2-BD59-A6C34878D82A}">
                    <a16:rowId xmlns:a16="http://schemas.microsoft.com/office/drawing/2014/main" val="2136639176"/>
                  </a:ext>
                </a:extLst>
              </a:tr>
              <a:tr h="146869">
                <a:tc>
                  <a:txBody>
                    <a:bodyPr/>
                    <a:lstStyle/>
                    <a:p>
                      <a:r>
                        <a:rPr lang="en-US" sz="500">
                          <a:effectLst/>
                        </a:rPr>
                        <a:t>Modify Registry</a:t>
                      </a:r>
                    </a:p>
                  </a:txBody>
                  <a:tcPr marL="0" marR="0" marT="0" marB="0" anchor="ctr"/>
                </a:tc>
                <a:tc>
                  <a:txBody>
                    <a:bodyPr/>
                    <a:lstStyle/>
                    <a:p>
                      <a:endParaRPr lang="en-US" sz="500"/>
                    </a:p>
                  </a:txBody>
                  <a:tcPr marL="0" marR="0" marT="0" marB="0" anchor="ctr"/>
                </a:tc>
                <a:tc>
                  <a:txBody>
                    <a:bodyPr/>
                    <a:lstStyle/>
                    <a:p>
                      <a:r>
                        <a:rPr lang="en-US" sz="500"/>
                        <a:t>System Information Discovery</a:t>
                      </a:r>
                    </a:p>
                  </a:txBody>
                  <a:tcPr marL="0" marR="0" marT="0" marB="0" anchor="ctr"/>
                </a:tc>
                <a:extLst>
                  <a:ext uri="{0D108BD9-81ED-4DB2-BD59-A6C34878D82A}">
                    <a16:rowId xmlns:a16="http://schemas.microsoft.com/office/drawing/2014/main" val="117631835"/>
                  </a:ext>
                </a:extLst>
              </a:tr>
              <a:tr h="146869">
                <a:tc>
                  <a:txBody>
                    <a:bodyPr/>
                    <a:lstStyle/>
                    <a:p>
                      <a:r>
                        <a:rPr lang="en-US" sz="500">
                          <a:effectLst/>
                        </a:rPr>
                        <a:t>Obfuscated Files or Information</a:t>
                      </a:r>
                    </a:p>
                  </a:txBody>
                  <a:tcPr marL="0" marR="0" marT="0" marB="0" anchor="ctr"/>
                </a:tc>
                <a:tc>
                  <a:txBody>
                    <a:bodyPr/>
                    <a:lstStyle/>
                    <a:p>
                      <a:endParaRPr lang="en-US" sz="500"/>
                    </a:p>
                  </a:txBody>
                  <a:tcPr marL="0" marR="0" marT="0" marB="0" anchor="ctr"/>
                </a:tc>
                <a:tc>
                  <a:txBody>
                    <a:bodyPr/>
                    <a:lstStyle/>
                    <a:p>
                      <a:r>
                        <a:rPr lang="en-US" sz="500"/>
                        <a:t>System Location Discovery</a:t>
                      </a:r>
                    </a:p>
                  </a:txBody>
                  <a:tcPr marL="0" marR="0" marT="0" marB="0" anchor="ctr"/>
                </a:tc>
                <a:extLst>
                  <a:ext uri="{0D108BD9-81ED-4DB2-BD59-A6C34878D82A}">
                    <a16:rowId xmlns:a16="http://schemas.microsoft.com/office/drawing/2014/main" val="1367280786"/>
                  </a:ext>
                </a:extLst>
              </a:tr>
              <a:tr h="146869">
                <a:tc>
                  <a:txBody>
                    <a:bodyPr/>
                    <a:lstStyle/>
                    <a:p>
                      <a:r>
                        <a:rPr lang="en-US" sz="500">
                          <a:effectLst/>
                        </a:rPr>
                        <a:t>Plist File Modification</a:t>
                      </a:r>
                    </a:p>
                  </a:txBody>
                  <a:tcPr marL="0" marR="0" marT="0" marB="0" anchor="ctr"/>
                </a:tc>
                <a:tc>
                  <a:txBody>
                    <a:bodyPr/>
                    <a:lstStyle/>
                    <a:p>
                      <a:endParaRPr lang="en-US" sz="500"/>
                    </a:p>
                  </a:txBody>
                  <a:tcPr marL="0" marR="0" marT="0" marB="0" anchor="ctr"/>
                </a:tc>
                <a:tc>
                  <a:txBody>
                    <a:bodyPr/>
                    <a:lstStyle/>
                    <a:p>
                      <a:r>
                        <a:rPr lang="en-US" sz="500"/>
                        <a:t>System Network Configuration Discovery</a:t>
                      </a:r>
                    </a:p>
                  </a:txBody>
                  <a:tcPr marL="0" marR="0" marT="0" marB="0" anchor="ctr"/>
                </a:tc>
                <a:extLst>
                  <a:ext uri="{0D108BD9-81ED-4DB2-BD59-A6C34878D82A}">
                    <a16:rowId xmlns:a16="http://schemas.microsoft.com/office/drawing/2014/main" val="3960933653"/>
                  </a:ext>
                </a:extLst>
              </a:tr>
              <a:tr h="146869">
                <a:tc>
                  <a:txBody>
                    <a:bodyPr/>
                    <a:lstStyle/>
                    <a:p>
                      <a:r>
                        <a:rPr lang="en-US" sz="500">
                          <a:effectLst/>
                        </a:rPr>
                        <a:t>Pre-OS Boot</a:t>
                      </a:r>
                    </a:p>
                  </a:txBody>
                  <a:tcPr marL="0" marR="0" marT="0" marB="0" anchor="ctr"/>
                </a:tc>
                <a:tc>
                  <a:txBody>
                    <a:bodyPr/>
                    <a:lstStyle/>
                    <a:p>
                      <a:endParaRPr lang="en-US" sz="500"/>
                    </a:p>
                  </a:txBody>
                  <a:tcPr marL="0" marR="0" marT="0" marB="0" anchor="ctr"/>
                </a:tc>
                <a:tc>
                  <a:txBody>
                    <a:bodyPr/>
                    <a:lstStyle/>
                    <a:p>
                      <a:r>
                        <a:rPr lang="en-US" sz="500"/>
                        <a:t>System Network Connections Discovery</a:t>
                      </a:r>
                    </a:p>
                  </a:txBody>
                  <a:tcPr marL="0" marR="0" marT="0" marB="0" anchor="ctr"/>
                </a:tc>
                <a:extLst>
                  <a:ext uri="{0D108BD9-81ED-4DB2-BD59-A6C34878D82A}">
                    <a16:rowId xmlns:a16="http://schemas.microsoft.com/office/drawing/2014/main" val="4196250678"/>
                  </a:ext>
                </a:extLst>
              </a:tr>
              <a:tr h="146869">
                <a:tc>
                  <a:txBody>
                    <a:bodyPr/>
                    <a:lstStyle/>
                    <a:p>
                      <a:r>
                        <a:rPr lang="en-US" sz="500">
                          <a:effectLst/>
                        </a:rPr>
                        <a:t>Process Injection</a:t>
                      </a:r>
                    </a:p>
                  </a:txBody>
                  <a:tcPr marL="0" marR="0" marT="0" marB="0" anchor="ctr"/>
                </a:tc>
                <a:tc>
                  <a:txBody>
                    <a:bodyPr/>
                    <a:lstStyle/>
                    <a:p>
                      <a:endParaRPr lang="en-US" sz="500"/>
                    </a:p>
                  </a:txBody>
                  <a:tcPr marL="0" marR="0" marT="0" marB="0" anchor="ctr"/>
                </a:tc>
                <a:tc>
                  <a:txBody>
                    <a:bodyPr/>
                    <a:lstStyle/>
                    <a:p>
                      <a:r>
                        <a:rPr lang="en-US" sz="500"/>
                        <a:t>System Owner/User Discovery</a:t>
                      </a:r>
                    </a:p>
                  </a:txBody>
                  <a:tcPr marL="0" marR="0" marT="0" marB="0" anchor="ctr"/>
                </a:tc>
                <a:extLst>
                  <a:ext uri="{0D108BD9-81ED-4DB2-BD59-A6C34878D82A}">
                    <a16:rowId xmlns:a16="http://schemas.microsoft.com/office/drawing/2014/main" val="2163258302"/>
                  </a:ext>
                </a:extLst>
              </a:tr>
              <a:tr h="146869">
                <a:tc>
                  <a:txBody>
                    <a:bodyPr/>
                    <a:lstStyle/>
                    <a:p>
                      <a:r>
                        <a:rPr lang="en-US" sz="500">
                          <a:effectLst/>
                        </a:rPr>
                        <a:t>Reflective Code Loading</a:t>
                      </a:r>
                    </a:p>
                  </a:txBody>
                  <a:tcPr marL="0" marR="0" marT="0" marB="0" anchor="ctr"/>
                </a:tc>
                <a:tc>
                  <a:txBody>
                    <a:bodyPr/>
                    <a:lstStyle/>
                    <a:p>
                      <a:endParaRPr lang="en-US" sz="500"/>
                    </a:p>
                  </a:txBody>
                  <a:tcPr marL="0" marR="0" marT="0" marB="0" anchor="ctr"/>
                </a:tc>
                <a:tc>
                  <a:txBody>
                    <a:bodyPr/>
                    <a:lstStyle/>
                    <a:p>
                      <a:r>
                        <a:rPr lang="en-US" sz="500"/>
                        <a:t>System Service Discovery</a:t>
                      </a:r>
                    </a:p>
                  </a:txBody>
                  <a:tcPr marL="0" marR="0" marT="0" marB="0" anchor="ctr"/>
                </a:tc>
                <a:extLst>
                  <a:ext uri="{0D108BD9-81ED-4DB2-BD59-A6C34878D82A}">
                    <a16:rowId xmlns:a16="http://schemas.microsoft.com/office/drawing/2014/main" val="2587455061"/>
                  </a:ext>
                </a:extLst>
              </a:tr>
              <a:tr h="146869">
                <a:tc>
                  <a:txBody>
                    <a:bodyPr/>
                    <a:lstStyle/>
                    <a:p>
                      <a:r>
                        <a:rPr lang="en-US" sz="500">
                          <a:effectLst/>
                        </a:rPr>
                        <a:t>Rogue Domain Controller</a:t>
                      </a:r>
                    </a:p>
                  </a:txBody>
                  <a:tcPr marL="0" marR="0" marT="0" marB="0" anchor="ctr"/>
                </a:tc>
                <a:tc>
                  <a:txBody>
                    <a:bodyPr/>
                    <a:lstStyle/>
                    <a:p>
                      <a:endParaRPr lang="en-US" sz="500"/>
                    </a:p>
                  </a:txBody>
                  <a:tcPr marL="0" marR="0" marT="0" marB="0" anchor="ctr"/>
                </a:tc>
                <a:tc>
                  <a:txBody>
                    <a:bodyPr/>
                    <a:lstStyle/>
                    <a:p>
                      <a:r>
                        <a:rPr lang="en-US" sz="500"/>
                        <a:t>System Time Discovery</a:t>
                      </a:r>
                    </a:p>
                  </a:txBody>
                  <a:tcPr marL="0" marR="0" marT="0" marB="0" anchor="ctr"/>
                </a:tc>
                <a:extLst>
                  <a:ext uri="{0D108BD9-81ED-4DB2-BD59-A6C34878D82A}">
                    <a16:rowId xmlns:a16="http://schemas.microsoft.com/office/drawing/2014/main" val="3192928033"/>
                  </a:ext>
                </a:extLst>
              </a:tr>
              <a:tr h="146869">
                <a:tc>
                  <a:txBody>
                    <a:bodyPr/>
                    <a:lstStyle/>
                    <a:p>
                      <a:r>
                        <a:rPr lang="en-US" sz="500">
                          <a:effectLst/>
                        </a:rPr>
                        <a:t>Rootkit</a:t>
                      </a:r>
                    </a:p>
                  </a:txBody>
                  <a:tcPr marL="0" marR="0" marT="0" marB="0" anchor="ctr"/>
                </a:tc>
                <a:tc>
                  <a:txBody>
                    <a:bodyPr/>
                    <a:lstStyle/>
                    <a:p>
                      <a:endParaRPr lang="en-US" sz="500"/>
                    </a:p>
                  </a:txBody>
                  <a:tcPr marL="0" marR="0" marT="0" marB="0" anchor="ctr"/>
                </a:tc>
                <a:tc>
                  <a:txBody>
                    <a:bodyPr/>
                    <a:lstStyle/>
                    <a:p>
                      <a:r>
                        <a:rPr lang="en-US" sz="500"/>
                        <a:t>Virtualization/Sandbox Evasion</a:t>
                      </a:r>
                    </a:p>
                  </a:txBody>
                  <a:tcPr marL="0" marR="0" marT="0" marB="0" anchor="ctr"/>
                </a:tc>
                <a:extLst>
                  <a:ext uri="{0D108BD9-81ED-4DB2-BD59-A6C34878D82A}">
                    <a16:rowId xmlns:a16="http://schemas.microsoft.com/office/drawing/2014/main" val="4015166454"/>
                  </a:ext>
                </a:extLst>
              </a:tr>
              <a:tr h="146869">
                <a:tc>
                  <a:txBody>
                    <a:bodyPr/>
                    <a:lstStyle/>
                    <a:p>
                      <a:r>
                        <a:rPr lang="en-US" sz="500">
                          <a:effectLst/>
                        </a:rPr>
                        <a:t>Subvert Trust Controls</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1592751501"/>
                  </a:ext>
                </a:extLst>
              </a:tr>
              <a:tr h="146869">
                <a:tc>
                  <a:txBody>
                    <a:bodyPr/>
                    <a:lstStyle/>
                    <a:p>
                      <a:r>
                        <a:rPr lang="en-US" sz="500">
                          <a:effectLst/>
                        </a:rPr>
                        <a:t>System Binary Proxy Execution</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3184607385"/>
                  </a:ext>
                </a:extLst>
              </a:tr>
              <a:tr h="146869">
                <a:tc>
                  <a:txBody>
                    <a:bodyPr/>
                    <a:lstStyle/>
                    <a:p>
                      <a:r>
                        <a:rPr lang="en-US" sz="500">
                          <a:effectLst/>
                        </a:rPr>
                        <a:t>System Script Proxy Execution</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3150486953"/>
                  </a:ext>
                </a:extLst>
              </a:tr>
              <a:tr h="146869">
                <a:tc>
                  <a:txBody>
                    <a:bodyPr/>
                    <a:lstStyle/>
                    <a:p>
                      <a:r>
                        <a:rPr lang="en-US" sz="500">
                          <a:effectLst/>
                        </a:rPr>
                        <a:t>Template Injection</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466774956"/>
                  </a:ext>
                </a:extLst>
              </a:tr>
              <a:tr h="146869">
                <a:tc>
                  <a:txBody>
                    <a:bodyPr/>
                    <a:lstStyle/>
                    <a:p>
                      <a:r>
                        <a:rPr lang="en-US" sz="500">
                          <a:effectLst/>
                        </a:rPr>
                        <a:t>Traffic Signaling</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427986732"/>
                  </a:ext>
                </a:extLst>
              </a:tr>
              <a:tr h="146869">
                <a:tc gridSpan="2">
                  <a:txBody>
                    <a:bodyPr/>
                    <a:lstStyle/>
                    <a:p>
                      <a:r>
                        <a:rPr lang="en-US" sz="500">
                          <a:effectLst/>
                        </a:rPr>
                        <a:t>Trusted Developer Utilities Proxy Execution</a:t>
                      </a:r>
                    </a:p>
                  </a:txBody>
                  <a:tcPr marL="0" marR="0" marT="0" marB="0" anchor="ctr"/>
                </a:tc>
                <a:tc hMerge="1">
                  <a:txBody>
                    <a:bodyPr/>
                    <a:lstStyle/>
                    <a:p>
                      <a:endParaRPr lang="en-US"/>
                    </a:p>
                  </a:txBody>
                  <a:tcPr marL="0" marR="0" marT="0" marB="0" horzOverflow="overflow"/>
                </a:tc>
                <a:tc>
                  <a:txBody>
                    <a:bodyPr/>
                    <a:lstStyle/>
                    <a:p>
                      <a:endParaRPr lang="en-US" sz="500"/>
                    </a:p>
                  </a:txBody>
                  <a:tcPr marL="0" marR="0" marT="0" marB="0" anchor="ctr"/>
                </a:tc>
                <a:extLst>
                  <a:ext uri="{0D108BD9-81ED-4DB2-BD59-A6C34878D82A}">
                    <a16:rowId xmlns:a16="http://schemas.microsoft.com/office/drawing/2014/main" val="1234596724"/>
                  </a:ext>
                </a:extLst>
              </a:tr>
              <a:tr h="146869">
                <a:tc gridSpan="2">
                  <a:txBody>
                    <a:bodyPr/>
                    <a:lstStyle/>
                    <a:p>
                      <a:r>
                        <a:rPr lang="en-US" sz="500">
                          <a:effectLst/>
                        </a:rPr>
                        <a:t>Use Alternate Authentication Material</a:t>
                      </a:r>
                    </a:p>
                  </a:txBody>
                  <a:tcPr marL="0" marR="0" marT="0" marB="0" anchor="ctr"/>
                </a:tc>
                <a:tc hMerge="1">
                  <a:txBody>
                    <a:bodyPr/>
                    <a:lstStyle/>
                    <a:p>
                      <a:endParaRPr lang="en-US"/>
                    </a:p>
                  </a:txBody>
                  <a:tcPr marL="0" marR="0" marT="0" marB="0" horzOverflow="overflow"/>
                </a:tc>
                <a:tc>
                  <a:txBody>
                    <a:bodyPr/>
                    <a:lstStyle/>
                    <a:p>
                      <a:endParaRPr lang="en-US" sz="500"/>
                    </a:p>
                  </a:txBody>
                  <a:tcPr marL="0" marR="0" marT="0" marB="0" anchor="ctr"/>
                </a:tc>
                <a:extLst>
                  <a:ext uri="{0D108BD9-81ED-4DB2-BD59-A6C34878D82A}">
                    <a16:rowId xmlns:a16="http://schemas.microsoft.com/office/drawing/2014/main" val="130148403"/>
                  </a:ext>
                </a:extLst>
              </a:tr>
              <a:tr h="146869">
                <a:tc>
                  <a:txBody>
                    <a:bodyPr/>
                    <a:lstStyle/>
                    <a:p>
                      <a:r>
                        <a:rPr lang="en-US" sz="500">
                          <a:effectLst/>
                        </a:rPr>
                        <a:t>Valid Accounts</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666003507"/>
                  </a:ext>
                </a:extLst>
              </a:tr>
              <a:tr h="146869">
                <a:tc>
                  <a:txBody>
                    <a:bodyPr/>
                    <a:lstStyle/>
                    <a:p>
                      <a:r>
                        <a:rPr lang="en-US" sz="500">
                          <a:effectLst/>
                        </a:rPr>
                        <a:t>Virtualization/Sandbox Evasion</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4008210430"/>
                  </a:ext>
                </a:extLst>
              </a:tr>
              <a:tr h="146869">
                <a:tc>
                  <a:txBody>
                    <a:bodyPr/>
                    <a:lstStyle/>
                    <a:p>
                      <a:r>
                        <a:rPr lang="en-US" sz="500">
                          <a:effectLst/>
                        </a:rPr>
                        <a:t>XSL Script Processing</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431644837"/>
                  </a:ext>
                </a:extLst>
              </a:tr>
              <a:tr h="146869">
                <a:tc>
                  <a:txBody>
                    <a:bodyPr/>
                    <a:lstStyle/>
                    <a:p>
                      <a:endParaRPr lang="en-US" sz="500">
                        <a:effectLst/>
                      </a:endParaRP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1425737968"/>
                  </a:ext>
                </a:extLst>
              </a:tr>
            </a:tbl>
          </a:graphicData>
        </a:graphic>
      </p:graphicFrame>
    </p:spTree>
    <p:extLst>
      <p:ext uri="{BB962C8B-B14F-4D97-AF65-F5344CB8AC3E}">
        <p14:creationId xmlns:p14="http://schemas.microsoft.com/office/powerpoint/2010/main" val="1181282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CAB15-C756-CB82-A42D-1539D559FBDB}"/>
              </a:ext>
            </a:extLst>
          </p:cNvPr>
          <p:cNvSpPr>
            <a:spLocks noGrp="1"/>
          </p:cNvSpPr>
          <p:nvPr>
            <p:ph type="title"/>
          </p:nvPr>
        </p:nvSpPr>
        <p:spPr>
          <a:xfrm>
            <a:off x="628649" y="291090"/>
            <a:ext cx="7886699" cy="932688"/>
          </a:xfrm>
        </p:spPr>
        <p:txBody>
          <a:bodyPr vert="horz" lIns="91440" tIns="45720" rIns="91440" bIns="45720" rtlCol="0" anchor="b">
            <a:normAutofit/>
          </a:bodyPr>
          <a:lstStyle/>
          <a:p>
            <a:pPr algn="l" defTabSz="914400" eaLnBrk="1" hangingPunct="1">
              <a:lnSpc>
                <a:spcPct val="90000"/>
              </a:lnSpc>
            </a:pPr>
            <a:r>
              <a:rPr lang="en-US" sz="4700" kern="1200" dirty="0">
                <a:solidFill>
                  <a:schemeClr val="tx1"/>
                </a:solidFill>
                <a:latin typeface="+mj-lt"/>
                <a:ea typeface="+mj-ea"/>
                <a:cs typeface="+mj-cs"/>
              </a:rPr>
              <a:t>MITRE ATT&amp;CK pt. </a:t>
            </a:r>
            <a:r>
              <a:rPr lang="en-US" sz="4700" kern="1200">
                <a:solidFill>
                  <a:schemeClr val="tx1"/>
                </a:solidFill>
                <a:latin typeface="+mj-lt"/>
                <a:ea typeface="+mj-ea"/>
                <a:cs typeface="+mj-cs"/>
              </a:rPr>
              <a:t>3</a:t>
            </a:r>
          </a:p>
        </p:txBody>
      </p:sp>
      <p:graphicFrame>
        <p:nvGraphicFramePr>
          <p:cNvPr id="5" name="Table 4">
            <a:extLst>
              <a:ext uri="{FF2B5EF4-FFF2-40B4-BE49-F238E27FC236}">
                <a16:creationId xmlns:a16="http://schemas.microsoft.com/office/drawing/2014/main" id="{14EF098D-32B7-90C9-7F37-966660A685DC}"/>
              </a:ext>
            </a:extLst>
          </p:cNvPr>
          <p:cNvGraphicFramePr>
            <a:graphicFrameLocks noGrp="1"/>
          </p:cNvGraphicFramePr>
          <p:nvPr>
            <p:extLst>
              <p:ext uri="{D42A27DB-BD31-4B8C-83A1-F6EECF244321}">
                <p14:modId xmlns:p14="http://schemas.microsoft.com/office/powerpoint/2010/main" val="79082760"/>
              </p:ext>
            </p:extLst>
          </p:nvPr>
        </p:nvGraphicFramePr>
        <p:xfrm>
          <a:off x="24063" y="1431757"/>
          <a:ext cx="9098485" cy="5432396"/>
        </p:xfrm>
        <a:graphic>
          <a:graphicData uri="http://schemas.openxmlformats.org/drawingml/2006/table">
            <a:tbl>
              <a:tblPr firstRow="1" bandRow="1">
                <a:tableStyleId>{073A0DAA-6AF3-43AB-8588-CEC1D06C72B9}</a:tableStyleId>
              </a:tblPr>
              <a:tblGrid>
                <a:gridCol w="2055871">
                  <a:extLst>
                    <a:ext uri="{9D8B030D-6E8A-4147-A177-3AD203B41FA5}">
                      <a16:colId xmlns:a16="http://schemas.microsoft.com/office/drawing/2014/main" val="3940300848"/>
                    </a:ext>
                  </a:extLst>
                </a:gridCol>
                <a:gridCol w="1612871">
                  <a:extLst>
                    <a:ext uri="{9D8B030D-6E8A-4147-A177-3AD203B41FA5}">
                      <a16:colId xmlns:a16="http://schemas.microsoft.com/office/drawing/2014/main" val="1461558287"/>
                    </a:ext>
                  </a:extLst>
                </a:gridCol>
                <a:gridCol w="1741236">
                  <a:extLst>
                    <a:ext uri="{9D8B030D-6E8A-4147-A177-3AD203B41FA5}">
                      <a16:colId xmlns:a16="http://schemas.microsoft.com/office/drawing/2014/main" val="568975123"/>
                    </a:ext>
                  </a:extLst>
                </a:gridCol>
                <a:gridCol w="2209393">
                  <a:extLst>
                    <a:ext uri="{9D8B030D-6E8A-4147-A177-3AD203B41FA5}">
                      <a16:colId xmlns:a16="http://schemas.microsoft.com/office/drawing/2014/main" val="1534971720"/>
                    </a:ext>
                  </a:extLst>
                </a:gridCol>
                <a:gridCol w="1479114">
                  <a:extLst>
                    <a:ext uri="{9D8B030D-6E8A-4147-A177-3AD203B41FA5}">
                      <a16:colId xmlns:a16="http://schemas.microsoft.com/office/drawing/2014/main" val="9158997"/>
                    </a:ext>
                  </a:extLst>
                </a:gridCol>
              </a:tblGrid>
              <a:tr h="187324">
                <a:tc>
                  <a:txBody>
                    <a:bodyPr/>
                    <a:lstStyle/>
                    <a:p>
                      <a:r>
                        <a:rPr lang="en-US" sz="700">
                          <a:effectLst/>
                        </a:rPr>
                        <a:t>Lateral Movement</a:t>
                      </a:r>
                    </a:p>
                  </a:txBody>
                  <a:tcPr marL="0" marR="0" marT="0" marB="0" anchor="ctr"/>
                </a:tc>
                <a:tc>
                  <a:txBody>
                    <a:bodyPr/>
                    <a:lstStyle/>
                    <a:p>
                      <a:r>
                        <a:rPr lang="en-US" sz="700">
                          <a:effectLst/>
                        </a:rPr>
                        <a:t>Collection</a:t>
                      </a:r>
                    </a:p>
                  </a:txBody>
                  <a:tcPr marL="0" marR="0" marT="0" marB="0" anchor="ctr"/>
                </a:tc>
                <a:tc>
                  <a:txBody>
                    <a:bodyPr/>
                    <a:lstStyle/>
                    <a:p>
                      <a:r>
                        <a:rPr lang="en-US" sz="700">
                          <a:effectLst/>
                        </a:rPr>
                        <a:t>Command and Control</a:t>
                      </a:r>
                    </a:p>
                  </a:txBody>
                  <a:tcPr marL="0" marR="0" marT="0" marB="0" anchor="ctr"/>
                </a:tc>
                <a:tc>
                  <a:txBody>
                    <a:bodyPr/>
                    <a:lstStyle/>
                    <a:p>
                      <a:r>
                        <a:rPr lang="en-US" sz="700">
                          <a:effectLst/>
                        </a:rPr>
                        <a:t>Exfiltration</a:t>
                      </a:r>
                    </a:p>
                  </a:txBody>
                  <a:tcPr marL="0" marR="0" marT="0" marB="0" anchor="ctr"/>
                </a:tc>
                <a:tc>
                  <a:txBody>
                    <a:bodyPr/>
                    <a:lstStyle/>
                    <a:p>
                      <a:r>
                        <a:rPr lang="en-US" sz="700">
                          <a:effectLst/>
                        </a:rPr>
                        <a:t>Impact</a:t>
                      </a:r>
                    </a:p>
                  </a:txBody>
                  <a:tcPr marL="0" marR="0" marT="0" marB="0" anchor="ctr"/>
                </a:tc>
                <a:extLst>
                  <a:ext uri="{0D108BD9-81ED-4DB2-BD59-A6C34878D82A}">
                    <a16:rowId xmlns:a16="http://schemas.microsoft.com/office/drawing/2014/main" val="485973344"/>
                  </a:ext>
                </a:extLst>
              </a:tr>
              <a:tr h="374648">
                <a:tc>
                  <a:txBody>
                    <a:bodyPr/>
                    <a:lstStyle/>
                    <a:p>
                      <a:r>
                        <a:rPr lang="en-US" sz="700">
                          <a:effectLst/>
                        </a:rPr>
                        <a:t>Exploitation of Remote Services</a:t>
                      </a:r>
                    </a:p>
                  </a:txBody>
                  <a:tcPr marL="0" marR="0" marT="0" marB="0" anchor="ctr"/>
                </a:tc>
                <a:tc>
                  <a:txBody>
                    <a:bodyPr/>
                    <a:lstStyle/>
                    <a:p>
                      <a:r>
                        <a:rPr lang="en-US" sz="700"/>
                        <a:t>Adversary-in-the-Middle</a:t>
                      </a:r>
                    </a:p>
                  </a:txBody>
                  <a:tcPr marL="0" marR="0" marT="0" marB="0" anchor="ctr"/>
                </a:tc>
                <a:tc>
                  <a:txBody>
                    <a:bodyPr/>
                    <a:lstStyle/>
                    <a:p>
                      <a:r>
                        <a:rPr lang="en-US" sz="700"/>
                        <a:t>Application Layer Protocol</a:t>
                      </a:r>
                    </a:p>
                  </a:txBody>
                  <a:tcPr marL="0" marR="0" marT="0" marB="0" anchor="ctr"/>
                </a:tc>
                <a:tc>
                  <a:txBody>
                    <a:bodyPr/>
                    <a:lstStyle/>
                    <a:p>
                      <a:r>
                        <a:rPr lang="en-US" sz="700"/>
                        <a:t>Automated Exfiltration</a:t>
                      </a:r>
                    </a:p>
                  </a:txBody>
                  <a:tcPr marL="0" marR="0" marT="0" marB="0" anchor="ctr"/>
                </a:tc>
                <a:tc>
                  <a:txBody>
                    <a:bodyPr/>
                    <a:lstStyle/>
                    <a:p>
                      <a:r>
                        <a:rPr lang="en-US" sz="700"/>
                        <a:t>Account Access Removal</a:t>
                      </a:r>
                    </a:p>
                  </a:txBody>
                  <a:tcPr marL="0" marR="0" marT="0" marB="0" anchor="ctr"/>
                </a:tc>
                <a:extLst>
                  <a:ext uri="{0D108BD9-81ED-4DB2-BD59-A6C34878D82A}">
                    <a16:rowId xmlns:a16="http://schemas.microsoft.com/office/drawing/2014/main" val="741915846"/>
                  </a:ext>
                </a:extLst>
              </a:tr>
              <a:tr h="374648">
                <a:tc>
                  <a:txBody>
                    <a:bodyPr/>
                    <a:lstStyle/>
                    <a:p>
                      <a:r>
                        <a:rPr lang="en-US" sz="700">
                          <a:effectLst/>
                        </a:rPr>
                        <a:t>Internal Spearphishing</a:t>
                      </a:r>
                    </a:p>
                  </a:txBody>
                  <a:tcPr marL="0" marR="0" marT="0" marB="0" anchor="ctr"/>
                </a:tc>
                <a:tc>
                  <a:txBody>
                    <a:bodyPr/>
                    <a:lstStyle/>
                    <a:p>
                      <a:r>
                        <a:rPr lang="en-US" sz="700"/>
                        <a:t>Archive Collected Data</a:t>
                      </a:r>
                    </a:p>
                  </a:txBody>
                  <a:tcPr marL="0" marR="0" marT="0" marB="0" anchor="ctr"/>
                </a:tc>
                <a:tc>
                  <a:txBody>
                    <a:bodyPr/>
                    <a:lstStyle/>
                    <a:p>
                      <a:r>
                        <a:rPr lang="en-US" sz="700"/>
                        <a:t>Communication Through Removable Media</a:t>
                      </a:r>
                    </a:p>
                  </a:txBody>
                  <a:tcPr marL="0" marR="0" marT="0" marB="0" anchor="ctr"/>
                </a:tc>
                <a:tc>
                  <a:txBody>
                    <a:bodyPr/>
                    <a:lstStyle/>
                    <a:p>
                      <a:r>
                        <a:rPr lang="en-US" sz="700"/>
                        <a:t>Data Transfer Size Limits</a:t>
                      </a:r>
                    </a:p>
                  </a:txBody>
                  <a:tcPr marL="0" marR="0" marT="0" marB="0" anchor="ctr"/>
                </a:tc>
                <a:tc>
                  <a:txBody>
                    <a:bodyPr/>
                    <a:lstStyle/>
                    <a:p>
                      <a:r>
                        <a:rPr lang="en-US" sz="700"/>
                        <a:t>Data Destruction</a:t>
                      </a:r>
                    </a:p>
                  </a:txBody>
                  <a:tcPr marL="0" marR="0" marT="0" marB="0" anchor="ctr"/>
                </a:tc>
                <a:extLst>
                  <a:ext uri="{0D108BD9-81ED-4DB2-BD59-A6C34878D82A}">
                    <a16:rowId xmlns:a16="http://schemas.microsoft.com/office/drawing/2014/main" val="3983626744"/>
                  </a:ext>
                </a:extLst>
              </a:tr>
              <a:tr h="374648">
                <a:tc>
                  <a:txBody>
                    <a:bodyPr/>
                    <a:lstStyle/>
                    <a:p>
                      <a:r>
                        <a:rPr lang="en-US" sz="700">
                          <a:effectLst/>
                        </a:rPr>
                        <a:t>Lateral Tool Transfer</a:t>
                      </a:r>
                    </a:p>
                  </a:txBody>
                  <a:tcPr marL="0" marR="0" marT="0" marB="0" anchor="ctr"/>
                </a:tc>
                <a:tc>
                  <a:txBody>
                    <a:bodyPr/>
                    <a:lstStyle/>
                    <a:p>
                      <a:r>
                        <a:rPr lang="en-US" sz="700"/>
                        <a:t>Audio Capture</a:t>
                      </a:r>
                    </a:p>
                  </a:txBody>
                  <a:tcPr marL="0" marR="0" marT="0" marB="0" anchor="ctr"/>
                </a:tc>
                <a:tc>
                  <a:txBody>
                    <a:bodyPr/>
                    <a:lstStyle/>
                    <a:p>
                      <a:r>
                        <a:rPr lang="en-US" sz="700"/>
                        <a:t>Data Encoding</a:t>
                      </a:r>
                    </a:p>
                  </a:txBody>
                  <a:tcPr marL="0" marR="0" marT="0" marB="0" anchor="ctr"/>
                </a:tc>
                <a:tc>
                  <a:txBody>
                    <a:bodyPr/>
                    <a:lstStyle/>
                    <a:p>
                      <a:r>
                        <a:rPr lang="en-US" sz="700"/>
                        <a:t>Exfiltration Over Alternative Protocol</a:t>
                      </a:r>
                    </a:p>
                  </a:txBody>
                  <a:tcPr marL="0" marR="0" marT="0" marB="0" anchor="ctr"/>
                </a:tc>
                <a:tc>
                  <a:txBody>
                    <a:bodyPr/>
                    <a:lstStyle/>
                    <a:p>
                      <a:r>
                        <a:rPr lang="en-US" sz="700"/>
                        <a:t>Data Encrypted for Impact</a:t>
                      </a:r>
                    </a:p>
                  </a:txBody>
                  <a:tcPr marL="0" marR="0" marT="0" marB="0" anchor="ctr"/>
                </a:tc>
                <a:extLst>
                  <a:ext uri="{0D108BD9-81ED-4DB2-BD59-A6C34878D82A}">
                    <a16:rowId xmlns:a16="http://schemas.microsoft.com/office/drawing/2014/main" val="3325479595"/>
                  </a:ext>
                </a:extLst>
              </a:tr>
              <a:tr h="374648">
                <a:tc>
                  <a:txBody>
                    <a:bodyPr/>
                    <a:lstStyle/>
                    <a:p>
                      <a:r>
                        <a:rPr lang="en-US" sz="700">
                          <a:effectLst/>
                        </a:rPr>
                        <a:t>Remote Service Session Hijacking</a:t>
                      </a:r>
                    </a:p>
                  </a:txBody>
                  <a:tcPr marL="0" marR="0" marT="0" marB="0" anchor="ctr"/>
                </a:tc>
                <a:tc>
                  <a:txBody>
                    <a:bodyPr/>
                    <a:lstStyle/>
                    <a:p>
                      <a:r>
                        <a:rPr lang="en-US" sz="700"/>
                        <a:t>Automated Collection</a:t>
                      </a:r>
                    </a:p>
                  </a:txBody>
                  <a:tcPr marL="0" marR="0" marT="0" marB="0" anchor="ctr"/>
                </a:tc>
                <a:tc>
                  <a:txBody>
                    <a:bodyPr/>
                    <a:lstStyle/>
                    <a:p>
                      <a:r>
                        <a:rPr lang="en-US" sz="700"/>
                        <a:t>Data Obfuscation</a:t>
                      </a:r>
                    </a:p>
                  </a:txBody>
                  <a:tcPr marL="0" marR="0" marT="0" marB="0" anchor="ctr"/>
                </a:tc>
                <a:tc>
                  <a:txBody>
                    <a:bodyPr/>
                    <a:lstStyle/>
                    <a:p>
                      <a:r>
                        <a:rPr lang="en-US" sz="700"/>
                        <a:t>Exfiltration Over C2 Channel</a:t>
                      </a:r>
                    </a:p>
                  </a:txBody>
                  <a:tcPr marL="0" marR="0" marT="0" marB="0" anchor="ctr"/>
                </a:tc>
                <a:tc>
                  <a:txBody>
                    <a:bodyPr/>
                    <a:lstStyle/>
                    <a:p>
                      <a:r>
                        <a:rPr lang="en-US" sz="700"/>
                        <a:t>Data Manipulation</a:t>
                      </a:r>
                    </a:p>
                  </a:txBody>
                  <a:tcPr marL="0" marR="0" marT="0" marB="0" anchor="ctr"/>
                </a:tc>
                <a:extLst>
                  <a:ext uri="{0D108BD9-81ED-4DB2-BD59-A6C34878D82A}">
                    <a16:rowId xmlns:a16="http://schemas.microsoft.com/office/drawing/2014/main" val="3737137752"/>
                  </a:ext>
                </a:extLst>
              </a:tr>
              <a:tr h="374648">
                <a:tc>
                  <a:txBody>
                    <a:bodyPr/>
                    <a:lstStyle/>
                    <a:p>
                      <a:r>
                        <a:rPr lang="en-US" sz="700">
                          <a:effectLst/>
                        </a:rPr>
                        <a:t>Remote Services</a:t>
                      </a:r>
                    </a:p>
                  </a:txBody>
                  <a:tcPr marL="0" marR="0" marT="0" marB="0" anchor="ctr"/>
                </a:tc>
                <a:tc>
                  <a:txBody>
                    <a:bodyPr/>
                    <a:lstStyle/>
                    <a:p>
                      <a:r>
                        <a:rPr lang="en-US" sz="700"/>
                        <a:t>Browser Session Hijacking</a:t>
                      </a:r>
                    </a:p>
                  </a:txBody>
                  <a:tcPr marL="0" marR="0" marT="0" marB="0" anchor="ctr"/>
                </a:tc>
                <a:tc>
                  <a:txBody>
                    <a:bodyPr/>
                    <a:lstStyle/>
                    <a:p>
                      <a:r>
                        <a:rPr lang="en-US" sz="700"/>
                        <a:t>Dynamic Resolution</a:t>
                      </a:r>
                    </a:p>
                  </a:txBody>
                  <a:tcPr marL="0" marR="0" marT="0" marB="0" anchor="ctr"/>
                </a:tc>
                <a:tc>
                  <a:txBody>
                    <a:bodyPr/>
                    <a:lstStyle/>
                    <a:p>
                      <a:r>
                        <a:rPr lang="en-US" sz="700"/>
                        <a:t>Exfiltration Over Other Network Medium</a:t>
                      </a:r>
                    </a:p>
                  </a:txBody>
                  <a:tcPr marL="0" marR="0" marT="0" marB="0" anchor="ctr"/>
                </a:tc>
                <a:tc>
                  <a:txBody>
                    <a:bodyPr/>
                    <a:lstStyle/>
                    <a:p>
                      <a:r>
                        <a:rPr lang="en-US" sz="700"/>
                        <a:t>Defacement</a:t>
                      </a:r>
                    </a:p>
                  </a:txBody>
                  <a:tcPr marL="0" marR="0" marT="0" marB="0" anchor="ctr"/>
                </a:tc>
                <a:extLst>
                  <a:ext uri="{0D108BD9-81ED-4DB2-BD59-A6C34878D82A}">
                    <a16:rowId xmlns:a16="http://schemas.microsoft.com/office/drawing/2014/main" val="3981685521"/>
                  </a:ext>
                </a:extLst>
              </a:tr>
              <a:tr h="374648">
                <a:tc>
                  <a:txBody>
                    <a:bodyPr/>
                    <a:lstStyle/>
                    <a:p>
                      <a:r>
                        <a:rPr lang="en-US" sz="700">
                          <a:effectLst/>
                        </a:rPr>
                        <a:t>Replication Through Removable Media</a:t>
                      </a:r>
                    </a:p>
                  </a:txBody>
                  <a:tcPr marL="0" marR="0" marT="0" marB="0" anchor="ctr"/>
                </a:tc>
                <a:tc>
                  <a:txBody>
                    <a:bodyPr/>
                    <a:lstStyle/>
                    <a:p>
                      <a:r>
                        <a:rPr lang="en-US" sz="700"/>
                        <a:t>Clipboard Data</a:t>
                      </a:r>
                    </a:p>
                  </a:txBody>
                  <a:tcPr marL="0" marR="0" marT="0" marB="0" anchor="ctr"/>
                </a:tc>
                <a:tc>
                  <a:txBody>
                    <a:bodyPr/>
                    <a:lstStyle/>
                    <a:p>
                      <a:r>
                        <a:rPr lang="en-US" sz="700"/>
                        <a:t>Encrypted Channel</a:t>
                      </a:r>
                    </a:p>
                  </a:txBody>
                  <a:tcPr marL="0" marR="0" marT="0" marB="0" anchor="ctr"/>
                </a:tc>
                <a:tc>
                  <a:txBody>
                    <a:bodyPr/>
                    <a:lstStyle/>
                    <a:p>
                      <a:r>
                        <a:rPr lang="en-US" sz="700"/>
                        <a:t>Exfiltration Over Physical Medium</a:t>
                      </a:r>
                    </a:p>
                  </a:txBody>
                  <a:tcPr marL="0" marR="0" marT="0" marB="0" anchor="ctr"/>
                </a:tc>
                <a:tc>
                  <a:txBody>
                    <a:bodyPr/>
                    <a:lstStyle/>
                    <a:p>
                      <a:r>
                        <a:rPr lang="en-US" sz="700"/>
                        <a:t>Disk Wipe</a:t>
                      </a:r>
                    </a:p>
                  </a:txBody>
                  <a:tcPr marL="0" marR="0" marT="0" marB="0" anchor="ctr"/>
                </a:tc>
                <a:extLst>
                  <a:ext uri="{0D108BD9-81ED-4DB2-BD59-A6C34878D82A}">
                    <a16:rowId xmlns:a16="http://schemas.microsoft.com/office/drawing/2014/main" val="2922603500"/>
                  </a:ext>
                </a:extLst>
              </a:tr>
              <a:tr h="374648">
                <a:tc>
                  <a:txBody>
                    <a:bodyPr/>
                    <a:lstStyle/>
                    <a:p>
                      <a:r>
                        <a:rPr lang="en-US" sz="700">
                          <a:effectLst/>
                        </a:rPr>
                        <a:t>Software Deployment Tools</a:t>
                      </a:r>
                    </a:p>
                  </a:txBody>
                  <a:tcPr marL="0" marR="0" marT="0" marB="0" anchor="ctr"/>
                </a:tc>
                <a:tc>
                  <a:txBody>
                    <a:bodyPr/>
                    <a:lstStyle/>
                    <a:p>
                      <a:r>
                        <a:rPr lang="en-US" sz="700"/>
                        <a:t>Data from Information Repositories</a:t>
                      </a:r>
                    </a:p>
                  </a:txBody>
                  <a:tcPr marL="0" marR="0" marT="0" marB="0" anchor="ctr"/>
                </a:tc>
                <a:tc>
                  <a:txBody>
                    <a:bodyPr/>
                    <a:lstStyle/>
                    <a:p>
                      <a:r>
                        <a:rPr lang="en-US" sz="700"/>
                        <a:t>Fallback Channels</a:t>
                      </a:r>
                    </a:p>
                  </a:txBody>
                  <a:tcPr marL="0" marR="0" marT="0" marB="0" anchor="ctr"/>
                </a:tc>
                <a:tc>
                  <a:txBody>
                    <a:bodyPr/>
                    <a:lstStyle/>
                    <a:p>
                      <a:r>
                        <a:rPr lang="en-US" sz="700"/>
                        <a:t>Exfiltration Over Web Service</a:t>
                      </a:r>
                    </a:p>
                  </a:txBody>
                  <a:tcPr marL="0" marR="0" marT="0" marB="0" anchor="ctr"/>
                </a:tc>
                <a:tc>
                  <a:txBody>
                    <a:bodyPr/>
                    <a:lstStyle/>
                    <a:p>
                      <a:r>
                        <a:rPr lang="en-US" sz="700"/>
                        <a:t>Endpoint Denial of Service</a:t>
                      </a:r>
                    </a:p>
                  </a:txBody>
                  <a:tcPr marL="0" marR="0" marT="0" marB="0" anchor="ctr"/>
                </a:tc>
                <a:extLst>
                  <a:ext uri="{0D108BD9-81ED-4DB2-BD59-A6C34878D82A}">
                    <a16:rowId xmlns:a16="http://schemas.microsoft.com/office/drawing/2014/main" val="2136904869"/>
                  </a:ext>
                </a:extLst>
              </a:tr>
              <a:tr h="374648">
                <a:tc>
                  <a:txBody>
                    <a:bodyPr/>
                    <a:lstStyle/>
                    <a:p>
                      <a:r>
                        <a:rPr lang="en-US" sz="700">
                          <a:effectLst/>
                        </a:rPr>
                        <a:t>Taint Shared Content</a:t>
                      </a:r>
                    </a:p>
                  </a:txBody>
                  <a:tcPr marL="0" marR="0" marT="0" marB="0" anchor="ctr"/>
                </a:tc>
                <a:tc>
                  <a:txBody>
                    <a:bodyPr/>
                    <a:lstStyle/>
                    <a:p>
                      <a:r>
                        <a:rPr lang="en-US" sz="700"/>
                        <a:t>Data from Local System</a:t>
                      </a:r>
                    </a:p>
                  </a:txBody>
                  <a:tcPr marL="0" marR="0" marT="0" marB="0" anchor="ctr"/>
                </a:tc>
                <a:tc>
                  <a:txBody>
                    <a:bodyPr/>
                    <a:lstStyle/>
                    <a:p>
                      <a:r>
                        <a:rPr lang="en-US" sz="700"/>
                        <a:t>Ingress Tool Transfer</a:t>
                      </a:r>
                    </a:p>
                  </a:txBody>
                  <a:tcPr marL="0" marR="0" marT="0" marB="0" anchor="ctr"/>
                </a:tc>
                <a:tc>
                  <a:txBody>
                    <a:bodyPr/>
                    <a:lstStyle/>
                    <a:p>
                      <a:r>
                        <a:rPr lang="en-US" sz="700"/>
                        <a:t>Scheduled Transfer</a:t>
                      </a:r>
                    </a:p>
                  </a:txBody>
                  <a:tcPr marL="0" marR="0" marT="0" marB="0" anchor="ctr"/>
                </a:tc>
                <a:tc>
                  <a:txBody>
                    <a:bodyPr/>
                    <a:lstStyle/>
                    <a:p>
                      <a:r>
                        <a:rPr lang="en-US" sz="700"/>
                        <a:t>Firmware Corruption</a:t>
                      </a:r>
                    </a:p>
                  </a:txBody>
                  <a:tcPr marL="0" marR="0" marT="0" marB="0" anchor="ctr"/>
                </a:tc>
                <a:extLst>
                  <a:ext uri="{0D108BD9-81ED-4DB2-BD59-A6C34878D82A}">
                    <a16:rowId xmlns:a16="http://schemas.microsoft.com/office/drawing/2014/main" val="2220218530"/>
                  </a:ext>
                </a:extLst>
              </a:tr>
              <a:tr h="374648">
                <a:tc>
                  <a:txBody>
                    <a:bodyPr/>
                    <a:lstStyle/>
                    <a:p>
                      <a:r>
                        <a:rPr lang="en-US" sz="700">
                          <a:effectLst/>
                        </a:rPr>
                        <a:t>Use Alternate Authentication Material</a:t>
                      </a:r>
                    </a:p>
                  </a:txBody>
                  <a:tcPr marL="0" marR="0" marT="0" marB="0" anchor="ctr"/>
                </a:tc>
                <a:tc>
                  <a:txBody>
                    <a:bodyPr/>
                    <a:lstStyle/>
                    <a:p>
                      <a:r>
                        <a:rPr lang="en-US" sz="700"/>
                        <a:t>Data from Network Shared Drive</a:t>
                      </a:r>
                    </a:p>
                  </a:txBody>
                  <a:tcPr marL="0" marR="0" marT="0" marB="0" anchor="ctr"/>
                </a:tc>
                <a:tc>
                  <a:txBody>
                    <a:bodyPr/>
                    <a:lstStyle/>
                    <a:p>
                      <a:r>
                        <a:rPr lang="en-US" sz="700"/>
                        <a:t>Multi-Stage Channels</a:t>
                      </a:r>
                    </a:p>
                  </a:txBody>
                  <a:tcPr marL="0" marR="0" marT="0" marB="0" anchor="ctr"/>
                </a:tc>
                <a:tc>
                  <a:txBody>
                    <a:bodyPr/>
                    <a:lstStyle/>
                    <a:p>
                      <a:endParaRPr lang="en-US" sz="700"/>
                    </a:p>
                  </a:txBody>
                  <a:tcPr marL="0" marR="0" marT="0" marB="0" anchor="ctr"/>
                </a:tc>
                <a:tc>
                  <a:txBody>
                    <a:bodyPr/>
                    <a:lstStyle/>
                    <a:p>
                      <a:r>
                        <a:rPr lang="en-US" sz="700"/>
                        <a:t>Inhibit System Recovery</a:t>
                      </a:r>
                    </a:p>
                  </a:txBody>
                  <a:tcPr marL="0" marR="0" marT="0" marB="0" anchor="ctr"/>
                </a:tc>
                <a:extLst>
                  <a:ext uri="{0D108BD9-81ED-4DB2-BD59-A6C34878D82A}">
                    <a16:rowId xmlns:a16="http://schemas.microsoft.com/office/drawing/2014/main" val="270864614"/>
                  </a:ext>
                </a:extLst>
              </a:tr>
              <a:tr h="374648">
                <a:tc>
                  <a:txBody>
                    <a:bodyPr/>
                    <a:lstStyle/>
                    <a:p>
                      <a:endParaRPr lang="en-US" sz="700">
                        <a:effectLst/>
                      </a:endParaRPr>
                    </a:p>
                  </a:txBody>
                  <a:tcPr marL="0" marR="0" marT="0" marB="0" anchor="ctr"/>
                </a:tc>
                <a:tc>
                  <a:txBody>
                    <a:bodyPr/>
                    <a:lstStyle/>
                    <a:p>
                      <a:r>
                        <a:rPr lang="en-US" sz="700"/>
                        <a:t>Data from Removable Media</a:t>
                      </a:r>
                    </a:p>
                  </a:txBody>
                  <a:tcPr marL="0" marR="0" marT="0" marB="0" anchor="ctr"/>
                </a:tc>
                <a:tc>
                  <a:txBody>
                    <a:bodyPr/>
                    <a:lstStyle/>
                    <a:p>
                      <a:r>
                        <a:rPr lang="en-US" sz="700"/>
                        <a:t>Non-Application Layer Protocol</a:t>
                      </a:r>
                    </a:p>
                  </a:txBody>
                  <a:tcPr marL="0" marR="0" marT="0" marB="0" anchor="ctr"/>
                </a:tc>
                <a:tc>
                  <a:txBody>
                    <a:bodyPr/>
                    <a:lstStyle/>
                    <a:p>
                      <a:endParaRPr lang="en-US" sz="700"/>
                    </a:p>
                  </a:txBody>
                  <a:tcPr marL="0" marR="0" marT="0" marB="0" anchor="ctr"/>
                </a:tc>
                <a:tc>
                  <a:txBody>
                    <a:bodyPr/>
                    <a:lstStyle/>
                    <a:p>
                      <a:r>
                        <a:rPr lang="en-US" sz="700"/>
                        <a:t>Network Denial of Service</a:t>
                      </a:r>
                    </a:p>
                  </a:txBody>
                  <a:tcPr marL="0" marR="0" marT="0" marB="0" anchor="ctr"/>
                </a:tc>
                <a:extLst>
                  <a:ext uri="{0D108BD9-81ED-4DB2-BD59-A6C34878D82A}">
                    <a16:rowId xmlns:a16="http://schemas.microsoft.com/office/drawing/2014/main" val="3737078022"/>
                  </a:ext>
                </a:extLst>
              </a:tr>
              <a:tr h="187324">
                <a:tc>
                  <a:txBody>
                    <a:bodyPr/>
                    <a:lstStyle/>
                    <a:p>
                      <a:endParaRPr lang="en-US" sz="700">
                        <a:effectLst/>
                      </a:endParaRPr>
                    </a:p>
                  </a:txBody>
                  <a:tcPr marL="0" marR="0" marT="0" marB="0" anchor="ctr"/>
                </a:tc>
                <a:tc>
                  <a:txBody>
                    <a:bodyPr/>
                    <a:lstStyle/>
                    <a:p>
                      <a:r>
                        <a:rPr lang="en-US" sz="700"/>
                        <a:t>Data Staged</a:t>
                      </a:r>
                    </a:p>
                  </a:txBody>
                  <a:tcPr marL="0" marR="0" marT="0" marB="0" anchor="ctr"/>
                </a:tc>
                <a:tc>
                  <a:txBody>
                    <a:bodyPr/>
                    <a:lstStyle/>
                    <a:p>
                      <a:r>
                        <a:rPr lang="en-US" sz="700"/>
                        <a:t>Non-Standard Port</a:t>
                      </a:r>
                    </a:p>
                  </a:txBody>
                  <a:tcPr marL="0" marR="0" marT="0" marB="0" anchor="ctr"/>
                </a:tc>
                <a:tc>
                  <a:txBody>
                    <a:bodyPr/>
                    <a:lstStyle/>
                    <a:p>
                      <a:endParaRPr lang="en-US" sz="700"/>
                    </a:p>
                  </a:txBody>
                  <a:tcPr marL="0" marR="0" marT="0" marB="0" anchor="ctr"/>
                </a:tc>
                <a:tc>
                  <a:txBody>
                    <a:bodyPr/>
                    <a:lstStyle/>
                    <a:p>
                      <a:r>
                        <a:rPr lang="en-US" sz="700"/>
                        <a:t>Resource Hijacking</a:t>
                      </a:r>
                    </a:p>
                  </a:txBody>
                  <a:tcPr marL="0" marR="0" marT="0" marB="0" anchor="ctr"/>
                </a:tc>
                <a:extLst>
                  <a:ext uri="{0D108BD9-81ED-4DB2-BD59-A6C34878D82A}">
                    <a16:rowId xmlns:a16="http://schemas.microsoft.com/office/drawing/2014/main" val="876140350"/>
                  </a:ext>
                </a:extLst>
              </a:tr>
              <a:tr h="187324">
                <a:tc>
                  <a:txBody>
                    <a:bodyPr/>
                    <a:lstStyle/>
                    <a:p>
                      <a:endParaRPr lang="en-US" sz="700">
                        <a:effectLst/>
                      </a:endParaRPr>
                    </a:p>
                  </a:txBody>
                  <a:tcPr marL="0" marR="0" marT="0" marB="0" anchor="ctr"/>
                </a:tc>
                <a:tc>
                  <a:txBody>
                    <a:bodyPr/>
                    <a:lstStyle/>
                    <a:p>
                      <a:r>
                        <a:rPr lang="en-US" sz="700"/>
                        <a:t>Email Collection</a:t>
                      </a:r>
                    </a:p>
                  </a:txBody>
                  <a:tcPr marL="0" marR="0" marT="0" marB="0" anchor="ctr"/>
                </a:tc>
                <a:tc>
                  <a:txBody>
                    <a:bodyPr/>
                    <a:lstStyle/>
                    <a:p>
                      <a:r>
                        <a:rPr lang="en-US" sz="700"/>
                        <a:t>Protocol Tunneling</a:t>
                      </a:r>
                    </a:p>
                  </a:txBody>
                  <a:tcPr marL="0" marR="0" marT="0" marB="0" anchor="ctr"/>
                </a:tc>
                <a:tc>
                  <a:txBody>
                    <a:bodyPr/>
                    <a:lstStyle/>
                    <a:p>
                      <a:endParaRPr lang="en-US" sz="700"/>
                    </a:p>
                  </a:txBody>
                  <a:tcPr marL="0" marR="0" marT="0" marB="0" anchor="ctr"/>
                </a:tc>
                <a:tc>
                  <a:txBody>
                    <a:bodyPr/>
                    <a:lstStyle/>
                    <a:p>
                      <a:r>
                        <a:rPr lang="en-US" sz="700"/>
                        <a:t>Service Stop</a:t>
                      </a:r>
                    </a:p>
                  </a:txBody>
                  <a:tcPr marL="0" marR="0" marT="0" marB="0" anchor="ctr"/>
                </a:tc>
                <a:extLst>
                  <a:ext uri="{0D108BD9-81ED-4DB2-BD59-A6C34878D82A}">
                    <a16:rowId xmlns:a16="http://schemas.microsoft.com/office/drawing/2014/main" val="2892594633"/>
                  </a:ext>
                </a:extLst>
              </a:tr>
              <a:tr h="374648">
                <a:tc>
                  <a:txBody>
                    <a:bodyPr/>
                    <a:lstStyle/>
                    <a:p>
                      <a:endParaRPr lang="en-US" sz="700">
                        <a:effectLst/>
                      </a:endParaRPr>
                    </a:p>
                  </a:txBody>
                  <a:tcPr marL="0" marR="0" marT="0" marB="0" anchor="ctr"/>
                </a:tc>
                <a:tc>
                  <a:txBody>
                    <a:bodyPr/>
                    <a:lstStyle/>
                    <a:p>
                      <a:r>
                        <a:rPr lang="en-US" sz="700"/>
                        <a:t>Input Capture</a:t>
                      </a:r>
                    </a:p>
                  </a:txBody>
                  <a:tcPr marL="0" marR="0" marT="0" marB="0" anchor="ctr"/>
                </a:tc>
                <a:tc>
                  <a:txBody>
                    <a:bodyPr/>
                    <a:lstStyle/>
                    <a:p>
                      <a:r>
                        <a:rPr lang="en-US" sz="700"/>
                        <a:t>Proxy</a:t>
                      </a:r>
                    </a:p>
                  </a:txBody>
                  <a:tcPr marL="0" marR="0" marT="0" marB="0" anchor="ctr"/>
                </a:tc>
                <a:tc>
                  <a:txBody>
                    <a:bodyPr/>
                    <a:lstStyle/>
                    <a:p>
                      <a:endParaRPr lang="en-US" sz="700"/>
                    </a:p>
                  </a:txBody>
                  <a:tcPr marL="0" marR="0" marT="0" marB="0" anchor="ctr"/>
                </a:tc>
                <a:tc>
                  <a:txBody>
                    <a:bodyPr/>
                    <a:lstStyle/>
                    <a:p>
                      <a:r>
                        <a:rPr lang="en-US" sz="700"/>
                        <a:t>System Shutdown/Reboot</a:t>
                      </a:r>
                    </a:p>
                  </a:txBody>
                  <a:tcPr marL="0" marR="0" marT="0" marB="0" anchor="ctr"/>
                </a:tc>
                <a:extLst>
                  <a:ext uri="{0D108BD9-81ED-4DB2-BD59-A6C34878D82A}">
                    <a16:rowId xmlns:a16="http://schemas.microsoft.com/office/drawing/2014/main" val="466488049"/>
                  </a:ext>
                </a:extLst>
              </a:tr>
              <a:tr h="374648">
                <a:tc>
                  <a:txBody>
                    <a:bodyPr/>
                    <a:lstStyle/>
                    <a:p>
                      <a:endParaRPr lang="en-US" sz="700">
                        <a:effectLst/>
                      </a:endParaRPr>
                    </a:p>
                  </a:txBody>
                  <a:tcPr marL="0" marR="0" marT="0" marB="0" anchor="ctr"/>
                </a:tc>
                <a:tc>
                  <a:txBody>
                    <a:bodyPr/>
                    <a:lstStyle/>
                    <a:p>
                      <a:r>
                        <a:rPr lang="en-US" sz="700"/>
                        <a:t>Screen Capture</a:t>
                      </a:r>
                    </a:p>
                  </a:txBody>
                  <a:tcPr marL="0" marR="0" marT="0" marB="0" anchor="ctr"/>
                </a:tc>
                <a:tc>
                  <a:txBody>
                    <a:bodyPr/>
                    <a:lstStyle/>
                    <a:p>
                      <a:r>
                        <a:rPr lang="en-US" sz="700"/>
                        <a:t>Remote Access Software</a:t>
                      </a:r>
                    </a:p>
                  </a:txBody>
                  <a:tcPr marL="0" marR="0" marT="0" marB="0" anchor="ctr"/>
                </a:tc>
                <a:tc>
                  <a:txBody>
                    <a:bodyPr/>
                    <a:lstStyle/>
                    <a:p>
                      <a:endParaRPr lang="en-US" sz="700"/>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3678884076"/>
                  </a:ext>
                </a:extLst>
              </a:tr>
              <a:tr h="187324">
                <a:tc>
                  <a:txBody>
                    <a:bodyPr/>
                    <a:lstStyle/>
                    <a:p>
                      <a:endParaRPr lang="en-US" sz="700">
                        <a:effectLst/>
                      </a:endParaRPr>
                    </a:p>
                  </a:txBody>
                  <a:tcPr marL="0" marR="0" marT="0" marB="0" anchor="ctr"/>
                </a:tc>
                <a:tc>
                  <a:txBody>
                    <a:bodyPr/>
                    <a:lstStyle/>
                    <a:p>
                      <a:r>
                        <a:rPr lang="en-US" sz="700"/>
                        <a:t>Video Capture</a:t>
                      </a:r>
                    </a:p>
                  </a:txBody>
                  <a:tcPr marL="0" marR="0" marT="0" marB="0" anchor="ctr"/>
                </a:tc>
                <a:tc>
                  <a:txBody>
                    <a:bodyPr/>
                    <a:lstStyle/>
                    <a:p>
                      <a:r>
                        <a:rPr lang="en-US" sz="700"/>
                        <a:t>Traffic Signaling</a:t>
                      </a:r>
                    </a:p>
                  </a:txBody>
                  <a:tcPr marL="0" marR="0" marT="0" marB="0" anchor="ctr"/>
                </a:tc>
                <a:tc>
                  <a:txBody>
                    <a:bodyPr/>
                    <a:lstStyle/>
                    <a:p>
                      <a:endParaRPr lang="en-US" sz="700"/>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999277659"/>
                  </a:ext>
                </a:extLst>
              </a:tr>
              <a:tr h="187324">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Web Service</a:t>
                      </a:r>
                    </a:p>
                  </a:txBody>
                  <a:tcPr marL="0" marR="0" marT="0" marB="0" anchor="ctr"/>
                </a:tc>
                <a:tc>
                  <a:txBody>
                    <a:bodyPr/>
                    <a:lstStyle/>
                    <a:p>
                      <a:endParaRPr lang="en-US" sz="700"/>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3947670076"/>
                  </a:ext>
                </a:extLst>
              </a:tr>
            </a:tbl>
          </a:graphicData>
        </a:graphic>
      </p:graphicFrame>
    </p:spTree>
    <p:extLst>
      <p:ext uri="{BB962C8B-B14F-4D97-AF65-F5344CB8AC3E}">
        <p14:creationId xmlns:p14="http://schemas.microsoft.com/office/powerpoint/2010/main" val="3672221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9664-3F03-4340-AC57-A11EC92FF10E}"/>
              </a:ext>
            </a:extLst>
          </p:cNvPr>
          <p:cNvSpPr>
            <a:spLocks noGrp="1"/>
          </p:cNvSpPr>
          <p:nvPr>
            <p:ph type="title"/>
          </p:nvPr>
        </p:nvSpPr>
        <p:spPr>
          <a:xfrm>
            <a:off x="381405" y="293437"/>
            <a:ext cx="8230054" cy="1143000"/>
          </a:xfrm>
        </p:spPr>
        <p:txBody>
          <a:bodyPr/>
          <a:lstStyle/>
          <a:p>
            <a:r>
              <a:rPr lang="en-US" sz="3200" dirty="0"/>
              <a:t>ATT&amp;CK Storyboard &amp; Timeline</a:t>
            </a:r>
            <a:endParaRPr lang="en-US" sz="3200">
              <a:cs typeface="Arial"/>
            </a:endParaRPr>
          </a:p>
        </p:txBody>
      </p:sp>
      <p:cxnSp>
        <p:nvCxnSpPr>
          <p:cNvPr id="5" name="Straight Connector 4">
            <a:extLst>
              <a:ext uri="{FF2B5EF4-FFF2-40B4-BE49-F238E27FC236}">
                <a16:creationId xmlns:a16="http://schemas.microsoft.com/office/drawing/2014/main" id="{04969B80-B789-E892-FB0D-4B0B57C27D34}"/>
              </a:ext>
            </a:extLst>
          </p:cNvPr>
          <p:cNvCxnSpPr>
            <a:cxnSpLocks/>
          </p:cNvCxnSpPr>
          <p:nvPr/>
        </p:nvCxnSpPr>
        <p:spPr>
          <a:xfrm flipV="1">
            <a:off x="800100" y="2171700"/>
            <a:ext cx="7600950" cy="3429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69D709B4-6839-0AAC-CABC-F74BDF327BA5}"/>
              </a:ext>
            </a:extLst>
          </p:cNvPr>
          <p:cNvCxnSpPr/>
          <p:nvPr/>
        </p:nvCxnSpPr>
        <p:spPr>
          <a:xfrm flipH="1">
            <a:off x="806369" y="4659773"/>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44A9B2C-4804-FB91-AE6E-0C81590066A4}"/>
              </a:ext>
            </a:extLst>
          </p:cNvPr>
          <p:cNvCxnSpPr>
            <a:cxnSpLocks/>
          </p:cNvCxnSpPr>
          <p:nvPr/>
        </p:nvCxnSpPr>
        <p:spPr>
          <a:xfrm flipH="1">
            <a:off x="2098875" y="5026304"/>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DAC0FC5-D796-C9E4-C6A7-3952BAE6D33B}"/>
              </a:ext>
            </a:extLst>
          </p:cNvPr>
          <p:cNvCxnSpPr>
            <a:cxnSpLocks/>
          </p:cNvCxnSpPr>
          <p:nvPr/>
        </p:nvCxnSpPr>
        <p:spPr>
          <a:xfrm flipH="1">
            <a:off x="2928394" y="3704862"/>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B69E03D-96E2-1411-5F61-E4BA2A61DA1B}"/>
              </a:ext>
            </a:extLst>
          </p:cNvPr>
          <p:cNvCxnSpPr>
            <a:cxnSpLocks/>
          </p:cNvCxnSpPr>
          <p:nvPr/>
        </p:nvCxnSpPr>
        <p:spPr>
          <a:xfrm flipH="1">
            <a:off x="3844723" y="4220808"/>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63D7325-50C9-90AC-F48F-18B22957731A}"/>
              </a:ext>
            </a:extLst>
          </p:cNvPr>
          <p:cNvCxnSpPr>
            <a:cxnSpLocks/>
          </p:cNvCxnSpPr>
          <p:nvPr/>
        </p:nvCxnSpPr>
        <p:spPr>
          <a:xfrm flipH="1">
            <a:off x="4732116" y="2884988"/>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9184DC1-6AF3-C103-AF30-BEF2C2D54B5E}"/>
              </a:ext>
            </a:extLst>
          </p:cNvPr>
          <p:cNvCxnSpPr>
            <a:cxnSpLocks/>
          </p:cNvCxnSpPr>
          <p:nvPr/>
        </p:nvCxnSpPr>
        <p:spPr>
          <a:xfrm flipH="1">
            <a:off x="6236824" y="3145418"/>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197BC90-6175-BD55-BEAD-FC22B8B3281A}"/>
              </a:ext>
            </a:extLst>
          </p:cNvPr>
          <p:cNvCxnSpPr>
            <a:cxnSpLocks/>
          </p:cNvCxnSpPr>
          <p:nvPr/>
        </p:nvCxnSpPr>
        <p:spPr>
          <a:xfrm flipH="1">
            <a:off x="7201381" y="1766102"/>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A5F6A46-B3A5-993A-C41B-77CFA2168580}"/>
              </a:ext>
            </a:extLst>
          </p:cNvPr>
          <p:cNvCxnSpPr>
            <a:cxnSpLocks/>
          </p:cNvCxnSpPr>
          <p:nvPr/>
        </p:nvCxnSpPr>
        <p:spPr>
          <a:xfrm flipH="1">
            <a:off x="8387786" y="2161570"/>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50CA54C-9655-F9EA-C623-18CF6D471692}"/>
              </a:ext>
            </a:extLst>
          </p:cNvPr>
          <p:cNvSpPr txBox="1"/>
          <p:nvPr/>
        </p:nvSpPr>
        <p:spPr>
          <a:xfrm>
            <a:off x="0" y="3509889"/>
            <a:ext cx="1969477"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DDMMMYY – Event A took place on system N affecting &lt;customer impacted system or function&gt;. This was discovered/addressed by &lt;our action&gt;.</a:t>
            </a:r>
            <a:endParaRPr lang="en-US" sz="1100" dirty="0">
              <a:cs typeface="Arial"/>
            </a:endParaRPr>
          </a:p>
        </p:txBody>
      </p:sp>
    </p:spTree>
    <p:extLst>
      <p:ext uri="{BB962C8B-B14F-4D97-AF65-F5344CB8AC3E}">
        <p14:creationId xmlns:p14="http://schemas.microsoft.com/office/powerpoint/2010/main" val="1127541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9664-3F03-4340-AC57-A11EC92FF10E}"/>
              </a:ext>
            </a:extLst>
          </p:cNvPr>
          <p:cNvSpPr>
            <a:spLocks noGrp="1"/>
          </p:cNvSpPr>
          <p:nvPr>
            <p:ph type="title"/>
          </p:nvPr>
        </p:nvSpPr>
        <p:spPr>
          <a:xfrm>
            <a:off x="381405" y="293437"/>
            <a:ext cx="8230054" cy="1143000"/>
          </a:xfrm>
        </p:spPr>
        <p:txBody>
          <a:bodyPr/>
          <a:lstStyle/>
          <a:p>
            <a:r>
              <a:rPr lang="en-US" sz="3200" dirty="0"/>
              <a:t>ATT&amp;CK Storyboard &amp; Timeline</a:t>
            </a:r>
            <a:br>
              <a:rPr lang="en-US" sz="3200" dirty="0"/>
            </a:br>
            <a:r>
              <a:rPr lang="en-US" sz="3200" dirty="0">
                <a:cs typeface="Arial"/>
              </a:rPr>
              <a:t>TEMPLATE</a:t>
            </a:r>
          </a:p>
        </p:txBody>
      </p:sp>
      <p:cxnSp>
        <p:nvCxnSpPr>
          <p:cNvPr id="5" name="Straight Connector 4">
            <a:extLst>
              <a:ext uri="{FF2B5EF4-FFF2-40B4-BE49-F238E27FC236}">
                <a16:creationId xmlns:a16="http://schemas.microsoft.com/office/drawing/2014/main" id="{04969B80-B789-E892-FB0D-4B0B57C27D34}"/>
              </a:ext>
            </a:extLst>
          </p:cNvPr>
          <p:cNvCxnSpPr>
            <a:cxnSpLocks/>
          </p:cNvCxnSpPr>
          <p:nvPr/>
        </p:nvCxnSpPr>
        <p:spPr>
          <a:xfrm flipV="1">
            <a:off x="26378" y="1890346"/>
            <a:ext cx="9092124" cy="175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A085718-6A10-2249-78FD-528E5D769918}"/>
              </a:ext>
            </a:extLst>
          </p:cNvPr>
          <p:cNvSpPr txBox="1"/>
          <p:nvPr/>
        </p:nvSpPr>
        <p:spPr>
          <a:xfrm>
            <a:off x="0" y="1320127"/>
            <a:ext cx="2743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err="1"/>
              <a:t>Ddd</a:t>
            </a:r>
            <a:r>
              <a:rPr lang="en-US" sz="1100" dirty="0"/>
              <a:t> DDMMMYYYY</a:t>
            </a:r>
            <a:endParaRPr lang="en-US" sz="1100" dirty="0">
              <a:cs typeface="Arial"/>
            </a:endParaRPr>
          </a:p>
        </p:txBody>
      </p:sp>
      <p:cxnSp>
        <p:nvCxnSpPr>
          <p:cNvPr id="15" name="Straight Connector 14">
            <a:extLst>
              <a:ext uri="{FF2B5EF4-FFF2-40B4-BE49-F238E27FC236}">
                <a16:creationId xmlns:a16="http://schemas.microsoft.com/office/drawing/2014/main" id="{EE710BBB-B429-B1A8-C9E6-5AF9E515A30D}"/>
              </a:ext>
            </a:extLst>
          </p:cNvPr>
          <p:cNvCxnSpPr>
            <a:cxnSpLocks/>
          </p:cNvCxnSpPr>
          <p:nvPr/>
        </p:nvCxnSpPr>
        <p:spPr>
          <a:xfrm flipV="1">
            <a:off x="873763" y="1667233"/>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BD067B9-F17B-6816-5C2D-68ECCAAE0474}"/>
              </a:ext>
            </a:extLst>
          </p:cNvPr>
          <p:cNvCxnSpPr>
            <a:cxnSpLocks/>
          </p:cNvCxnSpPr>
          <p:nvPr/>
        </p:nvCxnSpPr>
        <p:spPr>
          <a:xfrm flipV="1">
            <a:off x="1705904"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52BD5E0-919C-78C7-564B-500B006AEBF3}"/>
              </a:ext>
            </a:extLst>
          </p:cNvPr>
          <p:cNvCxnSpPr>
            <a:cxnSpLocks/>
          </p:cNvCxnSpPr>
          <p:nvPr/>
        </p:nvCxnSpPr>
        <p:spPr>
          <a:xfrm flipV="1">
            <a:off x="2528482"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7F04F3B-4575-4AC2-0EAC-3D88EC37A32B}"/>
              </a:ext>
            </a:extLst>
          </p:cNvPr>
          <p:cNvCxnSpPr>
            <a:cxnSpLocks/>
          </p:cNvCxnSpPr>
          <p:nvPr/>
        </p:nvCxnSpPr>
        <p:spPr>
          <a:xfrm flipV="1">
            <a:off x="3360623"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8A4F4C7-3316-69B0-5A6E-FF1807093045}"/>
              </a:ext>
            </a:extLst>
          </p:cNvPr>
          <p:cNvCxnSpPr>
            <a:cxnSpLocks/>
          </p:cNvCxnSpPr>
          <p:nvPr/>
        </p:nvCxnSpPr>
        <p:spPr>
          <a:xfrm flipV="1">
            <a:off x="4173637"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38E03F8-96D0-5ED6-8344-F5A08358BA29}"/>
              </a:ext>
            </a:extLst>
          </p:cNvPr>
          <p:cNvCxnSpPr>
            <a:cxnSpLocks/>
          </p:cNvCxnSpPr>
          <p:nvPr/>
        </p:nvCxnSpPr>
        <p:spPr>
          <a:xfrm flipV="1">
            <a:off x="5005778"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DB9B9C7-C304-8890-28ED-B039C81C45C9}"/>
              </a:ext>
            </a:extLst>
          </p:cNvPr>
          <p:cNvCxnSpPr>
            <a:cxnSpLocks/>
          </p:cNvCxnSpPr>
          <p:nvPr/>
        </p:nvCxnSpPr>
        <p:spPr>
          <a:xfrm flipV="1">
            <a:off x="5828356"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9DC685A-6140-8805-2543-8D0A99F7F6B4}"/>
              </a:ext>
            </a:extLst>
          </p:cNvPr>
          <p:cNvCxnSpPr>
            <a:cxnSpLocks/>
          </p:cNvCxnSpPr>
          <p:nvPr/>
        </p:nvCxnSpPr>
        <p:spPr>
          <a:xfrm flipV="1">
            <a:off x="6660497" y="1667230"/>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D1807A3-7640-09D9-42B8-1D3E7073516F}"/>
              </a:ext>
            </a:extLst>
          </p:cNvPr>
          <p:cNvCxnSpPr>
            <a:cxnSpLocks/>
          </p:cNvCxnSpPr>
          <p:nvPr/>
        </p:nvCxnSpPr>
        <p:spPr>
          <a:xfrm flipV="1">
            <a:off x="7492641" y="1657667"/>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197BEFF-F9C3-6CEE-A494-6765DC56B343}"/>
              </a:ext>
            </a:extLst>
          </p:cNvPr>
          <p:cNvCxnSpPr>
            <a:cxnSpLocks/>
          </p:cNvCxnSpPr>
          <p:nvPr/>
        </p:nvCxnSpPr>
        <p:spPr>
          <a:xfrm flipV="1">
            <a:off x="8324782" y="1657666"/>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39984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9664-3F03-4340-AC57-A11EC92FF10E}"/>
              </a:ext>
            </a:extLst>
          </p:cNvPr>
          <p:cNvSpPr>
            <a:spLocks noGrp="1"/>
          </p:cNvSpPr>
          <p:nvPr>
            <p:ph type="title"/>
          </p:nvPr>
        </p:nvSpPr>
        <p:spPr>
          <a:xfrm>
            <a:off x="381405" y="293437"/>
            <a:ext cx="8230054" cy="1143000"/>
          </a:xfrm>
        </p:spPr>
        <p:txBody>
          <a:bodyPr/>
          <a:lstStyle/>
          <a:p>
            <a:r>
              <a:rPr lang="en-US" sz="3200" dirty="0"/>
              <a:t>ATT&amp;CK Storyboard &amp; Timeline</a:t>
            </a:r>
            <a:endParaRPr lang="en-US" sz="3200">
              <a:cs typeface="Arial"/>
            </a:endParaRPr>
          </a:p>
        </p:txBody>
      </p:sp>
      <p:cxnSp>
        <p:nvCxnSpPr>
          <p:cNvPr id="5" name="Straight Connector 4">
            <a:extLst>
              <a:ext uri="{FF2B5EF4-FFF2-40B4-BE49-F238E27FC236}">
                <a16:creationId xmlns:a16="http://schemas.microsoft.com/office/drawing/2014/main" id="{04969B80-B789-E892-FB0D-4B0B57C27D34}"/>
              </a:ext>
            </a:extLst>
          </p:cNvPr>
          <p:cNvCxnSpPr>
            <a:cxnSpLocks/>
          </p:cNvCxnSpPr>
          <p:nvPr/>
        </p:nvCxnSpPr>
        <p:spPr>
          <a:xfrm flipV="1">
            <a:off x="26378" y="1890346"/>
            <a:ext cx="9092124" cy="175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A085718-6A10-2249-78FD-528E5D769918}"/>
              </a:ext>
            </a:extLst>
          </p:cNvPr>
          <p:cNvSpPr txBox="1"/>
          <p:nvPr/>
        </p:nvSpPr>
        <p:spPr>
          <a:xfrm>
            <a:off x="0" y="1320127"/>
            <a:ext cx="2743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err="1"/>
              <a:t>Ddd</a:t>
            </a:r>
            <a:r>
              <a:rPr lang="en-US" sz="1100" dirty="0"/>
              <a:t> DDMMMYYYY</a:t>
            </a:r>
            <a:endParaRPr lang="en-US" sz="1100" dirty="0">
              <a:cs typeface="Arial"/>
            </a:endParaRPr>
          </a:p>
        </p:txBody>
      </p:sp>
      <p:cxnSp>
        <p:nvCxnSpPr>
          <p:cNvPr id="15" name="Straight Connector 14">
            <a:extLst>
              <a:ext uri="{FF2B5EF4-FFF2-40B4-BE49-F238E27FC236}">
                <a16:creationId xmlns:a16="http://schemas.microsoft.com/office/drawing/2014/main" id="{EE710BBB-B429-B1A8-C9E6-5AF9E515A30D}"/>
              </a:ext>
            </a:extLst>
          </p:cNvPr>
          <p:cNvCxnSpPr>
            <a:cxnSpLocks/>
          </p:cNvCxnSpPr>
          <p:nvPr/>
        </p:nvCxnSpPr>
        <p:spPr>
          <a:xfrm flipV="1">
            <a:off x="873763" y="1667233"/>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BD067B9-F17B-6816-5C2D-68ECCAAE0474}"/>
              </a:ext>
            </a:extLst>
          </p:cNvPr>
          <p:cNvCxnSpPr>
            <a:cxnSpLocks/>
          </p:cNvCxnSpPr>
          <p:nvPr/>
        </p:nvCxnSpPr>
        <p:spPr>
          <a:xfrm flipV="1">
            <a:off x="1705904"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52BD5E0-919C-78C7-564B-500B006AEBF3}"/>
              </a:ext>
            </a:extLst>
          </p:cNvPr>
          <p:cNvCxnSpPr>
            <a:cxnSpLocks/>
          </p:cNvCxnSpPr>
          <p:nvPr/>
        </p:nvCxnSpPr>
        <p:spPr>
          <a:xfrm flipV="1">
            <a:off x="2528482"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7F04F3B-4575-4AC2-0EAC-3D88EC37A32B}"/>
              </a:ext>
            </a:extLst>
          </p:cNvPr>
          <p:cNvCxnSpPr>
            <a:cxnSpLocks/>
          </p:cNvCxnSpPr>
          <p:nvPr/>
        </p:nvCxnSpPr>
        <p:spPr>
          <a:xfrm flipV="1">
            <a:off x="3360623"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8A4F4C7-3316-69B0-5A6E-FF1807093045}"/>
              </a:ext>
            </a:extLst>
          </p:cNvPr>
          <p:cNvCxnSpPr>
            <a:cxnSpLocks/>
          </p:cNvCxnSpPr>
          <p:nvPr/>
        </p:nvCxnSpPr>
        <p:spPr>
          <a:xfrm flipV="1">
            <a:off x="4173637"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38E03F8-96D0-5ED6-8344-F5A08358BA29}"/>
              </a:ext>
            </a:extLst>
          </p:cNvPr>
          <p:cNvCxnSpPr>
            <a:cxnSpLocks/>
          </p:cNvCxnSpPr>
          <p:nvPr/>
        </p:nvCxnSpPr>
        <p:spPr>
          <a:xfrm flipV="1">
            <a:off x="5005778"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DB9B9C7-C304-8890-28ED-B039C81C45C9}"/>
              </a:ext>
            </a:extLst>
          </p:cNvPr>
          <p:cNvCxnSpPr>
            <a:cxnSpLocks/>
          </p:cNvCxnSpPr>
          <p:nvPr/>
        </p:nvCxnSpPr>
        <p:spPr>
          <a:xfrm flipV="1">
            <a:off x="5828356"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9DC685A-6140-8805-2543-8D0A99F7F6B4}"/>
              </a:ext>
            </a:extLst>
          </p:cNvPr>
          <p:cNvCxnSpPr>
            <a:cxnSpLocks/>
          </p:cNvCxnSpPr>
          <p:nvPr/>
        </p:nvCxnSpPr>
        <p:spPr>
          <a:xfrm flipV="1">
            <a:off x="6660497" y="1667230"/>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D1807A3-7640-09D9-42B8-1D3E7073516F}"/>
              </a:ext>
            </a:extLst>
          </p:cNvPr>
          <p:cNvCxnSpPr>
            <a:cxnSpLocks/>
          </p:cNvCxnSpPr>
          <p:nvPr/>
        </p:nvCxnSpPr>
        <p:spPr>
          <a:xfrm flipV="1">
            <a:off x="7492641" y="1657667"/>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197BEFF-F9C3-6CEE-A494-6765DC56B343}"/>
              </a:ext>
            </a:extLst>
          </p:cNvPr>
          <p:cNvCxnSpPr>
            <a:cxnSpLocks/>
          </p:cNvCxnSpPr>
          <p:nvPr/>
        </p:nvCxnSpPr>
        <p:spPr>
          <a:xfrm flipV="1">
            <a:off x="8324782" y="1657666"/>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472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8DB8AA-FF28-4C75-A6EE-A7DDDF52E289}"/>
              </a:ext>
            </a:extLst>
          </p:cNvPr>
          <p:cNvSpPr>
            <a:spLocks noGrp="1"/>
          </p:cNvSpPr>
          <p:nvPr>
            <p:ph type="title"/>
          </p:nvPr>
        </p:nvSpPr>
        <p:spPr/>
        <p:txBody>
          <a:bodyPr/>
          <a:lstStyle/>
          <a:p>
            <a:r>
              <a:rPr lang="en-US" dirty="0"/>
              <a:t>Response Actions</a:t>
            </a:r>
          </a:p>
        </p:txBody>
      </p:sp>
      <p:sp>
        <p:nvSpPr>
          <p:cNvPr id="5" name="Content Placeholder 4">
            <a:extLst>
              <a:ext uri="{FF2B5EF4-FFF2-40B4-BE49-F238E27FC236}">
                <a16:creationId xmlns:a16="http://schemas.microsoft.com/office/drawing/2014/main" id="{DE9813F4-0065-474F-AA70-4ED6911F0A22}"/>
              </a:ext>
            </a:extLst>
          </p:cNvPr>
          <p:cNvSpPr>
            <a:spLocks noGrp="1"/>
          </p:cNvSpPr>
          <p:nvPr>
            <p:ph sz="half" idx="1"/>
          </p:nvPr>
        </p:nvSpPr>
        <p:spPr>
          <a:xfrm>
            <a:off x="456976" y="1950103"/>
            <a:ext cx="4060598" cy="3993497"/>
          </a:xfrm>
        </p:spPr>
        <p:txBody>
          <a:bodyPr/>
          <a:lstStyle/>
          <a:p>
            <a:pPr marL="0" indent="0" algn="ctr">
              <a:buNone/>
            </a:pPr>
            <a:r>
              <a:rPr lang="en-US" b="1" dirty="0"/>
              <a:t>Findings addressed</a:t>
            </a:r>
          </a:p>
          <a:p>
            <a:endParaRPr lang="en-US" dirty="0"/>
          </a:p>
        </p:txBody>
      </p:sp>
      <p:sp>
        <p:nvSpPr>
          <p:cNvPr id="6" name="Content Placeholder 5">
            <a:extLst>
              <a:ext uri="{FF2B5EF4-FFF2-40B4-BE49-F238E27FC236}">
                <a16:creationId xmlns:a16="http://schemas.microsoft.com/office/drawing/2014/main" id="{4D20E435-7151-4B36-890D-33B8F63277C0}"/>
              </a:ext>
            </a:extLst>
          </p:cNvPr>
          <p:cNvSpPr>
            <a:spLocks noGrp="1"/>
          </p:cNvSpPr>
          <p:nvPr>
            <p:ph sz="half" idx="2"/>
          </p:nvPr>
        </p:nvSpPr>
        <p:spPr>
          <a:xfrm>
            <a:off x="4626431" y="1950103"/>
            <a:ext cx="4060599" cy="3993497"/>
          </a:xfrm>
        </p:spPr>
        <p:txBody>
          <a:bodyPr/>
          <a:lstStyle/>
          <a:p>
            <a:pPr marL="0" indent="0" algn="ctr">
              <a:buNone/>
            </a:pPr>
            <a:r>
              <a:rPr lang="en-US" b="1" dirty="0"/>
              <a:t>Monitoring status</a:t>
            </a:r>
          </a:p>
          <a:p>
            <a:endParaRPr lang="en-US" dirty="0"/>
          </a:p>
        </p:txBody>
      </p:sp>
    </p:spTree>
    <p:extLst>
      <p:ext uri="{BB962C8B-B14F-4D97-AF65-F5344CB8AC3E}">
        <p14:creationId xmlns:p14="http://schemas.microsoft.com/office/powerpoint/2010/main" val="1366791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59A06-CA15-491C-ECE4-D226293F822B}"/>
              </a:ext>
            </a:extLst>
          </p:cNvPr>
          <p:cNvSpPr>
            <a:spLocks noGrp="1"/>
          </p:cNvSpPr>
          <p:nvPr>
            <p:ph type="title"/>
          </p:nvPr>
        </p:nvSpPr>
        <p:spPr/>
        <p:txBody>
          <a:bodyPr/>
          <a:lstStyle/>
          <a:p>
            <a:r>
              <a:rPr lang="en-US" sz="3600" kern="1200" dirty="0">
                <a:solidFill>
                  <a:schemeClr val="dk1"/>
                </a:solidFill>
                <a:effectLst/>
                <a:latin typeface="+mn-lt"/>
                <a:ea typeface="+mn-ea"/>
                <a:cs typeface="+mn-cs"/>
              </a:rPr>
              <a:t>Stakeholder </a:t>
            </a:r>
            <a:r>
              <a:rPr lang="en-US" sz="3600" kern="1200" dirty="0">
                <a:solidFill>
                  <a:schemeClr val="dk1"/>
                </a:solidFill>
                <a:latin typeface="+mn-lt"/>
                <a:ea typeface="+mn-ea"/>
                <a:cs typeface="+mn-cs"/>
              </a:rPr>
              <a:t>O</a:t>
            </a:r>
            <a:r>
              <a:rPr lang="en-US" sz="3600" kern="1200" dirty="0">
                <a:solidFill>
                  <a:schemeClr val="dk1"/>
                </a:solidFill>
                <a:effectLst/>
                <a:latin typeface="+mn-lt"/>
                <a:ea typeface="+mn-ea"/>
                <a:cs typeface="+mn-cs"/>
              </a:rPr>
              <a:t>utbrief</a:t>
            </a:r>
            <a:br>
              <a:rPr lang="en-US" sz="3600" b="1" dirty="0">
                <a:effectLst/>
                <a:latin typeface="+mn-lt"/>
                <a:ea typeface="Times New Roman" panose="02020603050405020304" pitchFamily="18" charset="0"/>
              </a:rPr>
            </a:br>
            <a:endParaRPr lang="en-US" sz="3600" dirty="0"/>
          </a:p>
        </p:txBody>
      </p:sp>
      <p:sp>
        <p:nvSpPr>
          <p:cNvPr id="5" name="Content Placeholder 4">
            <a:extLst>
              <a:ext uri="{FF2B5EF4-FFF2-40B4-BE49-F238E27FC236}">
                <a16:creationId xmlns:a16="http://schemas.microsoft.com/office/drawing/2014/main" id="{D0801880-BD8D-78DA-81BA-3D7B6E39141C}"/>
              </a:ext>
            </a:extLst>
          </p:cNvPr>
          <p:cNvSpPr>
            <a:spLocks noGrp="1"/>
          </p:cNvSpPr>
          <p:nvPr>
            <p:ph idx="1"/>
          </p:nvPr>
        </p:nvSpPr>
        <p:spPr/>
        <p:txBody>
          <a:bodyPr/>
          <a:lstStyle/>
          <a:p>
            <a:pPr marL="290830" indent="-290830"/>
            <a:r>
              <a:rPr lang="en-US" sz="2800" b="1" kern="0" dirty="0">
                <a:latin typeface="+mn-lt"/>
              </a:rPr>
              <a:t>CT7;ST4</a:t>
            </a:r>
            <a:r>
              <a:rPr lang="en-US" sz="2800" b="1" dirty="0">
                <a:effectLst/>
                <a:latin typeface="+mn-lt"/>
                <a:ea typeface="Times New Roman" panose="02020603050405020304" pitchFamily="18" charset="0"/>
              </a:rPr>
              <a:t>: </a:t>
            </a:r>
            <a:r>
              <a:rPr lang="en-US" sz="2800" kern="1200" dirty="0">
                <a:solidFill>
                  <a:schemeClr val="dk1"/>
                </a:solidFill>
                <a:effectLst/>
                <a:latin typeface="+mn-lt"/>
                <a:ea typeface="+mn-ea"/>
                <a:cs typeface="+mn-cs"/>
              </a:rPr>
              <a:t>Out brief to key stakeholders.</a:t>
            </a:r>
            <a:endParaRPr lang="en-US" sz="2800" kern="1200" dirty="0">
              <a:solidFill>
                <a:schemeClr val="dk1"/>
              </a:solidFill>
              <a:effectLst/>
              <a:latin typeface="+mn-lt"/>
              <a:cs typeface="Arial"/>
            </a:endParaRPr>
          </a:p>
          <a:p>
            <a:pPr marL="290830" indent="-290830"/>
            <a:r>
              <a:rPr lang="en-US" sz="2800" kern="1200" dirty="0">
                <a:solidFill>
                  <a:schemeClr val="dk1"/>
                </a:solidFill>
              </a:rPr>
              <a:t>ID slides for outbrief</a:t>
            </a:r>
            <a:endParaRPr lang="en-US" sz="2800" kern="1200" dirty="0">
              <a:solidFill>
                <a:schemeClr val="dk1"/>
              </a:solidFill>
              <a:cs typeface="Arial"/>
            </a:endParaRPr>
          </a:p>
          <a:p>
            <a:pPr marL="389255" lvl="1" indent="0">
              <a:buNone/>
            </a:pPr>
            <a:r>
              <a:rPr lang="en-US" sz="2500" kern="1200" dirty="0">
                <a:solidFill>
                  <a:schemeClr val="dk1"/>
                </a:solidFill>
                <a:cs typeface="Arial"/>
              </a:rPr>
              <a:t>-Insert </a:t>
            </a:r>
            <a:r>
              <a:rPr lang="en-US" sz="2500" kern="1200" dirty="0" err="1">
                <a:solidFill>
                  <a:schemeClr val="dk1"/>
                </a:solidFill>
                <a:cs typeface="Arial"/>
              </a:rPr>
              <a:t>Inbrief</a:t>
            </a:r>
            <a:endParaRPr lang="en-US" sz="2500" kern="1200" dirty="0">
              <a:solidFill>
                <a:schemeClr val="dk1"/>
              </a:solidFill>
              <a:cs typeface="Arial"/>
            </a:endParaRPr>
          </a:p>
          <a:p>
            <a:pPr marL="389255" lvl="1" indent="0">
              <a:buNone/>
            </a:pPr>
            <a:r>
              <a:rPr lang="en-US" sz="2500" kern="1200" dirty="0">
                <a:solidFill>
                  <a:schemeClr val="dk1"/>
                </a:solidFill>
                <a:cs typeface="Arial"/>
              </a:rPr>
              <a:t>-</a:t>
            </a:r>
            <a:r>
              <a:rPr lang="en-US" sz="2500" kern="1200" dirty="0">
                <a:solidFill>
                  <a:schemeClr val="dk1"/>
                </a:solidFill>
                <a:ea typeface="+mn-lt"/>
                <a:cs typeface="+mn-lt"/>
              </a:rPr>
              <a:t>Insert Refer to Findings, IOCs found, </a:t>
            </a:r>
          </a:p>
          <a:p>
            <a:pPr marL="389255" lvl="1" indent="0">
              <a:buNone/>
            </a:pPr>
            <a:r>
              <a:rPr lang="en-US" sz="2500" kern="1200" dirty="0">
                <a:solidFill>
                  <a:schemeClr val="dk1"/>
                </a:solidFill>
                <a:cs typeface="Arial"/>
              </a:rPr>
              <a:t>-Insert Response Actions</a:t>
            </a:r>
            <a:endParaRPr lang="en-US" dirty="0">
              <a:solidFill>
                <a:schemeClr val="dk1"/>
              </a:solidFill>
            </a:endParaRPr>
          </a:p>
          <a:p>
            <a:pPr marL="389255" lvl="1" indent="0">
              <a:buNone/>
            </a:pPr>
            <a:r>
              <a:rPr lang="en-US" sz="2500" kern="1200" dirty="0">
                <a:solidFill>
                  <a:schemeClr val="dk1"/>
                </a:solidFill>
                <a:cs typeface="Arial"/>
              </a:rPr>
              <a:t>-Insert Timeline</a:t>
            </a:r>
          </a:p>
          <a:p>
            <a:pPr marL="389255" lvl="1" indent="0">
              <a:buNone/>
            </a:pPr>
            <a:r>
              <a:rPr lang="en-US" sz="2500" kern="1200" dirty="0">
                <a:solidFill>
                  <a:schemeClr val="dk1"/>
                </a:solidFill>
                <a:cs typeface="Arial"/>
              </a:rPr>
              <a:t>-(don't make a new product)</a:t>
            </a:r>
          </a:p>
          <a:p>
            <a:pPr marL="290830" indent="-290830"/>
            <a:endParaRPr lang="en-US" dirty="0">
              <a:solidFill>
                <a:schemeClr val="dk1"/>
              </a:solidFill>
              <a:cs typeface="Arial"/>
            </a:endParaRPr>
          </a:p>
        </p:txBody>
      </p:sp>
    </p:spTree>
    <p:extLst>
      <p:ext uri="{BB962C8B-B14F-4D97-AF65-F5344CB8AC3E}">
        <p14:creationId xmlns:p14="http://schemas.microsoft.com/office/powerpoint/2010/main" val="1700921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8F43D2-3D98-4927-98B5-45719282AD3C}"/>
              </a:ext>
            </a:extLst>
          </p:cNvPr>
          <p:cNvSpPr>
            <a:spLocks noGrp="1"/>
          </p:cNvSpPr>
          <p:nvPr>
            <p:ph type="title"/>
          </p:nvPr>
        </p:nvSpPr>
        <p:spPr/>
        <p:txBody>
          <a:bodyPr/>
          <a:lstStyle/>
          <a:p>
            <a:r>
              <a:rPr lang="en-US" dirty="0"/>
              <a:t>Additional slide templates</a:t>
            </a:r>
          </a:p>
        </p:txBody>
      </p:sp>
      <p:sp>
        <p:nvSpPr>
          <p:cNvPr id="5" name="Text Placeholder 4">
            <a:extLst>
              <a:ext uri="{FF2B5EF4-FFF2-40B4-BE49-F238E27FC236}">
                <a16:creationId xmlns:a16="http://schemas.microsoft.com/office/drawing/2014/main" id="{299A0276-51CE-482B-9F92-2CF8C3CC667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40542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981200" y="1028700"/>
            <a:ext cx="5153025" cy="914400"/>
          </a:xfrm>
        </p:spPr>
        <p:txBody>
          <a:bodyPr/>
          <a:lstStyle/>
          <a:p>
            <a:pPr eaLnBrk="1" hangingPunct="1">
              <a:defRPr/>
            </a:pPr>
            <a:r>
              <a:rPr lang="en-US" sz="2700" dirty="0"/>
              <a:t>Mission Analysis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defRPr/>
            </a:pPr>
            <a:r>
              <a:rPr lang="en-US" dirty="0">
                <a:solidFill>
                  <a:schemeClr val="tx1"/>
                </a:solidFill>
              </a:rPr>
              <a:t>Area of Operations Orientation</a:t>
            </a:r>
          </a:p>
        </p:txBody>
      </p:sp>
      <p:sp>
        <p:nvSpPr>
          <p:cNvPr id="6149" name="Rectangle 3"/>
          <p:cNvSpPr>
            <a:spLocks noGrp="1" noChangeArrowheads="1"/>
          </p:cNvSpPr>
          <p:nvPr>
            <p:ph idx="1"/>
          </p:nvPr>
        </p:nvSpPr>
        <p:spPr/>
        <p:txBody>
          <a:bodyPr/>
          <a:lstStyle/>
          <a:p>
            <a:pPr eaLnBrk="1" hangingPunct="1"/>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defRPr/>
            </a:pPr>
            <a:r>
              <a:rPr lang="en-US" dirty="0"/>
              <a:t>Higher HQ Mission</a:t>
            </a:r>
            <a:endParaRPr lang="en-US" sz="1500" i="1" dirty="0"/>
          </a:p>
        </p:txBody>
      </p:sp>
      <p:sp>
        <p:nvSpPr>
          <p:cNvPr id="8197" name="Rectangle 3"/>
          <p:cNvSpPr>
            <a:spLocks noGrp="1" noChangeArrowheads="1"/>
          </p:cNvSpPr>
          <p:nvPr>
            <p:ph type="body" idx="1"/>
          </p:nvPr>
        </p:nvSpPr>
        <p:spPr/>
        <p:txBody>
          <a:bodyPr/>
          <a:lstStyle/>
          <a:p>
            <a:pPr marL="0" indent="0" eaLnBrk="1" hangingPunct="1">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defRPr/>
            </a:pPr>
            <a:r>
              <a:rPr lang="en-US" dirty="0"/>
              <a:t>Proposed Problem Statement</a:t>
            </a:r>
          </a:p>
        </p:txBody>
      </p:sp>
      <p:sp>
        <p:nvSpPr>
          <p:cNvPr id="25605" name="Rectangle 3"/>
          <p:cNvSpPr>
            <a:spLocks noGrp="1" noChangeArrowheads="1"/>
          </p:cNvSpPr>
          <p:nvPr>
            <p:ph type="body" idx="1"/>
          </p:nvPr>
        </p:nvSpPr>
        <p:spPr/>
        <p:txBody>
          <a:bodyPr/>
          <a:lstStyle/>
          <a:p>
            <a:pPr eaLnBrk="1" hangingPunct="1">
              <a:buFontTx/>
              <a:buNone/>
            </a:pPr>
            <a:r>
              <a:rPr lang="en-US" sz="1800" dirty="0"/>
              <a:t>State the tactical problem in terms of:</a:t>
            </a:r>
          </a:p>
          <a:p>
            <a:pPr eaLnBrk="1" hangingPunct="1">
              <a:buFontTx/>
              <a:buNone/>
            </a:pPr>
            <a:r>
              <a:rPr lang="en-US" sz="1800" dirty="0"/>
              <a:t>	Context – What conditions must friendly and enemy forces establish and prevent?</a:t>
            </a:r>
          </a:p>
          <a:p>
            <a:pPr eaLnBrk="1" hangingPunct="1">
              <a:buFontTx/>
              <a:buNone/>
            </a:pPr>
            <a:r>
              <a:rPr lang="en-US" sz="1800" dirty="0"/>
              <a:t>	Capabilities – What are the friendly and enemy forces available to cause an outcome?</a:t>
            </a:r>
          </a:p>
          <a:p>
            <a:pPr eaLnBrk="1" hangingPunct="1">
              <a:buFontTx/>
              <a:buNone/>
            </a:pPr>
            <a:r>
              <a:rPr lang="en-US" sz="1800" dirty="0"/>
              <a:t>	Structure – How do units fit or relate to each other from the perspectives of command, control and objectives?</a:t>
            </a:r>
          </a:p>
          <a:p>
            <a:pPr eaLnBrk="1" hangingPunct="1">
              <a:buFontTx/>
              <a:buNone/>
            </a:pPr>
            <a:r>
              <a:rPr lang="en-US" sz="1800" dirty="0"/>
              <a:t>	Operational Environment – What are the time, terrain, environment and space factors, and their relationships that impact on mission accomplishment?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defRPr/>
            </a:pPr>
            <a:r>
              <a:rPr lang="en-US" dirty="0"/>
              <a:t>Proposed Mission Statement</a:t>
            </a:r>
          </a:p>
        </p:txBody>
      </p:sp>
      <p:sp>
        <p:nvSpPr>
          <p:cNvPr id="28677" name="Rectangle 3"/>
          <p:cNvSpPr>
            <a:spLocks noGrp="1" noChangeArrowheads="1"/>
          </p:cNvSpPr>
          <p:nvPr>
            <p:ph type="body" idx="1"/>
          </p:nvPr>
        </p:nvSpPr>
        <p:spPr/>
        <p:txBody>
          <a:bodyPr/>
          <a:lstStyle/>
          <a:p>
            <a:pPr marL="0" indent="0" eaLnBrk="1" hangingPunct="1">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defRPr/>
            </a:pPr>
            <a:r>
              <a:rPr lang="en-US" dirty="0"/>
              <a:t>Specified Tasks</a:t>
            </a:r>
          </a:p>
        </p:txBody>
      </p:sp>
      <p:sp>
        <p:nvSpPr>
          <p:cNvPr id="18437" name="Rectangle 3"/>
          <p:cNvSpPr>
            <a:spLocks noGrp="1" noChangeArrowheads="1"/>
          </p:cNvSpPr>
          <p:nvPr>
            <p:ph type="body" idx="1"/>
          </p:nvPr>
        </p:nvSpPr>
        <p:spPr/>
        <p:txBody>
          <a:bodyPr/>
          <a:lstStyle/>
          <a:p>
            <a:pPr eaLnBrk="1" hangingPunct="1"/>
            <a:endParaRPr lang="en-US" dirty="0"/>
          </a:p>
        </p:txBody>
      </p:sp>
      <p:sp>
        <p:nvSpPr>
          <p:cNvPr id="6" name="TextBox 5"/>
          <p:cNvSpPr txBox="1"/>
          <p:nvPr/>
        </p:nvSpPr>
        <p:spPr>
          <a:xfrm>
            <a:off x="1757364" y="3257551"/>
            <a:ext cx="5448401" cy="1015663"/>
          </a:xfrm>
          <a:prstGeom prst="rect">
            <a:avLst/>
          </a:prstGeom>
          <a:solidFill>
            <a:srgbClr val="FFFF00"/>
          </a:solidFill>
        </p:spPr>
        <p:txBody>
          <a:bodyPr wrap="square" rtlCol="0">
            <a:spAutoFit/>
          </a:bodyPr>
          <a:lstStyle/>
          <a:p>
            <a:r>
              <a:rPr lang="en-US" sz="1500" b="1" dirty="0">
                <a:solidFill>
                  <a:srgbClr val="FF0000"/>
                </a:solidFill>
              </a:rPr>
              <a:t>Collect most appropriate tasks from all WfF estimates.</a:t>
            </a:r>
          </a:p>
          <a:p>
            <a:endParaRPr lang="en-US" sz="1500" b="1" dirty="0">
              <a:solidFill>
                <a:srgbClr val="FF0000"/>
              </a:solidFill>
            </a:endParaRPr>
          </a:p>
          <a:p>
            <a:r>
              <a:rPr lang="en-US" sz="1500" b="1" dirty="0"/>
              <a:t>“A </a:t>
            </a:r>
            <a:r>
              <a:rPr lang="en-US" sz="1500" b="1" i="1" dirty="0"/>
              <a:t>specified task </a:t>
            </a:r>
            <a:r>
              <a:rPr lang="en-US" sz="1500" b="1" dirty="0"/>
              <a:t>is a task specifically assigned to a unit by its higher headquarters.” FM 6-0, p 9-8</a:t>
            </a:r>
            <a:endParaRPr lang="en-US" sz="1500" b="1" dirty="0">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defRPr/>
            </a:pPr>
            <a:r>
              <a:rPr lang="en-US" dirty="0"/>
              <a:t>Implied Tasks</a:t>
            </a:r>
          </a:p>
        </p:txBody>
      </p:sp>
      <p:sp>
        <p:nvSpPr>
          <p:cNvPr id="19461" name="Rectangle 3"/>
          <p:cNvSpPr>
            <a:spLocks noGrp="1" noChangeArrowheads="1"/>
          </p:cNvSpPr>
          <p:nvPr>
            <p:ph type="body" idx="1"/>
          </p:nvPr>
        </p:nvSpPr>
        <p:spPr/>
        <p:txBody>
          <a:bodyPr/>
          <a:lstStyle/>
          <a:p>
            <a:pPr eaLnBrk="1" hangingPunct="1"/>
            <a:endParaRPr lang="en-US" dirty="0"/>
          </a:p>
        </p:txBody>
      </p:sp>
      <p:sp>
        <p:nvSpPr>
          <p:cNvPr id="6" name="TextBox 5"/>
          <p:cNvSpPr txBox="1"/>
          <p:nvPr/>
        </p:nvSpPr>
        <p:spPr>
          <a:xfrm>
            <a:off x="1757364" y="3257551"/>
            <a:ext cx="5659978" cy="1246495"/>
          </a:xfrm>
          <a:prstGeom prst="rect">
            <a:avLst/>
          </a:prstGeom>
          <a:solidFill>
            <a:srgbClr val="FFFF00"/>
          </a:solidFill>
        </p:spPr>
        <p:txBody>
          <a:bodyPr wrap="square" rtlCol="0">
            <a:spAutoFit/>
          </a:bodyPr>
          <a:lstStyle/>
          <a:p>
            <a:r>
              <a:rPr lang="en-US" sz="1500" b="1" dirty="0">
                <a:solidFill>
                  <a:srgbClr val="FF0000"/>
                </a:solidFill>
              </a:rPr>
              <a:t>Collect most appropriate tasks from all WfF estimates.</a:t>
            </a:r>
          </a:p>
          <a:p>
            <a:endParaRPr lang="en-US" sz="1500" b="1" dirty="0">
              <a:solidFill>
                <a:srgbClr val="FF0000"/>
              </a:solidFill>
            </a:endParaRPr>
          </a:p>
          <a:p>
            <a:r>
              <a:rPr lang="en-US" sz="1500" b="1" dirty="0"/>
              <a:t>“An </a:t>
            </a:r>
            <a:r>
              <a:rPr lang="en-US" sz="1500" b="1" i="1" dirty="0"/>
              <a:t>implied task </a:t>
            </a:r>
            <a:r>
              <a:rPr lang="en-US" sz="1500" b="1" dirty="0"/>
              <a:t>is a task that must be performed to accomplish a specified task or mission but is not stated in the higher headquarters’ order.” FM 6-0, p 9-8</a:t>
            </a:r>
            <a:endParaRPr lang="en-US" sz="1500" b="1" dirty="0">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defRPr/>
            </a:pPr>
            <a:r>
              <a:rPr lang="en-US" dirty="0"/>
              <a:t>Essential Tasks</a:t>
            </a:r>
          </a:p>
        </p:txBody>
      </p:sp>
      <p:sp>
        <p:nvSpPr>
          <p:cNvPr id="20485" name="Rectangle 3"/>
          <p:cNvSpPr>
            <a:spLocks noGrp="1" noChangeArrowheads="1"/>
          </p:cNvSpPr>
          <p:nvPr>
            <p:ph type="body" idx="1"/>
          </p:nvPr>
        </p:nvSpPr>
        <p:spPr/>
        <p:txBody>
          <a:bodyPr/>
          <a:lstStyle/>
          <a:p>
            <a:pPr eaLnBrk="1" hangingPunct="1"/>
            <a:endParaRPr lang="en-US" dirty="0"/>
          </a:p>
        </p:txBody>
      </p:sp>
      <p:sp>
        <p:nvSpPr>
          <p:cNvPr id="6" name="TextBox 5"/>
          <p:cNvSpPr txBox="1"/>
          <p:nvPr/>
        </p:nvSpPr>
        <p:spPr>
          <a:xfrm>
            <a:off x="1757364" y="3257551"/>
            <a:ext cx="5492176" cy="1708160"/>
          </a:xfrm>
          <a:prstGeom prst="rect">
            <a:avLst/>
          </a:prstGeom>
          <a:solidFill>
            <a:srgbClr val="FFFF00"/>
          </a:solidFill>
        </p:spPr>
        <p:txBody>
          <a:bodyPr wrap="square" rtlCol="0">
            <a:spAutoFit/>
          </a:bodyPr>
          <a:lstStyle/>
          <a:p>
            <a:r>
              <a:rPr lang="en-US" sz="1500" b="1" dirty="0">
                <a:solidFill>
                  <a:srgbClr val="FF0000"/>
                </a:solidFill>
              </a:rPr>
              <a:t>Taken from Specified and Implied tasks.</a:t>
            </a:r>
          </a:p>
          <a:p>
            <a:endParaRPr lang="en-US" sz="1500" b="1" dirty="0">
              <a:solidFill>
                <a:srgbClr val="FF0000"/>
              </a:solidFill>
            </a:endParaRPr>
          </a:p>
          <a:p>
            <a:r>
              <a:rPr lang="en-US" sz="1500" dirty="0"/>
              <a:t>“An </a:t>
            </a:r>
            <a:r>
              <a:rPr lang="en-US" sz="1500" b="1" i="1" dirty="0"/>
              <a:t>essential task </a:t>
            </a:r>
            <a:r>
              <a:rPr lang="en-US" sz="1500" dirty="0"/>
              <a:t>is a specified or implied task that must be executed to accomplish the mission. Essential tasks are always included in the unit’s mission statement.” FM 6-0, p 9-8</a:t>
            </a:r>
          </a:p>
          <a:p>
            <a:endParaRPr lang="en-US" sz="1500" b="1" dirty="0">
              <a:solidFill>
                <a:srgbClr val="FF0000"/>
              </a:solidFill>
            </a:endParaRPr>
          </a:p>
          <a:p>
            <a:r>
              <a:rPr lang="en-US" sz="1500" b="1" dirty="0">
                <a:solidFill>
                  <a:srgbClr val="FF0000"/>
                </a:solidFill>
              </a:rPr>
              <a:t>Thus, there should be very few!</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defRPr/>
            </a:pPr>
            <a:r>
              <a:rPr lang="en-US" dirty="0"/>
              <a:t>Pertinent Facts</a:t>
            </a:r>
          </a:p>
        </p:txBody>
      </p:sp>
      <p:sp>
        <p:nvSpPr>
          <p:cNvPr id="22533" name="Rectangle 3"/>
          <p:cNvSpPr>
            <a:spLocks noGrp="1" noChangeArrowheads="1"/>
          </p:cNvSpPr>
          <p:nvPr>
            <p:ph type="body" idx="1"/>
          </p:nvPr>
        </p:nvSpPr>
        <p:spPr/>
        <p:txBody>
          <a:bodyPr/>
          <a:lstStyle/>
          <a:p>
            <a:pPr eaLnBrk="1" hangingPunct="1"/>
            <a:endParaRPr lang="en-US" dirty="0"/>
          </a:p>
        </p:txBody>
      </p:sp>
      <p:sp>
        <p:nvSpPr>
          <p:cNvPr id="6" name="TextBox 5"/>
          <p:cNvSpPr txBox="1"/>
          <p:nvPr/>
        </p:nvSpPr>
        <p:spPr>
          <a:xfrm>
            <a:off x="1785939" y="2778920"/>
            <a:ext cx="5448401" cy="1938992"/>
          </a:xfrm>
          <a:prstGeom prst="rect">
            <a:avLst/>
          </a:prstGeom>
          <a:solidFill>
            <a:srgbClr val="FFFF00"/>
          </a:solidFill>
        </p:spPr>
        <p:txBody>
          <a:bodyPr wrap="square" rtlCol="0">
            <a:spAutoFit/>
          </a:bodyPr>
          <a:lstStyle/>
          <a:p>
            <a:r>
              <a:rPr lang="en-US" sz="1500" b="1" dirty="0">
                <a:solidFill>
                  <a:srgbClr val="FF0000"/>
                </a:solidFill>
              </a:rPr>
              <a:t>Collect from all WfF estimates.</a:t>
            </a:r>
          </a:p>
          <a:p>
            <a:endParaRPr lang="en-US" sz="1500" b="1" dirty="0">
              <a:solidFill>
                <a:srgbClr val="FF0000"/>
              </a:solidFill>
            </a:endParaRPr>
          </a:p>
          <a:p>
            <a:r>
              <a:rPr lang="en-US" sz="1500" dirty="0"/>
              <a:t>“A </a:t>
            </a:r>
            <a:r>
              <a:rPr lang="en-US" sz="1500" b="1" i="1" dirty="0"/>
              <a:t>fact</a:t>
            </a:r>
            <a:r>
              <a:rPr lang="en-US" sz="1500" dirty="0"/>
              <a:t> is a statement of truth or a statement thought to be true at the</a:t>
            </a:r>
          </a:p>
          <a:p>
            <a:r>
              <a:rPr lang="en-US" sz="1500" dirty="0"/>
              <a:t>time. Facts concerning the operational and mission variables serve as the basis for developing situational understanding, for continued planning, and when assessing progress during preparation and execution.” FM 6-0, p 9-9</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defRPr/>
            </a:pPr>
            <a:r>
              <a:rPr lang="en-US" dirty="0"/>
              <a:t>Pertinent Assumptions</a:t>
            </a:r>
          </a:p>
        </p:txBody>
      </p:sp>
      <p:sp>
        <p:nvSpPr>
          <p:cNvPr id="23557" name="Rectangle 3"/>
          <p:cNvSpPr>
            <a:spLocks noGrp="1" noChangeArrowheads="1"/>
          </p:cNvSpPr>
          <p:nvPr>
            <p:ph type="body" idx="1"/>
          </p:nvPr>
        </p:nvSpPr>
        <p:spPr/>
        <p:txBody>
          <a:bodyPr/>
          <a:lstStyle/>
          <a:p>
            <a:pPr eaLnBrk="1" hangingPunct="1"/>
            <a:endParaRPr lang="en-US" dirty="0"/>
          </a:p>
        </p:txBody>
      </p:sp>
      <p:sp>
        <p:nvSpPr>
          <p:cNvPr id="6" name="TextBox 5"/>
          <p:cNvSpPr txBox="1"/>
          <p:nvPr/>
        </p:nvSpPr>
        <p:spPr>
          <a:xfrm>
            <a:off x="1785939" y="2778920"/>
            <a:ext cx="5448401" cy="1938992"/>
          </a:xfrm>
          <a:prstGeom prst="rect">
            <a:avLst/>
          </a:prstGeom>
          <a:solidFill>
            <a:srgbClr val="FFFF00"/>
          </a:solidFill>
        </p:spPr>
        <p:txBody>
          <a:bodyPr wrap="square" rtlCol="0">
            <a:spAutoFit/>
          </a:bodyPr>
          <a:lstStyle/>
          <a:p>
            <a:r>
              <a:rPr lang="en-US" sz="1500" b="1" dirty="0">
                <a:solidFill>
                  <a:srgbClr val="FF0000"/>
                </a:solidFill>
              </a:rPr>
              <a:t>Collect from all WfF estimates.</a:t>
            </a:r>
          </a:p>
          <a:p>
            <a:endParaRPr lang="en-US" sz="1500" b="1" dirty="0">
              <a:solidFill>
                <a:srgbClr val="FF0000"/>
              </a:solidFill>
            </a:endParaRPr>
          </a:p>
          <a:p>
            <a:r>
              <a:rPr lang="en-US" sz="1500" dirty="0"/>
              <a:t>“An </a:t>
            </a:r>
            <a:r>
              <a:rPr lang="en-US" sz="1500" b="1" i="1" dirty="0"/>
              <a:t>assumption</a:t>
            </a:r>
            <a:r>
              <a:rPr lang="en-US" sz="1500" i="1" dirty="0"/>
              <a:t> </a:t>
            </a:r>
            <a:r>
              <a:rPr lang="en-US" sz="1500" dirty="0"/>
              <a:t>is a supposition on the current situation or a presupposition on the future course of events, either or both assumed to be true in the absence of positive proof, necessary to enable the commander in the process of planning to complete an estimate of the situation and make a decision on the course of action.” FM 6-0, p 9-9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defRPr/>
            </a:pPr>
            <a:r>
              <a:rPr lang="en-US" dirty="0"/>
              <a:t>Constraints</a:t>
            </a:r>
          </a:p>
        </p:txBody>
      </p:sp>
      <p:sp>
        <p:nvSpPr>
          <p:cNvPr id="21509" name="Rectangle 3"/>
          <p:cNvSpPr>
            <a:spLocks noGrp="1" noChangeArrowheads="1"/>
          </p:cNvSpPr>
          <p:nvPr>
            <p:ph type="body" idx="1"/>
          </p:nvPr>
        </p:nvSpPr>
        <p:spPr/>
        <p:txBody>
          <a:bodyPr/>
          <a:lstStyle/>
          <a:p>
            <a:pPr eaLnBrk="1" hangingPunct="1"/>
            <a:endParaRPr lang="en-US" dirty="0"/>
          </a:p>
        </p:txBody>
      </p:sp>
      <p:sp>
        <p:nvSpPr>
          <p:cNvPr id="6" name="TextBox 5"/>
          <p:cNvSpPr txBox="1"/>
          <p:nvPr/>
        </p:nvSpPr>
        <p:spPr>
          <a:xfrm>
            <a:off x="1785939" y="2778920"/>
            <a:ext cx="5448401" cy="1938992"/>
          </a:xfrm>
          <a:prstGeom prst="rect">
            <a:avLst/>
          </a:prstGeom>
          <a:solidFill>
            <a:srgbClr val="FFFF00"/>
          </a:solidFill>
        </p:spPr>
        <p:txBody>
          <a:bodyPr wrap="square" rtlCol="0">
            <a:spAutoFit/>
          </a:bodyPr>
          <a:lstStyle/>
          <a:p>
            <a:r>
              <a:rPr lang="en-US" sz="1500" b="1" dirty="0">
                <a:solidFill>
                  <a:srgbClr val="FF0000"/>
                </a:solidFill>
              </a:rPr>
              <a:t>Collect from all WfF estimates.</a:t>
            </a:r>
          </a:p>
          <a:p>
            <a:endParaRPr lang="en-US" sz="1500" b="1" dirty="0">
              <a:solidFill>
                <a:srgbClr val="FF0000"/>
              </a:solidFill>
            </a:endParaRPr>
          </a:p>
          <a:p>
            <a:r>
              <a:rPr lang="en-US" sz="1500" dirty="0"/>
              <a:t>“A </a:t>
            </a:r>
            <a:r>
              <a:rPr lang="en-US" sz="1500" b="1" i="1" dirty="0"/>
              <a:t>constraint </a:t>
            </a:r>
            <a:r>
              <a:rPr lang="en-US" sz="1500" dirty="0"/>
              <a:t>is a restriction placed on the command by a higher command. A constraint dictates an action or inaction, thus restricting the freedom of action of a subordinate commander. Constraints are found in paragraph 3 of the OPLAN or OPORD. Annexes to the order may also include constraints.” FM 6-0, p 9-9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defRPr/>
            </a:pPr>
            <a:r>
              <a:rPr lang="en-US" dirty="0"/>
              <a:t>Forces Available</a:t>
            </a:r>
          </a:p>
        </p:txBody>
      </p:sp>
      <p:sp>
        <p:nvSpPr>
          <p:cNvPr id="24581" name="Rectangle 4"/>
          <p:cNvSpPr>
            <a:spLocks noGrp="1" noChangeArrowheads="1"/>
          </p:cNvSpPr>
          <p:nvPr>
            <p:ph idx="1"/>
          </p:nvPr>
        </p:nvSpPr>
        <p:spPr/>
        <p:txBody>
          <a:bodyPr/>
          <a:lstStyle/>
          <a:p>
            <a:pPr eaLnBrk="1" hangingPunct="1"/>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defRPr/>
            </a:pPr>
            <a:r>
              <a:rPr lang="en-US" dirty="0"/>
              <a:t>Initial Risk Assessment</a:t>
            </a:r>
          </a:p>
        </p:txBody>
      </p:sp>
      <p:sp>
        <p:nvSpPr>
          <p:cNvPr id="26629" name="Rectangle 3"/>
          <p:cNvSpPr>
            <a:spLocks noGrp="1" noChangeArrowheads="1"/>
          </p:cNvSpPr>
          <p:nvPr>
            <p:ph type="body" idx="1"/>
          </p:nvPr>
        </p:nvSpPr>
        <p:spPr/>
        <p:txBody>
          <a:bodyPr/>
          <a:lstStyle/>
          <a:p>
            <a:pPr eaLnBrk="1" hangingPunct="1"/>
            <a:endParaRPr lang="en-US" dirty="0"/>
          </a:p>
          <a:p>
            <a:pPr eaLnBrk="1" hangingPunct="1"/>
            <a:endParaRPr lang="en-US" dirty="0"/>
          </a:p>
          <a:p>
            <a:pPr eaLnBrk="1" hangingPunct="1"/>
            <a:endParaRPr lang="en-US" dirty="0"/>
          </a:p>
          <a:p>
            <a:pPr eaLnBrk="1" hangingPunct="1"/>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defRPr/>
            </a:pPr>
            <a:r>
              <a:rPr lang="en-US" dirty="0"/>
              <a:t>Proposed CCIRs</a:t>
            </a:r>
          </a:p>
        </p:txBody>
      </p:sp>
      <p:sp>
        <p:nvSpPr>
          <p:cNvPr id="27653" name="Rectangle 3"/>
          <p:cNvSpPr>
            <a:spLocks noGrp="1" noChangeArrowheads="1"/>
          </p:cNvSpPr>
          <p:nvPr>
            <p:ph type="body" idx="1"/>
          </p:nvPr>
        </p:nvSpPr>
        <p:spPr/>
        <p:txBody>
          <a:bodyPr/>
          <a:lstStyle/>
          <a:p>
            <a:pPr eaLnBrk="1" hangingPunct="1"/>
            <a:r>
              <a:rPr lang="en-US" dirty="0"/>
              <a:t>PIR</a:t>
            </a:r>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r>
              <a:rPr lang="en-US" dirty="0"/>
              <a:t>FFIR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defRPr/>
            </a:pPr>
            <a:r>
              <a:rPr lang="en-US" dirty="0"/>
              <a:t>Proposed EEFIs</a:t>
            </a:r>
          </a:p>
        </p:txBody>
      </p:sp>
      <p:sp>
        <p:nvSpPr>
          <p:cNvPr id="27653" name="Rectangle 3"/>
          <p:cNvSpPr>
            <a:spLocks noGrp="1" noChangeArrowheads="1"/>
          </p:cNvSpPr>
          <p:nvPr>
            <p:ph type="body" idx="1"/>
          </p:nvPr>
        </p:nvSpPr>
        <p:spPr/>
        <p:txBody>
          <a:bodyPr/>
          <a:lstStyle/>
          <a:p>
            <a:pPr eaLnBrk="1" hangingPunct="1"/>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defRPr/>
            </a:pPr>
            <a:r>
              <a:rPr lang="en-US" dirty="0"/>
              <a:t>Initial Information Collection Plan</a:t>
            </a:r>
          </a:p>
        </p:txBody>
      </p:sp>
      <p:sp>
        <p:nvSpPr>
          <p:cNvPr id="29701" name="Rectangle 3"/>
          <p:cNvSpPr>
            <a:spLocks noGrp="1" noChangeArrowheads="1"/>
          </p:cNvSpPr>
          <p:nvPr>
            <p:ph type="body" idx="1"/>
          </p:nvPr>
        </p:nvSpPr>
        <p:spPr/>
        <p:txBody>
          <a:bodyPr/>
          <a:lstStyle/>
          <a:p>
            <a:pPr eaLnBrk="1" hangingPunct="1"/>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342900" y="217675"/>
            <a:ext cx="8230054" cy="1143000"/>
          </a:xfrm>
        </p:spPr>
        <p:txBody>
          <a:bodyPr/>
          <a:lstStyle/>
          <a:p>
            <a:pPr eaLnBrk="1" hangingPunct="1">
              <a:defRPr/>
            </a:pPr>
            <a:r>
              <a:rPr lang="en-US" sz="3600" dirty="0"/>
              <a:t>Proposed Commander’s Intent</a:t>
            </a:r>
          </a:p>
        </p:txBody>
      </p:sp>
      <p:sp>
        <p:nvSpPr>
          <p:cNvPr id="31749" name="Rectangle 3"/>
          <p:cNvSpPr>
            <a:spLocks noGrp="1" noChangeArrowheads="1"/>
          </p:cNvSpPr>
          <p:nvPr>
            <p:ph type="body" idx="1"/>
          </p:nvPr>
        </p:nvSpPr>
        <p:spPr/>
        <p:txBody>
          <a:bodyPr/>
          <a:lstStyle/>
          <a:p>
            <a:pPr eaLnBrk="1" hangingPunct="1"/>
            <a:r>
              <a:rPr lang="en-US" sz="1800" dirty="0"/>
              <a:t>Purpose:</a:t>
            </a:r>
          </a:p>
          <a:p>
            <a:pPr eaLnBrk="1" hangingPunct="1"/>
            <a:endParaRPr lang="en-US" sz="1800" dirty="0"/>
          </a:p>
          <a:p>
            <a:pPr eaLnBrk="1" hangingPunct="1"/>
            <a:r>
              <a:rPr lang="en-US" sz="1800" dirty="0"/>
              <a:t>Key Tasks:</a:t>
            </a:r>
          </a:p>
          <a:p>
            <a:pPr eaLnBrk="1" hangingPunct="1"/>
            <a:endParaRPr lang="en-US" sz="1800" dirty="0"/>
          </a:p>
          <a:p>
            <a:pPr eaLnBrk="1" hangingPunct="1"/>
            <a:r>
              <a:rPr lang="en-US" sz="1800" dirty="0"/>
              <a:t>End State:</a:t>
            </a:r>
          </a:p>
          <a:p>
            <a:pPr lvl="1" eaLnBrk="1" hangingPunct="1"/>
            <a:r>
              <a:rPr lang="en-US" sz="1500" dirty="0"/>
              <a:t>Friendly Forces</a:t>
            </a:r>
          </a:p>
          <a:p>
            <a:pPr lvl="1" eaLnBrk="1" hangingPunct="1"/>
            <a:r>
              <a:rPr lang="en-US" sz="1500" dirty="0"/>
              <a:t>Enemy Forces</a:t>
            </a:r>
          </a:p>
          <a:p>
            <a:pPr lvl="1" eaLnBrk="1" hangingPunct="1"/>
            <a:r>
              <a:rPr lang="en-US" sz="1500" dirty="0"/>
              <a:t>Civilian Population</a:t>
            </a:r>
          </a:p>
          <a:p>
            <a:pPr lvl="1" eaLnBrk="1" hangingPunct="1"/>
            <a:r>
              <a:rPr lang="en-US" sz="1500" dirty="0"/>
              <a:t>Terrain</a:t>
            </a:r>
          </a:p>
        </p:txBody>
      </p:sp>
    </p:spTree>
  </p:cSld>
  <p:clrMapOvr>
    <a:masterClrMapping/>
  </p:clrMapOvr>
</p:sld>
</file>

<file path=ppt/theme/theme1.xml><?xml version="1.0" encoding="utf-8"?>
<a:theme xmlns:a="http://schemas.openxmlformats.org/drawingml/2006/main" name="Default Design">
  <a:themeElements>
    <a:clrScheme name="Custom 2">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0C0C0C"/>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st">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233fc49-3339-4531-8895-cee7bd229291">
      <Terms xmlns="http://schemas.microsoft.com/office/infopath/2007/PartnerControls"/>
    </lcf76f155ced4ddcb4097134ff3c332f>
    <SharedWithUsers xmlns="c93905bf-b08c-430b-8630-76f4d352397a">
      <UserInfo>
        <DisplayName>Ponceano, Alexander SGT USARMY NG NYARNG (USA)</DisplayName>
        <AccountId>62</AccountId>
        <AccountType/>
      </UserInfo>
    </SharedWithUsers>
    <_ip_UnifiedCompliancePolicyUIAction xmlns="http://schemas.microsoft.com/sharepoint/v3" xsi:nil="true"/>
    <LOCATION xmlns="4233fc49-3339-4531-8895-cee7bd229291" xsi:nil="true"/>
    <_ip_UnifiedCompliancePolicyProperties xmlns="http://schemas.microsoft.com/sharepoint/v3" xsi:nil="true"/>
    <TaxCatchAll xmlns="c93905bf-b08c-430b-8630-76f4d352397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4DDA97709D05344805E34443243448B" ma:contentTypeVersion="19" ma:contentTypeDescription="Create a new document." ma:contentTypeScope="" ma:versionID="4400a56e9c64e5f8688646c9a4fbd692">
  <xsd:schema xmlns:xsd="http://www.w3.org/2001/XMLSchema" xmlns:xs="http://www.w3.org/2001/XMLSchema" xmlns:p="http://schemas.microsoft.com/office/2006/metadata/properties" xmlns:ns1="http://schemas.microsoft.com/sharepoint/v3" xmlns:ns2="4233fc49-3339-4531-8895-cee7bd229291" xmlns:ns3="c93905bf-b08c-430b-8630-76f4d352397a" targetNamespace="http://schemas.microsoft.com/office/2006/metadata/properties" ma:root="true" ma:fieldsID="de09beb5ce1a7f85329b78857bc55a21" ns1:_="" ns2:_="" ns3:_="">
    <xsd:import namespace="http://schemas.microsoft.com/sharepoint/v3"/>
    <xsd:import namespace="4233fc49-3339-4531-8895-cee7bd229291"/>
    <xsd:import namespace="c93905bf-b08c-430b-8630-76f4d352397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Location" minOccurs="0"/>
                <xsd:element ref="ns2:LOCATION"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33fc49-3339-4531-8895-cee7bd2292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c874fec-6985-468d-9a86-0194f6fd86dc" ma:termSetId="09814cd3-568e-fe90-9814-8d621ff8fb84" ma:anchorId="fba54fb3-c3e1-fe81-a776-ca4b69148c4d" ma:open="true" ma:isKeyword="false">
      <xsd:complexType>
        <xsd:sequence>
          <xsd:element ref="pc:Terms" minOccurs="0" maxOccurs="1"/>
        </xsd:sequence>
      </xsd:complexType>
    </xsd:element>
    <xsd:element name="MediaServiceLocation" ma:index="21" nillable="true" ma:displayName="Location" ma:internalName="MediaServiceLocation" ma:readOnly="true">
      <xsd:simpleType>
        <xsd:restriction base="dms:Text"/>
      </xsd:simpleType>
    </xsd:element>
    <xsd:element name="LOCATION" ma:index="22" nillable="true" ma:displayName="LOCATION" ma:format="Dropdown" ma:list="4233fc49-3339-4531-8895-cee7bd229291" ma:internalName="LOCATION" ma:showField="MediaServiceLocation">
      <xsd:simpleType>
        <xsd:restriction base="dms:Lookup"/>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93905bf-b08c-430b-8630-76f4d352397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c0c2f629-a5d3-4ee6-9d81-269edd5463ca}" ma:internalName="TaxCatchAll" ma:showField="CatchAllData" ma:web="c93905bf-b08c-430b-8630-76f4d352397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7201773-DD5E-4DFB-B643-9B800B415EC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D4826E6C-B861-4060-B148-204439580C0E}">
  <ds:schemaRefs>
    <ds:schemaRef ds:uri="http://schemas.microsoft.com/sharepoint/v3/contenttype/forms"/>
  </ds:schemaRefs>
</ds:datastoreItem>
</file>

<file path=customXml/itemProps3.xml><?xml version="1.0" encoding="utf-8"?>
<ds:datastoreItem xmlns:ds="http://schemas.openxmlformats.org/officeDocument/2006/customXml" ds:itemID="{F186ED44-3334-49E1-8970-68D79F6197FA}"/>
</file>

<file path=docProps/app.xml><?xml version="1.0" encoding="utf-8"?>
<Properties xmlns="http://schemas.openxmlformats.org/officeDocument/2006/extended-properties" xmlns:vt="http://schemas.openxmlformats.org/officeDocument/2006/docPropsVTypes">
  <TotalTime>0</TotalTime>
  <Words>2317</Words>
  <Application>Microsoft Office PowerPoint</Application>
  <PresentationFormat>On-screen Show (4:3)</PresentationFormat>
  <Paragraphs>241</Paragraphs>
  <Slides>41</Slides>
  <Notes>11</Notes>
  <HiddenSlides>7</HiddenSlides>
  <MMClips>0</MMClips>
  <ScaleCrop>false</ScaleCrop>
  <HeadingPairs>
    <vt:vector size="4" baseType="variant">
      <vt:variant>
        <vt:lpstr>Theme</vt:lpstr>
      </vt:variant>
      <vt:variant>
        <vt:i4>2</vt:i4>
      </vt:variant>
      <vt:variant>
        <vt:lpstr>Slide Titles</vt:lpstr>
      </vt:variant>
      <vt:variant>
        <vt:i4>41</vt:i4>
      </vt:variant>
    </vt:vector>
  </HeadingPairs>
  <TitlesOfParts>
    <vt:vector size="43" baseType="lpstr">
      <vt:lpstr>Default Design</vt:lpstr>
      <vt:lpstr>Test</vt:lpstr>
      <vt:lpstr>CPT 173 Mission Briefing Template</vt:lpstr>
      <vt:lpstr>Core Tasks</vt:lpstr>
      <vt:lpstr>Planning and Analysis Checklist (fix and fill ALL of them)</vt:lpstr>
      <vt:lpstr>Planning and Analysis Checklist (fix and fill ALL of them)</vt:lpstr>
      <vt:lpstr>Mission Analysis Information</vt:lpstr>
      <vt:lpstr>RFI Tracker</vt:lpstr>
      <vt:lpstr>Mission Analysis Tasks</vt:lpstr>
      <vt:lpstr>Mission Planning Stakeholder Inbrief</vt:lpstr>
      <vt:lpstr>173 CPT Task Organization</vt:lpstr>
      <vt:lpstr>Execution Checklist</vt:lpstr>
      <vt:lpstr>Execution Checklist</vt:lpstr>
      <vt:lpstr>Execution Checklist</vt:lpstr>
      <vt:lpstr>ME Status Report</vt:lpstr>
      <vt:lpstr>Mission Support Required</vt:lpstr>
      <vt:lpstr>Finding x – Details TEMPLATE</vt:lpstr>
      <vt:lpstr>MITRE ATT&amp;CK pt. 1</vt:lpstr>
      <vt:lpstr>MITRE ATT&amp;CK pt. 2</vt:lpstr>
      <vt:lpstr>MITRE ATT&amp;CK pt. 3</vt:lpstr>
      <vt:lpstr>ATT&amp;CK Storyboard &amp; Timeline</vt:lpstr>
      <vt:lpstr>ATT&amp;CK Storyboard &amp; Timeline TEMPLATE</vt:lpstr>
      <vt:lpstr>ATT&amp;CK Storyboard &amp; Timeline</vt:lpstr>
      <vt:lpstr>Response Actions</vt:lpstr>
      <vt:lpstr>Stakeholder Outbrief </vt:lpstr>
      <vt:lpstr>Additional slide templates</vt:lpstr>
      <vt:lpstr>Mission Analysis</vt:lpstr>
      <vt:lpstr>Area of Operations Orientation</vt:lpstr>
      <vt:lpstr>Higher HQ Mission</vt:lpstr>
      <vt:lpstr>Proposed Problem Statement</vt:lpstr>
      <vt:lpstr>Proposed Mission Statement</vt:lpstr>
      <vt:lpstr>Specified Tasks</vt:lpstr>
      <vt:lpstr>Implied Tasks</vt:lpstr>
      <vt:lpstr>Essential Tasks</vt:lpstr>
      <vt:lpstr>Pertinent Facts</vt:lpstr>
      <vt:lpstr>Pertinent Assumptions</vt:lpstr>
      <vt:lpstr>Constraints</vt:lpstr>
      <vt:lpstr>Forces Available</vt:lpstr>
      <vt:lpstr>Initial Risk Assessment</vt:lpstr>
      <vt:lpstr>Proposed CCIRs</vt:lpstr>
      <vt:lpstr>Proposed EEFIs</vt:lpstr>
      <vt:lpstr>Initial Information Collection Plan</vt:lpstr>
      <vt:lpstr>Proposed Commander’s Intent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529</cp:revision>
  <dcterms:created xsi:type="dcterms:W3CDTF">2022-04-04T17:11:29Z</dcterms:created>
  <dcterms:modified xsi:type="dcterms:W3CDTF">2022-05-20T23:55:33Z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0x010100E4DDA97709D05344805E34443243448B</vt:lpwstr>
  </property>
  <property fmtid="{D5CDD505-2E9C-101B-9397-08002B2CF9AE}" pid="3" name="MediaServiceImageTags">
    <vt:lpwstr/>
  </property>
</Properties>
</file>